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en-IN"/>
    </a:defPPr>
    <a:lvl1pPr marL="0" algn="l" defTabSz="457200" rtl="0" eaLnBrk="1" latinLnBrk="0" hangingPunct="1">
      <a:defRPr sz="1800" kern="1200" lang="en-I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-I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-I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-I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-I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-I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-I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-I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-I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knock_clien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IN" smtClean="0"/>
              <a:t>1/27/13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knock_clien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-I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IN" smtClean="0"/>
              <a:t>1/27/13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-I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-I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en-I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en-I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en-I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en-I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en-I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en-I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-I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-I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-I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-I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N"/>
      </a:defPPr>
      <a:lvl1pPr marL="0" algn="l" defTabSz="457200" rtl="0" eaLnBrk="1" latinLnBrk="0" hangingPunct="1">
        <a:defRPr sz="1800" kern="1200" lang="en-I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en-I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en-I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en-I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en-I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en-I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en-I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en-I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en-I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C7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over-title"/>
          <p:cNvGrpSpPr/>
          <p:nvPr/>
        </p:nvGrpSpPr>
        <p:grpSpPr>
          <a:xfrm>
            <a:off x="742950" y="1308100"/>
            <a:ext cx="7539038" cy="3219450"/>
            <a:chOff x="742950" y="1308100"/>
            <a:chExt cx="7539038" cy="3219450"/>
          </a:xfrm>
        </p:grpSpPr>
        <p:sp>
          <p:nvSpPr>
            <p:cNvPr id="2" name="TextBox 2"/>
            <p:cNvSpPr txBox="1"/>
            <p:nvPr/>
          </p:nvSpPr>
          <p:spPr>
            <a:xfrm>
              <a:off x="756285" y="1308100"/>
              <a:ext cx="59618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120" b="1" spc="225" dirty="0">
                  <a:solidFill>
                    <a:srgbClr val="2B4266"/>
                  </a:solidFill>
                  <a:latin typeface="Arial"/>
                  <a:ea typeface="Arial"/>
                  <a:cs typeface="Arial"/>
                </a:rPr>
                <a:t>A PRIVATE CAREER OUTREACH SERVICE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2950" y="2070100"/>
              <a:ext cx="10181749" cy="2457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7950"/>
                </a:lnSpc>
              </a:pPr>
              <a:r>
                <a:rPr lang="en-IN" sz="75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Knock on</a:t>
              </a:r>
              <a:br>
                <a:rPr lang="en-IN" sz="75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-IN" sz="75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right door.</a:t>
              </a:r>
            </a:p>
          </p:txBody>
        </p:sp>
      </p:grpSp>
      <p:grpSp>
        <p:nvGrpSpPr>
          <p:cNvPr id="6" name="cover-standfirst"/>
          <p:cNvGrpSpPr/>
          <p:nvPr/>
        </p:nvGrpSpPr>
        <p:grpSpPr>
          <a:xfrm>
            <a:off x="752094" y="4527550"/>
            <a:ext cx="4847105" cy="1410081"/>
            <a:chOff x="752094" y="4527550"/>
            <a:chExt cx="4847105" cy="1410081"/>
          </a:xfrm>
        </p:grpSpPr>
        <p:sp>
          <p:nvSpPr>
            <p:cNvPr id="5" name="TextBox 5"/>
            <p:cNvSpPr txBox="1"/>
            <p:nvPr/>
          </p:nvSpPr>
          <p:spPr>
            <a:xfrm>
              <a:off x="752094" y="4527550"/>
              <a:ext cx="6682236" cy="14100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IN" sz="19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We find the hiring managers, team members and</a:t>
              </a:r>
              <a:br>
                <a:rPr lang="en-IN" sz="19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9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alumni at your target companies, research each</a:t>
              </a:r>
              <a:br>
                <a:rPr lang="en-IN" sz="19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9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one, and start real conversations that turn into</a:t>
              </a:r>
              <a:br>
                <a:rPr lang="en-IN" sz="19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9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referrals and interviews.</a:t>
              </a:r>
            </a:p>
          </p:txBody>
        </p:sp>
      </p:grpSp>
      <p:grpSp>
        <p:nvGrpSpPr>
          <p:cNvPr id="20" name="cover-stamp"/>
          <p:cNvGrpSpPr/>
          <p:nvPr/>
        </p:nvGrpSpPr>
        <p:grpSpPr>
          <a:xfrm>
            <a:off x="9029700" y="857250"/>
            <a:ext cx="2305050" cy="2743200"/>
            <a:chOff x="9029700" y="857250"/>
            <a:chExt cx="2305050" cy="2743200"/>
          </a:xfrm>
        </p:grpSpPr>
        <p:sp>
          <p:nvSpPr>
            <p:cNvPr id="7" name="Rectangle 7"/>
            <p:cNvSpPr/>
            <p:nvPr/>
          </p:nvSpPr>
          <p:spPr>
            <a:xfrm>
              <a:off x="9334500" y="857250"/>
              <a:ext cx="1676400" cy="20193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>
                  <a:alpha val="35000"/>
                </a:srgbClr>
              </a:solidFill>
              <a:custDash>
                <a:ds d="250000" sp="250000"/>
              </a:custDash>
            </a:ln>
          </p:spPr>
        </p:sp>
        <p:sp>
          <p:nvSpPr>
            <p:cNvPr id="8" name="Rectangle 8"/>
            <p:cNvSpPr/>
            <p:nvPr/>
          </p:nvSpPr>
          <p:spPr>
            <a:xfrm>
              <a:off x="9467850" y="990600"/>
              <a:ext cx="1409700" cy="17526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848850" y="1219200"/>
              <a:ext cx="647700" cy="1028700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47625">
              <a:solidFill>
                <a:srgbClr val="FAFCFE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0334625" y="1819275"/>
              <a:ext cx="95250" cy="95250"/>
            </a:xfrm>
            <a:prstGeom prst="ellipse">
              <a:avLst/>
            </a:prstGeom>
            <a:solidFill>
              <a:srgbClr val="FAFCF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299929" y="2330450"/>
              <a:ext cx="174554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IN" sz="1950" b="1" spc="300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0096500" y="30289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23812">
              <a:solidFill>
                <a:srgbClr val="0E1F3A">
                  <a:alpha val="5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0096500" y="31623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23812">
              <a:solidFill>
                <a:srgbClr val="0E1F3A">
                  <a:alpha val="5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096500" y="32956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23812">
              <a:solidFill>
                <a:srgbClr val="0E1F3A">
                  <a:alpha val="55000"/>
                </a:srgbClr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9029700" y="2571750"/>
              <a:ext cx="1028700" cy="1028700"/>
            </a:xfrm>
            <a:prstGeom prst="ellipse">
              <a:avLst/>
            </a:prstGeom>
            <a:solidFill>
              <a:srgbClr val="A9C7E6">
                <a:alpha val="85000"/>
              </a:srgbClr>
            </a:solidFill>
            <a:ln w="23812">
              <a:solidFill>
                <a:srgbClr val="0E1F3A">
                  <a:alpha val="60000"/>
                </a:srgbClr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9182361" y="2889250"/>
              <a:ext cx="723378" cy="447675"/>
              <a:chOff x="9182361" y="2889250"/>
              <a:chExt cx="723378" cy="447675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8886059" y="2889250"/>
                <a:ext cx="131598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-IN" sz="820" b="1" spc="75" dirty="0">
                    <a:solidFill>
                      <a:srgbClr val="2B4266"/>
                    </a:solidFill>
                    <a:latin typeface="Arial"/>
                    <a:ea typeface="Arial"/>
                    <a:cs typeface="Arial"/>
                  </a:rPr>
                  <a:t>KNOCK ON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883355" y="3032125"/>
                <a:ext cx="132139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-IN" sz="820" b="1" spc="75" dirty="0">
                    <a:solidFill>
                      <a:srgbClr val="2B4266"/>
                    </a:solidFill>
                    <a:latin typeface="Arial"/>
                    <a:ea typeface="Arial"/>
                    <a:cs typeface="Arial"/>
                  </a:rPr>
                  <a:t>THE RIGHT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099115" y="3175000"/>
                <a:ext cx="889870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-IN" sz="820" b="1" spc="75" dirty="0">
                    <a:solidFill>
                      <a:srgbClr val="2B4266"/>
                    </a:solidFill>
                    <a:latin typeface="Arial"/>
                    <a:ea typeface="Arial"/>
                    <a:cs typeface="Arial"/>
                  </a:rPr>
                  <a:t>DOOR</a:t>
                </a:r>
              </a:p>
            </p:txBody>
          </p:sp>
        </p:grpSp>
      </p:grpSp>
      <p:grpSp>
        <p:nvGrpSpPr>
          <p:cNvPr id="22" name="cover-note"/>
          <p:cNvGrpSpPr/>
          <p:nvPr/>
        </p:nvGrpSpPr>
        <p:grpSpPr>
          <a:xfrm>
            <a:off x="756666" y="6426200"/>
            <a:ext cx="2988737" cy="205359"/>
            <a:chOff x="756666" y="6426200"/>
            <a:chExt cx="2988737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756666" y="6426200"/>
              <a:ext cx="42663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050" dirty="0">
                  <a:solidFill>
                    <a:srgbClr val="2B4266"/>
                  </a:solidFill>
                  <a:latin typeface="Arial"/>
                  <a:ea typeface="Arial"/>
                  <a:cs typeface="Arial"/>
                </a:rPr>
                <a:t>Made in India. Founding member pricing, 2026.</a:t>
              </a:r>
            </a:p>
          </p:txBody>
        </p:sp>
      </p:grpSp>
      <p:grpSp>
        <p:nvGrpSpPr>
          <p:cNvPr id="49" name="airmail-band"/>
          <p:cNvGrpSpPr/>
          <p:nvPr/>
        </p:nvGrpSpPr>
        <p:grpSpPr>
          <a:xfrm>
            <a:off x="0" y="6705600"/>
            <a:ext cx="12192000" cy="152400"/>
            <a:chOff x="0" y="6705600"/>
            <a:chExt cx="12192000" cy="152400"/>
          </a:xfrm>
        </p:grpSpPr>
        <p:sp>
          <p:nvSpPr>
            <p:cNvPr id="23" name="Rectangle 23"/>
            <p:cNvSpPr/>
            <p:nvPr/>
          </p:nvSpPr>
          <p:spPr>
            <a:xfrm>
              <a:off x="0" y="6705600"/>
              <a:ext cx="12192000" cy="152400"/>
            </a:xfrm>
            <a:prstGeom prst="rect">
              <a:avLst/>
            </a:prstGeom>
            <a:solidFill>
              <a:srgbClr val="FAFCFE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52400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35794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119188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602581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2085975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2569369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3052762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3536156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4019550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4502944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4986338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5469731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5953125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6436519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6919912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7403306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7886700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370094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853488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9336881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9820275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10303669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10787062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11270456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11753850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69036" y="495300"/>
            <a:ext cx="6238304" cy="1585214"/>
            <a:chOff x="669036" y="495300"/>
            <a:chExt cx="6238304" cy="1585214"/>
          </a:xfrm>
        </p:grpSpPr>
        <p:sp>
          <p:nvSpPr>
            <p:cNvPr id="2" name="Rectangle 2"/>
            <p:cNvSpPr/>
            <p:nvPr/>
          </p:nvSpPr>
          <p:spPr>
            <a:xfrm>
              <a:off x="685800" y="495300"/>
              <a:ext cx="419100" cy="5715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80085" y="717550"/>
              <a:ext cx="22359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120" b="1" spc="18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THE PROBLEM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939800"/>
              <a:ext cx="8490795" cy="11407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Hundreds of applications,</a:t>
              </a:r>
              <a:b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and the callbacks never come</a:t>
              </a:r>
            </a:p>
          </p:txBody>
        </p:sp>
      </p:grpSp>
      <p:grpSp>
        <p:nvGrpSpPr>
          <p:cNvPr id="9" name="problem-lede"/>
          <p:cNvGrpSpPr/>
          <p:nvPr/>
        </p:nvGrpSpPr>
        <p:grpSpPr>
          <a:xfrm>
            <a:off x="666750" y="2349500"/>
            <a:ext cx="4946233" cy="2990850"/>
            <a:chOff x="666750" y="2349500"/>
            <a:chExt cx="4946233" cy="2990850"/>
          </a:xfrm>
        </p:grpSpPr>
        <p:sp>
          <p:nvSpPr>
            <p:cNvPr id="6" name="TextBox 6"/>
            <p:cNvSpPr txBox="1"/>
            <p:nvPr/>
          </p:nvSpPr>
          <p:spPr>
            <a:xfrm>
              <a:off x="675894" y="2349500"/>
              <a:ext cx="5333028" cy="14672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IN" sz="19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You have done everything the portals</a:t>
              </a:r>
              <a:br>
                <a:rPr lang="en-IN" sz="19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9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ask. Tailored the CV, filled the forms,</a:t>
              </a:r>
              <a:br>
                <a:rPr lang="en-IN" sz="19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9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clicked apply until it stopped meaning</a:t>
              </a:r>
              <a:br>
                <a:rPr lang="en-IN" sz="19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9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anything.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85800" y="41910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0E1F3A">
                  <a:alpha val="30000"/>
                </a:srgbClr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6750" y="4292600"/>
              <a:ext cx="681110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54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Still waiting.</a:t>
              </a:r>
            </a:p>
          </p:txBody>
        </p:sp>
      </p:grpSp>
      <p:grpSp>
        <p:nvGrpSpPr>
          <p:cNvPr id="46" name="application-ledger"/>
          <p:cNvGrpSpPr/>
          <p:nvPr/>
        </p:nvGrpSpPr>
        <p:grpSpPr>
          <a:xfrm>
            <a:off x="5715000" y="2247900"/>
            <a:ext cx="5791200" cy="3581400"/>
            <a:chOff x="5715000" y="2247900"/>
            <a:chExt cx="5791200" cy="3581400"/>
          </a:xfrm>
        </p:grpSpPr>
        <p:grpSp>
          <p:nvGrpSpPr>
            <p:cNvPr id="15" name="ledger-row-1"/>
            <p:cNvGrpSpPr/>
            <p:nvPr/>
          </p:nvGrpSpPr>
          <p:grpSpPr>
            <a:xfrm>
              <a:off x="5715000" y="2247900"/>
              <a:ext cx="5791200" cy="533400"/>
              <a:chOff x="5715000" y="2247900"/>
              <a:chExt cx="5791200" cy="5334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0" y="2247900"/>
                <a:ext cx="5791200" cy="533400"/>
              </a:xfrm>
              <a:prstGeom prst="rect">
                <a:avLst/>
              </a:prstGeom>
              <a:solidFill>
                <a:srgbClr val="FAFCFE"/>
              </a:solidFill>
              <a:ln w="9525">
                <a:solidFill>
                  <a:srgbClr val="0E1F3A">
                    <a:alpha val="15000"/>
                  </a:srgbClr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5897118" y="2292350"/>
                <a:ext cx="443455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6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Associate Product Manager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899404" y="2533650"/>
                <a:ext cx="29713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200" i="1" dirty="0">
                    <a:solidFill>
                      <a:srgbClr val="4A5F80"/>
                    </a:solidFill>
                    <a:latin typeface="+mn-lt"/>
                    <a:ea typeface="+mn-ea"/>
                    <a:cs typeface="+mn-cs"/>
                  </a:rPr>
                  <a:t>Applied through a job portal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9629775" y="2466975"/>
                <a:ext cx="95250" cy="95250"/>
              </a:xfrm>
              <a:prstGeom prst="ellipse">
                <a:avLst/>
              </a:prstGeom>
              <a:noFill/>
              <a:ln w="19050">
                <a:solidFill>
                  <a:srgbClr val="4A5F80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9824847" y="2435225"/>
                <a:ext cx="195598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980" b="1" spc="75" dirty="0">
                    <a:solidFill>
                      <a:srgbClr val="4A5F80"/>
                    </a:solidFill>
                    <a:latin typeface="Arial"/>
                    <a:ea typeface="Arial"/>
                    <a:cs typeface="Arial"/>
                  </a:rPr>
                  <a:t>UNDER REVIEW</a:t>
                </a:r>
              </a:p>
            </p:txBody>
          </p:sp>
        </p:grpSp>
        <p:grpSp>
          <p:nvGrpSpPr>
            <p:cNvPr id="21" name="ledger-row-2"/>
            <p:cNvGrpSpPr/>
            <p:nvPr/>
          </p:nvGrpSpPr>
          <p:grpSpPr>
            <a:xfrm>
              <a:off x="5715000" y="2857500"/>
              <a:ext cx="5791200" cy="533400"/>
              <a:chOff x="5715000" y="2857500"/>
              <a:chExt cx="5791200" cy="5334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715000" y="2857500"/>
                <a:ext cx="5791200" cy="533400"/>
              </a:xfrm>
              <a:prstGeom prst="rect">
                <a:avLst/>
              </a:prstGeom>
              <a:solidFill>
                <a:srgbClr val="FAFCFE"/>
              </a:solidFill>
              <a:ln w="9525">
                <a:solidFill>
                  <a:srgbClr val="0E1F3A">
                    <a:alpha val="15000"/>
                  </a:srgbClr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897118" y="2901950"/>
                <a:ext cx="457338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6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Product Manager, Payments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899404" y="3143250"/>
                <a:ext cx="29713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200" i="1" dirty="0">
                    <a:solidFill>
                      <a:srgbClr val="4A5F80"/>
                    </a:solidFill>
                    <a:latin typeface="+mn-lt"/>
                    <a:ea typeface="+mn-ea"/>
                    <a:cs typeface="+mn-cs"/>
                  </a:rPr>
                  <a:t>Applied through a job portal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9629775" y="3076575"/>
                <a:ext cx="95250" cy="95250"/>
              </a:xfrm>
              <a:prstGeom prst="ellipse">
                <a:avLst/>
              </a:prstGeom>
              <a:noFill/>
              <a:ln w="19050">
                <a:solidFill>
                  <a:srgbClr val="4A5F80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824847" y="3044825"/>
                <a:ext cx="195598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980" b="1" spc="75" dirty="0">
                    <a:solidFill>
                      <a:srgbClr val="4A5F80"/>
                    </a:solidFill>
                    <a:latin typeface="Arial"/>
                    <a:ea typeface="Arial"/>
                    <a:cs typeface="Arial"/>
                  </a:rPr>
                  <a:t>UNDER REVIEW</a:t>
                </a:r>
              </a:p>
            </p:txBody>
          </p:sp>
        </p:grpSp>
        <p:grpSp>
          <p:nvGrpSpPr>
            <p:cNvPr id="27" name="ledger-row-3"/>
            <p:cNvGrpSpPr/>
            <p:nvPr/>
          </p:nvGrpSpPr>
          <p:grpSpPr>
            <a:xfrm>
              <a:off x="5715000" y="3467100"/>
              <a:ext cx="5791200" cy="533400"/>
              <a:chOff x="5715000" y="3467100"/>
              <a:chExt cx="5791200" cy="5334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0" y="3467100"/>
                <a:ext cx="5791200" cy="533400"/>
              </a:xfrm>
              <a:prstGeom prst="rect">
                <a:avLst/>
              </a:prstGeom>
              <a:solidFill>
                <a:srgbClr val="FAFCFE"/>
              </a:solidFill>
              <a:ln w="9525">
                <a:solidFill>
                  <a:srgbClr val="0E1F3A">
                    <a:alpha val="15000"/>
                  </a:srgbClr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897118" y="3511550"/>
                <a:ext cx="26616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6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APM, Consumer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899404" y="3752850"/>
                <a:ext cx="32426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200" i="1" dirty="0">
                    <a:solidFill>
                      <a:srgbClr val="4A5F80"/>
                    </a:solidFill>
                    <a:latin typeface="+mn-lt"/>
                    <a:ea typeface="+mn-ea"/>
                    <a:cs typeface="+mn-cs"/>
                  </a:rPr>
                  <a:t>Applied through a careers page</a:t>
                </a:r>
              </a:p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9629775" y="3686175"/>
                <a:ext cx="95250" cy="9525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824847" y="3654425"/>
                <a:ext cx="1861765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980" b="1" spc="75" dirty="0">
                    <a:solidFill>
                      <a:srgbClr val="0E1F3A"/>
                    </a:solidFill>
                    <a:latin typeface="Arial"/>
                    <a:ea typeface="Arial"/>
                    <a:cs typeface="Arial"/>
                  </a:rPr>
                  <a:t>NO RESPONSE</a:t>
                </a:r>
              </a:p>
            </p:txBody>
          </p:sp>
        </p:grpSp>
        <p:grpSp>
          <p:nvGrpSpPr>
            <p:cNvPr id="33" name="ledger-row-4"/>
            <p:cNvGrpSpPr/>
            <p:nvPr/>
          </p:nvGrpSpPr>
          <p:grpSpPr>
            <a:xfrm>
              <a:off x="5715000" y="4076700"/>
              <a:ext cx="5791200" cy="533400"/>
              <a:chOff x="5715000" y="4076700"/>
              <a:chExt cx="57912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0" y="4076700"/>
                <a:ext cx="5791200" cy="533400"/>
              </a:xfrm>
              <a:prstGeom prst="rect">
                <a:avLst/>
              </a:prstGeom>
              <a:solidFill>
                <a:srgbClr val="FAFCFE"/>
              </a:solidFill>
              <a:ln w="9525">
                <a:solidFill>
                  <a:srgbClr val="0E1F3A">
                    <a:alpha val="15000"/>
                  </a:srgbClr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5897118" y="4121150"/>
                <a:ext cx="277157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6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Product Analyst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899404" y="4362450"/>
                <a:ext cx="29713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200" i="1" dirty="0">
                    <a:solidFill>
                      <a:srgbClr val="4A5F80"/>
                    </a:solidFill>
                    <a:latin typeface="+mn-lt"/>
                    <a:ea typeface="+mn-ea"/>
                    <a:cs typeface="+mn-cs"/>
                  </a:rPr>
                  <a:t>Applied through a job portal</a:t>
                </a:r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9629775" y="4295775"/>
                <a:ext cx="95250" cy="95250"/>
              </a:xfrm>
              <a:prstGeom prst="ellipse">
                <a:avLst/>
              </a:prstGeom>
              <a:noFill/>
              <a:ln w="19050">
                <a:solidFill>
                  <a:srgbClr val="4A5F80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824847" y="4264025"/>
                <a:ext cx="195598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980" b="1" spc="75" dirty="0">
                    <a:solidFill>
                      <a:srgbClr val="4A5F80"/>
                    </a:solidFill>
                    <a:latin typeface="Arial"/>
                    <a:ea typeface="Arial"/>
                    <a:cs typeface="Arial"/>
                  </a:rPr>
                  <a:t>UNDER REVIEW</a:t>
                </a:r>
              </a:p>
            </p:txBody>
          </p:sp>
        </p:grpSp>
        <p:grpSp>
          <p:nvGrpSpPr>
            <p:cNvPr id="39" name="ledger-row-5"/>
            <p:cNvGrpSpPr/>
            <p:nvPr/>
          </p:nvGrpSpPr>
          <p:grpSpPr>
            <a:xfrm>
              <a:off x="5715000" y="4686300"/>
              <a:ext cx="5791200" cy="533400"/>
              <a:chOff x="5715000" y="4686300"/>
              <a:chExt cx="57912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0" y="4686300"/>
                <a:ext cx="5791200" cy="533400"/>
              </a:xfrm>
              <a:prstGeom prst="rect">
                <a:avLst/>
              </a:prstGeom>
              <a:solidFill>
                <a:srgbClr val="FAFCFE"/>
              </a:solidFill>
              <a:ln w="9525">
                <a:solidFill>
                  <a:srgbClr val="0E1F3A">
                    <a:alpha val="15000"/>
                  </a:srgbClr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897118" y="4730750"/>
                <a:ext cx="36748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6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Associate PM, Growth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899404" y="4972050"/>
                <a:ext cx="29713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200" i="1" dirty="0">
                    <a:solidFill>
                      <a:srgbClr val="4A5F80"/>
                    </a:solidFill>
                    <a:latin typeface="+mn-lt"/>
                    <a:ea typeface="+mn-ea"/>
                    <a:cs typeface="+mn-cs"/>
                  </a:rPr>
                  <a:t>Applied through a job portal</a:t>
                </a:r>
              </a:p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9629775" y="4905375"/>
                <a:ext cx="95250" cy="9525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824847" y="4873625"/>
                <a:ext cx="1861765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980" b="1" spc="75" dirty="0">
                    <a:solidFill>
                      <a:srgbClr val="0E1F3A"/>
                    </a:solidFill>
                    <a:latin typeface="Arial"/>
                    <a:ea typeface="Arial"/>
                    <a:cs typeface="Arial"/>
                  </a:rPr>
                  <a:t>NO RESPONSE</a:t>
                </a:r>
              </a:p>
            </p:txBody>
          </p:sp>
        </p:grpSp>
        <p:grpSp>
          <p:nvGrpSpPr>
            <p:cNvPr id="45" name="ledger-row-6"/>
            <p:cNvGrpSpPr/>
            <p:nvPr/>
          </p:nvGrpSpPr>
          <p:grpSpPr>
            <a:xfrm>
              <a:off x="5715000" y="5295900"/>
              <a:ext cx="5791200" cy="533400"/>
              <a:chOff x="5715000" y="5295900"/>
              <a:chExt cx="57912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0" y="5295900"/>
                <a:ext cx="5791200" cy="533400"/>
              </a:xfrm>
              <a:prstGeom prst="rect">
                <a:avLst/>
              </a:prstGeom>
              <a:solidFill>
                <a:srgbClr val="FAFCFE"/>
              </a:solidFill>
              <a:ln w="9525">
                <a:solidFill>
                  <a:srgbClr val="0E1F3A">
                    <a:alpha val="15000"/>
                  </a:srgbClr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5897118" y="5340350"/>
                <a:ext cx="3101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6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Product Manager I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899404" y="5581650"/>
                <a:ext cx="32426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200" i="1" dirty="0">
                    <a:solidFill>
                      <a:srgbClr val="4A5F80"/>
                    </a:solidFill>
                    <a:latin typeface="+mn-lt"/>
                    <a:ea typeface="+mn-ea"/>
                    <a:cs typeface="+mn-cs"/>
                  </a:rPr>
                  <a:t>Applied through a careers page</a:t>
                </a:r>
              </a:p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9629775" y="5514975"/>
                <a:ext cx="95250" cy="95250"/>
              </a:xfrm>
              <a:prstGeom prst="ellipse">
                <a:avLst/>
              </a:prstGeom>
              <a:noFill/>
              <a:ln w="19050">
                <a:solidFill>
                  <a:srgbClr val="4A5F80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824847" y="5483225"/>
                <a:ext cx="195598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980" b="1" spc="75" dirty="0">
                    <a:solidFill>
                      <a:srgbClr val="4A5F80"/>
                    </a:solidFill>
                    <a:latin typeface="Arial"/>
                    <a:ea typeface="Arial"/>
                    <a:cs typeface="Arial"/>
                  </a:rPr>
                  <a:t>UNDER REVIEW</a:t>
                </a:r>
              </a:p>
            </p:txBody>
          </p:sp>
        </p:grpSp>
      </p:grpSp>
      <p:grpSp>
        <p:nvGrpSpPr>
          <p:cNvPr id="48" name="ledger-caption"/>
          <p:cNvGrpSpPr/>
          <p:nvPr/>
        </p:nvGrpSpPr>
        <p:grpSpPr>
          <a:xfrm>
            <a:off x="5708523" y="5981700"/>
            <a:ext cx="5137830" cy="250317"/>
            <a:chOff x="5708523" y="5981700"/>
            <a:chExt cx="5137830" cy="250317"/>
          </a:xfrm>
        </p:grpSpPr>
        <p:sp>
          <p:nvSpPr>
            <p:cNvPr id="47" name="TextBox 47"/>
            <p:cNvSpPr txBox="1"/>
            <p:nvPr/>
          </p:nvSpPr>
          <p:spPr>
            <a:xfrm>
              <a:off x="5708523" y="5981700"/>
              <a:ext cx="648347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28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Illustration of a typical search for a move into product. Not real data.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678180" y="6362700"/>
            <a:ext cx="10833354" cy="382270"/>
            <a:chOff x="678180" y="6362700"/>
            <a:chExt cx="10833354" cy="382270"/>
          </a:xfrm>
        </p:grpSpPr>
        <p:sp>
          <p:nvSpPr>
            <p:cNvPr id="49" name="Line 49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8180" y="6451600"/>
              <a:ext cx="1167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5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554702" y="6502400"/>
              <a:ext cx="9568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-IN" sz="105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69036" y="495300"/>
            <a:ext cx="6854380" cy="1585214"/>
            <a:chOff x="669036" y="495300"/>
            <a:chExt cx="6854380" cy="1585214"/>
          </a:xfrm>
        </p:grpSpPr>
        <p:sp>
          <p:nvSpPr>
            <p:cNvPr id="2" name="Rectangle 2"/>
            <p:cNvSpPr/>
            <p:nvPr/>
          </p:nvSpPr>
          <p:spPr>
            <a:xfrm>
              <a:off x="685800" y="495300"/>
              <a:ext cx="419100" cy="5715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80085" y="717550"/>
              <a:ext cx="1595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120" b="1" spc="18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THE IDEA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939800"/>
              <a:ext cx="9291694" cy="11407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People hire people,</a:t>
              </a:r>
              <a:b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so Knock starts with the people</a:t>
              </a:r>
            </a:p>
          </p:txBody>
        </p:sp>
      </p:grpSp>
      <p:grpSp>
        <p:nvGrpSpPr>
          <p:cNvPr id="23" name="panel-portal"/>
          <p:cNvGrpSpPr/>
          <p:nvPr/>
        </p:nvGrpSpPr>
        <p:grpSpPr>
          <a:xfrm>
            <a:off x="685800" y="2209800"/>
            <a:ext cx="5029200" cy="3086100"/>
            <a:chOff x="685800" y="2209800"/>
            <a:chExt cx="5029200" cy="3086100"/>
          </a:xfrm>
        </p:grpSpPr>
        <p:sp>
          <p:nvSpPr>
            <p:cNvPr id="6" name="Rectangle 6"/>
            <p:cNvSpPr/>
            <p:nvPr/>
          </p:nvSpPr>
          <p:spPr>
            <a:xfrm>
              <a:off x="685800" y="2209800"/>
              <a:ext cx="5029200" cy="30861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1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7547" y="2425700"/>
              <a:ext cx="18012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980" b="1" spc="15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THE PORTAL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38784" y="2641600"/>
              <a:ext cx="221962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27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 queue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914400" y="3333750"/>
              <a:ext cx="304800" cy="30480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1066800" y="36385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19050">
              <a:solidFill>
                <a:srgbClr val="0E1F3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27404" y="3381375"/>
              <a:ext cx="13581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20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introduced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923925" y="3895725"/>
              <a:ext cx="285750" cy="2857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438275" y="3895725"/>
              <a:ext cx="285750" cy="285750"/>
            </a:xfrm>
            <a:prstGeom prst="ellipse">
              <a:avLst/>
            </a:prstGeom>
            <a:solidFill>
              <a:srgbClr val="97B9DD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952625" y="3895725"/>
              <a:ext cx="285750" cy="285750"/>
            </a:xfrm>
            <a:prstGeom prst="ellipse">
              <a:avLst/>
            </a:prstGeom>
            <a:solidFill>
              <a:srgbClr val="97B9DD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2466975" y="3895725"/>
              <a:ext cx="285750" cy="285750"/>
            </a:xfrm>
            <a:prstGeom prst="ellipse">
              <a:avLst/>
            </a:prstGeom>
            <a:solidFill>
              <a:srgbClr val="97B9DD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2981325" y="3895725"/>
              <a:ext cx="285750" cy="285750"/>
            </a:xfrm>
            <a:prstGeom prst="ellipse">
              <a:avLst/>
            </a:prstGeom>
            <a:solidFill>
              <a:srgbClr val="97B9DD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3495675" y="3895725"/>
              <a:ext cx="285750" cy="285750"/>
            </a:xfrm>
            <a:prstGeom prst="ellipse">
              <a:avLst/>
            </a:prstGeom>
            <a:solidFill>
              <a:srgbClr val="97B9DD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4010025" y="3895725"/>
              <a:ext cx="285750" cy="285750"/>
            </a:xfrm>
            <a:prstGeom prst="ellipse">
              <a:avLst/>
            </a:prstGeom>
            <a:solidFill>
              <a:srgbClr val="97B9DD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4524375" y="3895725"/>
              <a:ext cx="285750" cy="285750"/>
            </a:xfrm>
            <a:prstGeom prst="ellipse">
              <a:avLst/>
            </a:prstGeom>
            <a:solidFill>
              <a:srgbClr val="97B9DD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038725" y="3895725"/>
              <a:ext cx="285750" cy="285750"/>
            </a:xfrm>
            <a:prstGeom prst="ellipse">
              <a:avLst/>
            </a:prstGeom>
            <a:solidFill>
              <a:srgbClr val="FAFCFE"/>
            </a:solidFill>
            <a:ln w="28575">
              <a:solidFill>
                <a:srgbClr val="0E1F3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819653" y="4273550"/>
              <a:ext cx="7238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IN" sz="980" b="1" dirty="0">
                  <a:solidFill>
                    <a:srgbClr val="0E1F3A"/>
                  </a:solidFill>
                  <a:latin typeface="Arial"/>
                  <a:ea typeface="Arial"/>
                  <a:cs typeface="Arial"/>
                </a:rPr>
                <a:t>You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4667250"/>
              <a:ext cx="4540066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I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Someone at the front of the queue is already</a:t>
              </a:r>
              <a:br>
                <a:rPr lang="en-I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talking to a person they were introduced to.</a:t>
              </a:r>
            </a:p>
          </p:txBody>
        </p:sp>
      </p:grpSp>
      <p:grpSp>
        <p:nvGrpSpPr>
          <p:cNvPr id="34" name="panel-door"/>
          <p:cNvGrpSpPr/>
          <p:nvPr/>
        </p:nvGrpSpPr>
        <p:grpSpPr>
          <a:xfrm>
            <a:off x="6096000" y="2209800"/>
            <a:ext cx="5410200" cy="3086100"/>
            <a:chOff x="6096000" y="2209800"/>
            <a:chExt cx="5410200" cy="3086100"/>
          </a:xfrm>
        </p:grpSpPr>
        <p:sp>
          <p:nvSpPr>
            <p:cNvPr id="24" name="Rectangle 24"/>
            <p:cNvSpPr/>
            <p:nvPr/>
          </p:nvSpPr>
          <p:spPr>
            <a:xfrm>
              <a:off x="6096000" y="2209800"/>
              <a:ext cx="5410200" cy="3086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7747" y="2425700"/>
              <a:ext cx="15444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980" b="1" spc="150" dirty="0">
                  <a:solidFill>
                    <a:srgbClr val="A9C7E6"/>
                  </a:solidFill>
                  <a:latin typeface="Arial"/>
                  <a:ea typeface="Arial"/>
                  <a:cs typeface="Arial"/>
                </a:rPr>
                <a:t>THE DOOR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48984" y="2641600"/>
              <a:ext cx="249230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27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A person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591300" y="3810000"/>
              <a:ext cx="457200" cy="457200"/>
            </a:xfrm>
            <a:prstGeom prst="ellipse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57953" y="4387850"/>
              <a:ext cx="7238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IN" sz="980" b="1" dirty="0">
                  <a:solidFill>
                    <a:srgbClr val="C4D9EF"/>
                  </a:solidFill>
                  <a:latin typeface="Arial"/>
                  <a:ea typeface="Arial"/>
                  <a:cs typeface="Arial"/>
                </a:rPr>
                <a:t>You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7162800" y="3886200"/>
              <a:ext cx="3009900" cy="304800"/>
            </a:xfrm>
            <a:prstGeom prst="rightArrow">
              <a:avLst>
                <a:gd name="adj1" fmla="val 40000"/>
                <a:gd name="adj2" fmla="val 60000"/>
              </a:avLst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48567" y="3581400"/>
              <a:ext cx="223836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IN" sz="1280" i="1" dirty="0">
                  <a:solidFill>
                    <a:srgbClr val="C4D9EF"/>
                  </a:solidFill>
                  <a:latin typeface="+mn-lt"/>
                  <a:ea typeface="+mn-ea"/>
                  <a:cs typeface="+mn-cs"/>
                </a:rPr>
                <a:t>a real conversation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10248900" y="3752850"/>
              <a:ext cx="571500" cy="571500"/>
            </a:xfrm>
            <a:prstGeom prst="ellipse">
              <a:avLst/>
            </a:prstGeom>
            <a:solidFill>
              <a:srgbClr val="FAFCF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677261" y="4425950"/>
              <a:ext cx="17147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IN" sz="980" b="1" dirty="0">
                  <a:solidFill>
                    <a:srgbClr val="C4D9EF"/>
                  </a:solidFill>
                  <a:latin typeface="Arial"/>
                  <a:ea typeface="Arial"/>
                  <a:cs typeface="Arial"/>
                </a:rPr>
                <a:t>Someone inside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55461" y="4667250"/>
              <a:ext cx="4696862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IN" sz="1420" dirty="0">
                  <a:solidFill>
                    <a:srgbClr val="EEF3F8"/>
                  </a:solidFill>
                  <a:latin typeface="+mn-lt"/>
                  <a:ea typeface="+mn-ea"/>
                  <a:cs typeface="+mn-cs"/>
                </a:rPr>
                <a:t>A real conversation with someone who works</a:t>
              </a:r>
              <a:br>
                <a:rPr lang="en-IN" sz="1420" dirty="0">
                  <a:solidFill>
                    <a:srgbClr val="EEF3F8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420" dirty="0">
                  <a:solidFill>
                    <a:srgbClr val="EEF3F8"/>
                  </a:solidFill>
                  <a:latin typeface="+mn-lt"/>
                  <a:ea typeface="+mn-ea"/>
                  <a:cs typeface="+mn-cs"/>
                </a:rPr>
                <a:t>there is where referrals and interviews begin.</a:t>
              </a:r>
            </a:p>
          </p:txBody>
        </p:sp>
      </p:grpSp>
      <p:grpSp>
        <p:nvGrpSpPr>
          <p:cNvPr id="36" name="what-knock-does"/>
          <p:cNvGrpSpPr/>
          <p:nvPr/>
        </p:nvGrpSpPr>
        <p:grpSpPr>
          <a:xfrm>
            <a:off x="675894" y="5492750"/>
            <a:ext cx="7508055" cy="743331"/>
            <a:chOff x="675894" y="5492750"/>
            <a:chExt cx="7508055" cy="743331"/>
          </a:xfrm>
        </p:grpSpPr>
        <p:sp>
          <p:nvSpPr>
            <p:cNvPr id="35" name="TextBox 35"/>
            <p:cNvSpPr txBox="1"/>
            <p:nvPr/>
          </p:nvSpPr>
          <p:spPr>
            <a:xfrm>
              <a:off x="675894" y="5492750"/>
              <a:ext cx="10141471" cy="743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I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Knock finds the right people at your target companies, researches each one,</a:t>
              </a:r>
              <a:br>
                <a:rPr lang="en-I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 xml:space="preserve">and opens the conversation. </a:t>
              </a:r>
              <a:r>
                <a:rPr lang="en-IN" sz="1950" b="1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You approve every message.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678180" y="6362700"/>
            <a:ext cx="10833354" cy="382270"/>
            <a:chOff x="678180" y="6362700"/>
            <a:chExt cx="10833354" cy="382270"/>
          </a:xfrm>
        </p:grpSpPr>
        <p:sp>
          <p:nvSpPr>
            <p:cNvPr id="37" name="Line 37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8180" y="6451600"/>
              <a:ext cx="1167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5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54702" y="6502400"/>
              <a:ext cx="9568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-IN" sz="105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69036" y="495300"/>
            <a:ext cx="8174545" cy="1585214"/>
            <a:chOff x="669036" y="495300"/>
            <a:chExt cx="8174545" cy="1585214"/>
          </a:xfrm>
        </p:grpSpPr>
        <p:sp>
          <p:nvSpPr>
            <p:cNvPr id="2" name="Rectangle 2"/>
            <p:cNvSpPr/>
            <p:nvPr/>
          </p:nvSpPr>
          <p:spPr>
            <a:xfrm>
              <a:off x="685800" y="495300"/>
              <a:ext cx="419100" cy="5715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80085" y="717550"/>
              <a:ext cx="23610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120" b="1" spc="18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HOW IT WORKS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939800"/>
              <a:ext cx="11007908" cy="11407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Four steps from a list of companies</a:t>
              </a:r>
              <a:b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to a conversation with someone inside</a:t>
              </a:r>
            </a:p>
          </p:txBody>
        </p:sp>
      </p:grpSp>
      <p:grpSp>
        <p:nvGrpSpPr>
          <p:cNvPr id="15" name="step-stages"/>
          <p:cNvGrpSpPr/>
          <p:nvPr/>
        </p:nvGrpSpPr>
        <p:grpSpPr>
          <a:xfrm>
            <a:off x="685800" y="2209800"/>
            <a:ext cx="10753725" cy="779526"/>
            <a:chOff x="685800" y="2209800"/>
            <a:chExt cx="10753725" cy="779526"/>
          </a:xfrm>
        </p:grpSpPr>
        <p:sp>
          <p:nvSpPr>
            <p:cNvPr id="6" name="Freeform 6"/>
            <p:cNvSpPr/>
            <p:nvPr/>
          </p:nvSpPr>
          <p:spPr>
            <a:xfrm>
              <a:off x="685800" y="2209800"/>
              <a:ext cx="2781300" cy="742950"/>
            </a:xfrm>
            <a:prstGeom prst="chevron">
              <a:avLst>
                <a:gd name="adj" fmla="val 26923"/>
              </a:avLst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3343275" y="2209800"/>
              <a:ext cx="2781300" cy="742950"/>
            </a:xfrm>
            <a:prstGeom prst="chevron">
              <a:avLst>
                <a:gd name="adj" fmla="val 26923"/>
              </a:avLst>
            </a:prstGeom>
            <a:solidFill>
              <a:srgbClr val="97B9DD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6000750" y="2209800"/>
              <a:ext cx="2781300" cy="742950"/>
            </a:xfrm>
            <a:prstGeom prst="chevron">
              <a:avLst>
                <a:gd name="adj" fmla="val 26923"/>
              </a:avLst>
            </a:prstGeom>
            <a:solidFill>
              <a:srgbClr val="4A5F80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658225" y="2209800"/>
              <a:ext cx="2781300" cy="742950"/>
            </a:xfrm>
            <a:prstGeom prst="chevron">
              <a:avLst>
                <a:gd name="adj" fmla="val 26923"/>
              </a:avLst>
            </a:prstGeom>
            <a:solidFill>
              <a:srgbClr val="0E1F3A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924817" y="2314575"/>
              <a:ext cx="8275691" cy="674751"/>
              <a:chOff x="1924817" y="2314575"/>
              <a:chExt cx="8275691" cy="674751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688828" y="2314575"/>
                <a:ext cx="775245" cy="6747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-IN" sz="34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346303" y="2314575"/>
                <a:ext cx="775245" cy="6747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-IN" sz="34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003778" y="2314575"/>
                <a:ext cx="775245" cy="6747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-IN" sz="345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3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661253" y="2314575"/>
                <a:ext cx="775245" cy="6747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-IN" sz="345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4</a:t>
                </a:r>
              </a:p>
            </p:txBody>
          </p:sp>
        </p:grpSp>
      </p:grpSp>
      <p:grpSp>
        <p:nvGrpSpPr>
          <p:cNvPr id="18" name="step-1"/>
          <p:cNvGrpSpPr/>
          <p:nvPr/>
        </p:nvGrpSpPr>
        <p:grpSpPr>
          <a:xfrm>
            <a:off x="675894" y="3276600"/>
            <a:ext cx="2006537" cy="1544320"/>
            <a:chOff x="675894" y="3276600"/>
            <a:chExt cx="2006537" cy="1544320"/>
          </a:xfrm>
        </p:grpSpPr>
        <p:sp>
          <p:nvSpPr>
            <p:cNvPr id="16" name="TextBox 16"/>
            <p:cNvSpPr txBox="1"/>
            <p:nvPr/>
          </p:nvSpPr>
          <p:spPr>
            <a:xfrm>
              <a:off x="675894" y="3276600"/>
              <a:ext cx="2553323" cy="6671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IN" sz="19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You pick</a:t>
              </a:r>
              <a:br>
                <a:rPr lang="en-IN" sz="19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-IN" sz="19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your targets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8180" y="3975100"/>
              <a:ext cx="2986526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Tell us the companies and</a:t>
              </a:r>
              <a:b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roles you want. Ten</a:t>
              </a:r>
              <a:b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companies is plenty.</a:t>
              </a:r>
            </a:p>
          </p:txBody>
        </p:sp>
      </p:grpSp>
      <p:grpSp>
        <p:nvGrpSpPr>
          <p:cNvPr id="21" name="step-2"/>
          <p:cNvGrpSpPr/>
          <p:nvPr/>
        </p:nvGrpSpPr>
        <p:grpSpPr>
          <a:xfrm>
            <a:off x="3333369" y="3276600"/>
            <a:ext cx="2043379" cy="2096770"/>
            <a:chOff x="3333369" y="3276600"/>
            <a:chExt cx="2043379" cy="2096770"/>
          </a:xfrm>
        </p:grpSpPr>
        <p:sp>
          <p:nvSpPr>
            <p:cNvPr id="19" name="TextBox 19"/>
            <p:cNvSpPr txBox="1"/>
            <p:nvPr/>
          </p:nvSpPr>
          <p:spPr>
            <a:xfrm>
              <a:off x="3333369" y="3276600"/>
              <a:ext cx="2384302" cy="6671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IN" sz="19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We find the</a:t>
              </a:r>
              <a:br>
                <a:rPr lang="en-IN" sz="19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-IN" sz="19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right people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35655" y="3975100"/>
              <a:ext cx="3034420" cy="13982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Hiring managers, future</a:t>
              </a:r>
              <a:b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teammates, alumni and</a:t>
              </a:r>
              <a:b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senior people who can</a:t>
              </a:r>
              <a:b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introduce you. Researched</a:t>
              </a:r>
              <a:b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one by one.</a:t>
              </a:r>
            </a:p>
          </p:txBody>
        </p:sp>
      </p:grpSp>
      <p:grpSp>
        <p:nvGrpSpPr>
          <p:cNvPr id="24" name="step-3"/>
          <p:cNvGrpSpPr/>
          <p:nvPr/>
        </p:nvGrpSpPr>
        <p:grpSpPr>
          <a:xfrm>
            <a:off x="5990844" y="3276600"/>
            <a:ext cx="1943405" cy="1820545"/>
            <a:chOff x="5990844" y="3276600"/>
            <a:chExt cx="1943405" cy="1820545"/>
          </a:xfrm>
        </p:grpSpPr>
        <p:sp>
          <p:nvSpPr>
            <p:cNvPr id="22" name="TextBox 22"/>
            <p:cNvSpPr txBox="1"/>
            <p:nvPr/>
          </p:nvSpPr>
          <p:spPr>
            <a:xfrm>
              <a:off x="5990844" y="3276600"/>
              <a:ext cx="2333596" cy="6671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IN" sz="19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We write to</a:t>
              </a:r>
              <a:br>
                <a:rPr lang="en-IN" sz="19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-IN" sz="19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each one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93130" y="3975100"/>
              <a:ext cx="2904454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short, personal first</a:t>
              </a:r>
              <a:b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message, built on</a:t>
              </a:r>
              <a:b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something you genuinely</a:t>
              </a:r>
              <a:b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share.</a:t>
              </a:r>
            </a:p>
          </p:txBody>
        </p:sp>
      </p:grpSp>
      <p:grpSp>
        <p:nvGrpSpPr>
          <p:cNvPr id="27" name="step-4"/>
          <p:cNvGrpSpPr/>
          <p:nvPr/>
        </p:nvGrpSpPr>
        <p:grpSpPr>
          <a:xfrm>
            <a:off x="8648319" y="3276600"/>
            <a:ext cx="2069821" cy="1820545"/>
            <a:chOff x="8648319" y="3276600"/>
            <a:chExt cx="2069821" cy="1820545"/>
          </a:xfrm>
        </p:grpSpPr>
        <p:sp>
          <p:nvSpPr>
            <p:cNvPr id="25" name="TextBox 25"/>
            <p:cNvSpPr txBox="1"/>
            <p:nvPr/>
          </p:nvSpPr>
          <p:spPr>
            <a:xfrm>
              <a:off x="8648319" y="3276600"/>
              <a:ext cx="2282889" cy="6671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IN" sz="19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We guide</a:t>
              </a:r>
              <a:br>
                <a:rPr lang="en-IN" sz="19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-IN" sz="19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every reply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50605" y="3975100"/>
              <a:ext cx="306879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We draft your answers and</a:t>
              </a:r>
              <a:b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steer each conversation</a:t>
              </a:r>
              <a:b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until it becomes a referral</a:t>
              </a:r>
              <a:b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or an interview.</a:t>
              </a:r>
            </a:p>
          </p:txBody>
        </p:sp>
      </p:grpSp>
      <p:grpSp>
        <p:nvGrpSpPr>
          <p:cNvPr id="32" name="delivery-strip"/>
          <p:cNvGrpSpPr/>
          <p:nvPr/>
        </p:nvGrpSpPr>
        <p:grpSpPr>
          <a:xfrm>
            <a:off x="685800" y="5619750"/>
            <a:ext cx="10820400" cy="552450"/>
            <a:chOff x="685800" y="5619750"/>
            <a:chExt cx="10820400" cy="552450"/>
          </a:xfrm>
        </p:grpSpPr>
        <p:sp>
          <p:nvSpPr>
            <p:cNvPr id="28" name="Rectangle 28"/>
            <p:cNvSpPr/>
            <p:nvPr/>
          </p:nvSpPr>
          <p:spPr>
            <a:xfrm>
              <a:off x="685800" y="5619750"/>
              <a:ext cx="10820400" cy="5524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15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4494" y="5730875"/>
              <a:ext cx="53463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9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You approve every message.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4191000" y="57531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0E1F3A">
                  <a:alpha val="25000"/>
                </a:srgbClr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411599" y="5772150"/>
              <a:ext cx="7780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Sent from your own LinkedIn, in your own name, or done for you.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678180" y="6362700"/>
            <a:ext cx="10833354" cy="382270"/>
            <a:chOff x="678180" y="6362700"/>
            <a:chExt cx="10833354" cy="382270"/>
          </a:xfrm>
        </p:grpSpPr>
        <p:sp>
          <p:nvSpPr>
            <p:cNvPr id="33" name="Line 33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8180" y="6451600"/>
              <a:ext cx="1167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5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54702" y="6502400"/>
              <a:ext cx="9568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-IN" sz="105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04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69036" y="495300"/>
            <a:ext cx="7360444" cy="1585214"/>
            <a:chOff x="669036" y="495300"/>
            <a:chExt cx="7360444" cy="1585214"/>
          </a:xfrm>
        </p:grpSpPr>
        <p:sp>
          <p:nvSpPr>
            <p:cNvPr id="2" name="Rectangle 2"/>
            <p:cNvSpPr/>
            <p:nvPr/>
          </p:nvSpPr>
          <p:spPr>
            <a:xfrm>
              <a:off x="685800" y="495300"/>
              <a:ext cx="419100" cy="5715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80085" y="717550"/>
              <a:ext cx="2908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120" b="1" spc="18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YOUR TARGET LIST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939800"/>
              <a:ext cx="9949577" cy="11407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Your target list names real people</a:t>
              </a:r>
              <a:b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and a reason to talk to each</a:t>
              </a:r>
            </a:p>
          </p:txBody>
        </p:sp>
      </p:grpSp>
      <p:grpSp>
        <p:nvGrpSpPr>
          <p:cNvPr id="9" name="sample-tag"/>
          <p:cNvGrpSpPr/>
          <p:nvPr/>
        </p:nvGrpSpPr>
        <p:grpSpPr>
          <a:xfrm>
            <a:off x="10172700" y="495300"/>
            <a:ext cx="1333500" cy="402209"/>
            <a:chOff x="10172700" y="495300"/>
            <a:chExt cx="1333500" cy="402209"/>
          </a:xfrm>
        </p:grpSpPr>
        <p:sp>
          <p:nvSpPr>
            <p:cNvPr id="6" name="Rectangle 6"/>
            <p:cNvSpPr/>
            <p:nvPr/>
          </p:nvSpPr>
          <p:spPr>
            <a:xfrm>
              <a:off x="10172700" y="495300"/>
              <a:ext cx="1333500" cy="400050"/>
            </a:xfrm>
            <a:prstGeom prst="roundRect">
              <a:avLst>
                <a:gd name="adj" fmla="val 4762"/>
              </a:avLst>
            </a:prstGeom>
            <a:noFill/>
            <a:ln w="14288">
              <a:solidFill>
                <a:srgbClr val="0E1F3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133476" y="539750"/>
              <a:ext cx="14119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IN" sz="1050" b="1" spc="225" dirty="0">
                  <a:solidFill>
                    <a:srgbClr val="0E1F3A"/>
                  </a:solidFill>
                  <a:latin typeface="Arial"/>
                  <a:ea typeface="Arial"/>
                  <a:cs typeface="Arial"/>
                </a:rPr>
                <a:t>SAMPLE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072921" y="692150"/>
              <a:ext cx="15330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IN" sz="105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for illustration</a:t>
              </a:r>
            </a:p>
          </p:txBody>
        </p:sp>
      </p:grpSp>
      <p:grpSp>
        <p:nvGrpSpPr>
          <p:cNvPr id="38" name="target-table"/>
          <p:cNvGrpSpPr/>
          <p:nvPr/>
        </p:nvGrpSpPr>
        <p:grpSpPr>
          <a:xfrm>
            <a:off x="676656" y="2051050"/>
            <a:ext cx="10829544" cy="3082925"/>
            <a:chOff x="676656" y="2051050"/>
            <a:chExt cx="10829544" cy="3082925"/>
          </a:xfrm>
        </p:grpSpPr>
        <p:sp>
          <p:nvSpPr>
            <p:cNvPr id="10" name="TextBox 10"/>
            <p:cNvSpPr txBox="1"/>
            <p:nvPr/>
          </p:nvSpPr>
          <p:spPr>
            <a:xfrm>
              <a:off x="676656" y="2051050"/>
              <a:ext cx="49998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8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For a move into product at Zepto.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680847" y="2597150"/>
              <a:ext cx="9608617" cy="191643"/>
              <a:chOff x="680847" y="2597150"/>
              <a:chExt cx="9608617" cy="191643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680847" y="2597150"/>
                <a:ext cx="89220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980" b="1" spc="150" dirty="0">
                    <a:solidFill>
                      <a:srgbClr val="4A5F80"/>
                    </a:solidFill>
                    <a:latin typeface="Arial"/>
                    <a:ea typeface="Arial"/>
                    <a:cs typeface="Arial"/>
                  </a:rPr>
                  <a:t>WHO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186047" y="2597150"/>
                <a:ext cx="1179339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980" b="1" spc="150" dirty="0">
                    <a:solidFill>
                      <a:srgbClr val="4A5F80"/>
                    </a:solidFill>
                    <a:latin typeface="Arial"/>
                    <a:ea typeface="Arial"/>
                    <a:cs typeface="Arial"/>
                  </a:rPr>
                  <a:t>WHERE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519547" y="2597150"/>
                <a:ext cx="389863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980" b="1" spc="150" dirty="0">
                    <a:solidFill>
                      <a:srgbClr val="4A5F80"/>
                    </a:solidFill>
                    <a:latin typeface="Arial"/>
                    <a:ea typeface="Arial"/>
                    <a:cs typeface="Arial"/>
                  </a:rPr>
                  <a:t>THE SHARED REASON TO TALK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615297" y="2597150"/>
                <a:ext cx="125741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980" b="1" spc="150" dirty="0">
                    <a:solidFill>
                      <a:srgbClr val="4A5F80"/>
                    </a:solidFill>
                    <a:latin typeface="Arial"/>
                    <a:ea typeface="Arial"/>
                    <a:cs typeface="Arial"/>
                  </a:rPr>
                  <a:t>STATUS</a:t>
                </a:r>
              </a:p>
            </p:txBody>
          </p:sp>
        </p:grpSp>
        <p:sp>
          <p:nvSpPr>
            <p:cNvPr id="16" name="Line 16"/>
            <p:cNvSpPr/>
            <p:nvPr/>
          </p:nvSpPr>
          <p:spPr>
            <a:xfrm>
              <a:off x="685800" y="28384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0E1F3A"/>
              </a:solidFill>
            </a:ln>
          </p:spPr>
        </p:sp>
        <p:grpSp>
          <p:nvGrpSpPr>
            <p:cNvPr id="23" name="target-row-1"/>
            <p:cNvGrpSpPr/>
            <p:nvPr/>
          </p:nvGrpSpPr>
          <p:grpSpPr>
            <a:xfrm>
              <a:off x="676656" y="2978150"/>
              <a:ext cx="10829544" cy="631825"/>
              <a:chOff x="676656" y="2978150"/>
              <a:chExt cx="10829544" cy="631825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76656" y="3060700"/>
                <a:ext cx="434648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80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Hiring manager, Product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182618" y="3073400"/>
                <a:ext cx="11449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650" dirty="0">
                    <a:solidFill>
                      <a:srgbClr val="0E1F3A"/>
                    </a:solidFill>
                    <a:latin typeface="+mn-lt"/>
                    <a:ea typeface="+mn-ea"/>
                    <a:cs typeface="+mn-cs"/>
                  </a:rPr>
                  <a:t>Zepto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516499" y="2978150"/>
                <a:ext cx="3973784" cy="5756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IN" sz="158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Both started in FMCG brand roles</a:t>
                </a:r>
                <a:br>
                  <a:rPr lang="en-IN" sz="158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IN" sz="158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before product</a:t>
                </a:r>
              </a:p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9667875" y="3171825"/>
                <a:ext cx="95250" cy="9525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862947" y="3149600"/>
                <a:ext cx="224863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980" dirty="0">
                    <a:solidFill>
                      <a:srgbClr val="0E1F3A"/>
                    </a:solidFill>
                    <a:latin typeface="Arial"/>
                    <a:ea typeface="Arial"/>
                    <a:cs typeface="Arial"/>
                  </a:rPr>
                  <a:t>Message drafted for you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685800" y="36004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0E1F3A">
                    <a:alpha val="20000"/>
                  </a:srgbClr>
                </a:solidFill>
              </a:ln>
            </p:spPr>
          </p:sp>
        </p:grpSp>
        <p:grpSp>
          <p:nvGrpSpPr>
            <p:cNvPr id="30" name="target-row-2"/>
            <p:cNvGrpSpPr/>
            <p:nvPr/>
          </p:nvGrpSpPr>
          <p:grpSpPr>
            <a:xfrm>
              <a:off x="676656" y="3822700"/>
              <a:ext cx="10829544" cy="549275"/>
              <a:chOff x="676656" y="3822700"/>
              <a:chExt cx="10829544" cy="549275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676656" y="3822700"/>
                <a:ext cx="45793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80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Product manager, Growth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182618" y="3835400"/>
                <a:ext cx="11449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650" dirty="0">
                    <a:solidFill>
                      <a:srgbClr val="0E1F3A"/>
                    </a:solidFill>
                    <a:latin typeface="+mn-lt"/>
                    <a:ea typeface="+mn-ea"/>
                    <a:cs typeface="+mn-cs"/>
                  </a:rPr>
                  <a:t>Zepto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516499" y="3848100"/>
                <a:ext cx="4333119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58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Same college, three batches apart</a:t>
                </a: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9667875" y="3933825"/>
                <a:ext cx="95250" cy="9525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862947" y="3911600"/>
                <a:ext cx="224863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980" dirty="0">
                    <a:solidFill>
                      <a:srgbClr val="0E1F3A"/>
                    </a:solidFill>
                    <a:latin typeface="Arial"/>
                    <a:ea typeface="Arial"/>
                    <a:cs typeface="Arial"/>
                  </a:rPr>
                  <a:t>Message drafted for you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685800" y="43624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0E1F3A">
                    <a:alpha val="20000"/>
                  </a:srgbClr>
                </a:solidFill>
              </a:ln>
            </p:spPr>
          </p:sp>
        </p:grpSp>
        <p:grpSp>
          <p:nvGrpSpPr>
            <p:cNvPr id="37" name="target-row-3"/>
            <p:cNvGrpSpPr/>
            <p:nvPr/>
          </p:nvGrpSpPr>
          <p:grpSpPr>
            <a:xfrm>
              <a:off x="676656" y="4502150"/>
              <a:ext cx="10829544" cy="631825"/>
              <a:chOff x="676656" y="4502150"/>
              <a:chExt cx="10829544" cy="631825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676656" y="4584700"/>
                <a:ext cx="485133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80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Senior PM, Quick commerce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182618" y="4597400"/>
                <a:ext cx="127638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650" dirty="0">
                    <a:solidFill>
                      <a:srgbClr val="0E1F3A"/>
                    </a:solidFill>
                    <a:latin typeface="+mn-lt"/>
                    <a:ea typeface="+mn-ea"/>
                    <a:cs typeface="+mn-cs"/>
                  </a:rPr>
                  <a:t>Blinkit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516499" y="4502150"/>
                <a:ext cx="4733349" cy="5756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IN" sz="158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Wrote about a launch you worked on as a</a:t>
                </a:r>
                <a:br>
                  <a:rPr lang="en-IN" sz="158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IN" sz="158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brand manager</a:t>
                </a:r>
              </a:p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9667875" y="4695825"/>
                <a:ext cx="95250" cy="95250"/>
              </a:xfrm>
              <a:prstGeom prst="ellipse">
                <a:avLst/>
              </a:prstGeom>
              <a:noFill/>
              <a:ln w="19050">
                <a:solidFill>
                  <a:srgbClr val="4A5F80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9862947" y="4673600"/>
                <a:ext cx="1361769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980" dirty="0">
                    <a:solidFill>
                      <a:srgbClr val="4A5F80"/>
                    </a:solidFill>
                    <a:latin typeface="Arial"/>
                    <a:ea typeface="Arial"/>
                    <a:cs typeface="Arial"/>
                  </a:rPr>
                  <a:t>Researching</a:t>
                </a:r>
              </a:p>
            </p:txBody>
          </p:sp>
          <p:sp>
            <p:nvSpPr>
              <p:cNvPr id="36" name="Line 36"/>
              <p:cNvSpPr/>
              <p:nvPr/>
            </p:nvSpPr>
            <p:spPr>
              <a:xfrm>
                <a:off x="685800" y="51244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0E1F3A">
                    <a:alpha val="20000"/>
                  </a:srgbClr>
                </a:solidFill>
              </a:ln>
            </p:spPr>
          </p:sp>
        </p:grpSp>
      </p:grpSp>
      <p:grpSp>
        <p:nvGrpSpPr>
          <p:cNvPr id="41" name="list-takeaway"/>
          <p:cNvGrpSpPr/>
          <p:nvPr/>
        </p:nvGrpSpPr>
        <p:grpSpPr>
          <a:xfrm>
            <a:off x="685800" y="5391150"/>
            <a:ext cx="10820400" cy="552450"/>
            <a:chOff x="685800" y="5391150"/>
            <a:chExt cx="10820400" cy="552450"/>
          </a:xfrm>
        </p:grpSpPr>
        <p:sp>
          <p:nvSpPr>
            <p:cNvPr id="39" name="Rectangle 39"/>
            <p:cNvSpPr/>
            <p:nvPr/>
          </p:nvSpPr>
          <p:spPr>
            <a:xfrm>
              <a:off x="685800" y="5391150"/>
              <a:ext cx="10820400" cy="5524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06018" y="5530850"/>
              <a:ext cx="112032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6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 short list of people who can actually move your application, each chosen for a reason.</a:t>
              </a:r>
            </a:p>
          </p:txBody>
        </p:sp>
      </p:grpSp>
      <p:grpSp>
        <p:nvGrpSpPr>
          <p:cNvPr id="43" name="list-note"/>
          <p:cNvGrpSpPr/>
          <p:nvPr/>
        </p:nvGrpSpPr>
        <p:grpSpPr>
          <a:xfrm>
            <a:off x="680847" y="6083300"/>
            <a:ext cx="5273421" cy="191643"/>
            <a:chOff x="680847" y="6083300"/>
            <a:chExt cx="5273421" cy="191643"/>
          </a:xfrm>
        </p:grpSpPr>
        <p:sp>
          <p:nvSpPr>
            <p:cNvPr id="42" name="TextBox 42"/>
            <p:cNvSpPr txBox="1"/>
            <p:nvPr/>
          </p:nvSpPr>
          <p:spPr>
            <a:xfrm>
              <a:off x="680847" y="6083300"/>
              <a:ext cx="72364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98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Sample for illustration, showing 3 of the 60 people in a Sprint. Real lists name real people.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678180" y="6362700"/>
            <a:ext cx="10833354" cy="382270"/>
            <a:chOff x="678180" y="6362700"/>
            <a:chExt cx="10833354" cy="382270"/>
          </a:xfrm>
        </p:grpSpPr>
        <p:sp>
          <p:nvSpPr>
            <p:cNvPr id="44" name="Line 44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8180" y="6451600"/>
              <a:ext cx="1167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5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554702" y="6502400"/>
              <a:ext cx="9568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-IN" sz="105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69036" y="495300"/>
            <a:ext cx="6612350" cy="1585214"/>
            <a:chOff x="669036" y="495300"/>
            <a:chExt cx="6612350" cy="1585214"/>
          </a:xfrm>
        </p:grpSpPr>
        <p:sp>
          <p:nvSpPr>
            <p:cNvPr id="2" name="Rectangle 2"/>
            <p:cNvSpPr/>
            <p:nvPr/>
          </p:nvSpPr>
          <p:spPr>
            <a:xfrm>
              <a:off x="685800" y="495300"/>
              <a:ext cx="419100" cy="5715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80085" y="717550"/>
              <a:ext cx="30916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120" b="1" spc="18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THE FIRST MESSAGE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939800"/>
              <a:ext cx="8977055" cy="11407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 good first message is short,</a:t>
              </a:r>
              <a:b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specific and about them</a:t>
              </a:r>
            </a:p>
          </p:txBody>
        </p:sp>
      </p:grpSp>
      <p:grpSp>
        <p:nvGrpSpPr>
          <p:cNvPr id="9" name="example-tag"/>
          <p:cNvGrpSpPr/>
          <p:nvPr/>
        </p:nvGrpSpPr>
        <p:grpSpPr>
          <a:xfrm>
            <a:off x="10172700" y="495300"/>
            <a:ext cx="1333500" cy="402209"/>
            <a:chOff x="10172700" y="495300"/>
            <a:chExt cx="1333500" cy="402209"/>
          </a:xfrm>
        </p:grpSpPr>
        <p:sp>
          <p:nvSpPr>
            <p:cNvPr id="6" name="Rectangle 6"/>
            <p:cNvSpPr/>
            <p:nvPr/>
          </p:nvSpPr>
          <p:spPr>
            <a:xfrm>
              <a:off x="10172700" y="495300"/>
              <a:ext cx="1333500" cy="400050"/>
            </a:xfrm>
            <a:prstGeom prst="roundRect">
              <a:avLst>
                <a:gd name="adj" fmla="val 4762"/>
              </a:avLst>
            </a:prstGeom>
            <a:noFill/>
            <a:ln w="14288">
              <a:solidFill>
                <a:srgbClr val="0E1F3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047921" y="539750"/>
              <a:ext cx="15830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IN" sz="1050" b="1" spc="225" dirty="0">
                  <a:solidFill>
                    <a:srgbClr val="0E1F3A"/>
                  </a:solidFill>
                  <a:latin typeface="Arial"/>
                  <a:ea typeface="Arial"/>
                  <a:cs typeface="Arial"/>
                </a:rPr>
                <a:t>EXAMPLE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32353" y="692150"/>
              <a:ext cx="1414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IN" sz="105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first message</a:t>
              </a:r>
            </a:p>
          </p:txBody>
        </p:sp>
      </p:grpSp>
      <p:grpSp>
        <p:nvGrpSpPr>
          <p:cNvPr id="27" name="message-card"/>
          <p:cNvGrpSpPr/>
          <p:nvPr/>
        </p:nvGrpSpPr>
        <p:grpSpPr>
          <a:xfrm>
            <a:off x="685800" y="2209800"/>
            <a:ext cx="6362700" cy="3962400"/>
            <a:chOff x="685800" y="2209800"/>
            <a:chExt cx="6362700" cy="3962400"/>
          </a:xfrm>
        </p:grpSpPr>
        <p:sp>
          <p:nvSpPr>
            <p:cNvPr id="10" name="Rectangle 10"/>
            <p:cNvSpPr/>
            <p:nvPr/>
          </p:nvSpPr>
          <p:spPr>
            <a:xfrm>
              <a:off x="685800" y="2209800"/>
              <a:ext cx="6362700" cy="39624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15000"/>
                </a:srgbClr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76300" y="2419350"/>
              <a:ext cx="381000" cy="381000"/>
            </a:xfrm>
            <a:prstGeom prst="ellipse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7305" y="2482850"/>
              <a:ext cx="5789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IN" sz="16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63218" y="2387600"/>
              <a:ext cx="16043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6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To Rahul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65504" y="2647950"/>
              <a:ext cx="36638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200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Product, Zepto · previously Flipkart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914400" y="30099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9525">
              <a:solidFill>
                <a:srgbClr val="0E1F3A">
                  <a:alpha val="15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2594" y="3111500"/>
              <a:ext cx="21370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Hey Rahul,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990600" y="3571875"/>
              <a:ext cx="266700" cy="26670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512" y="3613150"/>
              <a:ext cx="504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IN" sz="1120" b="1" dirty="0">
                  <a:solidFill>
                    <a:srgbClr val="FAFCFE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14094" y="3536950"/>
              <a:ext cx="4233716" cy="7052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I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saw you moved from Flipkart</a:t>
              </a:r>
              <a:br>
                <a:rPr lang="en-I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into product at Zepto.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990600" y="4352925"/>
              <a:ext cx="266700" cy="26670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1512" y="4394200"/>
              <a:ext cx="504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IN" sz="1120" b="1" dirty="0">
                  <a:solidFill>
                    <a:srgbClr val="FAFCFE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14094" y="4318000"/>
              <a:ext cx="3808749" cy="7052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I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I'm making a similar jump</a:t>
              </a:r>
              <a:br>
                <a:rPr lang="en-I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from brand management.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990600" y="5133975"/>
              <a:ext cx="266700" cy="26670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1512" y="5175250"/>
              <a:ext cx="504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IN" sz="1120" b="1" dirty="0">
                  <a:solidFill>
                    <a:srgbClr val="FAFCFE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14094" y="5099050"/>
              <a:ext cx="4278530" cy="7052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I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Curious, what was the biggest</a:t>
              </a:r>
              <a:br>
                <a:rPr lang="en-I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adjustment for you?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547" y="5911850"/>
              <a:ext cx="36671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98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Approved by you. Sent from your LinkedIn.</a:t>
              </a:r>
            </a:p>
          </p:txBody>
        </p:sp>
      </p:grpSp>
      <p:grpSp>
        <p:nvGrpSpPr>
          <p:cNvPr id="44" name="why-it-works"/>
          <p:cNvGrpSpPr/>
          <p:nvPr/>
        </p:nvGrpSpPr>
        <p:grpSpPr>
          <a:xfrm>
            <a:off x="7615047" y="2216150"/>
            <a:ext cx="3535998" cy="3893820"/>
            <a:chOff x="7615047" y="2216150"/>
            <a:chExt cx="3535998" cy="3893820"/>
          </a:xfrm>
        </p:grpSpPr>
        <p:sp>
          <p:nvSpPr>
            <p:cNvPr id="28" name="TextBox 28"/>
            <p:cNvSpPr txBox="1"/>
            <p:nvPr/>
          </p:nvSpPr>
          <p:spPr>
            <a:xfrm>
              <a:off x="7615047" y="2216150"/>
              <a:ext cx="207805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980" b="1" spc="15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WHY IT WORKS</a:t>
              </a:r>
            </a:p>
          </p:txBody>
        </p:sp>
        <p:grpSp>
          <p:nvGrpSpPr>
            <p:cNvPr id="33" name="note-1"/>
            <p:cNvGrpSpPr/>
            <p:nvPr/>
          </p:nvGrpSpPr>
          <p:grpSpPr>
            <a:xfrm>
              <a:off x="7620000" y="2654300"/>
              <a:ext cx="3138335" cy="1169670"/>
              <a:chOff x="7620000" y="2654300"/>
              <a:chExt cx="3138335" cy="1169670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7620000" y="2705100"/>
                <a:ext cx="266700" cy="26670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500912" y="2746375"/>
                <a:ext cx="50487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-IN" sz="1120" b="1" dirty="0">
                    <a:solidFill>
                      <a:srgbClr val="FAFCFE"/>
                    </a:solidFill>
                    <a:latin typeface="Arial"/>
                    <a:ea typeface="Arial"/>
                    <a:cs typeface="Arial"/>
                  </a:rPr>
                  <a:t>1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048244" y="2654300"/>
                <a:ext cx="357276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9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Proves we looked.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050530" y="2997200"/>
                <a:ext cx="3901146" cy="8267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It names something real about their</a:t>
                </a:r>
                <a:b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path, so it cannot be mistaken for a</a:t>
                </a:r>
                <a:b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mass message.</a:t>
                </a:r>
              </a:p>
            </p:txBody>
          </p:sp>
        </p:grpSp>
        <p:grpSp>
          <p:nvGrpSpPr>
            <p:cNvPr id="38" name="note-2"/>
            <p:cNvGrpSpPr/>
            <p:nvPr/>
          </p:nvGrpSpPr>
          <p:grpSpPr>
            <a:xfrm>
              <a:off x="7620000" y="4006850"/>
              <a:ext cx="3531045" cy="902970"/>
              <a:chOff x="7620000" y="4006850"/>
              <a:chExt cx="3531045" cy="902970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7620000" y="4057650"/>
                <a:ext cx="266700" cy="26670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500912" y="4098925"/>
                <a:ext cx="50487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-IN" sz="1120" b="1" dirty="0">
                    <a:solidFill>
                      <a:srgbClr val="FAFCFE"/>
                    </a:solidFill>
                    <a:latin typeface="Arial"/>
                    <a:ea typeface="Arial"/>
                    <a:cs typeface="Arial"/>
                  </a:rPr>
                  <a:t>2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048244" y="4006850"/>
                <a:ext cx="414375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9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Gives a reason to talk.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050530" y="4349750"/>
                <a:ext cx="4128043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A shared move makes you a peer, not</a:t>
                </a:r>
                <a:b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a stranger asking for a favour.</a:t>
                </a:r>
              </a:p>
            </p:txBody>
          </p:sp>
        </p:grpSp>
        <p:grpSp>
          <p:nvGrpSpPr>
            <p:cNvPr id="43" name="note-3"/>
            <p:cNvGrpSpPr/>
            <p:nvPr/>
          </p:nvGrpSpPr>
          <p:grpSpPr>
            <a:xfrm>
              <a:off x="7620000" y="5207000"/>
              <a:ext cx="3338027" cy="902970"/>
              <a:chOff x="7620000" y="5207000"/>
              <a:chExt cx="3338027" cy="902970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7620000" y="5257800"/>
                <a:ext cx="266700" cy="26670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500912" y="5299075"/>
                <a:ext cx="50487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-IN" sz="1120" b="1" dirty="0">
                    <a:solidFill>
                      <a:srgbClr val="FAFCFE"/>
                    </a:solidFill>
                    <a:latin typeface="Arial"/>
                    <a:ea typeface="Arial"/>
                    <a:cs typeface="Arial"/>
                  </a:rPr>
                  <a:t>3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048244" y="5207000"/>
                <a:ext cx="414375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9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Asks something easy.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050530" y="5549900"/>
                <a:ext cx="3797926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One question they can answer in a</a:t>
                </a:r>
                <a:b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line. No referral ask yet.</a:t>
                </a:r>
              </a:p>
            </p:txBody>
          </p:sp>
        </p:grpSp>
      </p:grpSp>
      <p:grpSp>
        <p:nvGrpSpPr>
          <p:cNvPr id="48" name="footer"/>
          <p:cNvGrpSpPr/>
          <p:nvPr/>
        </p:nvGrpSpPr>
        <p:grpSpPr>
          <a:xfrm>
            <a:off x="678180" y="6362700"/>
            <a:ext cx="10833354" cy="382270"/>
            <a:chOff x="678180" y="6362700"/>
            <a:chExt cx="10833354" cy="382270"/>
          </a:xfrm>
        </p:grpSpPr>
        <p:sp>
          <p:nvSpPr>
            <p:cNvPr id="45" name="Line 45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8180" y="6451600"/>
              <a:ext cx="1167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5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554702" y="6502400"/>
              <a:ext cx="9568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-IN" sz="105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69036" y="495300"/>
            <a:ext cx="7976521" cy="1585214"/>
            <a:chOff x="669036" y="495300"/>
            <a:chExt cx="7976521" cy="1585214"/>
          </a:xfrm>
        </p:grpSpPr>
        <p:sp>
          <p:nvSpPr>
            <p:cNvPr id="2" name="Rectangle 2"/>
            <p:cNvSpPr/>
            <p:nvPr/>
          </p:nvSpPr>
          <p:spPr>
            <a:xfrm>
              <a:off x="685800" y="495300"/>
              <a:ext cx="419100" cy="5715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80085" y="717550"/>
              <a:ext cx="3090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120" b="1" spc="18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WHY IT IS NOT SPAM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939800"/>
              <a:ext cx="10750477" cy="11407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60 hand-picked people and one reader</a:t>
              </a:r>
              <a:b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per message is the opposite of spam</a:t>
              </a:r>
            </a:p>
          </p:txBody>
        </p:sp>
      </p:grpSp>
      <p:grpSp>
        <p:nvGrpSpPr>
          <p:cNvPr id="9" name="sixty-panel"/>
          <p:cNvGrpSpPr/>
          <p:nvPr/>
        </p:nvGrpSpPr>
        <p:grpSpPr>
          <a:xfrm>
            <a:off x="685800" y="2209800"/>
            <a:ext cx="3619500" cy="3771900"/>
            <a:chOff x="685800" y="2209800"/>
            <a:chExt cx="3619500" cy="3771900"/>
          </a:xfrm>
        </p:grpSpPr>
        <p:sp>
          <p:nvSpPr>
            <p:cNvPr id="6" name="Rectangle 6"/>
            <p:cNvSpPr/>
            <p:nvPr/>
          </p:nvSpPr>
          <p:spPr>
            <a:xfrm>
              <a:off x="685800" y="2209800"/>
              <a:ext cx="3619500" cy="3771900"/>
            </a:xfrm>
            <a:prstGeom prst="rect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33450" y="2476500"/>
              <a:ext cx="3462509" cy="2876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50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60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3356" y="4584700"/>
              <a:ext cx="3399694" cy="999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IN" sz="18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hand-picked people,</a:t>
              </a:r>
              <a:br>
                <a:rPr lang="en-IN" sz="18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8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each chosen for a reason.</a:t>
              </a:r>
              <a:br>
                <a:rPr lang="en-IN" sz="18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800" b="1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Not 6,000 messages.</a:t>
              </a:r>
            </a:p>
          </p:txBody>
        </p:sp>
      </p:grpSp>
      <p:grpSp>
        <p:nvGrpSpPr>
          <p:cNvPr id="23" name="reasons"/>
          <p:cNvGrpSpPr/>
          <p:nvPr/>
        </p:nvGrpSpPr>
        <p:grpSpPr>
          <a:xfrm>
            <a:off x="4751070" y="2209800"/>
            <a:ext cx="6755130" cy="3781425"/>
            <a:chOff x="4751070" y="2209800"/>
            <a:chExt cx="6755130" cy="3781425"/>
          </a:xfrm>
        </p:grpSpPr>
        <p:sp>
          <p:nvSpPr>
            <p:cNvPr id="10" name="Line 10"/>
            <p:cNvSpPr/>
            <p:nvPr/>
          </p:nvSpPr>
          <p:spPr>
            <a:xfrm>
              <a:off x="4762500" y="2209800"/>
              <a:ext cx="6743700" cy="9525"/>
            </a:xfrm>
            <a:custGeom>
              <a:avLst/>
              <a:gdLst/>
              <a:ahLst/>
              <a:cxnLst/>
              <a:rect l="l" t="t" r="r" b="b"/>
              <a:pathLst>
                <a:path w="6743700" h="9525">
                  <a:moveTo>
                    <a:pt x="0" y="0"/>
                  </a:moveTo>
                  <a:lnTo>
                    <a:pt x="6743700" y="0"/>
                  </a:lnTo>
                </a:path>
              </a:pathLst>
            </a:custGeom>
            <a:noFill/>
            <a:ln w="19050">
              <a:solidFill>
                <a:srgbClr val="0E1F3A"/>
              </a:solidFill>
            </a:ln>
          </p:spPr>
        </p:sp>
        <p:grpSp>
          <p:nvGrpSpPr>
            <p:cNvPr id="13" name="reason-reader"/>
            <p:cNvGrpSpPr/>
            <p:nvPr/>
          </p:nvGrpSpPr>
          <p:grpSpPr>
            <a:xfrm>
              <a:off x="4751070" y="2349500"/>
              <a:ext cx="5435525" cy="994791"/>
              <a:chOff x="4751070" y="2349500"/>
              <a:chExt cx="5435525" cy="994791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4751070" y="2349500"/>
                <a:ext cx="5283248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22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One reader per message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754499" y="2768600"/>
                <a:ext cx="7437501" cy="5756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IN" sz="158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Every message is written for one person. No templates with a name</a:t>
                </a:r>
                <a:br>
                  <a:rPr lang="en-IN" sz="158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IN" sz="158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swapped in. If it could be sent to anyone, we do not send it.</a:t>
                </a:r>
              </a:p>
            </p:txBody>
          </p:sp>
        </p:grpSp>
        <p:sp>
          <p:nvSpPr>
            <p:cNvPr id="14" name="Line 14"/>
            <p:cNvSpPr/>
            <p:nvPr/>
          </p:nvSpPr>
          <p:spPr>
            <a:xfrm>
              <a:off x="4762500" y="3467100"/>
              <a:ext cx="6743700" cy="9525"/>
            </a:xfrm>
            <a:custGeom>
              <a:avLst/>
              <a:gdLst/>
              <a:ahLst/>
              <a:cxnLst/>
              <a:rect l="l" t="t" r="r" b="b"/>
              <a:pathLst>
                <a:path w="6743700" h="9525">
                  <a:moveTo>
                    <a:pt x="0" y="0"/>
                  </a:moveTo>
                  <a:lnTo>
                    <a:pt x="6743700" y="0"/>
                  </a:lnTo>
                </a:path>
              </a:pathLst>
            </a:custGeom>
            <a:noFill/>
            <a:ln w="9525">
              <a:solidFill>
                <a:srgbClr val="0E1F3A">
                  <a:alpha val="25000"/>
                </a:srgbClr>
              </a:solidFill>
            </a:ln>
          </p:spPr>
        </p:sp>
        <p:grpSp>
          <p:nvGrpSpPr>
            <p:cNvPr id="17" name="reason-talk"/>
            <p:cNvGrpSpPr/>
            <p:nvPr/>
          </p:nvGrpSpPr>
          <p:grpSpPr>
            <a:xfrm>
              <a:off x="4751070" y="3606800"/>
              <a:ext cx="5580041" cy="994791"/>
              <a:chOff x="4751070" y="3606800"/>
              <a:chExt cx="5580041" cy="994791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4751070" y="3606800"/>
                <a:ext cx="457974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22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Talk first, ask later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754499" y="4025900"/>
                <a:ext cx="7437501" cy="5756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IN" sz="158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Nobody refers a stranger. We open with curiosity, earn the reply, and</a:t>
                </a:r>
                <a:br>
                  <a:rPr lang="en-IN" sz="158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IN" sz="158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ask for the referral once there is something real between you.</a:t>
                </a:r>
              </a:p>
            </p:txBody>
          </p:sp>
        </p:grpSp>
        <p:sp>
          <p:nvSpPr>
            <p:cNvPr id="18" name="Line 18"/>
            <p:cNvSpPr/>
            <p:nvPr/>
          </p:nvSpPr>
          <p:spPr>
            <a:xfrm>
              <a:off x="4762500" y="4724400"/>
              <a:ext cx="6743700" cy="9525"/>
            </a:xfrm>
            <a:custGeom>
              <a:avLst/>
              <a:gdLst/>
              <a:ahLst/>
              <a:cxnLst/>
              <a:rect l="l" t="t" r="r" b="b"/>
              <a:pathLst>
                <a:path w="6743700" h="9525">
                  <a:moveTo>
                    <a:pt x="0" y="0"/>
                  </a:moveTo>
                  <a:lnTo>
                    <a:pt x="6743700" y="0"/>
                  </a:lnTo>
                </a:path>
              </a:pathLst>
            </a:custGeom>
            <a:noFill/>
            <a:ln w="9525">
              <a:solidFill>
                <a:srgbClr val="0E1F3A">
                  <a:alpha val="25000"/>
                </a:srgbClr>
              </a:solidFill>
            </a:ln>
          </p:spPr>
        </p:sp>
        <p:grpSp>
          <p:nvGrpSpPr>
            <p:cNvPr id="21" name="reason-method"/>
            <p:cNvGrpSpPr/>
            <p:nvPr/>
          </p:nvGrpSpPr>
          <p:grpSpPr>
            <a:xfrm>
              <a:off x="4751070" y="4864100"/>
              <a:ext cx="5819869" cy="994791"/>
              <a:chOff x="4751070" y="4864100"/>
              <a:chExt cx="5819869" cy="994791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4751070" y="4864100"/>
                <a:ext cx="681301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22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Research, relevance, follow-up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754499" y="5283200"/>
                <a:ext cx="7437501" cy="5756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IN" sz="158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The way good sales teams reach busy people, applied to the one product</a:t>
                </a:r>
                <a:br>
                  <a:rPr lang="en-IN" sz="158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IN" sz="158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you know best: you.</a:t>
                </a:r>
              </a:p>
            </p:txBody>
          </p:sp>
        </p:grpSp>
        <p:sp>
          <p:nvSpPr>
            <p:cNvPr id="22" name="Line 22"/>
            <p:cNvSpPr/>
            <p:nvPr/>
          </p:nvSpPr>
          <p:spPr>
            <a:xfrm>
              <a:off x="4762500" y="5981700"/>
              <a:ext cx="6743700" cy="9525"/>
            </a:xfrm>
            <a:custGeom>
              <a:avLst/>
              <a:gdLst/>
              <a:ahLst/>
              <a:cxnLst/>
              <a:rect l="l" t="t" r="r" b="b"/>
              <a:pathLst>
                <a:path w="6743700" h="9525">
                  <a:moveTo>
                    <a:pt x="0" y="0"/>
                  </a:moveTo>
                  <a:lnTo>
                    <a:pt x="6743700" y="0"/>
                  </a:lnTo>
                </a:path>
              </a:pathLst>
            </a:custGeom>
            <a:noFill/>
            <a:ln w="9525">
              <a:solidFill>
                <a:srgbClr val="0E1F3A">
                  <a:alpha val="25000"/>
                </a:srgbClr>
              </a:solidFill>
            </a:ln>
          </p:spPr>
        </p:sp>
      </p:grpSp>
      <p:grpSp>
        <p:nvGrpSpPr>
          <p:cNvPr id="27" name="footer"/>
          <p:cNvGrpSpPr/>
          <p:nvPr/>
        </p:nvGrpSpPr>
        <p:grpSpPr>
          <a:xfrm>
            <a:off x="678180" y="6362700"/>
            <a:ext cx="10833354" cy="382270"/>
            <a:chOff x="678180" y="6362700"/>
            <a:chExt cx="10833354" cy="382270"/>
          </a:xfrm>
        </p:grpSpPr>
        <p:sp>
          <p:nvSpPr>
            <p:cNvPr id="24" name="Line 24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8180" y="6451600"/>
              <a:ext cx="1167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5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54702" y="6502400"/>
              <a:ext cx="9568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-IN" sz="105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69036" y="495300"/>
            <a:ext cx="7580471" cy="1585214"/>
            <a:chOff x="669036" y="495300"/>
            <a:chExt cx="7580471" cy="1585214"/>
          </a:xfrm>
        </p:grpSpPr>
        <p:sp>
          <p:nvSpPr>
            <p:cNvPr id="2" name="Rectangle 2"/>
            <p:cNvSpPr/>
            <p:nvPr/>
          </p:nvSpPr>
          <p:spPr>
            <a:xfrm>
              <a:off x="685800" y="495300"/>
              <a:ext cx="419100" cy="5715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80085" y="717550"/>
              <a:ext cx="23726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120" b="1" spc="18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WHAT YOU GET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939800"/>
              <a:ext cx="10235612" cy="11407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Each week: the list, the research,</a:t>
              </a:r>
              <a:b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messages and a results report</a:t>
              </a:r>
            </a:p>
          </p:txBody>
        </p:sp>
      </p:grpSp>
      <p:grpSp>
        <p:nvGrpSpPr>
          <p:cNvPr id="32" name="weekly-ledger"/>
          <p:cNvGrpSpPr/>
          <p:nvPr/>
        </p:nvGrpSpPr>
        <p:grpSpPr>
          <a:xfrm>
            <a:off x="670560" y="2209800"/>
            <a:ext cx="10835640" cy="3724275"/>
            <a:chOff x="670560" y="2209800"/>
            <a:chExt cx="10835640" cy="3724275"/>
          </a:xfrm>
        </p:grpSpPr>
        <p:sp>
          <p:nvSpPr>
            <p:cNvPr id="6" name="Line 6"/>
            <p:cNvSpPr/>
            <p:nvPr/>
          </p:nvSpPr>
          <p:spPr>
            <a:xfrm>
              <a:off x="685800" y="2209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0E1F3A"/>
              </a:solidFill>
            </a:ln>
          </p:spPr>
        </p:sp>
        <p:grpSp>
          <p:nvGrpSpPr>
            <p:cNvPr id="10" name="item-list"/>
            <p:cNvGrpSpPr/>
            <p:nvPr/>
          </p:nvGrpSpPr>
          <p:grpSpPr>
            <a:xfrm>
              <a:off x="670560" y="2317750"/>
              <a:ext cx="9839744" cy="586740"/>
              <a:chOff x="670560" y="2317750"/>
              <a:chExt cx="9839744" cy="586740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670560" y="2317750"/>
                <a:ext cx="1027019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3000" b="1" dirty="0">
                    <a:solidFill>
                      <a:srgbClr val="4A5F80"/>
                    </a:solidFill>
                    <a:latin typeface="+mj-lt"/>
                    <a:ea typeface="+mj-ea"/>
                    <a:cs typeface="+mj-cs"/>
                  </a:rPr>
                  <a:t>01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514094" y="2406650"/>
                <a:ext cx="321298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9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Your target list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850380" y="2343150"/>
                <a:ext cx="5138901" cy="5410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The people worth writing to, each with a shared</a:t>
                </a:r>
                <a:b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reason to talk.</a:t>
                </a:r>
              </a:p>
            </p:txBody>
          </p:sp>
        </p:grpSp>
        <p:sp>
          <p:nvSpPr>
            <p:cNvPr id="11" name="Line 11"/>
            <p:cNvSpPr/>
            <p:nvPr/>
          </p:nvSpPr>
          <p:spPr>
            <a:xfrm>
              <a:off x="685800" y="2952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</p:sp>
        <p:grpSp>
          <p:nvGrpSpPr>
            <p:cNvPr id="15" name="item-research"/>
            <p:cNvGrpSpPr/>
            <p:nvPr/>
          </p:nvGrpSpPr>
          <p:grpSpPr>
            <a:xfrm>
              <a:off x="670560" y="3060700"/>
              <a:ext cx="10162794" cy="586740"/>
              <a:chOff x="670560" y="3060700"/>
              <a:chExt cx="10162794" cy="58674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670560" y="3060700"/>
                <a:ext cx="1027019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3000" b="1" dirty="0">
                    <a:solidFill>
                      <a:srgbClr val="4A5F80"/>
                    </a:solidFill>
                    <a:latin typeface="+mj-lt"/>
                    <a:ea typeface="+mj-ea"/>
                    <a:cs typeface="+mj-cs"/>
                  </a:rPr>
                  <a:t>02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14094" y="3149600"/>
                <a:ext cx="487992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9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Research on every person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850380" y="3086100"/>
                <a:ext cx="5341620" cy="5410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Their path, their work and something you genuinely</a:t>
                </a:r>
                <a:b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share.</a:t>
                </a:r>
              </a:p>
            </p:txBody>
          </p:sp>
        </p:grpSp>
        <p:sp>
          <p:nvSpPr>
            <p:cNvPr id="16" name="Line 16"/>
            <p:cNvSpPr/>
            <p:nvPr/>
          </p:nvSpPr>
          <p:spPr>
            <a:xfrm>
              <a:off x="685800" y="3695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</p:sp>
        <p:grpSp>
          <p:nvGrpSpPr>
            <p:cNvPr id="20" name="item-messages"/>
            <p:cNvGrpSpPr/>
            <p:nvPr/>
          </p:nvGrpSpPr>
          <p:grpSpPr>
            <a:xfrm>
              <a:off x="670560" y="3803650"/>
              <a:ext cx="10093566" cy="586740"/>
              <a:chOff x="670560" y="3803650"/>
              <a:chExt cx="10093566" cy="586740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70560" y="3803650"/>
                <a:ext cx="1027019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3000" b="1" dirty="0">
                    <a:solidFill>
                      <a:srgbClr val="4A5F80"/>
                    </a:solidFill>
                    <a:latin typeface="+mj-lt"/>
                    <a:ea typeface="+mj-ea"/>
                    <a:cs typeface="+mj-cs"/>
                  </a:rPr>
                  <a:t>03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514094" y="3892550"/>
                <a:ext cx="466434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9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Personal first messages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850380" y="3829050"/>
                <a:ext cx="5341620" cy="5410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Written for one reader each. Nothing goes out until</a:t>
                </a:r>
                <a:b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you approve it.</a:t>
                </a:r>
              </a:p>
            </p:txBody>
          </p:sp>
        </p:grpSp>
        <p:sp>
          <p:nvSpPr>
            <p:cNvPr id="21" name="Line 21"/>
            <p:cNvSpPr/>
            <p:nvPr/>
          </p:nvSpPr>
          <p:spPr>
            <a:xfrm>
              <a:off x="685800" y="443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</p:sp>
        <p:grpSp>
          <p:nvGrpSpPr>
            <p:cNvPr id="25" name="item-replies"/>
            <p:cNvGrpSpPr/>
            <p:nvPr/>
          </p:nvGrpSpPr>
          <p:grpSpPr>
            <a:xfrm>
              <a:off x="670560" y="4546600"/>
              <a:ext cx="10072002" cy="586740"/>
              <a:chOff x="670560" y="4546600"/>
              <a:chExt cx="10072002" cy="58674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70560" y="4546600"/>
                <a:ext cx="1027019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3000" b="1" dirty="0">
                    <a:solidFill>
                      <a:srgbClr val="4A5F80"/>
                    </a:solidFill>
                    <a:latin typeface="+mj-lt"/>
                    <a:ea typeface="+mj-ea"/>
                    <a:cs typeface="+mj-cs"/>
                  </a:rPr>
                  <a:t>04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514094" y="4635500"/>
                <a:ext cx="677863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9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Reply drafts for every conversation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850380" y="4572000"/>
                <a:ext cx="5341620" cy="5410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We draft your answers and steer each conversation</a:t>
                </a:r>
                <a:b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toward a referral or an interview.</a:t>
                </a:r>
              </a:p>
            </p:txBody>
          </p:sp>
        </p:grpSp>
        <p:sp>
          <p:nvSpPr>
            <p:cNvPr id="26" name="Line 26"/>
            <p:cNvSpPr/>
            <p:nvPr/>
          </p:nvSpPr>
          <p:spPr>
            <a:xfrm>
              <a:off x="685800" y="5181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</p:sp>
        <p:grpSp>
          <p:nvGrpSpPr>
            <p:cNvPr id="30" name="item-report"/>
            <p:cNvGrpSpPr/>
            <p:nvPr/>
          </p:nvGrpSpPr>
          <p:grpSpPr>
            <a:xfrm>
              <a:off x="670560" y="5289550"/>
              <a:ext cx="10156317" cy="586740"/>
              <a:chOff x="670560" y="5289550"/>
              <a:chExt cx="10156317" cy="58674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670560" y="5289550"/>
                <a:ext cx="1027019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3000" b="1" dirty="0">
                    <a:solidFill>
                      <a:srgbClr val="4A5F80"/>
                    </a:solidFill>
                    <a:latin typeface="+mj-lt"/>
                    <a:ea typeface="+mj-ea"/>
                    <a:cs typeface="+mj-cs"/>
                  </a:rPr>
                  <a:t>05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514094" y="5378450"/>
                <a:ext cx="457508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IN" sz="19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 weekly results report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850380" y="5314950"/>
                <a:ext cx="5341620" cy="5410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A clear view each week of the people contacted and</a:t>
                </a:r>
                <a:b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IN" sz="15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the conversations underway.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685800" y="5924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0E1F3A"/>
              </a:solidFill>
            </a:ln>
          </p:spPr>
        </p:sp>
      </p:grpSp>
      <p:grpSp>
        <p:nvGrpSpPr>
          <p:cNvPr id="36" name="footer"/>
          <p:cNvGrpSpPr/>
          <p:nvPr/>
        </p:nvGrpSpPr>
        <p:grpSpPr>
          <a:xfrm>
            <a:off x="678180" y="6362700"/>
            <a:ext cx="10833354" cy="382270"/>
            <a:chOff x="678180" y="6362700"/>
            <a:chExt cx="10833354" cy="382270"/>
          </a:xfrm>
        </p:grpSpPr>
        <p:sp>
          <p:nvSpPr>
            <p:cNvPr id="33" name="Line 33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8180" y="6451600"/>
              <a:ext cx="1167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5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54702" y="6502400"/>
              <a:ext cx="9568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-IN" sz="105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69036" y="495300"/>
            <a:ext cx="6238304" cy="1585214"/>
            <a:chOff x="669036" y="495300"/>
            <a:chExt cx="6238304" cy="1585214"/>
          </a:xfrm>
        </p:grpSpPr>
        <p:sp>
          <p:nvSpPr>
            <p:cNvPr id="2" name="Rectangle 2"/>
            <p:cNvSpPr/>
            <p:nvPr/>
          </p:nvSpPr>
          <p:spPr>
            <a:xfrm>
              <a:off x="685800" y="495300"/>
              <a:ext cx="419100" cy="5715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80085" y="717550"/>
              <a:ext cx="1802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120" b="1" spc="18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PACKAGES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939800"/>
              <a:ext cx="8490795" cy="11407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Choose a package by how long</a:t>
              </a:r>
              <a:b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you want us knocking</a:t>
              </a:r>
            </a:p>
          </p:txBody>
        </p:sp>
      </p:grpSp>
      <p:grpSp>
        <p:nvGrpSpPr>
          <p:cNvPr id="13" name="card-sprint"/>
          <p:cNvGrpSpPr/>
          <p:nvPr/>
        </p:nvGrpSpPr>
        <p:grpSpPr>
          <a:xfrm>
            <a:off x="685800" y="2171700"/>
            <a:ext cx="3429000" cy="2781300"/>
            <a:chOff x="685800" y="2171700"/>
            <a:chExt cx="3429000" cy="2781300"/>
          </a:xfrm>
        </p:grpSpPr>
        <p:sp>
          <p:nvSpPr>
            <p:cNvPr id="6" name="Rectangle 6"/>
            <p:cNvSpPr/>
            <p:nvPr/>
          </p:nvSpPr>
          <p:spPr>
            <a:xfrm>
              <a:off x="685800" y="2171700"/>
              <a:ext cx="3429000" cy="27813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1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1070" y="2406650"/>
              <a:ext cx="168364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Sprint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7547" y="2825750"/>
              <a:ext cx="11871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980" b="1" spc="15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7 DAYS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6404" y="3111500"/>
              <a:ext cx="3489883" cy="9776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9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 xml:space="preserve">Rs </a:t>
              </a:r>
              <a:r>
                <a:rPr lang="en-IN" sz="51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2,499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952500" y="39814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118" y="4121150"/>
              <a:ext cx="28424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6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60 people contacted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6023" y="4457700"/>
              <a:ext cx="39819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28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Sent by you, from your own LinkedIn</a:t>
              </a:r>
            </a:p>
          </p:txBody>
        </p:sp>
      </p:grpSp>
      <p:grpSp>
        <p:nvGrpSpPr>
          <p:cNvPr id="23" name="card-standard"/>
          <p:cNvGrpSpPr/>
          <p:nvPr/>
        </p:nvGrpSpPr>
        <p:grpSpPr>
          <a:xfrm>
            <a:off x="4381500" y="2171700"/>
            <a:ext cx="3429000" cy="2781300"/>
            <a:chOff x="4381500" y="2171700"/>
            <a:chExt cx="3429000" cy="2781300"/>
          </a:xfrm>
        </p:grpSpPr>
        <p:sp>
          <p:nvSpPr>
            <p:cNvPr id="14" name="Rectangle 14"/>
            <p:cNvSpPr/>
            <p:nvPr/>
          </p:nvSpPr>
          <p:spPr>
            <a:xfrm>
              <a:off x="4381500" y="2171700"/>
              <a:ext cx="3429000" cy="27813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36770" y="2406650"/>
              <a:ext cx="224277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Standard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419850" y="2438400"/>
              <a:ext cx="1123950" cy="247650"/>
            </a:xfrm>
            <a:prstGeom prst="rect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60502" y="2498725"/>
              <a:ext cx="18426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IN" sz="820" b="1" spc="112" dirty="0">
                  <a:solidFill>
                    <a:srgbClr val="0E1F3A"/>
                  </a:solidFill>
                  <a:latin typeface="Arial"/>
                  <a:ea typeface="Arial"/>
                  <a:cs typeface="Arial"/>
                </a:rPr>
                <a:t>MOST POPULAR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43247" y="2825750"/>
              <a:ext cx="13157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980" b="1" spc="150" dirty="0">
                  <a:solidFill>
                    <a:srgbClr val="A9C7E6"/>
                  </a:solidFill>
                  <a:latin typeface="Arial"/>
                  <a:ea typeface="Arial"/>
                  <a:cs typeface="Arial"/>
                </a:rPr>
                <a:t>14 DAYS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42104" y="3111500"/>
              <a:ext cx="3489883" cy="9776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9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 xml:space="preserve">Rs </a:t>
              </a:r>
              <a:r>
                <a:rPr lang="en-IN" sz="51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3,999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648200" y="39814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rgbClr val="A9C7E6">
                  <a:alpha val="40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9818" y="4121150"/>
              <a:ext cx="2995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6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120 people contacted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1723" y="4457700"/>
              <a:ext cx="39819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280" i="1" dirty="0">
                  <a:solidFill>
                    <a:srgbClr val="C4D9EF"/>
                  </a:solidFill>
                  <a:latin typeface="+mn-lt"/>
                  <a:ea typeface="+mn-ea"/>
                  <a:cs typeface="+mn-cs"/>
                </a:rPr>
                <a:t>Sent by you, from your own LinkedIn</a:t>
              </a:r>
            </a:p>
          </p:txBody>
        </p:sp>
      </p:grpSp>
      <p:grpSp>
        <p:nvGrpSpPr>
          <p:cNvPr id="31" name="card-full"/>
          <p:cNvGrpSpPr/>
          <p:nvPr/>
        </p:nvGrpSpPr>
        <p:grpSpPr>
          <a:xfrm>
            <a:off x="8077200" y="2171700"/>
            <a:ext cx="3429000" cy="2781300"/>
            <a:chOff x="8077200" y="2171700"/>
            <a:chExt cx="3429000" cy="2781300"/>
          </a:xfrm>
        </p:grpSpPr>
        <p:sp>
          <p:nvSpPr>
            <p:cNvPr id="24" name="Rectangle 24"/>
            <p:cNvSpPr/>
            <p:nvPr/>
          </p:nvSpPr>
          <p:spPr>
            <a:xfrm>
              <a:off x="8077200" y="2171700"/>
              <a:ext cx="3429000" cy="27813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15000"/>
                </a:srgbClr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32470" y="2406650"/>
              <a:ext cx="26144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Full search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38947" y="2825750"/>
              <a:ext cx="13157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980" b="1" spc="15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21 DAYS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37804" y="3111500"/>
              <a:ext cx="3489883" cy="9776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9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 xml:space="preserve">Rs </a:t>
              </a:r>
              <a:r>
                <a:rPr lang="en-IN" sz="51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5,499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343900" y="39814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35518" y="4121150"/>
              <a:ext cx="2995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6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180 people contacted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7423" y="4457700"/>
              <a:ext cx="385457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28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Sent by you, from your own LinkedIn</a:t>
              </a:r>
            </a:p>
          </p:txBody>
        </p:sp>
      </p:grpSp>
      <p:grpSp>
        <p:nvGrpSpPr>
          <p:cNvPr id="37" name="done-for-you"/>
          <p:cNvGrpSpPr/>
          <p:nvPr/>
        </p:nvGrpSpPr>
        <p:grpSpPr>
          <a:xfrm>
            <a:off x="685800" y="5181600"/>
            <a:ext cx="10820400" cy="800100"/>
            <a:chOff x="685800" y="5181600"/>
            <a:chExt cx="10820400" cy="800100"/>
          </a:xfrm>
        </p:grpSpPr>
        <p:sp>
          <p:nvSpPr>
            <p:cNvPr id="32" name="Rectangle 32"/>
            <p:cNvSpPr/>
            <p:nvPr/>
          </p:nvSpPr>
          <p:spPr>
            <a:xfrm>
              <a:off x="685800" y="5181600"/>
              <a:ext cx="10820400" cy="800100"/>
            </a:xfrm>
            <a:prstGeom prst="rect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7547" y="5321300"/>
              <a:ext cx="42029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980" b="1" spc="150" dirty="0">
                  <a:solidFill>
                    <a:srgbClr val="2B4266"/>
                  </a:solidFill>
                  <a:latin typeface="Arial"/>
                  <a:ea typeface="Arial"/>
                  <a:cs typeface="Arial"/>
                </a:rPr>
                <a:t>RATHER WE HANDLED ALL OF IT?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1070" y="5530850"/>
              <a:ext cx="29470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Done for you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83380" y="5353050"/>
              <a:ext cx="4629831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IN" sz="15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We run your outreach end to end, from the</a:t>
              </a:r>
              <a:br>
                <a:rPr lang="en-IN" sz="15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first list to the booked conversation.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47850" y="5365750"/>
              <a:ext cx="3597746" cy="5775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-IN" sz="18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 xml:space="preserve">From Rs </a:t>
              </a:r>
              <a:r>
                <a:rPr lang="en-IN" sz="30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14,999</a:t>
              </a:r>
            </a:p>
          </p:txBody>
        </p:sp>
      </p:grpSp>
      <p:grpSp>
        <p:nvGrpSpPr>
          <p:cNvPr id="39" name="package-note"/>
          <p:cNvGrpSpPr/>
          <p:nvPr/>
        </p:nvGrpSpPr>
        <p:grpSpPr>
          <a:xfrm>
            <a:off x="680847" y="6092825"/>
            <a:ext cx="6859877" cy="191643"/>
            <a:chOff x="680847" y="6092825"/>
            <a:chExt cx="6859877" cy="191643"/>
          </a:xfrm>
        </p:grpSpPr>
        <p:sp>
          <p:nvSpPr>
            <p:cNvPr id="38" name="TextBox 38"/>
            <p:cNvSpPr txBox="1"/>
            <p:nvPr/>
          </p:nvSpPr>
          <p:spPr>
            <a:xfrm>
              <a:off x="680847" y="6092825"/>
              <a:ext cx="92988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98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Founding member pricing. No payment now: you choose a package only if your first look at your target list looks right.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678180" y="6362700"/>
            <a:ext cx="10833354" cy="382270"/>
            <a:chOff x="678180" y="6362700"/>
            <a:chExt cx="10833354" cy="382270"/>
          </a:xfrm>
        </p:grpSpPr>
        <p:sp>
          <p:nvSpPr>
            <p:cNvPr id="40" name="Line 40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8180" y="6451600"/>
              <a:ext cx="1167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5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54702" y="6502400"/>
              <a:ext cx="9568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-IN" sz="105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romise-headline"/>
          <p:cNvGrpSpPr/>
          <p:nvPr/>
        </p:nvGrpSpPr>
        <p:grpSpPr>
          <a:xfrm>
            <a:off x="895350" y="1308100"/>
            <a:ext cx="9063228" cy="2311400"/>
            <a:chOff x="895350" y="1308100"/>
            <a:chExt cx="9063228" cy="2311400"/>
          </a:xfrm>
        </p:grpSpPr>
        <p:sp>
          <p:nvSpPr>
            <p:cNvPr id="2" name="TextBox 2"/>
            <p:cNvSpPr txBox="1"/>
            <p:nvPr/>
          </p:nvSpPr>
          <p:spPr>
            <a:xfrm>
              <a:off x="908685" y="1308100"/>
              <a:ext cx="22847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120" b="1" spc="225" dirty="0">
                  <a:solidFill>
                    <a:srgbClr val="A9C7E6"/>
                  </a:solidFill>
                  <a:latin typeface="Arial"/>
                  <a:ea typeface="Arial"/>
                  <a:cs typeface="Arial"/>
                </a:rPr>
                <a:t>OUR PROMISE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895350" y="1924050"/>
              <a:ext cx="11296650" cy="1695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IN" sz="48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We do not guarantee replies.</a:t>
              </a:r>
              <a:br>
                <a:rPr lang="en-IN" sz="48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</a:br>
              <a:r>
                <a:rPr lang="en-IN" sz="4800" b="1" dirty="0">
                  <a:solidFill>
                    <a:srgbClr val="A9C7E6"/>
                  </a:solidFill>
                  <a:latin typeface="+mj-lt"/>
                  <a:ea typeface="+mj-ea"/>
                  <a:cs typeface="+mj-cs"/>
                </a:rPr>
                <a:t>We do guarantee the work.</a:t>
              </a:r>
            </a:p>
          </p:txBody>
        </p:sp>
      </p:grpSp>
      <p:sp>
        <p:nvSpPr>
          <p:cNvPr id="5" name="Line 5"/>
          <p:cNvSpPr/>
          <p:nvPr/>
        </p:nvSpPr>
        <p:spPr>
          <a:xfrm>
            <a:off x="914400" y="388620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9525">
            <a:solidFill>
              <a:srgbClr val="A9C7E6">
                <a:alpha val="30000"/>
              </a:srgbClr>
            </a:solidFill>
          </a:ln>
        </p:spPr>
      </p:sp>
      <p:grpSp>
        <p:nvGrpSpPr>
          <p:cNvPr id="8" name="founding-week"/>
          <p:cNvGrpSpPr/>
          <p:nvPr/>
        </p:nvGrpSpPr>
        <p:grpSpPr>
          <a:xfrm>
            <a:off x="914400" y="4165600"/>
            <a:ext cx="4631672" cy="791718"/>
            <a:chOff x="914400" y="4165600"/>
            <a:chExt cx="4631672" cy="791718"/>
          </a:xfrm>
        </p:grpSpPr>
        <p:sp>
          <p:nvSpPr>
            <p:cNvPr id="6" name="Rectangle 6"/>
            <p:cNvSpPr/>
            <p:nvPr/>
          </p:nvSpPr>
          <p:spPr>
            <a:xfrm>
              <a:off x="914400" y="4210050"/>
              <a:ext cx="47625" cy="647700"/>
            </a:xfrm>
            <a:prstGeom prst="rect">
              <a:avLst/>
            </a:prstGeom>
            <a:solidFill>
              <a:srgbClr val="E8705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70432" y="4165600"/>
              <a:ext cx="6069332" cy="7917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IN" sz="21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Founding members get a free extra week</a:t>
              </a:r>
              <a:br>
                <a:rPr lang="en-IN" sz="21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</a:br>
              <a:r>
                <a:rPr lang="en-IN" sz="21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if fewer than 5 people reply.</a:t>
              </a:r>
            </a:p>
          </p:txBody>
        </p:sp>
      </p:grpSp>
      <p:grpSp>
        <p:nvGrpSpPr>
          <p:cNvPr id="16" name="the-work"/>
          <p:cNvGrpSpPr/>
          <p:nvPr/>
        </p:nvGrpSpPr>
        <p:grpSpPr>
          <a:xfrm>
            <a:off x="7234047" y="4216400"/>
            <a:ext cx="3626586" cy="1351407"/>
            <a:chOff x="7234047" y="4216400"/>
            <a:chExt cx="3626586" cy="1351407"/>
          </a:xfrm>
        </p:grpSpPr>
        <p:sp>
          <p:nvSpPr>
            <p:cNvPr id="9" name="TextBox 9"/>
            <p:cNvSpPr txBox="1"/>
            <p:nvPr/>
          </p:nvSpPr>
          <p:spPr>
            <a:xfrm>
              <a:off x="7234047" y="4216400"/>
              <a:ext cx="347542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980" b="1" spc="150" dirty="0">
                  <a:solidFill>
                    <a:srgbClr val="A9C7E6"/>
                  </a:solidFill>
                  <a:latin typeface="Arial"/>
                  <a:ea typeface="Arial"/>
                  <a:cs typeface="Arial"/>
                </a:rPr>
                <a:t>THE WORK WE GUARANTEE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48525" y="4610100"/>
              <a:ext cx="95250" cy="95250"/>
            </a:xfrm>
            <a:prstGeom prst="ellipse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97318" y="4521200"/>
              <a:ext cx="3577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650" dirty="0">
                  <a:solidFill>
                    <a:srgbClr val="EEF3F8"/>
                  </a:solidFill>
                  <a:latin typeface="+mn-lt"/>
                  <a:ea typeface="+mn-ea"/>
                  <a:cs typeface="+mn-cs"/>
                </a:rPr>
                <a:t>Research on every person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48525" y="4972050"/>
              <a:ext cx="95250" cy="95250"/>
            </a:xfrm>
            <a:prstGeom prst="ellipse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97318" y="4883150"/>
              <a:ext cx="32789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650" dirty="0">
                  <a:solidFill>
                    <a:srgbClr val="EEF3F8"/>
                  </a:solidFill>
                  <a:latin typeface="+mn-lt"/>
                  <a:ea typeface="+mn-ea"/>
                  <a:cs typeface="+mn-cs"/>
                </a:rPr>
                <a:t>Personal first messages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48525" y="5334000"/>
              <a:ext cx="95250" cy="95250"/>
            </a:xfrm>
            <a:prstGeom prst="ellipse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97318" y="5245100"/>
              <a:ext cx="46946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650" dirty="0">
                  <a:solidFill>
                    <a:srgbClr val="EEF3F8"/>
                  </a:solidFill>
                  <a:latin typeface="+mn-lt"/>
                  <a:ea typeface="+mn-ea"/>
                  <a:cs typeface="+mn-cs"/>
                </a:rPr>
                <a:t>Reply drafts for every conversation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678180" y="6362700"/>
            <a:ext cx="10833354" cy="382270"/>
            <a:chOff x="678180" y="6362700"/>
            <a:chExt cx="10833354" cy="382270"/>
          </a:xfrm>
        </p:grpSpPr>
        <p:sp>
          <p:nvSpPr>
            <p:cNvPr id="17" name="Line 17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A9C7E6">
                  <a:alpha val="25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8180" y="6451600"/>
              <a:ext cx="1167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5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54702" y="6502400"/>
              <a:ext cx="9568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-IN" sz="1050" dirty="0">
                  <a:solidFill>
                    <a:srgbClr val="A9C7E6"/>
                  </a:solidFill>
                  <a:latin typeface="Arial"/>
                  <a:ea typeface="Arial"/>
                  <a:cs typeface="Arial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69036" y="495300"/>
            <a:ext cx="7448455" cy="1585214"/>
            <a:chOff x="669036" y="495300"/>
            <a:chExt cx="7448455" cy="1585214"/>
          </a:xfrm>
        </p:grpSpPr>
        <p:sp>
          <p:nvSpPr>
            <p:cNvPr id="2" name="Rectangle 2"/>
            <p:cNvSpPr/>
            <p:nvPr/>
          </p:nvSpPr>
          <p:spPr>
            <a:xfrm>
              <a:off x="685800" y="495300"/>
              <a:ext cx="419100" cy="5715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80085" y="717550"/>
              <a:ext cx="25889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120" b="1" spc="18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FAIR QUESTIONS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036" y="939800"/>
              <a:ext cx="10063991" cy="11407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Straight answers to the questions</a:t>
              </a:r>
              <a:b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-IN" sz="33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people ask first</a:t>
              </a:r>
            </a:p>
          </p:txBody>
        </p:sp>
      </p:grpSp>
      <p:grpSp>
        <p:nvGrpSpPr>
          <p:cNvPr id="9" name="faq-linkedin"/>
          <p:cNvGrpSpPr/>
          <p:nvPr/>
        </p:nvGrpSpPr>
        <p:grpSpPr>
          <a:xfrm>
            <a:off x="675132" y="2247900"/>
            <a:ext cx="3134868" cy="2064766"/>
            <a:chOff x="675132" y="2247900"/>
            <a:chExt cx="3134868" cy="2064766"/>
          </a:xfrm>
        </p:grpSpPr>
        <p:sp>
          <p:nvSpPr>
            <p:cNvPr id="6" name="Line 6"/>
            <p:cNvSpPr/>
            <p:nvPr/>
          </p:nvSpPr>
          <p:spPr>
            <a:xfrm>
              <a:off x="685800" y="22479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19050">
              <a:solidFill>
                <a:srgbClr val="0E1F3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5132" y="2444750"/>
              <a:ext cx="3120876" cy="7155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IN" sz="21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Will my LinkedIn</a:t>
              </a:r>
              <a:br>
                <a:rPr lang="en-IN" sz="21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-IN" sz="21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get banned?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7799" y="3175000"/>
              <a:ext cx="3821128" cy="1137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We stay well under LinkedIn's</a:t>
              </a:r>
              <a:b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limits, and every message is sent</a:t>
              </a:r>
              <a:b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by you, from your own account.</a:t>
              </a:r>
              <a:b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 bots logging in as you.</a:t>
              </a:r>
            </a:p>
          </p:txBody>
        </p:sp>
      </p:grpSp>
      <p:grpSp>
        <p:nvGrpSpPr>
          <p:cNvPr id="13" name="faq-voice"/>
          <p:cNvGrpSpPr/>
          <p:nvPr/>
        </p:nvGrpSpPr>
        <p:grpSpPr>
          <a:xfrm>
            <a:off x="4066032" y="2247900"/>
            <a:ext cx="3134868" cy="1788541"/>
            <a:chOff x="4066032" y="2247900"/>
            <a:chExt cx="3134868" cy="1788541"/>
          </a:xfrm>
        </p:grpSpPr>
        <p:sp>
          <p:nvSpPr>
            <p:cNvPr id="10" name="Line 10"/>
            <p:cNvSpPr/>
            <p:nvPr/>
          </p:nvSpPr>
          <p:spPr>
            <a:xfrm>
              <a:off x="4076700" y="22479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19050">
              <a:solidFill>
                <a:srgbClr val="0E1F3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066032" y="2432050"/>
              <a:ext cx="41282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21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Do you write as me?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68699" y="3175000"/>
              <a:ext cx="3756227" cy="861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Yes, in your voice. And nothing</a:t>
              </a:r>
              <a:b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goes out until you have read it</a:t>
              </a:r>
              <a:b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approved it.</a:t>
              </a:r>
            </a:p>
          </p:txBody>
        </p:sp>
      </p:grpSp>
      <p:grpSp>
        <p:nvGrpSpPr>
          <p:cNvPr id="17" name="faq-audience"/>
          <p:cNvGrpSpPr/>
          <p:nvPr/>
        </p:nvGrpSpPr>
        <p:grpSpPr>
          <a:xfrm>
            <a:off x="7456932" y="2247900"/>
            <a:ext cx="4049268" cy="2617216"/>
            <a:chOff x="7456932" y="2247900"/>
            <a:chExt cx="4049268" cy="2617216"/>
          </a:xfrm>
        </p:grpSpPr>
        <p:sp>
          <p:nvSpPr>
            <p:cNvPr id="14" name="Line 14"/>
            <p:cNvSpPr/>
            <p:nvPr/>
          </p:nvSpPr>
          <p:spPr>
            <a:xfrm>
              <a:off x="7467600" y="2247900"/>
              <a:ext cx="4038600" cy="9525"/>
            </a:xfrm>
            <a:custGeom>
              <a:avLst/>
              <a:gdLst/>
              <a:ahLst/>
              <a:cxnLst/>
              <a:rect l="l" t="t" r="r" b="b"/>
              <a:pathLst>
                <a:path w="4038600" h="952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19050">
              <a:solidFill>
                <a:srgbClr val="0E1F3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6932" y="2432050"/>
              <a:ext cx="34134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21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Who is this for?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59599" y="3175000"/>
              <a:ext cx="4703715" cy="16901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Anyone who knows where they want to</a:t>
              </a:r>
              <a:b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work next: career switchers, people</a:t>
              </a:r>
              <a:b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between jobs, MBA graduates, senior</a:t>
              </a:r>
              <a:b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leaders and Indians returning home. If</a:t>
              </a:r>
              <a:b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referrals matter at your target companies,</a:t>
              </a:r>
              <a:b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5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Knock works for you.</a:t>
              </a:r>
            </a:p>
          </p:txBody>
        </p:sp>
      </p:grpSp>
      <p:grpSp>
        <p:nvGrpSpPr>
          <p:cNvPr id="20" name="faq-contact"/>
          <p:cNvGrpSpPr/>
          <p:nvPr/>
        </p:nvGrpSpPr>
        <p:grpSpPr>
          <a:xfrm>
            <a:off x="685800" y="5562600"/>
            <a:ext cx="10820400" cy="552450"/>
            <a:chOff x="685800" y="5562600"/>
            <a:chExt cx="10820400" cy="552450"/>
          </a:xfrm>
        </p:grpSpPr>
        <p:sp>
          <p:nvSpPr>
            <p:cNvPr id="18" name="Rectangle 18"/>
            <p:cNvSpPr/>
            <p:nvPr/>
          </p:nvSpPr>
          <p:spPr>
            <a:xfrm>
              <a:off x="685800" y="5562600"/>
              <a:ext cx="10820400" cy="5524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5256" y="5689600"/>
              <a:ext cx="96811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8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 xml:space="preserve">Anything else, write to </a:t>
              </a:r>
              <a:r>
                <a:rPr lang="en-IN" sz="1800" b="1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hello@knock.careers</a:t>
              </a:r>
              <a:r>
                <a:rPr lang="en-IN" sz="18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. A person will answer.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678180" y="6362700"/>
            <a:ext cx="10833354" cy="382270"/>
            <a:chOff x="678180" y="6362700"/>
            <a:chExt cx="10833354" cy="382270"/>
          </a:xfrm>
        </p:grpSpPr>
        <p:sp>
          <p:nvSpPr>
            <p:cNvPr id="21" name="Line 21"/>
            <p:cNvSpPr/>
            <p:nvPr/>
          </p:nvSpPr>
          <p:spPr>
            <a:xfrm>
              <a:off x="685800" y="6362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8180" y="6451600"/>
              <a:ext cx="1167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5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554702" y="6502400"/>
              <a:ext cx="9568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-IN" sz="1050" dirty="0">
                  <a:solidFill>
                    <a:srgbClr val="4A5F80"/>
                  </a:solidFill>
                  <a:latin typeface="Arial"/>
                  <a:ea typeface="Arial"/>
                  <a:cs typeface="Arial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C7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lose-headline"/>
          <p:cNvGrpSpPr/>
          <p:nvPr/>
        </p:nvGrpSpPr>
        <p:grpSpPr>
          <a:xfrm>
            <a:off x="742950" y="1003300"/>
            <a:ext cx="6014847" cy="2152650"/>
            <a:chOff x="742950" y="1003300"/>
            <a:chExt cx="6014847" cy="2152650"/>
          </a:xfrm>
        </p:grpSpPr>
        <p:sp>
          <p:nvSpPr>
            <p:cNvPr id="2" name="TextBox 2"/>
            <p:cNvSpPr txBox="1"/>
            <p:nvPr/>
          </p:nvSpPr>
          <p:spPr>
            <a:xfrm>
              <a:off x="756285" y="1003300"/>
              <a:ext cx="18794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120" b="1" spc="225" dirty="0">
                  <a:solidFill>
                    <a:srgbClr val="2B4266"/>
                  </a:solidFill>
                  <a:latin typeface="Arial"/>
                  <a:ea typeface="Arial"/>
                  <a:cs typeface="Arial"/>
                </a:rPr>
                <a:t>NEXT STEP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2950" y="1346200"/>
              <a:ext cx="8200301" cy="1809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IN" sz="54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Tell us where you</a:t>
              </a:r>
              <a:br>
                <a:rPr lang="en-IN" sz="54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-IN" sz="54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want to work.</a:t>
              </a:r>
            </a:p>
          </p:txBody>
        </p:sp>
      </p:grpSp>
      <p:grpSp>
        <p:nvGrpSpPr>
          <p:cNvPr id="6" name="close-sub"/>
          <p:cNvGrpSpPr/>
          <p:nvPr/>
        </p:nvGrpSpPr>
        <p:grpSpPr>
          <a:xfrm>
            <a:off x="752094" y="3073400"/>
            <a:ext cx="7594311" cy="381381"/>
            <a:chOff x="752094" y="3073400"/>
            <a:chExt cx="7594311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752094" y="3073400"/>
              <a:ext cx="1025360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9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Two minutes now. We come back with the people worth writing to.</a:t>
              </a:r>
            </a:p>
          </p:txBody>
        </p:sp>
      </p:grpSp>
      <p:grpSp>
        <p:nvGrpSpPr>
          <p:cNvPr id="16" name="close-steps"/>
          <p:cNvGrpSpPr/>
          <p:nvPr/>
        </p:nvGrpSpPr>
        <p:grpSpPr>
          <a:xfrm>
            <a:off x="762000" y="3844925"/>
            <a:ext cx="4576837" cy="1160907"/>
            <a:chOff x="762000" y="3844925"/>
            <a:chExt cx="4576837" cy="1160907"/>
          </a:xfrm>
        </p:grpSpPr>
        <p:sp>
          <p:nvSpPr>
            <p:cNvPr id="7" name="Ellipse 7"/>
            <p:cNvSpPr/>
            <p:nvPr/>
          </p:nvSpPr>
          <p:spPr>
            <a:xfrm>
              <a:off x="762000" y="3848100"/>
              <a:ext cx="266700" cy="26670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2912" y="3889375"/>
              <a:ext cx="504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IN" sz="1120" b="1" dirty="0">
                  <a:solidFill>
                    <a:srgbClr val="FAFCFE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91768" y="3844925"/>
              <a:ext cx="51027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6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We read your profile and your targets.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62000" y="4267200"/>
              <a:ext cx="266700" cy="26670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2912" y="4308475"/>
              <a:ext cx="504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IN" sz="1120" b="1" dirty="0">
                  <a:solidFill>
                    <a:srgbClr val="FAFCFE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91768" y="4264025"/>
              <a:ext cx="57721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6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We email you a first look at your target list.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4686300"/>
              <a:ext cx="266700" cy="26670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2912" y="4727575"/>
              <a:ext cx="504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IN" sz="1120" b="1" dirty="0">
                  <a:solidFill>
                    <a:srgbClr val="FAFCFE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91768" y="4683125"/>
              <a:ext cx="57649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6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You choose a package only if it looks right.</a:t>
              </a:r>
            </a:p>
          </p:txBody>
        </p:sp>
      </p:grpSp>
      <p:grpSp>
        <p:nvGrpSpPr>
          <p:cNvPr id="21" name="close-cta"/>
          <p:cNvGrpSpPr/>
          <p:nvPr/>
        </p:nvGrpSpPr>
        <p:grpSpPr>
          <a:xfrm>
            <a:off x="762000" y="5276850"/>
            <a:ext cx="6158103" cy="652907"/>
            <a:chOff x="762000" y="5276850"/>
            <a:chExt cx="6158103" cy="652907"/>
          </a:xfrm>
        </p:grpSpPr>
        <p:sp>
          <p:nvSpPr>
            <p:cNvPr id="17" name="Rectangle 17"/>
            <p:cNvSpPr/>
            <p:nvPr/>
          </p:nvSpPr>
          <p:spPr>
            <a:xfrm>
              <a:off x="762000" y="5276850"/>
              <a:ext cx="2857500" cy="5715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15643" y="5403850"/>
              <a:ext cx="39502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IN" sz="2100" b="1" spc="38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Get my target list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15918" y="5321300"/>
              <a:ext cx="42864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650" b="1" dirty="0">
                  <a:solidFill>
                    <a:srgbClr val="0E1F3A"/>
                  </a:solidFill>
                  <a:latin typeface="Arial"/>
                  <a:ea typeface="Arial"/>
                  <a:cs typeface="Arial"/>
                </a:rPr>
                <a:t>knock-eosin-beta.vercel.app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15918" y="5607050"/>
              <a:ext cx="29792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6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hello@knock.careers</a:t>
              </a:r>
            </a:p>
          </p:txBody>
        </p:sp>
      </p:grpSp>
      <p:grpSp>
        <p:nvGrpSpPr>
          <p:cNvPr id="23" name="close-note"/>
          <p:cNvGrpSpPr/>
          <p:nvPr/>
        </p:nvGrpSpPr>
        <p:grpSpPr>
          <a:xfrm>
            <a:off x="756666" y="6235700"/>
            <a:ext cx="4302402" cy="205359"/>
            <a:chOff x="756666" y="6235700"/>
            <a:chExt cx="4302402" cy="205359"/>
          </a:xfrm>
        </p:grpSpPr>
        <p:sp>
          <p:nvSpPr>
            <p:cNvPr id="22" name="TextBox 22"/>
            <p:cNvSpPr txBox="1"/>
            <p:nvPr/>
          </p:nvSpPr>
          <p:spPr>
            <a:xfrm>
              <a:off x="756666" y="6235700"/>
              <a:ext cx="5974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IN" sz="1050" dirty="0">
                  <a:solidFill>
                    <a:srgbClr val="2B4266"/>
                  </a:solidFill>
                  <a:latin typeface="Arial"/>
                  <a:ea typeface="Arial"/>
                  <a:cs typeface="Arial"/>
                </a:rPr>
                <a:t>No payment now. We never message anyone without your approval.</a:t>
              </a:r>
            </a:p>
          </p:txBody>
        </p:sp>
      </p:grpSp>
      <p:grpSp>
        <p:nvGrpSpPr>
          <p:cNvPr id="37" name="close-stamp"/>
          <p:cNvGrpSpPr/>
          <p:nvPr/>
        </p:nvGrpSpPr>
        <p:grpSpPr>
          <a:xfrm>
            <a:off x="9029700" y="857250"/>
            <a:ext cx="2305050" cy="2743200"/>
            <a:chOff x="9029700" y="857250"/>
            <a:chExt cx="2305050" cy="2743200"/>
          </a:xfrm>
        </p:grpSpPr>
        <p:sp>
          <p:nvSpPr>
            <p:cNvPr id="24" name="Rectangle 24"/>
            <p:cNvSpPr/>
            <p:nvPr/>
          </p:nvSpPr>
          <p:spPr>
            <a:xfrm>
              <a:off x="9334500" y="857250"/>
              <a:ext cx="1676400" cy="20193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>
                  <a:alpha val="35000"/>
                </a:srgbClr>
              </a:solidFill>
              <a:custDash>
                <a:ds d="250000" sp="250000"/>
              </a:custDash>
            </a:ln>
          </p:spPr>
        </p:sp>
        <p:sp>
          <p:nvSpPr>
            <p:cNvPr id="25" name="Rectangle 25"/>
            <p:cNvSpPr/>
            <p:nvPr/>
          </p:nvSpPr>
          <p:spPr>
            <a:xfrm>
              <a:off x="9467850" y="990600"/>
              <a:ext cx="1409700" cy="17526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9848850" y="1219200"/>
              <a:ext cx="647700" cy="1028700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47625">
              <a:solidFill>
                <a:srgbClr val="FAFCFE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0334625" y="1819275"/>
              <a:ext cx="95250" cy="95250"/>
            </a:xfrm>
            <a:prstGeom prst="ellipse">
              <a:avLst/>
            </a:prstGeom>
            <a:solidFill>
              <a:srgbClr val="FAFCF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99929" y="2330450"/>
              <a:ext cx="174554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IN" sz="1950" b="1" spc="300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10096500" y="30289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23812">
              <a:solidFill>
                <a:srgbClr val="0E1F3A">
                  <a:alpha val="55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0096500" y="31623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23812">
              <a:solidFill>
                <a:srgbClr val="0E1F3A">
                  <a:alpha val="55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0096500" y="32956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23812">
              <a:solidFill>
                <a:srgbClr val="0E1F3A">
                  <a:alpha val="55000"/>
                </a:srgbClr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9029700" y="2571750"/>
              <a:ext cx="1028700" cy="1028700"/>
            </a:xfrm>
            <a:prstGeom prst="ellipse">
              <a:avLst/>
            </a:prstGeom>
            <a:solidFill>
              <a:srgbClr val="A9C7E6">
                <a:alpha val="85000"/>
              </a:srgbClr>
            </a:solidFill>
            <a:ln w="23812">
              <a:solidFill>
                <a:srgbClr val="0E1F3A">
                  <a:alpha val="60000"/>
                </a:srgbClr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182361" y="2889250"/>
              <a:ext cx="723378" cy="447675"/>
              <a:chOff x="9182361" y="2889250"/>
              <a:chExt cx="723378" cy="447675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8886059" y="2889250"/>
                <a:ext cx="131598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-IN" sz="820" b="1" spc="75" dirty="0">
                    <a:solidFill>
                      <a:srgbClr val="2B4266"/>
                    </a:solidFill>
                    <a:latin typeface="Arial"/>
                    <a:ea typeface="Arial"/>
                    <a:cs typeface="Arial"/>
                  </a:rPr>
                  <a:t>KNOCK ON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883355" y="3032125"/>
                <a:ext cx="132139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-IN" sz="820" b="1" spc="75" dirty="0">
                    <a:solidFill>
                      <a:srgbClr val="2B4266"/>
                    </a:solidFill>
                    <a:latin typeface="Arial"/>
                    <a:ea typeface="Arial"/>
                    <a:cs typeface="Arial"/>
                  </a:rPr>
                  <a:t>THE RIGHT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099115" y="3175000"/>
                <a:ext cx="889870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-IN" sz="820" b="1" spc="75" dirty="0">
                    <a:solidFill>
                      <a:srgbClr val="2B4266"/>
                    </a:solidFill>
                    <a:latin typeface="Arial"/>
                    <a:ea typeface="Arial"/>
                    <a:cs typeface="Arial"/>
                  </a:rPr>
                  <a:t>DOOR</a:t>
                </a:r>
              </a:p>
            </p:txBody>
          </p:sp>
        </p:grpSp>
      </p:grpSp>
      <p:grpSp>
        <p:nvGrpSpPr>
          <p:cNvPr id="39" name="close-signoff"/>
          <p:cNvGrpSpPr/>
          <p:nvPr/>
        </p:nvGrpSpPr>
        <p:grpSpPr>
          <a:xfrm>
            <a:off x="9036129" y="4006850"/>
            <a:ext cx="2273141" cy="782955"/>
            <a:chOff x="9036129" y="4006850"/>
            <a:chExt cx="2273141" cy="782955"/>
          </a:xfrm>
        </p:grpSpPr>
        <p:sp>
          <p:nvSpPr>
            <p:cNvPr id="38" name="TextBox 38"/>
            <p:cNvSpPr txBox="1"/>
            <p:nvPr/>
          </p:nvSpPr>
          <p:spPr>
            <a:xfrm>
              <a:off x="8504658" y="4006850"/>
              <a:ext cx="3336083" cy="7829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>
                <a:lnSpc>
                  <a:spcPts val="2700"/>
                </a:lnSpc>
              </a:pPr>
              <a:r>
                <a:rPr lang="en-IN" sz="225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Knock on</a:t>
              </a:r>
              <a:br>
                <a:rPr lang="en-IN" sz="225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</a:br>
              <a:r>
                <a:rPr lang="en-IN" sz="225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the right door.</a:t>
              </a:r>
            </a:p>
          </p:txBody>
        </p:sp>
      </p:grpSp>
      <p:grpSp>
        <p:nvGrpSpPr>
          <p:cNvPr id="66" name="airmail-band"/>
          <p:cNvGrpSpPr/>
          <p:nvPr/>
        </p:nvGrpSpPr>
        <p:grpSpPr>
          <a:xfrm>
            <a:off x="0" y="6705600"/>
            <a:ext cx="12192000" cy="152400"/>
            <a:chOff x="0" y="6705600"/>
            <a:chExt cx="12192000" cy="152400"/>
          </a:xfrm>
        </p:grpSpPr>
        <p:sp>
          <p:nvSpPr>
            <p:cNvPr id="40" name="Rectangle 40"/>
            <p:cNvSpPr/>
            <p:nvPr/>
          </p:nvSpPr>
          <p:spPr>
            <a:xfrm>
              <a:off x="0" y="6705600"/>
              <a:ext cx="12192000" cy="152400"/>
            </a:xfrm>
            <a:prstGeom prst="rect">
              <a:avLst/>
            </a:prstGeom>
            <a:solidFill>
              <a:srgbClr val="FAFCFE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152400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635794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1119188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1602581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2085975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2569369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3052762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3536156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4019550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4502944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4986338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5469731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5953125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6436519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6919912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7403306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7886700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8370094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8853488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9336881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9820275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10303669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10787062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11270456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11753850" y="6705600"/>
              <a:ext cx="285750" cy="152400"/>
            </a:xfrm>
            <a:prstGeom prst="parallelogram">
              <a:avLst>
                <a:gd name="adj" fmla="val 50000"/>
              </a:avLst>
            </a:prstGeom>
            <a:solidFill>
              <a:srgbClr val="B3301B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knock_client">
  <a:themeElements>
    <a:clrScheme name="knock_clien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nock_client">
      <a:majorFont>
        <a:latin typeface="Arial Narrow"/>
        <a:ea typeface="Microsoft YaHei"/>
        <a:cs typeface="Arial Narrow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nock_cli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en-IN</dc:language>
  <cp:lastModifiedBy/>
  <cp:revision>1</cp:revision>
  <dcterms:created xsi:type="dcterms:W3CDTF">2026-10-05T00:47:05Z</dcterms:created>
  <dcterms:modified xsi:type="dcterms:W3CDTF">2026-10-05T00:47:05Z</dcterms:modified>
  <cp:category/>
  <cp:contentStatus/>
</cp:coreProperties>
</file>