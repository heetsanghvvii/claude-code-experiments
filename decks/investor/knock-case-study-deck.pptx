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16x9"/>
  <p:notesSz cx="6858000" cy="9144000"/>
  <p:defaultTextStyle>
    <a:defPPr>
      <a:defRPr lang="en"/>
    </a:defPPr>
    <a:lvl1pPr marL="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knock-case-stud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knock-case-stud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e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"/>
      </a:defPPr>
      <a:lvl1pPr marL="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C7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irmail-band"/>
          <p:cNvGrpSpPr/>
          <p:nvPr/>
        </p:nvGrpSpPr>
        <p:grpSpPr>
          <a:xfrm>
            <a:off x="0" y="6705600"/>
            <a:ext cx="12192000" cy="9525"/>
            <a:chOff x="0" y="6705600"/>
            <a:chExt cx="12192000" cy="9525"/>
          </a:xfrm>
        </p:grpSpPr>
        <p:sp>
          <p:nvSpPr>
            <p:cNvPr id="2" name="Line 2"/>
            <p:cNvSpPr/>
            <p:nvPr/>
          </p:nvSpPr>
          <p:spPr>
            <a:xfrm>
              <a:off x="0" y="6705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114300">
              <a:solidFill>
                <a:srgbClr val="B3301B"/>
              </a:solidFill>
              <a:custDash>
                <a:ds d="266667" sp="266667"/>
              </a:custDash>
            </a:ln>
          </p:spPr>
          <p:txBody>
            <a:bodyPr/>
            <a:p/>
          </p:txBody>
        </p:sp>
        <p:sp>
          <p:nvSpPr>
            <p:cNvPr id="3" name="Line 3"/>
            <p:cNvSpPr/>
            <p:nvPr/>
          </p:nvSpPr>
          <p:spPr>
            <a:xfrm>
              <a:off x="304800" y="6705600"/>
              <a:ext cx="11887200" cy="9525"/>
            </a:xfrm>
            <a:custGeom>
              <a:avLst/>
              <a:gdLst/>
              <a:ahLst/>
              <a:cxnLst/>
              <a:rect l="l" t="t" r="r" b="b"/>
              <a:pathLst>
                <a:path w="11887200" h="9525">
                  <a:moveTo>
                    <a:pt x="0" y="0"/>
                  </a:moveTo>
                  <a:lnTo>
                    <a:pt x="11887200" y="0"/>
                  </a:lnTo>
                </a:path>
              </a:pathLst>
            </a:custGeom>
            <a:noFill/>
            <a:ln w="114300">
              <a:solidFill>
                <a:srgbClr val="0E1F3A"/>
              </a:solidFill>
              <a:custDash>
                <a:ds d="266667" sp="266667"/>
              </a:custDash>
            </a:ln>
          </p:spPr>
          <p:txBody>
            <a:bodyPr/>
            <a:p/>
          </p:txBody>
        </p:sp>
      </p:grpSp>
      <p:grpSp>
        <p:nvGrpSpPr>
          <p:cNvPr id="8" name="title-block"/>
          <p:cNvGrpSpPr/>
          <p:nvPr/>
        </p:nvGrpSpPr>
        <p:grpSpPr>
          <a:xfrm>
            <a:off x="666750" y="787400"/>
            <a:ext cx="5791276" cy="3901694"/>
            <a:chOff x="666750" y="787400"/>
            <a:chExt cx="5791276" cy="3901694"/>
          </a:xfrm>
        </p:grpSpPr>
        <p:sp>
          <p:nvSpPr>
            <p:cNvPr id="5" name="TextBox 5"/>
            <p:cNvSpPr txBox="1"/>
            <p:nvPr/>
          </p:nvSpPr>
          <p:spPr>
            <a:xfrm>
              <a:off x="680847" y="787400"/>
              <a:ext cx="147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CASE STUDY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1238250"/>
              <a:ext cx="6755217" cy="24955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5700"/>
                </a:lnSpc>
              </a:pPr>
              <a:r>
                <a:rPr lang="en" sz="54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Knock: designing</a:t>
              </a:r>
              <a:br>
                <a:rPr lang="en" sz="54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54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 human-first</a:t>
              </a:r>
              <a:br>
                <a:rPr lang="en" sz="54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54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outreach system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6656" y="3651250"/>
              <a:ext cx="4584254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" sz="18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How one founder turned a simple insight,</a:t>
              </a:r>
              <a:br>
                <a:rPr lang="en" sz="18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8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people hire people, into a working system,</a:t>
              </a:r>
              <a:br>
                <a:rPr lang="en" sz="18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8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and the thinking behind every decision.</a:t>
              </a:r>
            </a:p>
          </p:txBody>
        </p:sp>
      </p:grpSp>
      <p:grpSp>
        <p:nvGrpSpPr>
          <p:cNvPr id="12" name="meta"/>
          <p:cNvGrpSpPr/>
          <p:nvPr/>
        </p:nvGrpSpPr>
        <p:grpSpPr>
          <a:xfrm>
            <a:off x="678942" y="5219700"/>
            <a:ext cx="5988558" cy="765683"/>
            <a:chOff x="678942" y="5219700"/>
            <a:chExt cx="5988558" cy="765683"/>
          </a:xfrm>
        </p:grpSpPr>
        <p:sp>
          <p:nvSpPr>
            <p:cNvPr id="9" name="Line 9"/>
            <p:cNvSpPr/>
            <p:nvPr/>
          </p:nvSpPr>
          <p:spPr>
            <a:xfrm>
              <a:off x="685800" y="5219700"/>
              <a:ext cx="5981700" cy="9525"/>
            </a:xfrm>
            <a:custGeom>
              <a:avLst/>
              <a:gdLst/>
              <a:ahLst/>
              <a:cxnLst/>
              <a:rect l="l" t="t" r="r" b="b"/>
              <a:pathLst>
                <a:path w="5981700" h="9525">
                  <a:moveTo>
                    <a:pt x="0" y="0"/>
                  </a:moveTo>
                  <a:lnTo>
                    <a:pt x="5981700" y="0"/>
                  </a:lnTo>
                </a:path>
              </a:pathLst>
            </a:custGeom>
            <a:noFill/>
            <a:ln w="28575" cap="rnd">
              <a:solidFill>
                <a:srgbClr val="0E1F3A">
                  <a:alpha val="60000"/>
                </a:srgbClr>
              </a:solidFill>
              <a:custDash>
                <a:ds d="33333" sp="266667"/>
              </a:custDash>
            </a:ln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680085" y="5461000"/>
              <a:ext cx="30259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b="1" spc="150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HEET, FOUNDER | MUMBAI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942" y="5721350"/>
              <a:ext cx="51870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Product, engineering and operations in one pair of hands.</a:t>
              </a:r>
            </a:p>
          </p:txBody>
        </p:sp>
      </p:grpSp>
      <p:grpSp>
        <p:nvGrpSpPr>
          <p:cNvPr id="31" name="letter"/>
          <p:cNvGrpSpPr/>
          <p:nvPr/>
        </p:nvGrpSpPr>
        <p:grpSpPr>
          <a:xfrm>
            <a:off x="7239000" y="838200"/>
            <a:ext cx="4267200" cy="4476750"/>
            <a:chOff x="7239000" y="838200"/>
            <a:chExt cx="4267200" cy="4476750"/>
          </a:xfrm>
        </p:grpSpPr>
        <p:sp>
          <p:nvSpPr>
            <p:cNvPr id="13" name="Rectangle 13"/>
            <p:cNvSpPr/>
            <p:nvPr/>
          </p:nvSpPr>
          <p:spPr>
            <a:xfrm>
              <a:off x="7239000" y="838200"/>
              <a:ext cx="4267200" cy="44767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5000"/>
                </a:srgbClr>
              </a:solidFill>
            </a:ln>
          </p:spPr>
          <p:txBody>
            <a:bodyPr/>
            <a:p/>
          </p:txBody>
        </p:sp>
        <p:sp>
          <p:nvSpPr>
            <p:cNvPr id="14" name="stamp-red"/>
            <p:cNvSpPr/>
            <p:nvPr/>
          </p:nvSpPr>
          <p:spPr>
            <a:xfrm>
              <a:off x="10077450" y="1104900"/>
              <a:ext cx="1181100" cy="142875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stamp-perforation"/>
            <p:cNvSpPr/>
            <p:nvPr/>
          </p:nvSpPr>
          <p:spPr>
            <a:xfrm>
              <a:off x="10077450" y="1104900"/>
              <a:ext cx="1181100" cy="1428750"/>
            </a:xfrm>
            <a:prstGeom prst="rect">
              <a:avLst/>
            </a:prstGeom>
            <a:noFill/>
            <a:ln w="66675">
              <a:solidFill>
                <a:srgbClr val="FAFCFE"/>
              </a:solidFill>
              <a:custDash>
                <a:ds d="85714" sp="114286"/>
              </a:custDash>
            </a:ln>
          </p:spPr>
          <p:txBody>
            <a:bodyPr/>
            <a:p/>
          </p:txBody>
        </p:sp>
        <p:sp>
          <p:nvSpPr>
            <p:cNvPr id="16" name="Ellipse 16"/>
            <p:cNvSpPr/>
            <p:nvPr/>
          </p:nvSpPr>
          <p:spPr>
            <a:xfrm>
              <a:off x="10477500" y="1447800"/>
              <a:ext cx="381000" cy="381000"/>
            </a:xfrm>
            <a:prstGeom prst="ellipse">
              <a:avLst/>
            </a:prstGeom>
            <a:noFill/>
            <a:ln w="47625">
              <a:solidFill>
                <a:srgbClr val="FAFCFE"/>
              </a:solidFill>
            </a:ln>
          </p:spPr>
          <p:txBody>
            <a:bodyPr/>
            <a:p/>
          </p:txBody>
        </p:sp>
        <p:sp>
          <p:nvSpPr>
            <p:cNvPr id="17" name="Rectangle 17"/>
            <p:cNvSpPr/>
            <p:nvPr/>
          </p:nvSpPr>
          <p:spPr>
            <a:xfrm>
              <a:off x="10591800" y="1828800"/>
              <a:ext cx="152400" cy="114300"/>
            </a:xfrm>
            <a:prstGeom prst="rect">
              <a:avLst/>
            </a:prstGeom>
            <a:solidFill>
              <a:srgbClr val="FAFCFE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10066855" y="2082800"/>
              <a:ext cx="1202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650" b="1" spc="150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9182100" y="1600200"/>
              <a:ext cx="876300" cy="876300"/>
            </a:xfrm>
            <a:prstGeom prst="ellipse">
              <a:avLst/>
            </a:prstGeom>
            <a:noFill/>
            <a:ln w="28575">
              <a:solidFill>
                <a:srgbClr val="0E1F3A">
                  <a:alpha val="55000"/>
                </a:srgbClr>
              </a:solidFill>
            </a:ln>
          </p:spPr>
          <p:txBody>
            <a:bodyPr/>
            <a:p/>
          </p:txBody>
        </p:sp>
        <p:sp>
          <p:nvSpPr>
            <p:cNvPr id="20" name="Ellipse 20"/>
            <p:cNvSpPr/>
            <p:nvPr/>
          </p:nvSpPr>
          <p:spPr>
            <a:xfrm>
              <a:off x="9267825" y="1685925"/>
              <a:ext cx="704850" cy="704850"/>
            </a:xfrm>
            <a:prstGeom prst="ellipse">
              <a:avLst/>
            </a:prstGeom>
            <a:noFill/>
            <a:ln w="14288">
              <a:solidFill>
                <a:srgbClr val="0E1F3A">
                  <a:alpha val="55000"/>
                </a:srgbClr>
              </a:solidFill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9233915" y="1971675"/>
              <a:ext cx="7726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900" b="1" spc="75" dirty="0">
                  <a:solidFill>
                    <a:srgbClr val="0E1F3A">
                      <a:alphaMod val="70000"/>
                    </a:srgbClr>
                  </a:solidFill>
                  <a:latin typeface="+mj-lt"/>
                  <a:ea typeface="+mj-ea"/>
                  <a:cs typeface="+mj-cs"/>
                </a:rPr>
                <a:t>MUMBAI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0096500" y="142875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28575">
              <a:solidFill>
                <a:srgbClr val="0E1F3A">
                  <a:alpha val="40000"/>
                </a:srgbClr>
              </a:solidFill>
            </a:ln>
          </p:spPr>
          <p:txBody>
            <a:bodyPr/>
            <a:p/>
          </p:txBody>
        </p:sp>
        <p:sp>
          <p:nvSpPr>
            <p:cNvPr id="23" name="Line 23"/>
            <p:cNvSpPr/>
            <p:nvPr/>
          </p:nvSpPr>
          <p:spPr>
            <a:xfrm>
              <a:off x="10096500" y="161925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28575">
              <a:solidFill>
                <a:srgbClr val="0E1F3A">
                  <a:alpha val="40000"/>
                </a:srgbClr>
              </a:solidFill>
            </a:ln>
          </p:spPr>
          <p:txBody>
            <a:bodyPr/>
            <a:p/>
          </p:txBody>
        </p:sp>
        <p:sp>
          <p:nvSpPr>
            <p:cNvPr id="24" name="Line 24"/>
            <p:cNvSpPr/>
            <p:nvPr/>
          </p:nvSpPr>
          <p:spPr>
            <a:xfrm>
              <a:off x="10096500" y="180975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28575">
              <a:solidFill>
                <a:srgbClr val="0E1F3A">
                  <a:alpha val="40000"/>
                </a:srgbClr>
              </a:solidFill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7538847" y="3225800"/>
              <a:ext cx="3660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TO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32370" y="3473450"/>
              <a:ext cx="39653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2250" i="1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The person who hires you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7543800" y="4038600"/>
              <a:ext cx="3600450" cy="9525"/>
            </a:xfrm>
            <a:custGeom>
              <a:avLst/>
              <a:gdLst/>
              <a:ahLst/>
              <a:cxnLst/>
              <a:rect l="l" t="t" r="r" b="b"/>
              <a:pathLst>
                <a:path w="3600450" h="9525">
                  <a:moveTo>
                    <a:pt x="0" y="0"/>
                  </a:moveTo>
                  <a:lnTo>
                    <a:pt x="3600450" y="0"/>
                  </a:lnTo>
                </a:path>
              </a:pathLst>
            </a:custGeom>
            <a:noFill/>
            <a:ln w="19050">
              <a:solidFill>
                <a:srgbClr val="A9C7E6"/>
              </a:solidFill>
            </a:ln>
          </p:spPr>
          <p:txBody>
            <a:bodyPr/>
            <a:p/>
          </p:txBody>
        </p:sp>
        <p:sp>
          <p:nvSpPr>
            <p:cNvPr id="28" name="Line 28"/>
            <p:cNvSpPr/>
            <p:nvPr/>
          </p:nvSpPr>
          <p:spPr>
            <a:xfrm>
              <a:off x="7543800" y="4324350"/>
              <a:ext cx="3600450" cy="9525"/>
            </a:xfrm>
            <a:custGeom>
              <a:avLst/>
              <a:gdLst/>
              <a:ahLst/>
              <a:cxnLst/>
              <a:rect l="l" t="t" r="r" b="b"/>
              <a:pathLst>
                <a:path w="3600450" h="9525">
                  <a:moveTo>
                    <a:pt x="0" y="0"/>
                  </a:moveTo>
                  <a:lnTo>
                    <a:pt x="3600450" y="0"/>
                  </a:lnTo>
                </a:path>
              </a:pathLst>
            </a:custGeom>
            <a:noFill/>
            <a:ln w="19050">
              <a:solidFill>
                <a:srgbClr val="A9C7E6"/>
              </a:solidFill>
            </a:ln>
          </p:spPr>
          <p:txBody>
            <a:bodyPr/>
            <a:p/>
          </p:txBody>
        </p:sp>
        <p:sp>
          <p:nvSpPr>
            <p:cNvPr id="29" name="Line 29"/>
            <p:cNvSpPr/>
            <p:nvPr/>
          </p:nvSpPr>
          <p:spPr>
            <a:xfrm>
              <a:off x="7543800" y="4610100"/>
              <a:ext cx="1981200" cy="9525"/>
            </a:xfrm>
            <a:custGeom>
              <a:avLst/>
              <a:gdLst/>
              <a:ahLst/>
              <a:cxnLst/>
              <a:rect l="l" t="t" r="r" b="b"/>
              <a:pathLst>
                <a:path w="1981200" h="9525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w="19050">
              <a:solidFill>
                <a:srgbClr val="A9C7E6"/>
              </a:solidFill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7535418" y="4845050"/>
              <a:ext cx="30890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Knock on the right door.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361950"/>
            <a:ext cx="7666842" cy="902716"/>
            <a:chOff x="595884" y="361950"/>
            <a:chExt cx="7666842" cy="902716"/>
          </a:xfrm>
        </p:grpSpPr>
        <p:sp>
          <p:nvSpPr>
            <p:cNvPr id="2" name="Rectangle 2"/>
            <p:cNvSpPr/>
            <p:nvPr/>
          </p:nvSpPr>
          <p:spPr>
            <a:xfrm>
              <a:off x="609600" y="361950"/>
              <a:ext cx="381000" cy="381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TextBox 3"/>
            <p:cNvSpPr txBox="1"/>
            <p:nvPr/>
          </p:nvSpPr>
          <p:spPr>
            <a:xfrm>
              <a:off x="604647" y="501650"/>
              <a:ext cx="296372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01 THE PROBLEM INSIGHT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5884" y="736600"/>
              <a:ext cx="891211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27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Job portals are a queue. People hire people.</a:t>
              </a:r>
            </a:p>
          </p:txBody>
        </p:sp>
      </p:grpSp>
      <p:grpSp>
        <p:nvGrpSpPr>
          <p:cNvPr id="7" name="lead"/>
          <p:cNvGrpSpPr/>
          <p:nvPr/>
        </p:nvGrpSpPr>
        <p:grpSpPr>
          <a:xfrm>
            <a:off x="600456" y="1574800"/>
            <a:ext cx="4639346" cy="675894"/>
            <a:chOff x="600456" y="1574800"/>
            <a:chExt cx="4639346" cy="675894"/>
          </a:xfrm>
        </p:grpSpPr>
        <p:sp>
          <p:nvSpPr>
            <p:cNvPr id="6" name="TextBox 6"/>
            <p:cNvSpPr txBox="1"/>
            <p:nvPr/>
          </p:nvSpPr>
          <p:spPr>
            <a:xfrm>
              <a:off x="600456" y="1574800"/>
              <a:ext cx="5430497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" sz="18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 portal application joins a long queue. A referral,</a:t>
              </a:r>
              <a:br>
                <a:rPr lang="en" sz="18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8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or a real conversation, steps past it.</a:t>
              </a:r>
            </a:p>
          </p:txBody>
        </p:sp>
      </p:grpSp>
      <p:grpSp>
        <p:nvGrpSpPr>
          <p:cNvPr id="11" name="insight-1"/>
          <p:cNvGrpSpPr/>
          <p:nvPr/>
        </p:nvGrpSpPr>
        <p:grpSpPr>
          <a:xfrm>
            <a:off x="592836" y="2546350"/>
            <a:ext cx="4421344" cy="799402"/>
            <a:chOff x="592836" y="2546350"/>
            <a:chExt cx="4421344" cy="799402"/>
          </a:xfrm>
        </p:grpSpPr>
        <p:sp>
          <p:nvSpPr>
            <p:cNvPr id="8" name="TextBox 8"/>
            <p:cNvSpPr txBox="1"/>
            <p:nvPr/>
          </p:nvSpPr>
          <p:spPr>
            <a:xfrm>
              <a:off x="592836" y="2546350"/>
              <a:ext cx="41796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3300" b="1" dirty="0">
                  <a:solidFill>
                    <a:srgbClr val="97B9DD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73861" y="2546350"/>
              <a:ext cx="33065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Applying cold is getting worse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3861" y="2819400"/>
              <a:ext cx="4511616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Applicants per role keep rising, and candidates apply</a:t>
              </a:r>
              <a:b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to more jobs while hearing back from fewer.</a:t>
              </a:r>
            </a:p>
          </p:txBody>
        </p:sp>
      </p:grpSp>
      <p:sp>
        <p:nvSpPr>
          <p:cNvPr id="12" name="Line 12"/>
          <p:cNvSpPr/>
          <p:nvPr/>
        </p:nvSpPr>
        <p:spPr>
          <a:xfrm>
            <a:off x="609600" y="3543300"/>
            <a:ext cx="6057900" cy="9525"/>
          </a:xfrm>
          <a:custGeom>
            <a:avLst/>
            <a:gdLst/>
            <a:ahLst/>
            <a:cxnLst/>
            <a:rect l="l" t="t" r="r" b="b"/>
            <a:pathLst>
              <a:path w="6057900" h="9525">
                <a:moveTo>
                  <a:pt x="0" y="0"/>
                </a:moveTo>
                <a:lnTo>
                  <a:pt x="6057900" y="0"/>
                </a:lnTo>
              </a:path>
            </a:pathLst>
          </a:custGeom>
          <a:noFill/>
          <a:ln w="9525">
            <a:solidFill>
              <a:srgbClr val="0E1F3A">
                <a:alpha val="20000"/>
              </a:srgbClr>
            </a:solidFill>
          </a:ln>
        </p:spPr>
        <p:txBody>
          <a:bodyPr/>
          <a:p/>
        </p:txBody>
      </p:sp>
      <p:grpSp>
        <p:nvGrpSpPr>
          <p:cNvPr id="16" name="insight-2"/>
          <p:cNvGrpSpPr/>
          <p:nvPr/>
        </p:nvGrpSpPr>
        <p:grpSpPr>
          <a:xfrm>
            <a:off x="592836" y="3765550"/>
            <a:ext cx="4239651" cy="799402"/>
            <a:chOff x="592836" y="3765550"/>
            <a:chExt cx="4239651" cy="799402"/>
          </a:xfrm>
        </p:grpSpPr>
        <p:sp>
          <p:nvSpPr>
            <p:cNvPr id="13" name="TextBox 13"/>
            <p:cNvSpPr txBox="1"/>
            <p:nvPr/>
          </p:nvSpPr>
          <p:spPr>
            <a:xfrm>
              <a:off x="592836" y="3765550"/>
              <a:ext cx="41796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3300" b="1" dirty="0">
                  <a:solidFill>
                    <a:srgbClr val="97B9DD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3861" y="3765550"/>
              <a:ext cx="41386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Referrals work, the usual ask does not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73861" y="4038600"/>
              <a:ext cx="4302669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 xml:space="preserve">Referrers are flooded with </a:t>
              </a:r>
              <a:r>
                <a:rPr lang="en" sz="1420" i="1" dirty="0">
                  <a:solidFill>
                    <a:srgbClr val="B3301B"/>
                  </a:solidFill>
                  <a:latin typeface="+mn-lt"/>
                  <a:ea typeface="+mn-ea"/>
                  <a:cs typeface="+mn-cs"/>
                </a:rPr>
                <a:t>'Hi sir, please refer me,</a:t>
              </a:r>
              <a:br>
                <a:rPr lang="en" sz="1420" i="1" dirty="0">
                  <a:solidFill>
                    <a:srgbClr val="B3301B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i="1" dirty="0">
                  <a:solidFill>
                    <a:srgbClr val="B3301B"/>
                  </a:solidFill>
                  <a:latin typeface="+mn-lt"/>
                  <a:ea typeface="+mn-ea"/>
                  <a:cs typeface="+mn-cs"/>
                </a:rPr>
                <a:t>resume attached'</a:t>
              </a: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, and they learn to ignore it.</a:t>
              </a:r>
            </a:p>
          </p:txBody>
        </p:sp>
      </p:grpSp>
      <p:sp>
        <p:nvSpPr>
          <p:cNvPr id="17" name="Line 17"/>
          <p:cNvSpPr/>
          <p:nvPr/>
        </p:nvSpPr>
        <p:spPr>
          <a:xfrm>
            <a:off x="609600" y="4762500"/>
            <a:ext cx="6057900" cy="9525"/>
          </a:xfrm>
          <a:custGeom>
            <a:avLst/>
            <a:gdLst/>
            <a:ahLst/>
            <a:cxnLst/>
            <a:rect l="l" t="t" r="r" b="b"/>
            <a:pathLst>
              <a:path w="6057900" h="9525">
                <a:moveTo>
                  <a:pt x="0" y="0"/>
                </a:moveTo>
                <a:lnTo>
                  <a:pt x="6057900" y="0"/>
                </a:lnTo>
              </a:path>
            </a:pathLst>
          </a:custGeom>
          <a:noFill/>
          <a:ln w="9525">
            <a:solidFill>
              <a:srgbClr val="0E1F3A">
                <a:alpha val="20000"/>
              </a:srgbClr>
            </a:solidFill>
          </a:ln>
        </p:spPr>
        <p:txBody>
          <a:bodyPr/>
          <a:p/>
        </p:txBody>
      </p:sp>
      <p:grpSp>
        <p:nvGrpSpPr>
          <p:cNvPr id="21" name="insight-3"/>
          <p:cNvGrpSpPr/>
          <p:nvPr/>
        </p:nvGrpSpPr>
        <p:grpSpPr>
          <a:xfrm>
            <a:off x="592836" y="4984750"/>
            <a:ext cx="4115776" cy="799402"/>
            <a:chOff x="592836" y="4984750"/>
            <a:chExt cx="4115776" cy="799402"/>
          </a:xfrm>
        </p:grpSpPr>
        <p:sp>
          <p:nvSpPr>
            <p:cNvPr id="18" name="TextBox 18"/>
            <p:cNvSpPr txBox="1"/>
            <p:nvPr/>
          </p:nvSpPr>
          <p:spPr>
            <a:xfrm>
              <a:off x="592836" y="4984750"/>
              <a:ext cx="41796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3300" b="1" dirty="0">
                  <a:solidFill>
                    <a:srgbClr val="97B9DD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3861" y="4984750"/>
              <a:ext cx="38571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Good outreach is skilled, slow work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73861" y="5257800"/>
              <a:ext cx="4160213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Pick the right people, find a real shared tie, write</a:t>
              </a:r>
              <a:b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briefly, ask one small thing, follow up once.</a:t>
              </a:r>
            </a:p>
          </p:txBody>
        </p:sp>
      </p:grpSp>
      <p:grpSp>
        <p:nvGrpSpPr>
          <p:cNvPr id="32" name="why-now"/>
          <p:cNvGrpSpPr/>
          <p:nvPr/>
        </p:nvGrpSpPr>
        <p:grpSpPr>
          <a:xfrm>
            <a:off x="7048500" y="1428750"/>
            <a:ext cx="4533900" cy="4819650"/>
            <a:chOff x="7048500" y="1428750"/>
            <a:chExt cx="4533900" cy="4819650"/>
          </a:xfrm>
        </p:grpSpPr>
        <p:sp>
          <p:nvSpPr>
            <p:cNvPr id="22" name="Rectangle 22"/>
            <p:cNvSpPr/>
            <p:nvPr/>
          </p:nvSpPr>
          <p:spPr>
            <a:xfrm>
              <a:off x="7048500" y="1428750"/>
              <a:ext cx="4533900" cy="48196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7348347" y="1682750"/>
              <a:ext cx="11377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A9C7E6"/>
                  </a:solidFill>
                  <a:latin typeface="+mj-lt"/>
                  <a:ea typeface="+mj-ea"/>
                  <a:cs typeface="+mj-cs"/>
                </a:rPr>
                <a:t>WHY NOW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43394" y="1974850"/>
              <a:ext cx="3267211" cy="7052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" sz="1950" b="1" dirty="0">
                  <a:solidFill>
                    <a:srgbClr val="EEF3F8"/>
                  </a:solidFill>
                  <a:latin typeface="+mj-lt"/>
                  <a:ea typeface="+mj-ea"/>
                  <a:cs typeface="+mj-cs"/>
                </a:rPr>
                <a:t>The queue is longer,</a:t>
              </a:r>
              <a:br>
                <a:rPr lang="en" sz="1950" b="1" dirty="0">
                  <a:solidFill>
                    <a:srgbClr val="EEF3F8"/>
                  </a:solidFill>
                  <a:latin typeface="+mj-lt"/>
                  <a:ea typeface="+mj-ea"/>
                  <a:cs typeface="+mj-cs"/>
                </a:rPr>
              </a:br>
              <a:r>
                <a:rPr lang="en" sz="1950" b="1" dirty="0">
                  <a:solidFill>
                    <a:srgbClr val="EEF3F8"/>
                  </a:solidFill>
                  <a:latin typeface="+mj-lt"/>
                  <a:ea typeface="+mj-ea"/>
                  <a:cs typeface="+mj-cs"/>
                </a:rPr>
                <a:t>and the tools are better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353300" y="2762250"/>
              <a:ext cx="3924300" cy="9525"/>
            </a:xfrm>
            <a:custGeom>
              <a:avLst/>
              <a:gdLst/>
              <a:ahLst/>
              <a:cxnLst/>
              <a:rect l="l" t="t" r="r" b="b"/>
              <a:pathLst>
                <a:path w="3924300" h="9525">
                  <a:moveTo>
                    <a:pt x="0" y="0"/>
                  </a:moveTo>
                  <a:lnTo>
                    <a:pt x="3924300" y="0"/>
                  </a:lnTo>
                </a:path>
              </a:pathLst>
            </a:custGeom>
            <a:noFill/>
            <a:ln w="28575" cap="rnd">
              <a:solidFill>
                <a:srgbClr val="A9C7E6">
                  <a:alpha val="40000"/>
                </a:srgbClr>
              </a:solidFill>
              <a:custDash>
                <a:ds d="33333" sp="266667"/>
              </a:custDash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7346823" y="2952750"/>
              <a:ext cx="20875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E8705A"/>
                  </a:solidFill>
                  <a:latin typeface="+mj-lt"/>
                  <a:ea typeface="+mj-ea"/>
                  <a:cs typeface="+mj-cs"/>
                </a:rPr>
                <a:t>Portals are saturated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46442" y="3175000"/>
              <a:ext cx="3751839" cy="5021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" sz="135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Anyone can apply in a click, so an application</a:t>
              </a:r>
              <a:br>
                <a:rPr lang="en" sz="135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means little to the person reading it.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46823" y="3924300"/>
              <a:ext cx="311170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EEF3F8"/>
                  </a:solidFill>
                  <a:latin typeface="+mj-lt"/>
                  <a:ea typeface="+mj-ea"/>
                  <a:cs typeface="+mj-cs"/>
                </a:rPr>
                <a:t>Research and writing got cheap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46442" y="4146550"/>
              <a:ext cx="3899754" cy="5021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" sz="135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Models can now read, summarise and draft well</a:t>
              </a:r>
              <a:br>
                <a:rPr lang="en" sz="135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enough that a personal service is affordable.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46823" y="4895850"/>
              <a:ext cx="25505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EEF3F8"/>
                  </a:solidFill>
                  <a:latin typeface="+mj-lt"/>
                  <a:ea typeface="+mj-ea"/>
                  <a:cs typeface="+mj-cs"/>
                </a:rPr>
                <a:t>Humans must stay visible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46442" y="5118100"/>
              <a:ext cx="3773922" cy="9784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" sz="135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People cannot spot a well-written AI message,</a:t>
              </a:r>
              <a:br>
                <a:rPr lang="en" sz="135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but judge the sender harshly once told AI</a:t>
              </a:r>
              <a:br>
                <a:rPr lang="en" sz="135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wrote it. So the candidate approves and owns</a:t>
              </a:r>
              <a:br>
                <a:rPr lang="en" sz="135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every message.</a:t>
              </a:r>
            </a:p>
          </p:txBody>
        </p:sp>
      </p:grpSp>
      <p:grpSp>
        <p:nvGrpSpPr>
          <p:cNvPr id="34" name="source-note"/>
          <p:cNvGrpSpPr/>
          <p:nvPr/>
        </p:nvGrpSpPr>
        <p:grpSpPr>
          <a:xfrm>
            <a:off x="604266" y="5918200"/>
            <a:ext cx="3751109" cy="376809"/>
            <a:chOff x="604266" y="5918200"/>
            <a:chExt cx="3751109" cy="376809"/>
          </a:xfrm>
        </p:grpSpPr>
        <p:sp>
          <p:nvSpPr>
            <p:cNvPr id="33" name="TextBox 33"/>
            <p:cNvSpPr txBox="1"/>
            <p:nvPr/>
          </p:nvSpPr>
          <p:spPr>
            <a:xfrm>
              <a:off x="604266" y="5918200"/>
              <a:ext cx="4409025" cy="3768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en" sz="105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Sources: LinkedIn India research and a University of Michigan study,</a:t>
              </a:r>
              <a:br>
                <a:rPr lang="en" sz="105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</a:br>
              <a:r>
                <a:rPr lang="en" sz="105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as cited in Knock's research playbook. Described qualitatively.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604838" y="6438900"/>
            <a:ext cx="10982324" cy="290512"/>
            <a:chOff x="604838" y="6438900"/>
            <a:chExt cx="10982324" cy="290512"/>
          </a:xfrm>
        </p:grpSpPr>
        <p:sp>
          <p:nvSpPr>
            <p:cNvPr id="35" name="Line 35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 cap="rnd">
              <a:solidFill>
                <a:srgbClr val="4A5F80">
                  <a:alpha val="60000"/>
                </a:srgbClr>
              </a:solidFill>
              <a:custDash>
                <a:ds d="33333" sp="266667"/>
              </a:custDash>
            </a:ln>
          </p:spPr>
          <p:txBody>
            <a:bodyPr/>
            <a:p/>
          </p:txBody>
        </p:sp>
        <p:sp>
          <p:nvSpPr>
            <p:cNvPr id="36" name="TextBox 36"/>
            <p:cNvSpPr txBox="1"/>
            <p:nvPr/>
          </p:nvSpPr>
          <p:spPr>
            <a:xfrm>
              <a:off x="604838" y="6553200"/>
              <a:ext cx="21349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00" b="1" spc="15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KNOCK | CASE STUDY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915523" y="6553200"/>
              <a:ext cx="6716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" sz="900" b="1" spc="15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02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361950"/>
            <a:ext cx="9492340" cy="902716"/>
            <a:chOff x="595884" y="361950"/>
            <a:chExt cx="9492340" cy="902716"/>
          </a:xfrm>
        </p:grpSpPr>
        <p:sp>
          <p:nvSpPr>
            <p:cNvPr id="2" name="Rectangle 2"/>
            <p:cNvSpPr/>
            <p:nvPr/>
          </p:nvSpPr>
          <p:spPr>
            <a:xfrm>
              <a:off x="609600" y="361950"/>
              <a:ext cx="381000" cy="381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TextBox 3"/>
            <p:cNvSpPr txBox="1"/>
            <p:nvPr/>
          </p:nvSpPr>
          <p:spPr>
            <a:xfrm>
              <a:off x="604647" y="501650"/>
              <a:ext cx="37913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02 WHY THE OBVIOUS FIXES FAIL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5884" y="736600"/>
              <a:ext cx="1101144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27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Existing fixes sell advice or volume, not conversations</a:t>
              </a:r>
            </a:p>
          </p:txBody>
        </p:sp>
      </p:grpSp>
      <p:grpSp>
        <p:nvGrpSpPr>
          <p:cNvPr id="10" name="field-advice"/>
          <p:cNvGrpSpPr/>
          <p:nvPr/>
        </p:nvGrpSpPr>
        <p:grpSpPr>
          <a:xfrm>
            <a:off x="609600" y="1905000"/>
            <a:ext cx="3238500" cy="2381250"/>
            <a:chOff x="609600" y="1905000"/>
            <a:chExt cx="3238500" cy="2381250"/>
          </a:xfrm>
        </p:grpSpPr>
        <p:sp>
          <p:nvSpPr>
            <p:cNvPr id="6" name="Rectangle 6"/>
            <p:cNvSpPr/>
            <p:nvPr/>
          </p:nvSpPr>
          <p:spPr>
            <a:xfrm>
              <a:off x="609600" y="1905000"/>
              <a:ext cx="3238500" cy="238125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852297" y="2120900"/>
              <a:ext cx="28810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ADVICE AND DOCUMENTS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8106" y="2400300"/>
              <a:ext cx="24018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Help you prepare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50011" y="2838450"/>
              <a:ext cx="3100777" cy="12693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Mentor calls, courses and resume</a:t>
              </a:r>
              <a:br>
                <a:rPr lang="en" sz="142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rewrites. Useful, but nobody starts</a:t>
              </a:r>
              <a:br>
                <a:rPr lang="en" sz="142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 conversation for you. The work of</a:t>
              </a:r>
              <a:br>
                <a:rPr lang="en" sz="142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reaching people stays with the</a:t>
              </a:r>
              <a:br>
                <a:rPr lang="en" sz="142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candidate.</a:t>
              </a:r>
            </a:p>
          </p:txBody>
        </p:sp>
      </p:grpSp>
      <p:grpSp>
        <p:nvGrpSpPr>
          <p:cNvPr id="16" name="field-knock"/>
          <p:cNvGrpSpPr/>
          <p:nvPr/>
        </p:nvGrpSpPr>
        <p:grpSpPr>
          <a:xfrm>
            <a:off x="4038600" y="1676400"/>
            <a:ext cx="4114800" cy="2800350"/>
            <a:chOff x="4038600" y="1676400"/>
            <a:chExt cx="4114800" cy="2800350"/>
          </a:xfrm>
        </p:grpSpPr>
        <p:sp>
          <p:nvSpPr>
            <p:cNvPr id="11" name="Rectangle 11"/>
            <p:cNvSpPr/>
            <p:nvPr/>
          </p:nvSpPr>
          <p:spPr>
            <a:xfrm>
              <a:off x="4038600" y="1676400"/>
              <a:ext cx="4114800" cy="28003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12" name="Rectangle 12"/>
            <p:cNvSpPr/>
            <p:nvPr/>
          </p:nvSpPr>
          <p:spPr>
            <a:xfrm>
              <a:off x="4038600" y="1676400"/>
              <a:ext cx="4114800" cy="5715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4300347" y="1968500"/>
              <a:ext cx="84163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B3301B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94632" y="2241550"/>
              <a:ext cx="38151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Does the outreach itself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97680" y="2730500"/>
              <a:ext cx="3780793" cy="10934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" sz="15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Researched, personal, approved messages</a:t>
              </a:r>
              <a:br>
                <a:rPr lang="en" sz="15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to named people, one at a time.</a:t>
              </a:r>
              <a:br>
                <a:rPr lang="en" sz="15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Technology does the heavy lifting.</a:t>
              </a:r>
              <a:br>
                <a:rPr lang="en" sz="15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The candidate stays in control.</a:t>
              </a:r>
            </a:p>
          </p:txBody>
        </p:sp>
      </p:grpSp>
      <p:grpSp>
        <p:nvGrpSpPr>
          <p:cNvPr id="21" name="field-volume"/>
          <p:cNvGrpSpPr/>
          <p:nvPr/>
        </p:nvGrpSpPr>
        <p:grpSpPr>
          <a:xfrm>
            <a:off x="8343900" y="1905000"/>
            <a:ext cx="3238500" cy="2381250"/>
            <a:chOff x="8343900" y="1905000"/>
            <a:chExt cx="3238500" cy="2381250"/>
          </a:xfrm>
        </p:grpSpPr>
        <p:sp>
          <p:nvSpPr>
            <p:cNvPr id="17" name="Rectangle 17"/>
            <p:cNvSpPr/>
            <p:nvPr/>
          </p:nvSpPr>
          <p:spPr>
            <a:xfrm>
              <a:off x="8343900" y="1905000"/>
              <a:ext cx="3238500" cy="23812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8586597" y="2120900"/>
              <a:ext cx="9764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A9C7E6"/>
                  </a:solidFill>
                  <a:latin typeface="+mj-lt"/>
                  <a:ea typeface="+mj-ea"/>
                  <a:cs typeface="+mj-cs"/>
                </a:rPr>
                <a:t>VOLUME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82406" y="2400300"/>
              <a:ext cx="27579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EEF3F8"/>
                  </a:solidFill>
                  <a:latin typeface="+mj-lt"/>
                  <a:ea typeface="+mj-ea"/>
                  <a:cs typeface="+mj-cs"/>
                </a:rPr>
                <a:t>Fast, but reads cold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84311" y="2838450"/>
              <a:ext cx="2985592" cy="12693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Automation sequences and mass-</a:t>
              </a:r>
              <a:br>
                <a:rPr lang="en" sz="142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apply tools. Template-driven, easy</a:t>
              </a:r>
              <a:br>
                <a:rPr lang="en" sz="142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to spot, and against LinkedIn's</a:t>
              </a:r>
              <a:br>
                <a:rPr lang="en" sz="142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terms. The risk lands on the</a:t>
              </a:r>
              <a:br>
                <a:rPr lang="en" sz="142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candidate's own account.</a:t>
              </a:r>
            </a:p>
          </p:txBody>
        </p:sp>
      </p:grpSp>
      <p:grpSp>
        <p:nvGrpSpPr>
          <p:cNvPr id="25" name="insight-band"/>
          <p:cNvGrpSpPr/>
          <p:nvPr/>
        </p:nvGrpSpPr>
        <p:grpSpPr>
          <a:xfrm>
            <a:off x="609600" y="4857750"/>
            <a:ext cx="10972800" cy="1238250"/>
            <a:chOff x="609600" y="4857750"/>
            <a:chExt cx="10972800" cy="1238250"/>
          </a:xfrm>
        </p:grpSpPr>
        <p:sp>
          <p:nvSpPr>
            <p:cNvPr id="22" name="Rectangle 22"/>
            <p:cNvSpPr/>
            <p:nvPr/>
          </p:nvSpPr>
          <p:spPr>
            <a:xfrm>
              <a:off x="609600" y="4857750"/>
              <a:ext cx="10972800" cy="1238250"/>
            </a:xfrm>
            <a:prstGeom prst="rect">
              <a:avLst/>
            </a:prstGeom>
            <a:solidFill>
              <a:srgbClr val="A9C7E6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903732" y="5156200"/>
              <a:ext cx="60007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gap is execution, not information.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6780" y="5632450"/>
              <a:ext cx="98620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Finding, researching and writing to one person at a time is the work nobody does for the candidate.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4838" y="6438900"/>
            <a:ext cx="10982324" cy="290512"/>
            <a:chOff x="604838" y="6438900"/>
            <a:chExt cx="10982324" cy="290512"/>
          </a:xfrm>
        </p:grpSpPr>
        <p:sp>
          <p:nvSpPr>
            <p:cNvPr id="26" name="Line 26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 cap="rnd">
              <a:solidFill>
                <a:srgbClr val="4A5F80">
                  <a:alpha val="60000"/>
                </a:srgbClr>
              </a:solidFill>
              <a:custDash>
                <a:ds d="33333" sp="266667"/>
              </a:custDash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604838" y="6553200"/>
              <a:ext cx="21349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00" b="1" spc="15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KNOCK | CASE STUDY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15523" y="6553200"/>
              <a:ext cx="6716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" sz="900" b="1" spc="15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03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361950"/>
            <a:ext cx="9472080" cy="902716"/>
            <a:chOff x="595884" y="361950"/>
            <a:chExt cx="9472080" cy="902716"/>
          </a:xfrm>
        </p:grpSpPr>
        <p:sp>
          <p:nvSpPr>
            <p:cNvPr id="2" name="Rectangle 2"/>
            <p:cNvSpPr/>
            <p:nvPr/>
          </p:nvSpPr>
          <p:spPr>
            <a:xfrm>
              <a:off x="609600" y="361950"/>
              <a:ext cx="381000" cy="381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TextBox 3"/>
            <p:cNvSpPr txBox="1"/>
            <p:nvPr/>
          </p:nvSpPr>
          <p:spPr>
            <a:xfrm>
              <a:off x="604647" y="501650"/>
              <a:ext cx="2747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03 PRODUCT DECISIONS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5884" y="736600"/>
              <a:ext cx="1098814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27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Five decisions shaped the product, each with a reason</a:t>
              </a:r>
            </a:p>
          </p:txBody>
        </p:sp>
      </p:grpSp>
      <p:grpSp>
        <p:nvGrpSpPr>
          <p:cNvPr id="9" name="decision-1"/>
          <p:cNvGrpSpPr/>
          <p:nvPr/>
        </p:nvGrpSpPr>
        <p:grpSpPr>
          <a:xfrm>
            <a:off x="594360" y="1403350"/>
            <a:ext cx="8987763" cy="856552"/>
            <a:chOff x="594360" y="1403350"/>
            <a:chExt cx="8987763" cy="856552"/>
          </a:xfrm>
        </p:grpSpPr>
        <p:sp>
          <p:nvSpPr>
            <p:cNvPr id="6" name="TextBox 6"/>
            <p:cNvSpPr txBox="1"/>
            <p:nvPr/>
          </p:nvSpPr>
          <p:spPr>
            <a:xfrm>
              <a:off x="594360" y="1403350"/>
              <a:ext cx="38862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3000" b="1" dirty="0">
                  <a:solidFill>
                    <a:srgbClr val="97B9DD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30249" y="1504950"/>
              <a:ext cx="244620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5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 service, not a tool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64761" y="1485900"/>
              <a:ext cx="5865216" cy="7740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Candidates do not want software to operate, they want conversations.</a:t>
              </a:r>
              <a:b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Delivering the work, with technology behind it, matches the job they</a:t>
              </a:r>
              <a:b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hire Knock for. AI is how it is delivered, never the headline.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609600" y="2286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0E1F3A">
                <a:alpha val="20000"/>
              </a:srgbClr>
            </a:solidFill>
          </a:ln>
        </p:spPr>
        <p:txBody>
          <a:bodyPr/>
          <a:p/>
        </p:txBody>
      </p:sp>
      <p:grpSp>
        <p:nvGrpSpPr>
          <p:cNvPr id="14" name="decision-2"/>
          <p:cNvGrpSpPr/>
          <p:nvPr/>
        </p:nvGrpSpPr>
        <p:grpSpPr>
          <a:xfrm>
            <a:off x="594360" y="2355850"/>
            <a:ext cx="8779903" cy="856552"/>
            <a:chOff x="594360" y="2355850"/>
            <a:chExt cx="8779903" cy="856552"/>
          </a:xfrm>
        </p:grpSpPr>
        <p:sp>
          <p:nvSpPr>
            <p:cNvPr id="11" name="TextBox 11"/>
            <p:cNvSpPr txBox="1"/>
            <p:nvPr/>
          </p:nvSpPr>
          <p:spPr>
            <a:xfrm>
              <a:off x="594360" y="2355850"/>
              <a:ext cx="38862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3000" b="1" dirty="0">
                  <a:solidFill>
                    <a:srgbClr val="B3301B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30249" y="2457450"/>
              <a:ext cx="2755335" cy="5566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5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candidate approves</a:t>
              </a:r>
              <a:br>
                <a:rPr lang="en" sz="15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5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every message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64761" y="2438400"/>
              <a:ext cx="5626177" cy="7740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Messages go out under a real person's name. Approval keeps them</a:t>
              </a:r>
              <a:b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truthful and in the candidate's own voice. It is a hard rule in</a:t>
              </a:r>
              <a:b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every delivery tier, and automatic sending stays off for clients.</a:t>
              </a:r>
            </a:p>
          </p:txBody>
        </p:sp>
      </p:grpSp>
      <p:sp>
        <p:nvSpPr>
          <p:cNvPr id="15" name="Line 15"/>
          <p:cNvSpPr/>
          <p:nvPr/>
        </p:nvSpPr>
        <p:spPr>
          <a:xfrm>
            <a:off x="609600" y="3238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0E1F3A">
                <a:alpha val="20000"/>
              </a:srgbClr>
            </a:solidFill>
          </a:ln>
        </p:spPr>
        <p:txBody>
          <a:bodyPr/>
          <a:p/>
        </p:txBody>
      </p:sp>
      <p:grpSp>
        <p:nvGrpSpPr>
          <p:cNvPr id="19" name="decision-3"/>
          <p:cNvGrpSpPr/>
          <p:nvPr/>
        </p:nvGrpSpPr>
        <p:grpSpPr>
          <a:xfrm>
            <a:off x="594360" y="3308350"/>
            <a:ext cx="9092036" cy="856552"/>
            <a:chOff x="594360" y="3308350"/>
            <a:chExt cx="9092036" cy="856552"/>
          </a:xfrm>
        </p:grpSpPr>
        <p:sp>
          <p:nvSpPr>
            <p:cNvPr id="16" name="TextBox 16"/>
            <p:cNvSpPr txBox="1"/>
            <p:nvPr/>
          </p:nvSpPr>
          <p:spPr>
            <a:xfrm>
              <a:off x="594360" y="3308350"/>
              <a:ext cx="38862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3000" b="1" dirty="0">
                  <a:solidFill>
                    <a:srgbClr val="97B9DD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30249" y="3409950"/>
              <a:ext cx="245951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5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Quality over volume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4761" y="3390900"/>
              <a:ext cx="5985130" cy="7740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small set of hand-picked people, never identical copy inside one</a:t>
              </a:r>
              <a:b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company. Careful outreach protects the few warm contacts a candidate</a:t>
              </a:r>
              <a:b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has, and their reputation in a tight professional network.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609600" y="4191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0E1F3A">
                <a:alpha val="20000"/>
              </a:srgbClr>
            </a:solidFill>
          </a:ln>
        </p:spPr>
        <p:txBody>
          <a:bodyPr/>
          <a:p/>
        </p:txBody>
      </p:sp>
      <p:grpSp>
        <p:nvGrpSpPr>
          <p:cNvPr id="24" name="decision-4"/>
          <p:cNvGrpSpPr/>
          <p:nvPr/>
        </p:nvGrpSpPr>
        <p:grpSpPr>
          <a:xfrm>
            <a:off x="594360" y="4260850"/>
            <a:ext cx="8717578" cy="856552"/>
            <a:chOff x="594360" y="4260850"/>
            <a:chExt cx="8717578" cy="856552"/>
          </a:xfrm>
        </p:grpSpPr>
        <p:sp>
          <p:nvSpPr>
            <p:cNvPr id="21" name="TextBox 21"/>
            <p:cNvSpPr txBox="1"/>
            <p:nvPr/>
          </p:nvSpPr>
          <p:spPr>
            <a:xfrm>
              <a:off x="594360" y="4260850"/>
              <a:ext cx="38862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3000" b="1" dirty="0">
                  <a:solidFill>
                    <a:srgbClr val="97B9DD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30249" y="4362450"/>
              <a:ext cx="188773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5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No list padding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64761" y="4343400"/>
              <a:ext cx="5554503" cy="7740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Padding a list with irrelevant people to make results look better is</a:t>
              </a:r>
              <a:b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deceptive, so the founder rejected it. Every hook must cite a real</a:t>
              </a:r>
              <a:b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fact, and no shared history is ever invented.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609600" y="51435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0E1F3A">
                <a:alpha val="20000"/>
              </a:srgbClr>
            </a:solidFill>
          </a:ln>
        </p:spPr>
        <p:txBody>
          <a:bodyPr/>
          <a:p/>
        </p:txBody>
      </p:sp>
      <p:grpSp>
        <p:nvGrpSpPr>
          <p:cNvPr id="29" name="decision-5"/>
          <p:cNvGrpSpPr/>
          <p:nvPr/>
        </p:nvGrpSpPr>
        <p:grpSpPr>
          <a:xfrm>
            <a:off x="594360" y="5213350"/>
            <a:ext cx="9123776" cy="856552"/>
            <a:chOff x="594360" y="5213350"/>
            <a:chExt cx="9123776" cy="856552"/>
          </a:xfrm>
        </p:grpSpPr>
        <p:sp>
          <p:nvSpPr>
            <p:cNvPr id="26" name="TextBox 26"/>
            <p:cNvSpPr txBox="1"/>
            <p:nvPr/>
          </p:nvSpPr>
          <p:spPr>
            <a:xfrm>
              <a:off x="594360" y="5213350"/>
              <a:ext cx="38862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3000" b="1" dirty="0">
                  <a:solidFill>
                    <a:srgbClr val="97B9DD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30249" y="5314950"/>
              <a:ext cx="1844067" cy="5566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5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Upfront pricing,</a:t>
              </a:r>
              <a:br>
                <a:rPr lang="en" sz="15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5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no success fee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64761" y="5295900"/>
              <a:ext cx="6021631" cy="7740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Clients pay for the work, not a promised outcome, so nobody is pushed</a:t>
              </a:r>
              <a:b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to overpromise. Prices are stated upfront, and guarantees wait until</a:t>
              </a:r>
              <a:b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real outcome data exists.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4838" y="6438900"/>
            <a:ext cx="10982324" cy="290512"/>
            <a:chOff x="604838" y="6438900"/>
            <a:chExt cx="10982324" cy="290512"/>
          </a:xfrm>
        </p:grpSpPr>
        <p:sp>
          <p:nvSpPr>
            <p:cNvPr id="30" name="Line 30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 cap="rnd">
              <a:solidFill>
                <a:srgbClr val="4A5F80">
                  <a:alpha val="60000"/>
                </a:srgbClr>
              </a:solidFill>
              <a:custDash>
                <a:ds d="33333" sp="266667"/>
              </a:custDash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604838" y="6553200"/>
              <a:ext cx="21349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00" b="1" spc="15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KNOCK | CASE STUDY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15523" y="6553200"/>
              <a:ext cx="6716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" sz="900" b="1" spc="15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04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361950"/>
            <a:ext cx="8137129" cy="902716"/>
            <a:chOff x="595884" y="361950"/>
            <a:chExt cx="8137129" cy="902716"/>
          </a:xfrm>
        </p:grpSpPr>
        <p:sp>
          <p:nvSpPr>
            <p:cNvPr id="2" name="Rectangle 2"/>
            <p:cNvSpPr/>
            <p:nvPr/>
          </p:nvSpPr>
          <p:spPr>
            <a:xfrm>
              <a:off x="609600" y="361950"/>
              <a:ext cx="381000" cy="381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TextBox 3"/>
            <p:cNvSpPr txBox="1"/>
            <p:nvPr/>
          </p:nvSpPr>
          <p:spPr>
            <a:xfrm>
              <a:off x="604647" y="501650"/>
              <a:ext cx="448153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04 HOW IT WORKS FOR THE CANDIDATE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5884" y="736600"/>
              <a:ext cx="945294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27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From target list to referral, candidate in control</a:t>
              </a:r>
            </a:p>
          </p:txBody>
        </p:sp>
      </p:grpSp>
      <p:grpSp>
        <p:nvGrpSpPr>
          <p:cNvPr id="7" name="path-note"/>
          <p:cNvGrpSpPr/>
          <p:nvPr/>
        </p:nvGrpSpPr>
        <p:grpSpPr>
          <a:xfrm>
            <a:off x="601980" y="1422400"/>
            <a:ext cx="6697935" cy="293370"/>
            <a:chOff x="601980" y="1422400"/>
            <a:chExt cx="6697935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1422400"/>
              <a:ext cx="77978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50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One reading path, left to right. The red step is the one that cannot be skipped.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609600" y="1866900"/>
            <a:ext cx="1981200" cy="647700"/>
          </a:xfrm>
          <a:prstGeom prst="chevron">
            <a:avLst>
              <a:gd name="adj" fmla="val 32000"/>
            </a:avLst>
          </a:prstGeom>
          <a:solidFill>
            <a:srgbClr val="0E1F3A"/>
          </a:solidFill>
          <a:ln>
            <a:noFill/>
          </a:ln>
        </p:spPr>
        <p:txBody>
          <a:bodyPr/>
          <a:p/>
        </p:txBody>
      </p:sp>
      <p:sp>
        <p:nvSpPr>
          <p:cNvPr id="9" name="Freeform 9"/>
          <p:cNvSpPr/>
          <p:nvPr/>
        </p:nvSpPr>
        <p:spPr>
          <a:xfrm>
            <a:off x="2409825" y="1866900"/>
            <a:ext cx="1981200" cy="647700"/>
          </a:xfrm>
          <a:prstGeom prst="chevron">
            <a:avLst>
              <a:gd name="adj" fmla="val 32000"/>
            </a:avLst>
          </a:prstGeom>
          <a:solidFill>
            <a:srgbClr val="0E1F3A"/>
          </a:solidFill>
          <a:ln>
            <a:noFill/>
          </a:ln>
        </p:spPr>
        <p:txBody>
          <a:bodyPr/>
          <a:p/>
        </p:txBody>
      </p:sp>
      <p:sp>
        <p:nvSpPr>
          <p:cNvPr id="10" name="Freeform 10"/>
          <p:cNvSpPr/>
          <p:nvPr/>
        </p:nvSpPr>
        <p:spPr>
          <a:xfrm>
            <a:off x="4210050" y="1866900"/>
            <a:ext cx="1981200" cy="647700"/>
          </a:xfrm>
          <a:prstGeom prst="chevron">
            <a:avLst>
              <a:gd name="adj" fmla="val 32000"/>
            </a:avLst>
          </a:prstGeom>
          <a:solidFill>
            <a:srgbClr val="0E1F3A"/>
          </a:solidFill>
          <a:ln>
            <a:noFill/>
          </a:ln>
        </p:spPr>
        <p:txBody>
          <a:bodyPr/>
          <a:p/>
        </p:txBody>
      </p:sp>
      <p:sp>
        <p:nvSpPr>
          <p:cNvPr id="11" name="Freeform 11"/>
          <p:cNvSpPr/>
          <p:nvPr/>
        </p:nvSpPr>
        <p:spPr>
          <a:xfrm>
            <a:off x="6010275" y="1866900"/>
            <a:ext cx="1981200" cy="647700"/>
          </a:xfrm>
          <a:prstGeom prst="chevron">
            <a:avLst>
              <a:gd name="adj" fmla="val 32000"/>
            </a:avLst>
          </a:prstGeom>
          <a:solidFill>
            <a:srgbClr val="0E1F3A"/>
          </a:solidFill>
          <a:ln>
            <a:noFill/>
          </a:ln>
        </p:spPr>
        <p:txBody>
          <a:bodyPr/>
          <a:p/>
        </p:txBody>
      </p:sp>
      <p:sp>
        <p:nvSpPr>
          <p:cNvPr id="12" name="Freeform 12"/>
          <p:cNvSpPr/>
          <p:nvPr/>
        </p:nvSpPr>
        <p:spPr>
          <a:xfrm>
            <a:off x="7810500" y="1866900"/>
            <a:ext cx="1981200" cy="647700"/>
          </a:xfrm>
          <a:prstGeom prst="chevron">
            <a:avLst>
              <a:gd name="adj" fmla="val 32000"/>
            </a:avLst>
          </a:prstGeom>
          <a:solidFill>
            <a:srgbClr val="B3301B"/>
          </a:solidFill>
          <a:ln>
            <a:noFill/>
          </a:ln>
        </p:spPr>
        <p:txBody>
          <a:bodyPr/>
          <a:p/>
        </p:txBody>
      </p:sp>
      <p:sp>
        <p:nvSpPr>
          <p:cNvPr id="13" name="Freeform 13"/>
          <p:cNvSpPr/>
          <p:nvPr/>
        </p:nvSpPr>
        <p:spPr>
          <a:xfrm>
            <a:off x="9610725" y="1866900"/>
            <a:ext cx="1981200" cy="647700"/>
          </a:xfrm>
          <a:prstGeom prst="chevron">
            <a:avLst>
              <a:gd name="adj" fmla="val 32000"/>
            </a:avLst>
          </a:prstGeom>
          <a:solidFill>
            <a:srgbClr val="0E1F3A"/>
          </a:solidFill>
          <a:ln>
            <a:noFill/>
          </a:ln>
        </p:spPr>
        <p:txBody>
          <a:bodyPr/>
          <a:p/>
        </p:txBody>
      </p:sp>
      <p:grpSp>
        <p:nvGrpSpPr>
          <p:cNvPr id="20" name="step-labels"/>
          <p:cNvGrpSpPr/>
          <p:nvPr/>
        </p:nvGrpSpPr>
        <p:grpSpPr>
          <a:xfrm>
            <a:off x="1358454" y="2095500"/>
            <a:ext cx="9928430" cy="234696"/>
            <a:chOff x="1358454" y="2095500"/>
            <a:chExt cx="9928430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1274568" y="2095500"/>
              <a:ext cx="651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Intake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78833" y="2095500"/>
              <a:ext cx="11574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Find people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81913" y="2095500"/>
              <a:ext cx="9517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Research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84174" y="2095500"/>
              <a:ext cx="54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Draft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37846" y="2095500"/>
              <a:ext cx="1240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You approve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88179" y="2095500"/>
              <a:ext cx="15405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Send and coach</a:t>
              </a:r>
            </a:p>
          </p:txBody>
        </p:sp>
      </p:grpSp>
      <p:grpSp>
        <p:nvGrpSpPr>
          <p:cNvPr id="22" name="step-1-desc"/>
          <p:cNvGrpSpPr/>
          <p:nvPr/>
        </p:nvGrpSpPr>
        <p:grpSpPr>
          <a:xfrm>
            <a:off x="679323" y="2717800"/>
            <a:ext cx="1159392" cy="936117"/>
            <a:chOff x="679323" y="2717800"/>
            <a:chExt cx="1159392" cy="936117"/>
          </a:xfrm>
        </p:grpSpPr>
        <p:sp>
          <p:nvSpPr>
            <p:cNvPr id="21" name="TextBox 21"/>
            <p:cNvSpPr txBox="1"/>
            <p:nvPr/>
          </p:nvSpPr>
          <p:spPr>
            <a:xfrm>
              <a:off x="679323" y="2717800"/>
              <a:ext cx="1428550" cy="9361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Resume, profile,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target companies,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role titles and the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candidate's story.</a:t>
              </a:r>
            </a:p>
          </p:txBody>
        </p:sp>
      </p:grpSp>
      <p:grpSp>
        <p:nvGrpSpPr>
          <p:cNvPr id="24" name="step-2-desc"/>
          <p:cNvGrpSpPr/>
          <p:nvPr/>
        </p:nvGrpSpPr>
        <p:grpSpPr>
          <a:xfrm>
            <a:off x="2479548" y="2717800"/>
            <a:ext cx="1344678" cy="1164717"/>
            <a:chOff x="2479548" y="2717800"/>
            <a:chExt cx="1344678" cy="1164717"/>
          </a:xfrm>
        </p:grpSpPr>
        <p:sp>
          <p:nvSpPr>
            <p:cNvPr id="23" name="TextBox 23"/>
            <p:cNvSpPr txBox="1"/>
            <p:nvPr/>
          </p:nvSpPr>
          <p:spPr>
            <a:xfrm>
              <a:off x="2479548" y="2717800"/>
              <a:ext cx="1641629" cy="11647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Hiring managers,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team members,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alumni and senior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connectors, found in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public search.</a:t>
              </a:r>
            </a:p>
          </p:txBody>
        </p:sp>
      </p:grpSp>
      <p:grpSp>
        <p:nvGrpSpPr>
          <p:cNvPr id="26" name="step-3-desc"/>
          <p:cNvGrpSpPr/>
          <p:nvPr/>
        </p:nvGrpSpPr>
        <p:grpSpPr>
          <a:xfrm>
            <a:off x="4279773" y="2717800"/>
            <a:ext cx="1358431" cy="1164717"/>
            <a:chOff x="4279773" y="2717800"/>
            <a:chExt cx="1358431" cy="1164717"/>
          </a:xfrm>
        </p:grpSpPr>
        <p:sp>
          <p:nvSpPr>
            <p:cNvPr id="25" name="TextBox 25"/>
            <p:cNvSpPr txBox="1"/>
            <p:nvPr/>
          </p:nvSpPr>
          <p:spPr>
            <a:xfrm>
              <a:off x="4279773" y="2717800"/>
              <a:ext cx="1657445" cy="11647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Public posts, talks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articles become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facts, each with a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source. A hook must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cite one.</a:t>
              </a:r>
            </a:p>
          </p:txBody>
        </p:sp>
      </p:grpSp>
      <p:grpSp>
        <p:nvGrpSpPr>
          <p:cNvPr id="28" name="step-4-desc"/>
          <p:cNvGrpSpPr/>
          <p:nvPr/>
        </p:nvGrpSpPr>
        <p:grpSpPr>
          <a:xfrm>
            <a:off x="6079998" y="2717800"/>
            <a:ext cx="1272436" cy="1164717"/>
            <a:chOff x="6079998" y="2717800"/>
            <a:chExt cx="1272436" cy="1164717"/>
          </a:xfrm>
        </p:grpSpPr>
        <p:sp>
          <p:nvSpPr>
            <p:cNvPr id="27" name="TextBox 27"/>
            <p:cNvSpPr txBox="1"/>
            <p:nvPr/>
          </p:nvSpPr>
          <p:spPr>
            <a:xfrm>
              <a:off x="6079998" y="2717800"/>
              <a:ext cx="1558551" cy="11647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short, personal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first message in the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candidate's voice,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built on the cited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hook.</a:t>
              </a:r>
            </a:p>
          </p:txBody>
        </p:sp>
      </p:grpSp>
      <p:grpSp>
        <p:nvGrpSpPr>
          <p:cNvPr id="30" name="step-5-desc"/>
          <p:cNvGrpSpPr/>
          <p:nvPr/>
        </p:nvGrpSpPr>
        <p:grpSpPr>
          <a:xfrm>
            <a:off x="7880223" y="2717800"/>
            <a:ext cx="1204389" cy="1164717"/>
            <a:chOff x="7880223" y="2717800"/>
            <a:chExt cx="1204389" cy="1164717"/>
          </a:xfrm>
        </p:grpSpPr>
        <p:sp>
          <p:nvSpPr>
            <p:cNvPr id="29" name="TextBox 29"/>
            <p:cNvSpPr txBox="1"/>
            <p:nvPr/>
          </p:nvSpPr>
          <p:spPr>
            <a:xfrm>
              <a:off x="7880223" y="2717800"/>
              <a:ext cx="1480297" cy="11647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Nothing is sent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without a yes.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Every edit teaches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system what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good looks like.</a:t>
              </a:r>
            </a:p>
          </p:txBody>
        </p:sp>
      </p:grpSp>
      <p:grpSp>
        <p:nvGrpSpPr>
          <p:cNvPr id="32" name="step-6-desc"/>
          <p:cNvGrpSpPr/>
          <p:nvPr/>
        </p:nvGrpSpPr>
        <p:grpSpPr>
          <a:xfrm>
            <a:off x="9680448" y="2717800"/>
            <a:ext cx="1299161" cy="1164717"/>
            <a:chOff x="9680448" y="2717800"/>
            <a:chExt cx="1299161" cy="1164717"/>
          </a:xfrm>
        </p:grpSpPr>
        <p:sp>
          <p:nvSpPr>
            <p:cNvPr id="31" name="TextBox 31"/>
            <p:cNvSpPr txBox="1"/>
            <p:nvPr/>
          </p:nvSpPr>
          <p:spPr>
            <a:xfrm>
              <a:off x="9680448" y="2717800"/>
              <a:ext cx="1589285" cy="11647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Sent from the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candidate's own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account. Each reply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gets a next draft,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up to the ask.</a:t>
              </a:r>
            </a:p>
          </p:txBody>
        </p:sp>
      </p:grpSp>
      <p:grpSp>
        <p:nvGrpSpPr>
          <p:cNvPr id="37" name="delivery-self"/>
          <p:cNvGrpSpPr/>
          <p:nvPr/>
        </p:nvGrpSpPr>
        <p:grpSpPr>
          <a:xfrm>
            <a:off x="609600" y="4152900"/>
            <a:ext cx="5372100" cy="1752600"/>
            <a:chOff x="609600" y="4152900"/>
            <a:chExt cx="5372100" cy="1752600"/>
          </a:xfrm>
        </p:grpSpPr>
        <p:sp>
          <p:nvSpPr>
            <p:cNvPr id="33" name="Rectangle 33"/>
            <p:cNvSpPr/>
            <p:nvPr/>
          </p:nvSpPr>
          <p:spPr>
            <a:xfrm>
              <a:off x="609600" y="4152900"/>
              <a:ext cx="5372100" cy="17526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871347" y="4330700"/>
              <a:ext cx="22529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DEFAULT DELIVERY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7156" y="4591050"/>
              <a:ext cx="1379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Self-send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9061" y="4991100"/>
              <a:ext cx="4775791" cy="7740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Knock researches and writes. The candidate copies each</a:t>
              </a:r>
              <a:b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approved message and sends it by hand from their own</a:t>
              </a:r>
              <a:b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LinkedIn, then pastes replies back for the next draft.</a:t>
              </a:r>
            </a:p>
          </p:txBody>
        </p:sp>
      </p:grpSp>
      <p:grpSp>
        <p:nvGrpSpPr>
          <p:cNvPr id="42" name="delivery-assisted"/>
          <p:cNvGrpSpPr/>
          <p:nvPr/>
        </p:nvGrpSpPr>
        <p:grpSpPr>
          <a:xfrm>
            <a:off x="6210300" y="4152900"/>
            <a:ext cx="5372100" cy="1752600"/>
            <a:chOff x="6210300" y="4152900"/>
            <a:chExt cx="5372100" cy="1752600"/>
          </a:xfrm>
        </p:grpSpPr>
        <p:sp>
          <p:nvSpPr>
            <p:cNvPr id="38" name="Rectangle 38"/>
            <p:cNvSpPr/>
            <p:nvPr/>
          </p:nvSpPr>
          <p:spPr>
            <a:xfrm>
              <a:off x="6210300" y="4152900"/>
              <a:ext cx="5372100" cy="17526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9" name="TextBox 39"/>
            <p:cNvSpPr txBox="1"/>
            <p:nvPr/>
          </p:nvSpPr>
          <p:spPr>
            <a:xfrm>
              <a:off x="6472047" y="4330700"/>
              <a:ext cx="23699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OPTIONAL DELIVERY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7856" y="4591050"/>
              <a:ext cx="18752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Done-for-you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69761" y="4991100"/>
              <a:ext cx="4983928" cy="7740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The same research and writing. Approved text is sent from</a:t>
              </a:r>
              <a:br>
                <a:rPr lang="en" sz="142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the candidate's own account through a tool they connect</a:t>
              </a:r>
              <a:br>
                <a:rPr lang="en" sz="142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themselves, with written consent and a clear risk notice.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604838" y="6438900"/>
            <a:ext cx="10982324" cy="290512"/>
            <a:chOff x="604838" y="6438900"/>
            <a:chExt cx="10982324" cy="290512"/>
          </a:xfrm>
        </p:grpSpPr>
        <p:sp>
          <p:nvSpPr>
            <p:cNvPr id="43" name="Line 43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 cap="rnd">
              <a:solidFill>
                <a:srgbClr val="4A5F80">
                  <a:alpha val="60000"/>
                </a:srgbClr>
              </a:solidFill>
              <a:custDash>
                <a:ds d="33333" sp="266667"/>
              </a:custDash>
            </a:ln>
          </p:spPr>
          <p:txBody>
            <a:bodyPr/>
            <a:p/>
          </p:txBody>
        </p:sp>
        <p:sp>
          <p:nvSpPr>
            <p:cNvPr id="44" name="TextBox 44"/>
            <p:cNvSpPr txBox="1"/>
            <p:nvPr/>
          </p:nvSpPr>
          <p:spPr>
            <a:xfrm>
              <a:off x="604838" y="6553200"/>
              <a:ext cx="21349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00" b="1" spc="15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KNOCK | CASE STUDY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915523" y="6553200"/>
              <a:ext cx="6716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" sz="900" b="1" spc="15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05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361950"/>
            <a:ext cx="9957460" cy="902716"/>
            <a:chOff x="595884" y="361950"/>
            <a:chExt cx="9957460" cy="902716"/>
          </a:xfrm>
        </p:grpSpPr>
        <p:sp>
          <p:nvSpPr>
            <p:cNvPr id="2" name="Rectangle 2"/>
            <p:cNvSpPr/>
            <p:nvPr/>
          </p:nvSpPr>
          <p:spPr>
            <a:xfrm>
              <a:off x="609600" y="361950"/>
              <a:ext cx="381000" cy="381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TextBox 3"/>
            <p:cNvSpPr txBox="1"/>
            <p:nvPr/>
          </p:nvSpPr>
          <p:spPr>
            <a:xfrm>
              <a:off x="604647" y="501650"/>
              <a:ext cx="30706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05 SYSTEM ARCHITECTURE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5884" y="736600"/>
              <a:ext cx="1154632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27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architecture keeps a human in the loop at every send</a:t>
              </a:r>
            </a:p>
          </p:txBody>
        </p:sp>
      </p:grpSp>
      <p:grpSp>
        <p:nvGrpSpPr>
          <p:cNvPr id="9" name="col-labels"/>
          <p:cNvGrpSpPr/>
          <p:nvPr/>
        </p:nvGrpSpPr>
        <p:grpSpPr>
          <a:xfrm>
            <a:off x="604647" y="1473200"/>
            <a:ext cx="9470588" cy="191643"/>
            <a:chOff x="604647" y="1473200"/>
            <a:chExt cx="9470588" cy="191643"/>
          </a:xfrm>
        </p:grpSpPr>
        <p:sp>
          <p:nvSpPr>
            <p:cNvPr id="6" name="TextBox 6"/>
            <p:cNvSpPr txBox="1"/>
            <p:nvPr/>
          </p:nvSpPr>
          <p:spPr>
            <a:xfrm>
              <a:off x="604647" y="1473200"/>
              <a:ext cx="13450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CANDIDATE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805047" y="1473200"/>
              <a:ext cx="7793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STATE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43547" y="1473200"/>
              <a:ext cx="35816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KNOCK ENGINE AND OPERATOR</a:t>
              </a:r>
            </a:p>
          </p:txBody>
        </p:sp>
      </p:grpSp>
      <p:grpSp>
        <p:nvGrpSpPr>
          <p:cNvPr id="13" name="node-intake"/>
          <p:cNvGrpSpPr/>
          <p:nvPr/>
        </p:nvGrpSpPr>
        <p:grpSpPr>
          <a:xfrm>
            <a:off x="609600" y="1809750"/>
            <a:ext cx="2095500" cy="952500"/>
            <a:chOff x="609600" y="1809750"/>
            <a:chExt cx="2095500" cy="952500"/>
          </a:xfrm>
        </p:grpSpPr>
        <p:sp>
          <p:nvSpPr>
            <p:cNvPr id="10" name="Rectangle 10"/>
            <p:cNvSpPr/>
            <p:nvPr/>
          </p:nvSpPr>
          <p:spPr>
            <a:xfrm>
              <a:off x="609600" y="1809750"/>
              <a:ext cx="2095500" cy="952500"/>
            </a:xfrm>
            <a:prstGeom prst="rect">
              <a:avLst/>
            </a:prstGeom>
            <a:solidFill>
              <a:srgbClr val="FAFCFE"/>
            </a:solidFill>
            <a:ln w="14288">
              <a:solidFill>
                <a:srgbClr val="0E1F3A">
                  <a:alpha val="30000"/>
                </a:srgbClr>
              </a:solidFill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755142" y="1949450"/>
              <a:ext cx="12439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Intake form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904" y="2209800"/>
              <a:ext cx="1749459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Resume, targets, story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consent, on the site</a:t>
              </a:r>
            </a:p>
          </p:txBody>
        </p:sp>
      </p:grpSp>
      <p:grpSp>
        <p:nvGrpSpPr>
          <p:cNvPr id="17" name="node-approval"/>
          <p:cNvGrpSpPr/>
          <p:nvPr/>
        </p:nvGrpSpPr>
        <p:grpSpPr>
          <a:xfrm>
            <a:off x="609600" y="3790950"/>
            <a:ext cx="2095500" cy="1181100"/>
            <a:chOff x="609600" y="3790950"/>
            <a:chExt cx="2095500" cy="1181100"/>
          </a:xfrm>
        </p:grpSpPr>
        <p:sp>
          <p:nvSpPr>
            <p:cNvPr id="14" name="Rectangle 14"/>
            <p:cNvSpPr/>
            <p:nvPr/>
          </p:nvSpPr>
          <p:spPr>
            <a:xfrm>
              <a:off x="609600" y="3790950"/>
              <a:ext cx="2095500" cy="1181100"/>
            </a:xfrm>
            <a:prstGeom prst="rect">
              <a:avLst/>
            </a:prstGeom>
            <a:solidFill>
              <a:srgbClr val="FAFCFE"/>
            </a:solidFill>
            <a:ln w="28575">
              <a:solidFill>
                <a:srgbClr val="B3301B"/>
              </a:solidFill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755142" y="3930650"/>
              <a:ext cx="15111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B3301B"/>
                  </a:solidFill>
                  <a:latin typeface="+mj-lt"/>
                  <a:ea typeface="+mj-ea"/>
                  <a:cs typeface="+mj-cs"/>
                </a:rPr>
                <a:t>Approval gate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5904" y="4191000"/>
              <a:ext cx="2084906" cy="6347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candidate reads, edits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approves each message,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pastes replies back</a:t>
              </a:r>
            </a:p>
          </p:txBody>
        </p:sp>
      </p:grpSp>
      <p:grpSp>
        <p:nvGrpSpPr>
          <p:cNvPr id="21" name="node-linkedin"/>
          <p:cNvGrpSpPr/>
          <p:nvPr/>
        </p:nvGrpSpPr>
        <p:grpSpPr>
          <a:xfrm>
            <a:off x="609600" y="5314950"/>
            <a:ext cx="2095500" cy="895350"/>
            <a:chOff x="609600" y="5314950"/>
            <a:chExt cx="2095500" cy="895350"/>
          </a:xfrm>
        </p:grpSpPr>
        <p:sp>
          <p:nvSpPr>
            <p:cNvPr id="18" name="Rectangle 18"/>
            <p:cNvSpPr/>
            <p:nvPr/>
          </p:nvSpPr>
          <p:spPr>
            <a:xfrm>
              <a:off x="609600" y="5314950"/>
              <a:ext cx="2095500" cy="895350"/>
            </a:xfrm>
            <a:prstGeom prst="rect">
              <a:avLst/>
            </a:prstGeom>
            <a:noFill/>
            <a:ln w="19050">
              <a:solidFill>
                <a:srgbClr val="2B4266"/>
              </a:solidFill>
              <a:custDash>
                <a:ds d="300000" sp="250000"/>
              </a:custDash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755142" y="5435600"/>
              <a:ext cx="2224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Candidate's LinkedIn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5904" y="5695950"/>
              <a:ext cx="1978314" cy="43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Outside Knock. Their own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account, their own name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3810000" y="1809750"/>
            <a:ext cx="2095500" cy="3143250"/>
          </a:xfrm>
          <a:prstGeom prst="can">
            <a:avLst/>
          </a:prstGeom>
          <a:solidFill>
            <a:srgbClr val="C4D9EF"/>
          </a:solidFill>
          <a:ln w="19050">
            <a:solidFill>
              <a:srgbClr val="0E1F3A"/>
            </a:solidFill>
          </a:ln>
        </p:spPr>
        <p:txBody>
          <a:bodyPr/>
          <a:p/>
        </p:txBody>
      </p:sp>
      <p:grpSp>
        <p:nvGrpSpPr>
          <p:cNvPr id="25" name="db-text"/>
          <p:cNvGrpSpPr/>
          <p:nvPr/>
        </p:nvGrpSpPr>
        <p:grpSpPr>
          <a:xfrm>
            <a:off x="4262172" y="2597150"/>
            <a:ext cx="1191156" cy="1688592"/>
            <a:chOff x="4262172" y="2597150"/>
            <a:chExt cx="1191156" cy="1688592"/>
          </a:xfrm>
        </p:grpSpPr>
        <p:sp>
          <p:nvSpPr>
            <p:cNvPr id="23" name="TextBox 23"/>
            <p:cNvSpPr txBox="1"/>
            <p:nvPr/>
          </p:nvSpPr>
          <p:spPr>
            <a:xfrm>
              <a:off x="4192839" y="2597150"/>
              <a:ext cx="1329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6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Supabase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25211" y="2940050"/>
              <a:ext cx="1465079" cy="13456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One shared state: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clients, prospects,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facts and hooks,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drafts, approvals,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replies, outcomes,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cost per prospect</a:t>
              </a:r>
            </a:p>
          </p:txBody>
        </p:sp>
      </p:grpSp>
      <p:grpSp>
        <p:nvGrpSpPr>
          <p:cNvPr id="35" name="node-engine"/>
          <p:cNvGrpSpPr/>
          <p:nvPr/>
        </p:nvGrpSpPr>
        <p:grpSpPr>
          <a:xfrm>
            <a:off x="7048500" y="1809750"/>
            <a:ext cx="4533900" cy="2305050"/>
            <a:chOff x="7048500" y="1809750"/>
            <a:chExt cx="4533900" cy="2305050"/>
          </a:xfrm>
        </p:grpSpPr>
        <p:sp>
          <p:nvSpPr>
            <p:cNvPr id="26" name="Rectangle 26"/>
            <p:cNvSpPr/>
            <p:nvPr/>
          </p:nvSpPr>
          <p:spPr>
            <a:xfrm>
              <a:off x="7048500" y="1809750"/>
              <a:ext cx="4533900" cy="23050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7268718" y="1968500"/>
              <a:ext cx="20911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EEF3F8"/>
                  </a:solidFill>
                  <a:latin typeface="+mj-lt"/>
                  <a:ea typeface="+mj-ea"/>
                  <a:cs typeface="+mj-cs"/>
                </a:rPr>
                <a:t>Engine (Python)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7270623" y="2387600"/>
              <a:ext cx="3627085" cy="1564767"/>
              <a:chOff x="7270623" y="2387600"/>
              <a:chExt cx="3627085" cy="1564767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7270623" y="2387600"/>
                <a:ext cx="1802551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en" sz="128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  <a:t>Discovery from public</a:t>
                </a:r>
                <a:br>
                  <a:rPr lang="en" sz="128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8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  <a:t>search only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270623" y="2940050"/>
                <a:ext cx="1781912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en" sz="128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  <a:t>Enrichment: posts and</a:t>
                </a:r>
                <a:br>
                  <a:rPr lang="en" sz="128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8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  <a:t>articles become facts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70623" y="3492500"/>
                <a:ext cx="1652210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en" sz="128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  <a:t>Hooks that must cite</a:t>
                </a:r>
                <a:br>
                  <a:rPr lang="en" sz="128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8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  <a:t>a real source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404223" y="2387600"/>
                <a:ext cx="1610110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en" sz="128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  <a:t>Writers, rule checks</a:t>
                </a:r>
                <a:br>
                  <a:rPr lang="en" sz="128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8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  <a:t>and a judge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404223" y="2940050"/>
                <a:ext cx="1693562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en" sz="128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  <a:t>A learning loop from</a:t>
                </a:r>
                <a:br>
                  <a:rPr lang="en" sz="128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8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  <a:t>edits and outcomes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404223" y="3492500"/>
                <a:ext cx="1812757" cy="459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en" sz="128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  <a:t>Guards: injection,</a:t>
                </a:r>
                <a:br>
                  <a:rPr lang="en" sz="128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8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  <a:t>send cap, cost tracking</a:t>
                </a:r>
              </a:p>
            </p:txBody>
          </p:sp>
        </p:grpSp>
      </p:grpSp>
      <p:grpSp>
        <p:nvGrpSpPr>
          <p:cNvPr id="39" name="node-crm"/>
          <p:cNvGrpSpPr/>
          <p:nvPr/>
        </p:nvGrpSpPr>
        <p:grpSpPr>
          <a:xfrm>
            <a:off x="7048500" y="4305300"/>
            <a:ext cx="4533900" cy="685800"/>
            <a:chOff x="7048500" y="4305300"/>
            <a:chExt cx="4533900" cy="685800"/>
          </a:xfrm>
        </p:grpSpPr>
        <p:sp>
          <p:nvSpPr>
            <p:cNvPr id="36" name="Rectangle 36"/>
            <p:cNvSpPr/>
            <p:nvPr/>
          </p:nvSpPr>
          <p:spPr>
            <a:xfrm>
              <a:off x="7048500" y="4305300"/>
              <a:ext cx="4533900" cy="685800"/>
            </a:xfrm>
            <a:prstGeom prst="rect">
              <a:avLst/>
            </a:prstGeom>
            <a:solidFill>
              <a:srgbClr val="FAFCFE"/>
            </a:solidFill>
            <a:ln w="14288">
              <a:solidFill>
                <a:srgbClr val="0E1F3A">
                  <a:alpha val="30000"/>
                </a:srgbClr>
              </a:solidFill>
            </a:ln>
          </p:spPr>
          <p:txBody>
            <a:bodyPr/>
            <a:p/>
          </p:txBody>
        </p:sp>
        <p:sp>
          <p:nvSpPr>
            <p:cNvPr id="37" name="TextBox 37"/>
            <p:cNvSpPr txBox="1"/>
            <p:nvPr/>
          </p:nvSpPr>
          <p:spPr>
            <a:xfrm>
              <a:off x="7194042" y="4425950"/>
              <a:ext cx="3054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Operator CRM and daily sync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94804" y="4667250"/>
              <a:ext cx="45872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Password protected, on Vercel. The founder reviews all.</a:t>
              </a:r>
            </a:p>
          </p:txBody>
        </p:sp>
      </p:grpSp>
      <p:grpSp>
        <p:nvGrpSpPr>
          <p:cNvPr id="42" name="edge-intake"/>
          <p:cNvGrpSpPr/>
          <p:nvPr/>
        </p:nvGrpSpPr>
        <p:grpSpPr>
          <a:xfrm>
            <a:off x="2724150" y="2000250"/>
            <a:ext cx="1066800" cy="247651"/>
            <a:chOff x="2724150" y="2000250"/>
            <a:chExt cx="1066800" cy="247651"/>
          </a:xfrm>
        </p:grpSpPr>
        <p:sp>
          <p:nvSpPr>
            <p:cNvPr id="40" name="TextBox 40"/>
            <p:cNvSpPr txBox="1"/>
            <p:nvPr/>
          </p:nvSpPr>
          <p:spPr>
            <a:xfrm>
              <a:off x="2781202" y="2000250"/>
              <a:ext cx="9526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98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targets, story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2724150" y="2247900"/>
              <a:ext cx="1066800" cy="1"/>
            </a:xfrm>
            <a:prstGeom prst="line">
              <a:avLst/>
            </a:prstGeom>
            <a:noFill/>
            <a:ln w="23812">
              <a:solidFill>
                <a:srgbClr val="2B4266"/>
              </a:solidFill>
              <a:tailEnd type="triangle" w="med" len="med"/>
            </a:ln>
          </p:spPr>
          <p:txBody>
            <a:bodyPr/>
            <a:p/>
          </p:txBody>
        </p:sp>
      </p:grpSp>
      <p:grpSp>
        <p:nvGrpSpPr>
          <p:cNvPr id="45" name="edge-approval"/>
          <p:cNvGrpSpPr/>
          <p:nvPr/>
        </p:nvGrpSpPr>
        <p:grpSpPr>
          <a:xfrm>
            <a:off x="2724150" y="4114800"/>
            <a:ext cx="1066800" cy="228601"/>
            <a:chOff x="2724150" y="4114800"/>
            <a:chExt cx="1066800" cy="228601"/>
          </a:xfrm>
        </p:grpSpPr>
        <p:sp>
          <p:nvSpPr>
            <p:cNvPr id="43" name="TextBox 43"/>
            <p:cNvSpPr txBox="1"/>
            <p:nvPr/>
          </p:nvSpPr>
          <p:spPr>
            <a:xfrm>
              <a:off x="2874740" y="4114800"/>
              <a:ext cx="76562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98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drafts, yes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2724150" y="4343400"/>
              <a:ext cx="1066800" cy="1"/>
            </a:xfrm>
            <a:prstGeom prst="line">
              <a:avLst/>
            </a:prstGeom>
            <a:noFill/>
            <a:ln w="23812">
              <a:solidFill>
                <a:srgbClr val="2B4266"/>
              </a:solidFill>
              <a:headEnd type="triangle" w="med" len="med"/>
              <a:tailEnd type="triangle" w="med" len="med"/>
            </a:ln>
          </p:spPr>
          <p:txBody>
            <a:bodyPr/>
            <a:p/>
          </p:txBody>
        </p:sp>
      </p:grpSp>
      <p:grpSp>
        <p:nvGrpSpPr>
          <p:cNvPr id="48" name="edge-engine"/>
          <p:cNvGrpSpPr/>
          <p:nvPr/>
        </p:nvGrpSpPr>
        <p:grpSpPr>
          <a:xfrm>
            <a:off x="5924550" y="2647950"/>
            <a:ext cx="1104900" cy="228601"/>
            <a:chOff x="5924550" y="2647950"/>
            <a:chExt cx="1104900" cy="228601"/>
          </a:xfrm>
        </p:grpSpPr>
        <p:sp>
          <p:nvSpPr>
            <p:cNvPr id="46" name="TextBox 46"/>
            <p:cNvSpPr txBox="1"/>
            <p:nvPr/>
          </p:nvSpPr>
          <p:spPr>
            <a:xfrm>
              <a:off x="6045152" y="2647950"/>
              <a:ext cx="8636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98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facts, drafts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5924550" y="2876550"/>
              <a:ext cx="1104900" cy="1"/>
            </a:xfrm>
            <a:prstGeom prst="line">
              <a:avLst/>
            </a:prstGeom>
            <a:noFill/>
            <a:ln w="23812">
              <a:solidFill>
                <a:srgbClr val="2B4266"/>
              </a:solidFill>
              <a:headEnd type="triangle" w="med" len="med"/>
              <a:tailEnd type="triangle" w="med" len="med"/>
            </a:ln>
          </p:spPr>
          <p:txBody>
            <a:bodyPr/>
            <a:p/>
          </p:txBody>
        </p:sp>
      </p:grpSp>
      <p:grpSp>
        <p:nvGrpSpPr>
          <p:cNvPr id="51" name="edge-crm"/>
          <p:cNvGrpSpPr/>
          <p:nvPr/>
        </p:nvGrpSpPr>
        <p:grpSpPr>
          <a:xfrm>
            <a:off x="5924550" y="4419600"/>
            <a:ext cx="1104900" cy="228601"/>
            <a:chOff x="5924550" y="4419600"/>
            <a:chExt cx="1104900" cy="228601"/>
          </a:xfrm>
        </p:grpSpPr>
        <p:sp>
          <p:nvSpPr>
            <p:cNvPr id="49" name="TextBox 49"/>
            <p:cNvSpPr txBox="1"/>
            <p:nvPr/>
          </p:nvSpPr>
          <p:spPr>
            <a:xfrm>
              <a:off x="6049786" y="4419600"/>
              <a:ext cx="85443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98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review, edit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5924550" y="4648200"/>
              <a:ext cx="1104900" cy="1"/>
            </a:xfrm>
            <a:prstGeom prst="line">
              <a:avLst/>
            </a:prstGeom>
            <a:noFill/>
            <a:ln w="23812">
              <a:solidFill>
                <a:srgbClr val="2B4266"/>
              </a:solidFill>
              <a:headEnd type="triangle" w="med" len="med"/>
              <a:tailEnd type="triangle" w="med" len="med"/>
            </a:ln>
          </p:spPr>
          <p:txBody>
            <a:bodyPr/>
            <a:p/>
          </p:txBody>
        </p:sp>
      </p:grpSp>
      <p:grpSp>
        <p:nvGrpSpPr>
          <p:cNvPr id="54" name="edge-bridge"/>
          <p:cNvGrpSpPr/>
          <p:nvPr/>
        </p:nvGrpSpPr>
        <p:grpSpPr>
          <a:xfrm>
            <a:off x="4857750" y="4991100"/>
            <a:ext cx="1175626" cy="304800"/>
            <a:chOff x="4857750" y="4991100"/>
            <a:chExt cx="1175626" cy="304800"/>
          </a:xfrm>
        </p:grpSpPr>
        <p:sp>
          <p:nvSpPr>
            <p:cNvPr id="52" name="Line 52"/>
            <p:cNvSpPr/>
            <p:nvPr/>
          </p:nvSpPr>
          <p:spPr>
            <a:xfrm>
              <a:off x="4857750" y="4991100"/>
              <a:ext cx="1" cy="304800"/>
            </a:xfrm>
            <a:prstGeom prst="line">
              <a:avLst/>
            </a:prstGeom>
            <a:noFill/>
            <a:ln w="23812">
              <a:solidFill>
                <a:srgbClr val="2B4266"/>
              </a:solidFill>
              <a:tailEnd type="triangle" w="med" len="med"/>
            </a:ln>
          </p:spPr>
          <p:txBody>
            <a:bodyPr/>
            <a:p/>
          </p:txBody>
        </p:sp>
        <p:sp>
          <p:nvSpPr>
            <p:cNvPr id="53" name="TextBox 53"/>
            <p:cNvSpPr txBox="1"/>
            <p:nvPr/>
          </p:nvSpPr>
          <p:spPr>
            <a:xfrm>
              <a:off x="4986147" y="5086350"/>
              <a:ext cx="12995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i="1" dirty="0">
                  <a:solidFill>
                    <a:srgbClr val="4A5F80"/>
                  </a:solidFill>
                  <a:latin typeface="+mn-lt"/>
                  <a:ea typeface="+mn-ea"/>
                  <a:cs typeface="+mn-cs"/>
                </a:rPr>
                <a:t>approved text only</a:t>
              </a:r>
            </a:p>
          </p:txBody>
        </p:sp>
      </p:grpSp>
      <p:grpSp>
        <p:nvGrpSpPr>
          <p:cNvPr id="61" name="bridge-field"/>
          <p:cNvGrpSpPr/>
          <p:nvPr/>
        </p:nvGrpSpPr>
        <p:grpSpPr>
          <a:xfrm>
            <a:off x="3810000" y="5353050"/>
            <a:ext cx="7772400" cy="838200"/>
            <a:chOff x="3810000" y="5353050"/>
            <a:chExt cx="7772400" cy="838200"/>
          </a:xfrm>
        </p:grpSpPr>
        <p:sp>
          <p:nvSpPr>
            <p:cNvPr id="55" name="Rectangle 55"/>
            <p:cNvSpPr/>
            <p:nvPr/>
          </p:nvSpPr>
          <p:spPr>
            <a:xfrm>
              <a:off x="3810000" y="5353050"/>
              <a:ext cx="7772400" cy="8382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6" name="TextBox 56"/>
            <p:cNvSpPr txBox="1"/>
            <p:nvPr/>
          </p:nvSpPr>
          <p:spPr>
            <a:xfrm>
              <a:off x="3956304" y="5486400"/>
              <a:ext cx="19937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Self-send, the default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956304" y="5715000"/>
              <a:ext cx="3849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 copy button. The candidate sends it by hand.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7696200" y="54864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4288">
              <a:solidFill>
                <a:srgbClr val="0E1F3A">
                  <a:alpha val="30000"/>
                </a:srgbClr>
              </a:solidFill>
            </a:ln>
          </p:spPr>
          <p:txBody>
            <a:bodyPr/>
            <a:p/>
          </p:txBody>
        </p:sp>
        <p:sp>
          <p:nvSpPr>
            <p:cNvPr id="59" name="TextBox 59"/>
            <p:cNvSpPr txBox="1"/>
            <p:nvPr/>
          </p:nvSpPr>
          <p:spPr>
            <a:xfrm>
              <a:off x="7842504" y="5486400"/>
              <a:ext cx="2303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Browser bridge, optional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42504" y="5715000"/>
              <a:ext cx="35693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 scheduled task pastes approved text only.</a:t>
              </a:r>
            </a:p>
          </p:txBody>
        </p:sp>
      </p:grpSp>
      <p:grpSp>
        <p:nvGrpSpPr>
          <p:cNvPr id="63" name="edge-linkedin"/>
          <p:cNvGrpSpPr/>
          <p:nvPr/>
        </p:nvGrpSpPr>
        <p:grpSpPr>
          <a:xfrm>
            <a:off x="2724150" y="5772150"/>
            <a:ext cx="1066800" cy="1"/>
            <a:chOff x="2724150" y="5772150"/>
            <a:chExt cx="1066800" cy="1"/>
          </a:xfrm>
        </p:grpSpPr>
        <p:sp>
          <p:nvSpPr>
            <p:cNvPr id="62" name="Line 62"/>
            <p:cNvSpPr/>
            <p:nvPr/>
          </p:nvSpPr>
          <p:spPr>
            <a:xfrm flipH="1">
              <a:off x="2724150" y="5772150"/>
              <a:ext cx="1066800" cy="1"/>
            </a:xfrm>
            <a:prstGeom prst="line">
              <a:avLst/>
            </a:prstGeom>
            <a:noFill/>
            <a:ln w="23812">
              <a:solidFill>
                <a:srgbClr val="2B4266"/>
              </a:solidFill>
              <a:tailEnd type="triangle" w="med" len="med"/>
            </a:ln>
          </p:spPr>
          <p:txBody>
            <a:bodyPr/>
            <a:p/>
          </p:txBody>
        </p:sp>
      </p:grpSp>
      <p:grpSp>
        <p:nvGrpSpPr>
          <p:cNvPr id="67" name="footer"/>
          <p:cNvGrpSpPr/>
          <p:nvPr/>
        </p:nvGrpSpPr>
        <p:grpSpPr>
          <a:xfrm>
            <a:off x="604838" y="6438900"/>
            <a:ext cx="10982324" cy="290512"/>
            <a:chOff x="604838" y="6438900"/>
            <a:chExt cx="10982324" cy="290512"/>
          </a:xfrm>
        </p:grpSpPr>
        <p:sp>
          <p:nvSpPr>
            <p:cNvPr id="64" name="Line 64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 cap="rnd">
              <a:solidFill>
                <a:srgbClr val="4A5F80">
                  <a:alpha val="60000"/>
                </a:srgbClr>
              </a:solidFill>
              <a:custDash>
                <a:ds d="33333" sp="266667"/>
              </a:custDash>
            </a:ln>
          </p:spPr>
          <p:txBody>
            <a:bodyPr/>
            <a:p/>
          </p:txBody>
        </p:sp>
        <p:sp>
          <p:nvSpPr>
            <p:cNvPr id="65" name="TextBox 65"/>
            <p:cNvSpPr txBox="1"/>
            <p:nvPr/>
          </p:nvSpPr>
          <p:spPr>
            <a:xfrm>
              <a:off x="604838" y="6553200"/>
              <a:ext cx="21349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00" b="1" spc="15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KNOCK | CASE STUDY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915523" y="6553200"/>
              <a:ext cx="6716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" sz="900" b="1" spc="15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06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361950"/>
            <a:ext cx="9634124" cy="902716"/>
            <a:chOff x="595884" y="361950"/>
            <a:chExt cx="9634124" cy="902716"/>
          </a:xfrm>
        </p:grpSpPr>
        <p:sp>
          <p:nvSpPr>
            <p:cNvPr id="2" name="Rectangle 2"/>
            <p:cNvSpPr/>
            <p:nvPr/>
          </p:nvSpPr>
          <p:spPr>
            <a:xfrm>
              <a:off x="609600" y="361950"/>
              <a:ext cx="381000" cy="381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TextBox 3"/>
            <p:cNvSpPr txBox="1"/>
            <p:nvPr/>
          </p:nvSpPr>
          <p:spPr>
            <a:xfrm>
              <a:off x="604647" y="501650"/>
              <a:ext cx="42748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06 THE RESEARCH AND HOOK ENGINE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5884" y="736600"/>
              <a:ext cx="1117449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27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Every hook is a cited fact, or the message is not written</a:t>
              </a:r>
            </a:p>
          </p:txBody>
        </p:sp>
      </p:grpSp>
      <p:grpSp>
        <p:nvGrpSpPr>
          <p:cNvPr id="10" name="stage-discover"/>
          <p:cNvGrpSpPr/>
          <p:nvPr/>
        </p:nvGrpSpPr>
        <p:grpSpPr>
          <a:xfrm>
            <a:off x="704850" y="1714500"/>
            <a:ext cx="3651733" cy="1333500"/>
            <a:chOff x="704850" y="1714500"/>
            <a:chExt cx="3651733" cy="1333500"/>
          </a:xfrm>
        </p:grpSpPr>
        <p:sp>
          <p:nvSpPr>
            <p:cNvPr id="6" name="Line 6"/>
            <p:cNvSpPr/>
            <p:nvPr/>
          </p:nvSpPr>
          <p:spPr>
            <a:xfrm>
              <a:off x="800100" y="1847850"/>
              <a:ext cx="9525" cy="1200150"/>
            </a:xfrm>
            <a:custGeom>
              <a:avLst/>
              <a:gdLst/>
              <a:ahLst/>
              <a:cxnLst/>
              <a:rect l="l" t="t" r="r" b="b"/>
              <a:pathLst>
                <a:path w="9525" h="1200150">
                  <a:moveTo>
                    <a:pt x="0" y="0"/>
                  </a:moveTo>
                  <a:lnTo>
                    <a:pt x="0" y="1200150"/>
                  </a:lnTo>
                </a:path>
              </a:pathLst>
            </a:custGeom>
            <a:noFill/>
            <a:ln w="28575" cap="rnd">
              <a:solidFill>
                <a:srgbClr val="4A5F80"/>
              </a:solidFill>
              <a:custDash>
                <a:ds d="33333" sp="266667"/>
              </a:custDash>
            </a:ln>
          </p:spPr>
          <p:txBody>
            <a:bodyPr/>
            <a:p/>
          </p:txBody>
        </p:sp>
        <p:sp>
          <p:nvSpPr>
            <p:cNvPr id="7" name="Ellipse 7"/>
            <p:cNvSpPr/>
            <p:nvPr/>
          </p:nvSpPr>
          <p:spPr>
            <a:xfrm>
              <a:off x="704850" y="1752600"/>
              <a:ext cx="190500" cy="19050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1059180" y="1714500"/>
              <a:ext cx="11007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Discover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9942" y="2012950"/>
              <a:ext cx="3886387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Public search results only. No LinkedIn login,</a:t>
              </a:r>
              <a:b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no scraping. Full profiles come from LinkedIn's</a:t>
              </a:r>
              <a:b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own Save to PDF, done by hand.</a:t>
              </a:r>
            </a:p>
          </p:txBody>
        </p:sp>
      </p:grpSp>
      <p:grpSp>
        <p:nvGrpSpPr>
          <p:cNvPr id="15" name="stage-enrich"/>
          <p:cNvGrpSpPr/>
          <p:nvPr/>
        </p:nvGrpSpPr>
        <p:grpSpPr>
          <a:xfrm>
            <a:off x="704850" y="2971800"/>
            <a:ext cx="3425419" cy="1009650"/>
            <a:chOff x="704850" y="2971800"/>
            <a:chExt cx="3425419" cy="1009650"/>
          </a:xfrm>
        </p:grpSpPr>
        <p:sp>
          <p:nvSpPr>
            <p:cNvPr id="11" name="Line 11"/>
            <p:cNvSpPr/>
            <p:nvPr/>
          </p:nvSpPr>
          <p:spPr>
            <a:xfrm>
              <a:off x="800100" y="3105150"/>
              <a:ext cx="9525" cy="876300"/>
            </a:xfrm>
            <a:custGeom>
              <a:avLst/>
              <a:gdLst/>
              <a:ahLst/>
              <a:cxnLst/>
              <a:rect l="l" t="t" r="r" b="b"/>
              <a:pathLst>
                <a:path w="9525" h="876300">
                  <a:moveTo>
                    <a:pt x="0" y="0"/>
                  </a:moveTo>
                  <a:lnTo>
                    <a:pt x="0" y="876300"/>
                  </a:lnTo>
                </a:path>
              </a:pathLst>
            </a:custGeom>
            <a:noFill/>
            <a:ln w="28575" cap="rnd">
              <a:solidFill>
                <a:srgbClr val="4A5F80"/>
              </a:solidFill>
              <a:custDash>
                <a:ds d="33333" sp="266667"/>
              </a:custDash>
            </a:ln>
          </p:spPr>
          <p:txBody>
            <a:bodyPr/>
            <a:p/>
          </p:txBody>
        </p:sp>
        <p:sp>
          <p:nvSpPr>
            <p:cNvPr id="12" name="Ellipse 12"/>
            <p:cNvSpPr/>
            <p:nvPr/>
          </p:nvSpPr>
          <p:spPr>
            <a:xfrm>
              <a:off x="704850" y="3009900"/>
              <a:ext cx="190500" cy="19050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1059180" y="2971800"/>
              <a:ext cx="8422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Enrich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9942" y="3270250"/>
              <a:ext cx="362612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Public posts, talks and articles become facts,</a:t>
              </a:r>
              <a:b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each fact keeps its source.</a:t>
              </a:r>
            </a:p>
          </p:txBody>
        </p:sp>
      </p:grpSp>
      <p:grpSp>
        <p:nvGrpSpPr>
          <p:cNvPr id="20" name="stage-hook"/>
          <p:cNvGrpSpPr/>
          <p:nvPr/>
        </p:nvGrpSpPr>
        <p:grpSpPr>
          <a:xfrm>
            <a:off x="704850" y="3981450"/>
            <a:ext cx="3596697" cy="933450"/>
            <a:chOff x="704850" y="3981450"/>
            <a:chExt cx="3596697" cy="933450"/>
          </a:xfrm>
        </p:grpSpPr>
        <p:sp>
          <p:nvSpPr>
            <p:cNvPr id="16" name="Line 16"/>
            <p:cNvSpPr/>
            <p:nvPr/>
          </p:nvSpPr>
          <p:spPr>
            <a:xfrm>
              <a:off x="800100" y="4114800"/>
              <a:ext cx="9525" cy="800100"/>
            </a:xfrm>
            <a:custGeom>
              <a:avLst/>
              <a:gdLst/>
              <a:ahLst/>
              <a:cxnLst/>
              <a:rect l="l" t="t" r="r" b="b"/>
              <a:pathLst>
                <a:path w="9525" h="800100">
                  <a:moveTo>
                    <a:pt x="0" y="0"/>
                  </a:moveTo>
                  <a:lnTo>
                    <a:pt x="0" y="800100"/>
                  </a:lnTo>
                </a:path>
              </a:pathLst>
            </a:custGeom>
            <a:noFill/>
            <a:ln w="28575" cap="rnd">
              <a:solidFill>
                <a:srgbClr val="4A5F80"/>
              </a:solidFill>
              <a:custDash>
                <a:ds d="33333" sp="266667"/>
              </a:custDash>
            </a:ln>
          </p:spPr>
          <p:txBody>
            <a:bodyPr/>
            <a:p/>
          </p:txBody>
        </p:sp>
        <p:sp>
          <p:nvSpPr>
            <p:cNvPr id="17" name="Ellipse 17"/>
            <p:cNvSpPr/>
            <p:nvPr/>
          </p:nvSpPr>
          <p:spPr>
            <a:xfrm>
              <a:off x="704850" y="4019550"/>
              <a:ext cx="190500" cy="190500"/>
            </a:xfrm>
            <a:prstGeom prst="ellipse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1059180" y="3981450"/>
              <a:ext cx="16426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B3301B"/>
                  </a:solidFill>
                  <a:latin typeface="+mj-lt"/>
                  <a:ea typeface="+mj-ea"/>
                  <a:cs typeface="+mj-cs"/>
                </a:rPr>
                <a:t>Find the hook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9942" y="4279900"/>
              <a:ext cx="3823095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hook must cite a real fact from both profiles.</a:t>
              </a:r>
              <a:b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No citation, no hook.</a:t>
              </a:r>
            </a:p>
          </p:txBody>
        </p:sp>
      </p:grpSp>
      <p:grpSp>
        <p:nvGrpSpPr>
          <p:cNvPr id="24" name="stage-rules"/>
          <p:cNvGrpSpPr/>
          <p:nvPr/>
        </p:nvGrpSpPr>
        <p:grpSpPr>
          <a:xfrm>
            <a:off x="704850" y="4933950"/>
            <a:ext cx="3649195" cy="791083"/>
            <a:chOff x="704850" y="4933950"/>
            <a:chExt cx="3649195" cy="791083"/>
          </a:xfrm>
        </p:grpSpPr>
        <p:sp>
          <p:nvSpPr>
            <p:cNvPr id="21" name="Ellipse 21"/>
            <p:cNvSpPr/>
            <p:nvPr/>
          </p:nvSpPr>
          <p:spPr>
            <a:xfrm>
              <a:off x="704850" y="4972050"/>
              <a:ext cx="190500" cy="190500"/>
            </a:xfrm>
            <a:prstGeom prst="ellipse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1059180" y="4933950"/>
              <a:ext cx="18497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Check the rules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59942" y="5232400"/>
              <a:ext cx="388346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Short, no honorifics, one question, no stock AI</a:t>
              </a:r>
              <a:b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phrases. Fetched text is data, never instructions.</a:t>
              </a:r>
            </a:p>
          </p:txBody>
        </p:sp>
      </p:grpSp>
      <p:grpSp>
        <p:nvGrpSpPr>
          <p:cNvPr id="37" name="hook-diagram"/>
          <p:cNvGrpSpPr/>
          <p:nvPr/>
        </p:nvGrpSpPr>
        <p:grpSpPr>
          <a:xfrm>
            <a:off x="6191250" y="1739900"/>
            <a:ext cx="4572000" cy="3751262"/>
            <a:chOff x="6191250" y="1739900"/>
            <a:chExt cx="4572000" cy="3751262"/>
          </a:xfrm>
        </p:grpSpPr>
        <p:sp>
          <p:nvSpPr>
            <p:cNvPr id="25" name="TextBox 25"/>
            <p:cNvSpPr txBox="1"/>
            <p:nvPr/>
          </p:nvSpPr>
          <p:spPr>
            <a:xfrm>
              <a:off x="6281547" y="1739900"/>
              <a:ext cx="51654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B3301B"/>
                  </a:solidFill>
                  <a:latin typeface="+mj-lt"/>
                  <a:ea typeface="+mj-ea"/>
                  <a:cs typeface="+mj-cs"/>
                </a:rPr>
                <a:t>ILLUSTRATIVE EXAMPLE, NOT A REAL CLIENT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191250" y="2286000"/>
              <a:ext cx="2857500" cy="2857500"/>
            </a:xfrm>
            <a:prstGeom prst="ellipse">
              <a:avLst/>
            </a:prstGeom>
            <a:solidFill>
              <a:srgbClr val="A9C7E6">
                <a:alpha val="8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Ellipse 27"/>
            <p:cNvSpPr/>
            <p:nvPr/>
          </p:nvSpPr>
          <p:spPr>
            <a:xfrm>
              <a:off x="7905750" y="2286000"/>
              <a:ext cx="2857500" cy="2857500"/>
            </a:xfrm>
            <a:prstGeom prst="ellipse">
              <a:avLst/>
            </a:prstGeom>
            <a:solidFill>
              <a:srgbClr val="0E1F3A">
                <a:alpha val="22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Ellipse 28"/>
            <p:cNvSpPr/>
            <p:nvPr/>
          </p:nvSpPr>
          <p:spPr>
            <a:xfrm>
              <a:off x="6191250" y="2286000"/>
              <a:ext cx="2857500" cy="2857500"/>
            </a:xfrm>
            <a:prstGeom prst="ellipse">
              <a:avLst/>
            </a:prstGeom>
            <a:noFill/>
            <a:ln w="14288">
              <a:solidFill>
                <a:srgbClr val="0E1F3A">
                  <a:alpha val="50000"/>
                </a:srgbClr>
              </a:solidFill>
            </a:ln>
          </p:spPr>
          <p:txBody>
            <a:bodyPr/>
            <a:p/>
          </p:txBody>
        </p:sp>
        <p:sp>
          <p:nvSpPr>
            <p:cNvPr id="29" name="Ellipse 29"/>
            <p:cNvSpPr/>
            <p:nvPr/>
          </p:nvSpPr>
          <p:spPr>
            <a:xfrm>
              <a:off x="7905750" y="2286000"/>
              <a:ext cx="2857500" cy="2857500"/>
            </a:xfrm>
            <a:prstGeom prst="ellipse">
              <a:avLst/>
            </a:prstGeom>
            <a:noFill/>
            <a:ln w="14288">
              <a:solidFill>
                <a:srgbClr val="0E1F3A">
                  <a:alpha val="50000"/>
                </a:srgbClr>
              </a:solidFill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6405984" y="3225800"/>
              <a:ext cx="124693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980" b="1" spc="150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CANDIDATE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13945" y="3492500"/>
              <a:ext cx="1631011" cy="6694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>
                <a:lnSpc>
                  <a:spcPts val="1650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Moving from brand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management toward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product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44935" y="3225800"/>
              <a:ext cx="11602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980" b="1" spc="150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PROSPECT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25099" y="3492500"/>
              <a:ext cx="1599904" cy="6694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>
                <a:lnSpc>
                  <a:spcPts val="1650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Moved from a large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marketplace into a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product role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99595" y="3403600"/>
              <a:ext cx="755309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 similar</a:t>
              </a:r>
              <a:b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</a:br>
              <a:r>
                <a:rPr lang="en" sz="10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jump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24072" y="5314950"/>
              <a:ext cx="21918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900" b="1" spc="75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SOURCE: THEIR PROFILE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30372" y="5314950"/>
              <a:ext cx="22082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900" b="1" spc="75" dirty="0">
                  <a:solidFill>
                    <a:srgbClr val="2B4266"/>
                  </a:solidFill>
                  <a:latin typeface="+mj-lt"/>
                  <a:ea typeface="+mj-ea"/>
                  <a:cs typeface="+mj-cs"/>
                </a:rPr>
                <a:t>SOURCE: A PUBLIC POST</a:t>
              </a:r>
            </a:p>
          </p:txBody>
        </p:sp>
      </p:grpSp>
      <p:grpSp>
        <p:nvGrpSpPr>
          <p:cNvPr id="39" name="hook-caption"/>
          <p:cNvGrpSpPr/>
          <p:nvPr/>
        </p:nvGrpSpPr>
        <p:grpSpPr>
          <a:xfrm>
            <a:off x="6279261" y="5791200"/>
            <a:ext cx="3819977" cy="526352"/>
            <a:chOff x="6279261" y="5791200"/>
            <a:chExt cx="3819977" cy="526352"/>
          </a:xfrm>
        </p:grpSpPr>
        <p:sp>
          <p:nvSpPr>
            <p:cNvPr id="38" name="TextBox 38"/>
            <p:cNvSpPr txBox="1"/>
            <p:nvPr/>
          </p:nvSpPr>
          <p:spPr>
            <a:xfrm>
              <a:off x="6279261" y="5791200"/>
              <a:ext cx="4488223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i="1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Opener: "Saw you moved into product. I'm making a</a:t>
              </a:r>
              <a:br>
                <a:rPr lang="en" sz="1420" i="1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i="1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similar jump, so I'm curious what changed most."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604838" y="6438900"/>
            <a:ext cx="10982324" cy="290512"/>
            <a:chOff x="604838" y="6438900"/>
            <a:chExt cx="10982324" cy="290512"/>
          </a:xfrm>
        </p:grpSpPr>
        <p:sp>
          <p:nvSpPr>
            <p:cNvPr id="40" name="Line 40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 cap="rnd">
              <a:solidFill>
                <a:srgbClr val="4A5F80">
                  <a:alpha val="60000"/>
                </a:srgbClr>
              </a:solidFill>
              <a:custDash>
                <a:ds d="33333" sp="266667"/>
              </a:custDash>
            </a:ln>
          </p:spPr>
          <p:txBody>
            <a:bodyPr/>
            <a:p/>
          </p:txBody>
        </p:sp>
        <p:sp>
          <p:nvSpPr>
            <p:cNvPr id="41" name="TextBox 41"/>
            <p:cNvSpPr txBox="1"/>
            <p:nvPr/>
          </p:nvSpPr>
          <p:spPr>
            <a:xfrm>
              <a:off x="604838" y="6553200"/>
              <a:ext cx="21349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00" b="1" spc="15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KNOCK | CASE STUDY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15523" y="6553200"/>
              <a:ext cx="6716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" sz="900" b="1" spc="15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07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361950"/>
            <a:ext cx="8502537" cy="902716"/>
            <a:chOff x="595884" y="361950"/>
            <a:chExt cx="8502537" cy="902716"/>
          </a:xfrm>
        </p:grpSpPr>
        <p:sp>
          <p:nvSpPr>
            <p:cNvPr id="2" name="Rectangle 2"/>
            <p:cNvSpPr/>
            <p:nvPr/>
          </p:nvSpPr>
          <p:spPr>
            <a:xfrm>
              <a:off x="609600" y="361950"/>
              <a:ext cx="381000" cy="381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TextBox 3"/>
            <p:cNvSpPr txBox="1"/>
            <p:nvPr/>
          </p:nvSpPr>
          <p:spPr>
            <a:xfrm>
              <a:off x="604647" y="501650"/>
              <a:ext cx="31072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07 WRITING AND LEARNING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5884" y="736600"/>
              <a:ext cx="987316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27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Several writers, one judge, and a loop that learns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609600" y="1809750"/>
            <a:ext cx="2247900" cy="571500"/>
          </a:xfrm>
          <a:prstGeom prst="chevron">
            <a:avLst>
              <a:gd name="adj" fmla="val 30000"/>
            </a:avLst>
          </a:prstGeom>
          <a:solidFill>
            <a:srgbClr val="0E1F3A"/>
          </a:solidFill>
          <a:ln>
            <a:noFill/>
          </a:ln>
        </p:spPr>
        <p:txBody>
          <a:bodyPr/>
          <a:p/>
        </p:txBody>
      </p:sp>
      <p:sp>
        <p:nvSpPr>
          <p:cNvPr id="7" name="Freeform 7"/>
          <p:cNvSpPr/>
          <p:nvPr/>
        </p:nvSpPr>
        <p:spPr>
          <a:xfrm>
            <a:off x="2790825" y="1809750"/>
            <a:ext cx="2247900" cy="571500"/>
          </a:xfrm>
          <a:prstGeom prst="chevron">
            <a:avLst>
              <a:gd name="adj" fmla="val 30000"/>
            </a:avLst>
          </a:prstGeom>
          <a:solidFill>
            <a:srgbClr val="0E1F3A"/>
          </a:solidFill>
          <a:ln>
            <a:noFill/>
          </a:ln>
        </p:spPr>
        <p:txBody>
          <a:bodyPr/>
          <a:p/>
        </p:txBody>
      </p:sp>
      <p:sp>
        <p:nvSpPr>
          <p:cNvPr id="8" name="Freeform 8"/>
          <p:cNvSpPr/>
          <p:nvPr/>
        </p:nvSpPr>
        <p:spPr>
          <a:xfrm>
            <a:off x="4972050" y="1809750"/>
            <a:ext cx="2247900" cy="571500"/>
          </a:xfrm>
          <a:prstGeom prst="chevron">
            <a:avLst>
              <a:gd name="adj" fmla="val 30000"/>
            </a:avLst>
          </a:prstGeom>
          <a:solidFill>
            <a:srgbClr val="0E1F3A"/>
          </a:solidFill>
          <a:ln>
            <a:noFill/>
          </a:ln>
        </p:spPr>
        <p:txBody>
          <a:bodyPr/>
          <a:p/>
        </p:txBody>
      </p:sp>
      <p:sp>
        <p:nvSpPr>
          <p:cNvPr id="9" name="Freeform 9"/>
          <p:cNvSpPr/>
          <p:nvPr/>
        </p:nvSpPr>
        <p:spPr>
          <a:xfrm>
            <a:off x="7153275" y="1809750"/>
            <a:ext cx="2247900" cy="571500"/>
          </a:xfrm>
          <a:prstGeom prst="chevron">
            <a:avLst>
              <a:gd name="adj" fmla="val 30000"/>
            </a:avLst>
          </a:prstGeom>
          <a:solidFill>
            <a:srgbClr val="0E1F3A"/>
          </a:solidFill>
          <a:ln>
            <a:noFill/>
          </a:ln>
        </p:spPr>
        <p:txBody>
          <a:bodyPr/>
          <a:p/>
        </p:txBody>
      </p:sp>
      <p:sp>
        <p:nvSpPr>
          <p:cNvPr id="10" name="Freeform 10"/>
          <p:cNvSpPr/>
          <p:nvPr/>
        </p:nvSpPr>
        <p:spPr>
          <a:xfrm>
            <a:off x="9334500" y="1809750"/>
            <a:ext cx="2247900" cy="571500"/>
          </a:xfrm>
          <a:prstGeom prst="chevron">
            <a:avLst>
              <a:gd name="adj" fmla="val 30000"/>
            </a:avLst>
          </a:prstGeom>
          <a:solidFill>
            <a:srgbClr val="B3301B"/>
          </a:solidFill>
          <a:ln>
            <a:noFill/>
          </a:ln>
        </p:spPr>
        <p:txBody>
          <a:bodyPr/>
          <a:p/>
        </p:txBody>
      </p:sp>
      <p:sp>
        <p:nvSpPr>
          <p:cNvPr id="11" name="Freeform 11"/>
          <p:cNvSpPr/>
          <p:nvPr/>
        </p:nvSpPr>
        <p:spPr>
          <a:xfrm>
            <a:off x="3257550" y="3238500"/>
            <a:ext cx="762000" cy="419100"/>
          </a:xfrm>
          <a:prstGeom prst="rightArrow">
            <a:avLst/>
          </a:prstGeom>
          <a:solidFill>
            <a:srgbClr val="97B9DD"/>
          </a:solidFill>
          <a:ln>
            <a:noFill/>
          </a:ln>
        </p:spPr>
        <p:txBody>
          <a:bodyPr/>
          <a:p/>
        </p:txBody>
      </p:sp>
      <p:sp>
        <p:nvSpPr>
          <p:cNvPr id="12" name="Freeform 12"/>
          <p:cNvSpPr/>
          <p:nvPr/>
        </p:nvSpPr>
        <p:spPr>
          <a:xfrm>
            <a:off x="5143500" y="4057650"/>
            <a:ext cx="476250" cy="685800"/>
          </a:xfrm>
          <a:prstGeom prst="downArrow">
            <a:avLst/>
          </a:prstGeom>
          <a:solidFill>
            <a:srgbClr val="97B9DD"/>
          </a:solidFill>
          <a:ln>
            <a:noFill/>
          </a:ln>
        </p:spPr>
        <p:txBody>
          <a:bodyPr/>
          <a:p/>
        </p:txBody>
      </p:sp>
      <p:sp>
        <p:nvSpPr>
          <p:cNvPr id="13" name="Freeform 13"/>
          <p:cNvSpPr/>
          <p:nvPr/>
        </p:nvSpPr>
        <p:spPr>
          <a:xfrm>
            <a:off x="3257550" y="5143500"/>
            <a:ext cx="762000" cy="419100"/>
          </a:xfrm>
          <a:prstGeom prst="leftArrow">
            <a:avLst/>
          </a:prstGeom>
          <a:solidFill>
            <a:srgbClr val="97B9DD"/>
          </a:solidFill>
          <a:ln>
            <a:noFill/>
          </a:ln>
        </p:spPr>
        <p:txBody>
          <a:bodyPr/>
          <a:p/>
        </p:txBody>
      </p:sp>
      <p:sp>
        <p:nvSpPr>
          <p:cNvPr id="14" name="Freeform 14"/>
          <p:cNvSpPr/>
          <p:nvPr/>
        </p:nvSpPr>
        <p:spPr>
          <a:xfrm>
            <a:off x="1657350" y="4057650"/>
            <a:ext cx="476250" cy="685800"/>
          </a:xfrm>
          <a:prstGeom prst="upArrow">
            <a:avLst/>
          </a:prstGeom>
          <a:solidFill>
            <a:srgbClr val="97B9DD"/>
          </a:solidFill>
          <a:ln>
            <a:noFill/>
          </a:ln>
        </p:spPr>
        <p:txBody>
          <a:bodyPr/>
          <a:p/>
        </p:txBody>
      </p:sp>
      <p:grpSp>
        <p:nvGrpSpPr>
          <p:cNvPr id="20" name="chev-labels"/>
          <p:cNvGrpSpPr/>
          <p:nvPr/>
        </p:nvGrpSpPr>
        <p:grpSpPr>
          <a:xfrm>
            <a:off x="1508633" y="2000250"/>
            <a:ext cx="9481065" cy="250317"/>
            <a:chOff x="1508633" y="2000250"/>
            <a:chExt cx="9481065" cy="250317"/>
          </a:xfrm>
        </p:grpSpPr>
        <p:sp>
          <p:nvSpPr>
            <p:cNvPr id="15" name="TextBox 15"/>
            <p:cNvSpPr txBox="1"/>
            <p:nvPr/>
          </p:nvSpPr>
          <p:spPr>
            <a:xfrm>
              <a:off x="1427271" y="2000250"/>
              <a:ext cx="61255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Hook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15570" y="2000250"/>
              <a:ext cx="79841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Writers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59362" y="2000250"/>
              <a:ext cx="127327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Rule checks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27077" y="2000250"/>
              <a:ext cx="70029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Judge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99890" y="2000250"/>
              <a:ext cx="13171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280" b="1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You approve</a:t>
              </a:r>
            </a:p>
          </p:txBody>
        </p:sp>
      </p:grpSp>
      <p:grpSp>
        <p:nvGrpSpPr>
          <p:cNvPr id="26" name="chev-captions"/>
          <p:cNvGrpSpPr/>
          <p:nvPr/>
        </p:nvGrpSpPr>
        <p:grpSpPr>
          <a:xfrm>
            <a:off x="775335" y="2470150"/>
            <a:ext cx="10540750" cy="220028"/>
            <a:chOff x="775335" y="2470150"/>
            <a:chExt cx="10540750" cy="220028"/>
          </a:xfrm>
        </p:grpSpPr>
        <p:sp>
          <p:nvSpPr>
            <p:cNvPr id="21" name="TextBox 21"/>
            <p:cNvSpPr txBox="1"/>
            <p:nvPr/>
          </p:nvSpPr>
          <p:spPr>
            <a:xfrm>
              <a:off x="775335" y="2470150"/>
              <a:ext cx="23297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cited fact from both profiles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56560" y="2470150"/>
              <a:ext cx="23848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Several drafts, different angles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37785" y="2470150"/>
              <a:ext cx="23212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Length, phrases, one question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19010" y="2470150"/>
              <a:ext cx="23147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Scores drafts against a rubric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00235" y="2470150"/>
              <a:ext cx="21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Nothing sends without a yes</a:t>
              </a:r>
            </a:p>
          </p:txBody>
        </p:sp>
      </p:grpSp>
      <p:grpSp>
        <p:nvGrpSpPr>
          <p:cNvPr id="28" name="loop-label"/>
          <p:cNvGrpSpPr/>
          <p:nvPr/>
        </p:nvGrpSpPr>
        <p:grpSpPr>
          <a:xfrm>
            <a:off x="604647" y="2711450"/>
            <a:ext cx="2001120" cy="191643"/>
            <a:chOff x="604647" y="2711450"/>
            <a:chExt cx="2001120" cy="191643"/>
          </a:xfrm>
        </p:grpSpPr>
        <p:sp>
          <p:nvSpPr>
            <p:cNvPr id="27" name="TextBox 27"/>
            <p:cNvSpPr txBox="1"/>
            <p:nvPr/>
          </p:nvSpPr>
          <p:spPr>
            <a:xfrm>
              <a:off x="604647" y="2711450"/>
              <a:ext cx="239653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THE LEARNING LOOP</a:t>
              </a:r>
            </a:p>
          </p:txBody>
        </p:sp>
      </p:grpSp>
      <p:grpSp>
        <p:nvGrpSpPr>
          <p:cNvPr id="32" name="loop-writer"/>
          <p:cNvGrpSpPr/>
          <p:nvPr/>
        </p:nvGrpSpPr>
        <p:grpSpPr>
          <a:xfrm>
            <a:off x="609600" y="2895600"/>
            <a:ext cx="2571750" cy="1104900"/>
            <a:chOff x="609600" y="2895600"/>
            <a:chExt cx="2571750" cy="1104900"/>
          </a:xfrm>
        </p:grpSpPr>
        <p:sp>
          <p:nvSpPr>
            <p:cNvPr id="29" name="Rectangle 29"/>
            <p:cNvSpPr/>
            <p:nvPr/>
          </p:nvSpPr>
          <p:spPr>
            <a:xfrm>
              <a:off x="609600" y="2895600"/>
              <a:ext cx="2571750" cy="11049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5000"/>
                </a:srgbClr>
              </a:solidFill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755523" y="3048000"/>
              <a:ext cx="16023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Writer selection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5904" y="3282950"/>
              <a:ext cx="2182281" cy="6537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Drafts that get approved raise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that writer's odds of being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chosen next time.</a:t>
              </a:r>
            </a:p>
          </p:txBody>
        </p:sp>
      </p:grpSp>
      <p:grpSp>
        <p:nvGrpSpPr>
          <p:cNvPr id="36" name="loop-playbook"/>
          <p:cNvGrpSpPr/>
          <p:nvPr/>
        </p:nvGrpSpPr>
        <p:grpSpPr>
          <a:xfrm>
            <a:off x="4095750" y="2895600"/>
            <a:ext cx="2571750" cy="1104900"/>
            <a:chOff x="4095750" y="2895600"/>
            <a:chExt cx="2571750" cy="1104900"/>
          </a:xfrm>
        </p:grpSpPr>
        <p:sp>
          <p:nvSpPr>
            <p:cNvPr id="33" name="Rectangle 33"/>
            <p:cNvSpPr/>
            <p:nvPr/>
          </p:nvSpPr>
          <p:spPr>
            <a:xfrm>
              <a:off x="4095750" y="2895600"/>
              <a:ext cx="2571750" cy="11049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5000"/>
                </a:srgbClr>
              </a:solidFill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4241673" y="3048000"/>
              <a:ext cx="201039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Playbook from edits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42054" y="3282950"/>
              <a:ext cx="2124235" cy="6537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Every edit by the founder or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the candidate is distilled into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rules the writers follow.</a:t>
              </a:r>
            </a:p>
          </p:txBody>
        </p:sp>
      </p:grpSp>
      <p:grpSp>
        <p:nvGrpSpPr>
          <p:cNvPr id="40" name="loop-judge"/>
          <p:cNvGrpSpPr/>
          <p:nvPr/>
        </p:nvGrpSpPr>
        <p:grpSpPr>
          <a:xfrm>
            <a:off x="4095750" y="4800600"/>
            <a:ext cx="2571750" cy="1104900"/>
            <a:chOff x="4095750" y="4800600"/>
            <a:chExt cx="2571750" cy="1104900"/>
          </a:xfrm>
        </p:grpSpPr>
        <p:sp>
          <p:nvSpPr>
            <p:cNvPr id="37" name="Rectangle 37"/>
            <p:cNvSpPr/>
            <p:nvPr/>
          </p:nvSpPr>
          <p:spPr>
            <a:xfrm>
              <a:off x="4095750" y="4800600"/>
              <a:ext cx="2571750" cy="11049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5000"/>
                </a:srgbClr>
              </a:solidFill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4241673" y="4953000"/>
              <a:ext cx="17565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Judge calibration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242054" y="5187950"/>
              <a:ext cx="2123919" cy="6537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When a human overrides the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judge, its taste is adjusted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to match.</a:t>
              </a:r>
            </a:p>
          </p:txBody>
        </p:sp>
      </p:grpSp>
      <p:grpSp>
        <p:nvGrpSpPr>
          <p:cNvPr id="44" name="loop-replies"/>
          <p:cNvGrpSpPr/>
          <p:nvPr/>
        </p:nvGrpSpPr>
        <p:grpSpPr>
          <a:xfrm>
            <a:off x="609600" y="4800600"/>
            <a:ext cx="2571750" cy="1104900"/>
            <a:chOff x="609600" y="4800600"/>
            <a:chExt cx="2571750" cy="1104900"/>
          </a:xfrm>
        </p:grpSpPr>
        <p:sp>
          <p:nvSpPr>
            <p:cNvPr id="41" name="Rectangle 41"/>
            <p:cNvSpPr/>
            <p:nvPr/>
          </p:nvSpPr>
          <p:spPr>
            <a:xfrm>
              <a:off x="609600" y="4800600"/>
              <a:ext cx="2571750" cy="11049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5000"/>
                </a:srgbClr>
              </a:solidFill>
            </a:ln>
          </p:spPr>
          <p:txBody>
            <a:bodyPr/>
            <a:p/>
          </p:txBody>
        </p:sp>
        <p:sp>
          <p:nvSpPr>
            <p:cNvPr id="42" name="TextBox 42"/>
            <p:cNvSpPr txBox="1"/>
            <p:nvPr/>
          </p:nvSpPr>
          <p:spPr>
            <a:xfrm>
              <a:off x="755523" y="4953000"/>
              <a:ext cx="148153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Reply learning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5904" y="5187950"/>
              <a:ext cx="2187223" cy="6537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Which replies led to calls and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referrals shapes how the next</a:t>
              </a:r>
              <a:b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reply is drafted.</a:t>
              </a:r>
            </a:p>
          </p:txBody>
        </p:sp>
      </p:grpSp>
      <p:grpSp>
        <p:nvGrpSpPr>
          <p:cNvPr id="53" name="drift-guards"/>
          <p:cNvGrpSpPr/>
          <p:nvPr/>
        </p:nvGrpSpPr>
        <p:grpSpPr>
          <a:xfrm>
            <a:off x="7048500" y="2819400"/>
            <a:ext cx="4533900" cy="3276600"/>
            <a:chOff x="7048500" y="2819400"/>
            <a:chExt cx="4533900" cy="3276600"/>
          </a:xfrm>
        </p:grpSpPr>
        <p:sp>
          <p:nvSpPr>
            <p:cNvPr id="45" name="Rectangle 45"/>
            <p:cNvSpPr/>
            <p:nvPr/>
          </p:nvSpPr>
          <p:spPr>
            <a:xfrm>
              <a:off x="7048500" y="2819400"/>
              <a:ext cx="4533900" cy="32766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6" name="TextBox 46"/>
            <p:cNvSpPr txBox="1"/>
            <p:nvPr/>
          </p:nvSpPr>
          <p:spPr>
            <a:xfrm>
              <a:off x="7344156" y="3009900"/>
              <a:ext cx="30350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EEF3F8"/>
                  </a:solidFill>
                  <a:latin typeface="+mj-lt"/>
                  <a:ea typeface="+mj-ea"/>
                  <a:cs typeface="+mj-cs"/>
                </a:rPr>
                <a:t>Guarding against drift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47204" y="3390900"/>
              <a:ext cx="4212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00" i="1" dirty="0">
                  <a:solidFill>
                    <a:srgbClr val="A9C7E6"/>
                  </a:solidFill>
                  <a:latin typeface="+mn-lt"/>
                  <a:ea typeface="+mn-ea"/>
                  <a:cs typeface="+mn-cs"/>
                </a:rPr>
                <a:t>Self-learning can slide toward polished but generic.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7346442" y="3784600"/>
              <a:ext cx="2746560" cy="2264283"/>
              <a:chOff x="7346442" y="3784600"/>
              <a:chExt cx="2746560" cy="2264283"/>
            </a:xfrm>
          </p:grpSpPr>
          <p:sp>
            <p:nvSpPr>
              <p:cNvPr id="48" name="TextBox 48"/>
              <p:cNvSpPr txBox="1"/>
              <p:nvPr/>
            </p:nvSpPr>
            <p:spPr>
              <a:xfrm>
                <a:off x="7346442" y="3784600"/>
                <a:ext cx="2952324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en" sz="135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  <a:t>The rubric is a send gate: a message</a:t>
                </a:r>
                <a:br>
                  <a:rPr lang="en" sz="135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35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  <a:t>that fails a hard rule never goes out.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346442" y="4375150"/>
                <a:ext cx="3149927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en" sz="135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  <a:t>A golden set of test prospects is re-run</a:t>
                </a:r>
                <a:br>
                  <a:rPr lang="en" sz="135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35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  <a:t>after every playbook or writer change.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346442" y="4965700"/>
                <a:ext cx="3253794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en" sz="135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  <a:t>Playbooks are versioned, so any change</a:t>
                </a:r>
                <a:br>
                  <a:rPr lang="en" sz="135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35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  <a:t>can be rolled back.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346442" y="5556250"/>
                <a:ext cx="3253676" cy="492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en" sz="135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  <a:t>A weekly audit scores a random sample</a:t>
                </a:r>
                <a:br>
                  <a:rPr lang="en" sz="135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350" dirty="0">
                    <a:solidFill>
                      <a:srgbClr val="BFD0E6"/>
                    </a:solidFill>
                    <a:latin typeface="+mn-lt"/>
                    <a:ea typeface="+mn-ea"/>
                    <a:cs typeface="+mn-cs"/>
                  </a:rPr>
                  <a:t>of the messages that were sent.</a:t>
                </a:r>
              </a:p>
            </p:txBody>
          </p:sp>
        </p:grpSp>
      </p:grpSp>
      <p:grpSp>
        <p:nvGrpSpPr>
          <p:cNvPr id="57" name="footer"/>
          <p:cNvGrpSpPr/>
          <p:nvPr/>
        </p:nvGrpSpPr>
        <p:grpSpPr>
          <a:xfrm>
            <a:off x="604838" y="6438900"/>
            <a:ext cx="10982324" cy="290512"/>
            <a:chOff x="604838" y="6438900"/>
            <a:chExt cx="10982324" cy="290512"/>
          </a:xfrm>
        </p:grpSpPr>
        <p:sp>
          <p:nvSpPr>
            <p:cNvPr id="54" name="Line 54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 cap="rnd">
              <a:solidFill>
                <a:srgbClr val="4A5F80">
                  <a:alpha val="60000"/>
                </a:srgbClr>
              </a:solidFill>
              <a:custDash>
                <a:ds d="33333" sp="266667"/>
              </a:custDash>
            </a:ln>
          </p:spPr>
          <p:txBody>
            <a:bodyPr/>
            <a:p/>
          </p:txBody>
        </p:sp>
        <p:sp>
          <p:nvSpPr>
            <p:cNvPr id="55" name="TextBox 55"/>
            <p:cNvSpPr txBox="1"/>
            <p:nvPr/>
          </p:nvSpPr>
          <p:spPr>
            <a:xfrm>
              <a:off x="604838" y="6553200"/>
              <a:ext cx="21349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00" b="1" spc="15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KNOCK | CASE STUDY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915523" y="6553200"/>
              <a:ext cx="6716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" sz="900" b="1" spc="15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08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361950"/>
            <a:ext cx="8603212" cy="902716"/>
            <a:chOff x="595884" y="361950"/>
            <a:chExt cx="8603212" cy="902716"/>
          </a:xfrm>
        </p:grpSpPr>
        <p:sp>
          <p:nvSpPr>
            <p:cNvPr id="2" name="Rectangle 2"/>
            <p:cNvSpPr/>
            <p:nvPr/>
          </p:nvSpPr>
          <p:spPr>
            <a:xfrm>
              <a:off x="609600" y="361950"/>
              <a:ext cx="381000" cy="381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TextBox 3"/>
            <p:cNvSpPr txBox="1"/>
            <p:nvPr/>
          </p:nvSpPr>
          <p:spPr>
            <a:xfrm>
              <a:off x="604647" y="501650"/>
              <a:ext cx="26853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08 SAFETY AND ETHICS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5884" y="736600"/>
              <a:ext cx="99889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27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Safety and ethics are designed in, not added later</a:t>
              </a:r>
            </a:p>
          </p:txBody>
        </p:sp>
      </p:grpSp>
      <p:grpSp>
        <p:nvGrpSpPr>
          <p:cNvPr id="16" name="linkedin-risk"/>
          <p:cNvGrpSpPr/>
          <p:nvPr/>
        </p:nvGrpSpPr>
        <p:grpSpPr>
          <a:xfrm>
            <a:off x="609600" y="1428750"/>
            <a:ext cx="5486400" cy="4572000"/>
            <a:chOff x="609600" y="1428750"/>
            <a:chExt cx="5486400" cy="45720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5486400" cy="457200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833247" y="1663700"/>
              <a:ext cx="21728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B3301B"/>
                  </a:solidFill>
                  <a:latin typeface="+mj-lt"/>
                  <a:ea typeface="+mj-ea"/>
                  <a:cs typeface="+mj-cs"/>
                </a:rPr>
                <a:t>THE BIGGEST RISK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8294" y="1930400"/>
              <a:ext cx="41949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9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LinkedIn forbids automation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0961" y="2362200"/>
              <a:ext cx="4503155" cy="10216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LinkedIn's User Agreement bans bots and automated</a:t>
              </a:r>
              <a:b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messaging, and enforcement falls on the member's</a:t>
              </a:r>
              <a:b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account. A restriction mid-search would be costly,</a:t>
              </a:r>
              <a:b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so the design avoids depending on automation.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38200" y="3676650"/>
              <a:ext cx="2571750" cy="20955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983742" y="3816350"/>
              <a:ext cx="18711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Default: self-send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4123" y="4102100"/>
              <a:ext cx="2316348" cy="10885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The candidate sends by hand.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Knock never logs in to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LinkedIn or holds a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password. Discovery uses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public search only.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524250" y="3676650"/>
              <a:ext cx="2381250" cy="20955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3669792" y="3816350"/>
              <a:ext cx="22189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EEF3F8"/>
                  </a:solidFill>
                  <a:latin typeface="+mj-lt"/>
                  <a:ea typeface="+mj-ea"/>
                  <a:cs typeface="+mj-cs"/>
                </a:rPr>
                <a:t>Optional: automation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70173" y="4102100"/>
              <a:ext cx="1932140" cy="12980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Treated as a real risk to</a:t>
              </a:r>
              <a:br>
                <a:rPr lang="en" sz="128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the client's account.</a:t>
              </a:r>
              <a:br>
                <a:rPr lang="en" sz="128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Written consent, a plain</a:t>
              </a:r>
              <a:br>
                <a:rPr lang="en" sz="128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risk notice, conservative</a:t>
              </a:r>
              <a:br>
                <a:rPr lang="en" sz="128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limits, and a fallback to</a:t>
              </a:r>
              <a:br>
                <a:rPr lang="en" sz="128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self-send if warned.</a:t>
              </a:r>
            </a:p>
          </p:txBody>
        </p:sp>
      </p:grpSp>
      <p:grpSp>
        <p:nvGrpSpPr>
          <p:cNvPr id="20" name="card-injection"/>
          <p:cNvGrpSpPr/>
          <p:nvPr/>
        </p:nvGrpSpPr>
        <p:grpSpPr>
          <a:xfrm>
            <a:off x="6324600" y="1428750"/>
            <a:ext cx="5257800" cy="1419225"/>
            <a:chOff x="6324600" y="1428750"/>
            <a:chExt cx="5257800" cy="1419225"/>
          </a:xfrm>
        </p:grpSpPr>
        <p:sp>
          <p:nvSpPr>
            <p:cNvPr id="17" name="Rectangle 17"/>
            <p:cNvSpPr/>
            <p:nvPr/>
          </p:nvSpPr>
          <p:spPr>
            <a:xfrm>
              <a:off x="6324600" y="1428750"/>
              <a:ext cx="5257800" cy="1419225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6545961" y="1593850"/>
              <a:ext cx="18527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Prompt injection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6723" y="1892300"/>
              <a:ext cx="4584951" cy="6884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Fetched web text is data, never instructions. The browser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bridge may only paste exact approved text, and nothing that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sends or deletes is ever triggered by fetched content.</a:t>
              </a:r>
            </a:p>
          </p:txBody>
        </p:sp>
      </p:grpSp>
      <p:grpSp>
        <p:nvGrpSpPr>
          <p:cNvPr id="24" name="card-consent"/>
          <p:cNvGrpSpPr/>
          <p:nvPr/>
        </p:nvGrpSpPr>
        <p:grpSpPr>
          <a:xfrm>
            <a:off x="6324600" y="3000375"/>
            <a:ext cx="5257800" cy="1419225"/>
            <a:chOff x="6324600" y="3000375"/>
            <a:chExt cx="5257800" cy="1419225"/>
          </a:xfrm>
        </p:grpSpPr>
        <p:sp>
          <p:nvSpPr>
            <p:cNvPr id="21" name="Rectangle 21"/>
            <p:cNvSpPr/>
            <p:nvPr/>
          </p:nvSpPr>
          <p:spPr>
            <a:xfrm>
              <a:off x="6324600" y="3000375"/>
              <a:ext cx="5257800" cy="1419225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22" name="TextBox 22"/>
            <p:cNvSpPr txBox="1"/>
            <p:nvPr/>
          </p:nvSpPr>
          <p:spPr>
            <a:xfrm>
              <a:off x="6545961" y="3165475"/>
              <a:ext cx="39486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Consent and data protection (DPDP)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46723" y="3463925"/>
              <a:ext cx="4777128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Separate consent for clients. Only professional information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that prospects published themselves, with the source recorded.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No guessed emails or cold WhatsApp, a do-not-contact list,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deletion after a package ends.</a:t>
              </a:r>
            </a:p>
          </p:txBody>
        </p:sp>
      </p:grpSp>
      <p:grpSp>
        <p:nvGrpSpPr>
          <p:cNvPr id="28" name="card-truth"/>
          <p:cNvGrpSpPr/>
          <p:nvPr/>
        </p:nvGrpSpPr>
        <p:grpSpPr>
          <a:xfrm>
            <a:off x="6324600" y="4572000"/>
            <a:ext cx="5257800" cy="1428750"/>
            <a:chOff x="6324600" y="4572000"/>
            <a:chExt cx="5257800" cy="1428750"/>
          </a:xfrm>
        </p:grpSpPr>
        <p:sp>
          <p:nvSpPr>
            <p:cNvPr id="25" name="Rectangle 25"/>
            <p:cNvSpPr/>
            <p:nvPr/>
          </p:nvSpPr>
          <p:spPr>
            <a:xfrm>
              <a:off x="6324600" y="4572000"/>
              <a:ext cx="5257800" cy="1428750"/>
            </a:xfrm>
            <a:prstGeom prst="rect">
              <a:avLst/>
            </a:prstGeom>
            <a:solidFill>
              <a:srgbClr val="FAFCFE"/>
            </a:solidFill>
            <a:ln w="9525">
              <a:solidFill>
                <a:srgbClr val="0E1F3A">
                  <a:alpha val="20000"/>
                </a:srgbClr>
              </a:solidFill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6545961" y="4737100"/>
              <a:ext cx="14494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Truthfulness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46723" y="5035550"/>
              <a:ext cx="4397932" cy="6884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Every hook cites a real fact. No fake shared history, no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padded lists, and the intake asks for the exact programme</a:t>
              </a:r>
              <a:b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so a certificate is never passed off as a degree.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604838" y="6438900"/>
            <a:ext cx="10982324" cy="290512"/>
            <a:chOff x="604838" y="6438900"/>
            <a:chExt cx="10982324" cy="290512"/>
          </a:xfrm>
        </p:grpSpPr>
        <p:sp>
          <p:nvSpPr>
            <p:cNvPr id="29" name="Line 29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 cap="rnd">
              <a:solidFill>
                <a:srgbClr val="4A5F80">
                  <a:alpha val="60000"/>
                </a:srgbClr>
              </a:solidFill>
              <a:custDash>
                <a:ds d="33333" sp="266667"/>
              </a:custDash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604838" y="6553200"/>
              <a:ext cx="21349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00" b="1" spc="15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KNOCK | CASE STUDY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915523" y="6553200"/>
              <a:ext cx="6716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" sz="900" b="1" spc="15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09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361950"/>
            <a:ext cx="9692637" cy="902716"/>
            <a:chOff x="595884" y="361950"/>
            <a:chExt cx="9692637" cy="902716"/>
          </a:xfrm>
        </p:grpSpPr>
        <p:sp>
          <p:nvSpPr>
            <p:cNvPr id="2" name="Rectangle 2"/>
            <p:cNvSpPr/>
            <p:nvPr/>
          </p:nvSpPr>
          <p:spPr>
            <a:xfrm>
              <a:off x="609600" y="361950"/>
              <a:ext cx="381000" cy="381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TextBox 3"/>
            <p:cNvSpPr txBox="1"/>
            <p:nvPr/>
          </p:nvSpPr>
          <p:spPr>
            <a:xfrm>
              <a:off x="604647" y="501650"/>
              <a:ext cx="38436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09 HOW DECISIONS WERE TESTED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5884" y="736600"/>
              <a:ext cx="112417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27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Decisions were tested in blind competitions, not argued</a:t>
              </a:r>
            </a:p>
          </p:txBody>
        </p:sp>
      </p:grpSp>
      <p:grpSp>
        <p:nvGrpSpPr>
          <p:cNvPr id="14" name="track-website"/>
          <p:cNvGrpSpPr/>
          <p:nvPr/>
        </p:nvGrpSpPr>
        <p:grpSpPr>
          <a:xfrm>
            <a:off x="609600" y="1428750"/>
            <a:ext cx="3505200" cy="3971417"/>
            <a:chOff x="609600" y="1428750"/>
            <a:chExt cx="3505200" cy="3971417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3505200" cy="4381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92099" y="1533525"/>
              <a:ext cx="152159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580" b="1" dirty="0">
                  <a:solidFill>
                    <a:srgbClr val="EEF3F8"/>
                  </a:solidFill>
                  <a:latin typeface="+mj-lt"/>
                  <a:ea typeface="+mj-ea"/>
                  <a:cs typeface="+mj-cs"/>
                </a:rPr>
                <a:t>The website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5147" y="2044700"/>
              <a:ext cx="12727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COMPETED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3623" y="2254250"/>
              <a:ext cx="2583715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Several design skills each built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Knock's site from the same brief.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5147" y="3168650"/>
              <a:ext cx="9587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JUDGED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3623" y="3378200"/>
              <a:ext cx="2498169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Scored blind by independent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judges, with no names attached.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5147" y="4311650"/>
              <a:ext cx="18472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B3301B"/>
                  </a:solidFill>
                  <a:latin typeface="+mj-lt"/>
                  <a:ea typeface="+mj-ea"/>
                  <a:cs typeface="+mj-cs"/>
                </a:rPr>
                <a:t>WHAT CHANGED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3623" y="4521200"/>
              <a:ext cx="2580835" cy="8789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The winning concept became the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brand kit: an airmail letter,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powder-blue paper, navy ink and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one red stamp.</a:t>
              </a:r>
            </a:p>
          </p:txBody>
        </p:sp>
      </p:grpSp>
      <p:grpSp>
        <p:nvGrpSpPr>
          <p:cNvPr id="23" name="track-messages"/>
          <p:cNvGrpSpPr/>
          <p:nvPr/>
        </p:nvGrpSpPr>
        <p:grpSpPr>
          <a:xfrm>
            <a:off x="4343400" y="1428750"/>
            <a:ext cx="3505200" cy="4180967"/>
            <a:chOff x="4343400" y="1428750"/>
            <a:chExt cx="3505200" cy="4180967"/>
          </a:xfrm>
        </p:grpSpPr>
        <p:sp>
          <p:nvSpPr>
            <p:cNvPr id="15" name="Rectangle 15"/>
            <p:cNvSpPr/>
            <p:nvPr/>
          </p:nvSpPr>
          <p:spPr>
            <a:xfrm>
              <a:off x="4343400" y="1428750"/>
              <a:ext cx="3505200" cy="4381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4525899" y="1533525"/>
              <a:ext cx="180833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580" b="1" dirty="0">
                  <a:solidFill>
                    <a:srgbClr val="EEF3F8"/>
                  </a:solidFill>
                  <a:latin typeface="+mj-lt"/>
                  <a:ea typeface="+mj-ea"/>
                  <a:cs typeface="+mj-cs"/>
                </a:rPr>
                <a:t>The messages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28947" y="2044700"/>
              <a:ext cx="12727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COMPETED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27423" y="2254250"/>
              <a:ext cx="2461565" cy="8789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The Knock engine against six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other approaches, from a single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writer to sales copywriting and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 networking method.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28947" y="3168650"/>
              <a:ext cx="9587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JUDGED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27423" y="3378200"/>
              <a:ext cx="2393891" cy="8789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Four blind judge personas: a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recipient, a hiring manager, an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Indian recruiter and a rubric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auditor.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28947" y="4311650"/>
              <a:ext cx="18472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B3301B"/>
                  </a:solidFill>
                  <a:latin typeface="+mj-lt"/>
                  <a:ea typeface="+mj-ea"/>
                  <a:cs typeface="+mj-cs"/>
                </a:rPr>
                <a:t>WHAT CHANGED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7423" y="4521200"/>
              <a:ext cx="2722053" cy="10885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The multi-writer engine won on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openers and beat its own single-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writer version. A hybrid wrote the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best follow-ups. Both lessons went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into the prompts.</a:t>
              </a:r>
            </a:p>
          </p:txBody>
        </p:sp>
      </p:grpSp>
      <p:grpSp>
        <p:nvGrpSpPr>
          <p:cNvPr id="32" name="track-deck"/>
          <p:cNvGrpSpPr/>
          <p:nvPr/>
        </p:nvGrpSpPr>
        <p:grpSpPr>
          <a:xfrm>
            <a:off x="8077200" y="1428750"/>
            <a:ext cx="3505200" cy="3971417"/>
            <a:chOff x="8077200" y="1428750"/>
            <a:chExt cx="3505200" cy="3971417"/>
          </a:xfrm>
        </p:grpSpPr>
        <p:sp>
          <p:nvSpPr>
            <p:cNvPr id="24" name="Rectangle 24"/>
            <p:cNvSpPr/>
            <p:nvPr/>
          </p:nvSpPr>
          <p:spPr>
            <a:xfrm>
              <a:off x="8077200" y="1428750"/>
              <a:ext cx="3505200" cy="4381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8259699" y="1533525"/>
              <a:ext cx="183430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580" b="1" dirty="0">
                  <a:solidFill>
                    <a:srgbClr val="EEF3F8"/>
                  </a:solidFill>
                  <a:latin typeface="+mj-lt"/>
                  <a:ea typeface="+mj-ea"/>
                  <a:cs typeface="+mj-cs"/>
                </a:rPr>
                <a:t>The pitch deck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62747" y="2044700"/>
              <a:ext cx="12727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COMPETED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61223" y="2254250"/>
              <a:ext cx="2176401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Several deck skills built the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same partner pitch brief.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62747" y="3168650"/>
              <a:ext cx="9587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JUDGED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61223" y="3378200"/>
              <a:ext cx="241019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Scored blind, then the winning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entry was studied step by step.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62747" y="4311650"/>
              <a:ext cx="18472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B3301B"/>
                  </a:solidFill>
                  <a:latin typeface="+mj-lt"/>
                  <a:ea typeface="+mj-ea"/>
                  <a:cs typeface="+mj-cs"/>
                </a:rPr>
                <a:t>WHAT CHANGED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61223" y="4521200"/>
              <a:ext cx="2589099" cy="8789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Its approach set this deck's build: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editorial restraint, native editable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shapes, and a serif fallback that</a:t>
              </a:r>
              <a:b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28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renders the same everywhere.</a:t>
              </a:r>
            </a:p>
          </p:txBody>
        </p:sp>
      </p:grpSp>
      <p:grpSp>
        <p:nvGrpSpPr>
          <p:cNvPr id="35" name="caveat"/>
          <p:cNvGrpSpPr/>
          <p:nvPr/>
        </p:nvGrpSpPr>
        <p:grpSpPr>
          <a:xfrm>
            <a:off x="609600" y="5753100"/>
            <a:ext cx="10972800" cy="527558"/>
            <a:chOff x="609600" y="5753100"/>
            <a:chExt cx="10972800" cy="527558"/>
          </a:xfrm>
        </p:grpSpPr>
        <p:sp>
          <p:nvSpPr>
            <p:cNvPr id="33" name="Rectangle 33"/>
            <p:cNvSpPr/>
            <p:nvPr/>
          </p:nvSpPr>
          <p:spPr>
            <a:xfrm>
              <a:off x="609600" y="5753100"/>
              <a:ext cx="10972800" cy="495300"/>
            </a:xfrm>
            <a:prstGeom prst="rect">
              <a:avLst/>
            </a:prstGeom>
            <a:solidFill>
              <a:srgbClr val="C4D9E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793242" y="5807075"/>
              <a:ext cx="6917758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" sz="1350" i="1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Judges were AI personas, so results guide decisions and do not prove market demand.</a:t>
              </a:r>
              <a:br>
                <a:rPr lang="en" sz="1350" i="1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i="1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The value is a fast, repeatable way to choose between options and find weak spots.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604838" y="6438900"/>
            <a:ext cx="10982324" cy="290512"/>
            <a:chOff x="604838" y="6438900"/>
            <a:chExt cx="10982324" cy="290512"/>
          </a:xfrm>
        </p:grpSpPr>
        <p:sp>
          <p:nvSpPr>
            <p:cNvPr id="36" name="Line 36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 cap="rnd">
              <a:solidFill>
                <a:srgbClr val="4A5F80">
                  <a:alpha val="60000"/>
                </a:srgbClr>
              </a:solidFill>
              <a:custDash>
                <a:ds d="33333" sp="266667"/>
              </a:custDash>
            </a:ln>
          </p:spPr>
          <p:txBody>
            <a:bodyPr/>
            <a:p/>
          </p:txBody>
        </p:sp>
        <p:sp>
          <p:nvSpPr>
            <p:cNvPr id="37" name="TextBox 37"/>
            <p:cNvSpPr txBox="1"/>
            <p:nvPr/>
          </p:nvSpPr>
          <p:spPr>
            <a:xfrm>
              <a:off x="604838" y="6553200"/>
              <a:ext cx="21349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00" b="1" spc="15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KNOCK | CASE STUDY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15523" y="6553200"/>
              <a:ext cx="6716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" sz="900" b="1" spc="15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10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361950"/>
            <a:ext cx="6562789" cy="902716"/>
            <a:chOff x="595884" y="361950"/>
            <a:chExt cx="6562789" cy="902716"/>
          </a:xfrm>
        </p:grpSpPr>
        <p:sp>
          <p:nvSpPr>
            <p:cNvPr id="2" name="Rectangle 2"/>
            <p:cNvSpPr/>
            <p:nvPr/>
          </p:nvSpPr>
          <p:spPr>
            <a:xfrm>
              <a:off x="609600" y="361950"/>
              <a:ext cx="381000" cy="381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TextBox 3"/>
            <p:cNvSpPr txBox="1"/>
            <p:nvPr/>
          </p:nvSpPr>
          <p:spPr>
            <a:xfrm>
              <a:off x="604647" y="501650"/>
              <a:ext cx="233408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10 WHAT WAS BUILT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5884" y="736600"/>
              <a:ext cx="764245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27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A full system, built end to end in days</a:t>
              </a:r>
            </a:p>
          </p:txBody>
        </p:sp>
      </p:grpSp>
      <p:grpSp>
        <p:nvGrpSpPr>
          <p:cNvPr id="13" name="summary-panel"/>
          <p:cNvGrpSpPr/>
          <p:nvPr/>
        </p:nvGrpSpPr>
        <p:grpSpPr>
          <a:xfrm>
            <a:off x="609600" y="1428750"/>
            <a:ext cx="3429000" cy="4667250"/>
            <a:chOff x="609600" y="1428750"/>
            <a:chExt cx="3429000" cy="466725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3429000" cy="466725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871347" y="1739900"/>
              <a:ext cx="165920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A9C7E6"/>
                  </a:solidFill>
                  <a:latin typeface="+mj-lt"/>
                  <a:ea typeface="+mj-ea"/>
                  <a:cs typeface="+mj-cs"/>
                </a:rPr>
                <a:t>ONE FOUNDER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4108" y="2032000"/>
              <a:ext cx="3200927" cy="8503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400" b="1" dirty="0">
                  <a:solidFill>
                    <a:srgbClr val="EEF3F8"/>
                  </a:solidFill>
                  <a:latin typeface="+mj-lt"/>
                  <a:ea typeface="+mj-ea"/>
                  <a:cs typeface="+mj-cs"/>
                </a:rPr>
                <a:t>From idea to a live</a:t>
              </a:r>
              <a:br>
                <a:rPr lang="en" sz="2400" b="1" dirty="0">
                  <a:solidFill>
                    <a:srgbClr val="EEF3F8"/>
                  </a:solidFill>
                  <a:latin typeface="+mj-lt"/>
                  <a:ea typeface="+mj-ea"/>
                  <a:cs typeface="+mj-cs"/>
                </a:rPr>
              </a:br>
              <a:r>
                <a:rPr lang="en" sz="2400" b="1" dirty="0">
                  <a:solidFill>
                    <a:srgbClr val="EEF3F8"/>
                  </a:solidFill>
                  <a:latin typeface="+mj-lt"/>
                  <a:ea typeface="+mj-ea"/>
                  <a:cs typeface="+mj-cs"/>
                </a:rPr>
                <a:t>system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8680" y="2971800"/>
              <a:ext cx="2717052" cy="1322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" sz="150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Product, engineering, design,</a:t>
              </a:r>
              <a:br>
                <a:rPr lang="en" sz="150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operations and research,</a:t>
              </a:r>
              <a:br>
                <a:rPr lang="en" sz="150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worked through with AI tools</a:t>
              </a:r>
              <a:br>
                <a:rPr lang="en" sz="150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and a habit of testing every</a:t>
              </a:r>
              <a:br>
                <a:rPr lang="en" sz="150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choice.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876300" y="47244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28575" cap="rnd">
              <a:solidFill>
                <a:srgbClr val="A9C7E6">
                  <a:alpha val="40000"/>
                </a:srgbClr>
              </a:solidFill>
              <a:custDash>
                <a:ds d="33333" sp="266667"/>
              </a:custDash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870585" y="4946650"/>
              <a:ext cx="16555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120" b="1" dirty="0">
                  <a:solidFill>
                    <a:srgbClr val="E8705A"/>
                  </a:solidFill>
                  <a:latin typeface="+mj-lt"/>
                  <a:ea typeface="+mj-ea"/>
                  <a:cs typeface="+mj-cs"/>
                </a:rPr>
                <a:t>HONEST STATUS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9442" y="5175250"/>
              <a:ext cx="2525970" cy="7402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" sz="1350" dirty="0">
                  <a:solidFill>
                    <a:srgbClr val="EEF3F8"/>
                  </a:solidFill>
                  <a:latin typeface="+mn-lt"/>
                  <a:ea typeface="+mn-ea"/>
                  <a:cs typeface="+mn-cs"/>
                </a:rPr>
                <a:t>Built and live. Not yet used by</a:t>
              </a:r>
              <a:br>
                <a:rPr lang="en" sz="1350" dirty="0">
                  <a:solidFill>
                    <a:srgbClr val="EEF3F8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EEF3F8"/>
                  </a:solidFill>
                  <a:latin typeface="+mn-lt"/>
                  <a:ea typeface="+mn-ea"/>
                  <a:cs typeface="+mn-cs"/>
                </a:rPr>
                <a:t>paying clients, so no results</a:t>
              </a:r>
              <a:br>
                <a:rPr lang="en" sz="1350" dirty="0">
                  <a:solidFill>
                    <a:srgbClr val="EEF3F8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EEF3F8"/>
                  </a:solidFill>
                  <a:latin typeface="+mn-lt"/>
                  <a:ea typeface="+mn-ea"/>
                  <a:cs typeface="+mn-cs"/>
                </a:rPr>
                <a:t>are claimed.</a:t>
              </a:r>
            </a:p>
          </p:txBody>
        </p:sp>
      </p:grpSp>
      <p:grpSp>
        <p:nvGrpSpPr>
          <p:cNvPr id="16" name="row-engine"/>
          <p:cNvGrpSpPr/>
          <p:nvPr/>
        </p:nvGrpSpPr>
        <p:grpSpPr>
          <a:xfrm>
            <a:off x="4374261" y="1536700"/>
            <a:ext cx="5903835" cy="492633"/>
            <a:chOff x="4374261" y="1536700"/>
            <a:chExt cx="5903835" cy="492633"/>
          </a:xfrm>
        </p:grpSpPr>
        <p:sp>
          <p:nvSpPr>
            <p:cNvPr id="14" name="TextBox 14"/>
            <p:cNvSpPr txBox="1"/>
            <p:nvPr/>
          </p:nvSpPr>
          <p:spPr>
            <a:xfrm>
              <a:off x="4374261" y="1555750"/>
              <a:ext cx="12795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engine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79642" y="1536700"/>
              <a:ext cx="4693472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Discovery, enrichment, cited hooks, several writers and a</a:t>
              </a:r>
              <a:b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judge, rule checks, learning loop, reply drafting, send cap.</a:t>
              </a:r>
            </a:p>
          </p:txBody>
        </p:sp>
      </p:grpSp>
      <p:sp>
        <p:nvSpPr>
          <p:cNvPr id="17" name="Line 17"/>
          <p:cNvSpPr/>
          <p:nvPr/>
        </p:nvSpPr>
        <p:spPr>
          <a:xfrm>
            <a:off x="4381500" y="2190750"/>
            <a:ext cx="7200900" cy="9525"/>
          </a:xfrm>
          <a:custGeom>
            <a:avLst/>
            <a:gdLst/>
            <a:ahLst/>
            <a:cxnLst/>
            <a:rect l="l" t="t" r="r" b="b"/>
            <a:pathLst>
              <a:path w="7200900" h="9525">
                <a:moveTo>
                  <a:pt x="0" y="0"/>
                </a:moveTo>
                <a:lnTo>
                  <a:pt x="7200900" y="0"/>
                </a:lnTo>
              </a:path>
            </a:pathLst>
          </a:custGeom>
          <a:noFill/>
          <a:ln w="9525">
            <a:solidFill>
              <a:srgbClr val="0E1F3A">
                <a:alpha val="20000"/>
              </a:srgbClr>
            </a:solidFill>
          </a:ln>
        </p:spPr>
        <p:txBody>
          <a:bodyPr/>
          <a:p/>
        </p:txBody>
      </p:sp>
      <p:grpSp>
        <p:nvGrpSpPr>
          <p:cNvPr id="20" name="row-data"/>
          <p:cNvGrpSpPr/>
          <p:nvPr/>
        </p:nvGrpSpPr>
        <p:grpSpPr>
          <a:xfrm>
            <a:off x="4374261" y="2355850"/>
            <a:ext cx="5961819" cy="492633"/>
            <a:chOff x="4374261" y="2355850"/>
            <a:chExt cx="5961819" cy="492633"/>
          </a:xfrm>
        </p:grpSpPr>
        <p:sp>
          <p:nvSpPr>
            <p:cNvPr id="18" name="TextBox 18"/>
            <p:cNvSpPr txBox="1"/>
            <p:nvPr/>
          </p:nvSpPr>
          <p:spPr>
            <a:xfrm>
              <a:off x="4374261" y="2374900"/>
              <a:ext cx="15973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data layer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79642" y="2355850"/>
              <a:ext cx="4760153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One shared database for clients, prospects, facts, messages</a:t>
              </a:r>
              <a:b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outcomes, plus an inbox and outbox bridge to sending.</a:t>
              </a:r>
            </a:p>
          </p:txBody>
        </p:sp>
      </p:grpSp>
      <p:sp>
        <p:nvSpPr>
          <p:cNvPr id="21" name="Line 21"/>
          <p:cNvSpPr/>
          <p:nvPr/>
        </p:nvSpPr>
        <p:spPr>
          <a:xfrm>
            <a:off x="4381500" y="3009900"/>
            <a:ext cx="7200900" cy="9525"/>
          </a:xfrm>
          <a:custGeom>
            <a:avLst/>
            <a:gdLst/>
            <a:ahLst/>
            <a:cxnLst/>
            <a:rect l="l" t="t" r="r" b="b"/>
            <a:pathLst>
              <a:path w="7200900" h="9525">
                <a:moveTo>
                  <a:pt x="0" y="0"/>
                </a:moveTo>
                <a:lnTo>
                  <a:pt x="7200900" y="0"/>
                </a:lnTo>
              </a:path>
            </a:pathLst>
          </a:custGeom>
          <a:noFill/>
          <a:ln w="9525">
            <a:solidFill>
              <a:srgbClr val="0E1F3A">
                <a:alpha val="20000"/>
              </a:srgbClr>
            </a:solidFill>
          </a:ln>
        </p:spPr>
        <p:txBody>
          <a:bodyPr/>
          <a:p/>
        </p:txBody>
      </p:sp>
      <p:grpSp>
        <p:nvGrpSpPr>
          <p:cNvPr id="24" name="row-web"/>
          <p:cNvGrpSpPr/>
          <p:nvPr/>
        </p:nvGrpSpPr>
        <p:grpSpPr>
          <a:xfrm>
            <a:off x="4374261" y="3175000"/>
            <a:ext cx="6094556" cy="492633"/>
            <a:chOff x="4374261" y="3175000"/>
            <a:chExt cx="6094556" cy="492633"/>
          </a:xfrm>
        </p:grpSpPr>
        <p:sp>
          <p:nvSpPr>
            <p:cNvPr id="22" name="TextBox 22"/>
            <p:cNvSpPr txBox="1"/>
            <p:nvPr/>
          </p:nvSpPr>
          <p:spPr>
            <a:xfrm>
              <a:off x="4374261" y="3194050"/>
              <a:ext cx="15000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web side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79642" y="3175000"/>
              <a:ext cx="491280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live landing page with an intake form, and a password-</a:t>
              </a:r>
              <a:b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protected operator CRM with a daily sync, hosted on Vercel.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4381500" y="3829050"/>
            <a:ext cx="7200900" cy="9525"/>
          </a:xfrm>
          <a:custGeom>
            <a:avLst/>
            <a:gdLst/>
            <a:ahLst/>
            <a:cxnLst/>
            <a:rect l="l" t="t" r="r" b="b"/>
            <a:pathLst>
              <a:path w="7200900" h="9525">
                <a:moveTo>
                  <a:pt x="0" y="0"/>
                </a:moveTo>
                <a:lnTo>
                  <a:pt x="7200900" y="0"/>
                </a:lnTo>
              </a:path>
            </a:pathLst>
          </a:custGeom>
          <a:noFill/>
          <a:ln w="9525">
            <a:solidFill>
              <a:srgbClr val="0E1F3A">
                <a:alpha val="20000"/>
              </a:srgbClr>
            </a:solidFill>
          </a:ln>
        </p:spPr>
        <p:txBody>
          <a:bodyPr/>
          <a:p/>
        </p:txBody>
      </p:sp>
      <p:grpSp>
        <p:nvGrpSpPr>
          <p:cNvPr id="28" name="row-brand"/>
          <p:cNvGrpSpPr/>
          <p:nvPr/>
        </p:nvGrpSpPr>
        <p:grpSpPr>
          <a:xfrm>
            <a:off x="4374261" y="3994150"/>
            <a:ext cx="5918854" cy="492633"/>
            <a:chOff x="4374261" y="3994150"/>
            <a:chExt cx="5918854" cy="492633"/>
          </a:xfrm>
        </p:grpSpPr>
        <p:sp>
          <p:nvSpPr>
            <p:cNvPr id="26" name="TextBox 26"/>
            <p:cNvSpPr txBox="1"/>
            <p:nvPr/>
          </p:nvSpPr>
          <p:spPr>
            <a:xfrm>
              <a:off x="4374261" y="4013200"/>
              <a:ext cx="11819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brand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79642" y="3994150"/>
              <a:ext cx="4710743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full brand kit: colour and type tokens, logos, guidelines,</a:t>
              </a:r>
              <a:b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and templates for banners and social posts.</a:t>
              </a:r>
            </a:p>
          </p:txBody>
        </p:sp>
      </p:grpSp>
      <p:sp>
        <p:nvSpPr>
          <p:cNvPr id="29" name="Line 29"/>
          <p:cNvSpPr/>
          <p:nvPr/>
        </p:nvSpPr>
        <p:spPr>
          <a:xfrm>
            <a:off x="4381500" y="4648200"/>
            <a:ext cx="7200900" cy="9525"/>
          </a:xfrm>
          <a:custGeom>
            <a:avLst/>
            <a:gdLst/>
            <a:ahLst/>
            <a:cxnLst/>
            <a:rect l="l" t="t" r="r" b="b"/>
            <a:pathLst>
              <a:path w="7200900" h="9525">
                <a:moveTo>
                  <a:pt x="0" y="0"/>
                </a:moveTo>
                <a:lnTo>
                  <a:pt x="7200900" y="0"/>
                </a:lnTo>
              </a:path>
            </a:pathLst>
          </a:custGeom>
          <a:noFill/>
          <a:ln w="9525">
            <a:solidFill>
              <a:srgbClr val="0E1F3A">
                <a:alpha val="20000"/>
              </a:srgbClr>
            </a:solidFill>
          </a:ln>
        </p:spPr>
        <p:txBody>
          <a:bodyPr/>
          <a:p/>
        </p:txBody>
      </p:sp>
      <p:grpSp>
        <p:nvGrpSpPr>
          <p:cNvPr id="32" name="row-thinking"/>
          <p:cNvGrpSpPr/>
          <p:nvPr/>
        </p:nvGrpSpPr>
        <p:grpSpPr>
          <a:xfrm>
            <a:off x="4374261" y="4813300"/>
            <a:ext cx="5832169" cy="492633"/>
            <a:chOff x="4374261" y="4813300"/>
            <a:chExt cx="5832169" cy="492633"/>
          </a:xfrm>
        </p:grpSpPr>
        <p:sp>
          <p:nvSpPr>
            <p:cNvPr id="30" name="TextBox 30"/>
            <p:cNvSpPr txBox="1"/>
            <p:nvPr/>
          </p:nvSpPr>
          <p:spPr>
            <a:xfrm>
              <a:off x="4374261" y="4832350"/>
              <a:ext cx="14252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thinking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79642" y="4813300"/>
              <a:ext cx="461105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business plan, a target-client definition, market and</a:t>
              </a:r>
              <a:b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competitor research, and a log of every founder decision.</a:t>
              </a:r>
            </a:p>
          </p:txBody>
        </p:sp>
      </p:grpSp>
      <p:sp>
        <p:nvSpPr>
          <p:cNvPr id="33" name="Line 33"/>
          <p:cNvSpPr/>
          <p:nvPr/>
        </p:nvSpPr>
        <p:spPr>
          <a:xfrm>
            <a:off x="4381500" y="5467350"/>
            <a:ext cx="7200900" cy="9525"/>
          </a:xfrm>
          <a:custGeom>
            <a:avLst/>
            <a:gdLst/>
            <a:ahLst/>
            <a:cxnLst/>
            <a:rect l="l" t="t" r="r" b="b"/>
            <a:pathLst>
              <a:path w="7200900" h="9525">
                <a:moveTo>
                  <a:pt x="0" y="0"/>
                </a:moveTo>
                <a:lnTo>
                  <a:pt x="7200900" y="0"/>
                </a:lnTo>
              </a:path>
            </a:pathLst>
          </a:custGeom>
          <a:noFill/>
          <a:ln w="9525">
            <a:solidFill>
              <a:srgbClr val="0E1F3A">
                <a:alpha val="20000"/>
              </a:srgbClr>
            </a:solidFill>
          </a:ln>
        </p:spPr>
        <p:txBody>
          <a:bodyPr/>
          <a:p/>
        </p:txBody>
      </p:sp>
      <p:grpSp>
        <p:nvGrpSpPr>
          <p:cNvPr id="36" name="row-tooling"/>
          <p:cNvGrpSpPr/>
          <p:nvPr/>
        </p:nvGrpSpPr>
        <p:grpSpPr>
          <a:xfrm>
            <a:off x="4374261" y="5632450"/>
            <a:ext cx="5946869" cy="492633"/>
            <a:chOff x="4374261" y="5632450"/>
            <a:chExt cx="5946869" cy="492633"/>
          </a:xfrm>
        </p:grpSpPr>
        <p:sp>
          <p:nvSpPr>
            <p:cNvPr id="34" name="TextBox 34"/>
            <p:cNvSpPr txBox="1"/>
            <p:nvPr/>
          </p:nvSpPr>
          <p:spPr>
            <a:xfrm>
              <a:off x="4374261" y="5651500"/>
              <a:ext cx="13029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42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The tooling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79642" y="5632450"/>
              <a:ext cx="474296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A skill that runs blind contests between approaches, and a</a:t>
              </a:r>
              <a:b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router that picks the cheapest model good enough per task.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604838" y="6438900"/>
            <a:ext cx="10982324" cy="290512"/>
            <a:chOff x="604838" y="6438900"/>
            <a:chExt cx="10982324" cy="290512"/>
          </a:xfrm>
        </p:grpSpPr>
        <p:sp>
          <p:nvSpPr>
            <p:cNvPr id="37" name="Line 37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 cap="rnd">
              <a:solidFill>
                <a:srgbClr val="4A5F80">
                  <a:alpha val="60000"/>
                </a:srgbClr>
              </a:solidFill>
              <a:custDash>
                <a:ds d="33333" sp="266667"/>
              </a:custDash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604838" y="6553200"/>
              <a:ext cx="21349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00" b="1" spc="15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KNOCK | CASE STUDY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915523" y="6553200"/>
              <a:ext cx="6716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" sz="900" b="1" spc="15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11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361950"/>
            <a:ext cx="4584591" cy="902716"/>
            <a:chOff x="595884" y="361950"/>
            <a:chExt cx="4584591" cy="902716"/>
          </a:xfrm>
        </p:grpSpPr>
        <p:sp>
          <p:nvSpPr>
            <p:cNvPr id="2" name="Rectangle 2"/>
            <p:cNvSpPr/>
            <p:nvPr/>
          </p:nvSpPr>
          <p:spPr>
            <a:xfrm>
              <a:off x="609600" y="361950"/>
              <a:ext cx="381000" cy="381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TextBox 3"/>
            <p:cNvSpPr txBox="1"/>
            <p:nvPr/>
          </p:nvSpPr>
          <p:spPr>
            <a:xfrm>
              <a:off x="604647" y="501650"/>
              <a:ext cx="254036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11 WHAT COMES NEXT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5884" y="736600"/>
              <a:ext cx="536752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27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What comes next, in order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609600" y="1562100"/>
            <a:ext cx="3429000" cy="609600"/>
          </a:xfrm>
          <a:prstGeom prst="homePlate">
            <a:avLst>
              <a:gd name="adj" fmla="val 30000"/>
            </a:avLst>
          </a:prstGeom>
          <a:solidFill>
            <a:srgbClr val="B3301B"/>
          </a:solidFill>
          <a:ln>
            <a:noFill/>
          </a:ln>
        </p:spPr>
        <p:txBody>
          <a:bodyPr/>
          <a:p/>
        </p:txBody>
      </p:sp>
      <p:sp>
        <p:nvSpPr>
          <p:cNvPr id="7" name="Freeform 7"/>
          <p:cNvSpPr/>
          <p:nvPr/>
        </p:nvSpPr>
        <p:spPr>
          <a:xfrm>
            <a:off x="4229100" y="1562100"/>
            <a:ext cx="3429000" cy="609600"/>
          </a:xfrm>
          <a:prstGeom prst="homePlate">
            <a:avLst>
              <a:gd name="adj" fmla="val 30000"/>
            </a:avLst>
          </a:prstGeom>
          <a:solidFill>
            <a:srgbClr val="0E1F3A"/>
          </a:solidFill>
          <a:ln>
            <a:noFill/>
          </a:ln>
        </p:spPr>
        <p:txBody>
          <a:bodyPr/>
          <a:p/>
        </p:txBody>
      </p:sp>
      <p:sp>
        <p:nvSpPr>
          <p:cNvPr id="8" name="Freeform 8"/>
          <p:cNvSpPr/>
          <p:nvPr/>
        </p:nvSpPr>
        <p:spPr>
          <a:xfrm>
            <a:off x="7848600" y="1562100"/>
            <a:ext cx="3429000" cy="609600"/>
          </a:xfrm>
          <a:prstGeom prst="homePlate">
            <a:avLst>
              <a:gd name="adj" fmla="val 30000"/>
            </a:avLst>
          </a:prstGeom>
          <a:solidFill>
            <a:srgbClr val="0E1F3A"/>
          </a:solidFill>
          <a:ln>
            <a:noFill/>
          </a:ln>
        </p:spPr>
        <p:txBody>
          <a:bodyPr/>
          <a:p/>
        </p:txBody>
      </p:sp>
      <p:grpSp>
        <p:nvGrpSpPr>
          <p:cNvPr id="12" name="stage-labels"/>
          <p:cNvGrpSpPr/>
          <p:nvPr/>
        </p:nvGrpSpPr>
        <p:grpSpPr>
          <a:xfrm>
            <a:off x="831723" y="1771650"/>
            <a:ext cx="9739898" cy="250317"/>
            <a:chOff x="831723" y="1771650"/>
            <a:chExt cx="9739898" cy="250317"/>
          </a:xfrm>
        </p:grpSpPr>
        <p:sp>
          <p:nvSpPr>
            <p:cNvPr id="9" name="TextBox 9"/>
            <p:cNvSpPr txBox="1"/>
            <p:nvPr/>
          </p:nvSpPr>
          <p:spPr>
            <a:xfrm>
              <a:off x="831723" y="1771650"/>
              <a:ext cx="202139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spc="150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NOW: PROVE IT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51223" y="1771650"/>
              <a:ext cx="279674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spc="150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NEXT: FIRST CLIENTS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70723" y="1771650"/>
              <a:ext cx="297128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280" b="1" spc="150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LATER: SCALE SAFELY</a:t>
              </a:r>
            </a:p>
          </p:txBody>
        </p:sp>
      </p:grpSp>
      <p:grpSp>
        <p:nvGrpSpPr>
          <p:cNvPr id="21" name="stage-1-items"/>
          <p:cNvGrpSpPr/>
          <p:nvPr/>
        </p:nvGrpSpPr>
        <p:grpSpPr>
          <a:xfrm>
            <a:off x="647700" y="2463800"/>
            <a:ext cx="2898862" cy="1845183"/>
            <a:chOff x="647700" y="2463800"/>
            <a:chExt cx="2898862" cy="1845183"/>
          </a:xfrm>
        </p:grpSpPr>
        <p:sp>
          <p:nvSpPr>
            <p:cNvPr id="13" name="Rectangle 13"/>
            <p:cNvSpPr/>
            <p:nvPr/>
          </p:nvSpPr>
          <p:spPr>
            <a:xfrm>
              <a:off x="647700" y="254317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831342" y="2463800"/>
              <a:ext cx="2662450" cy="483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Run the full pipeline on one real</a:t>
              </a:r>
              <a:b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candidate and read every edit.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47700" y="31432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831342" y="3063875"/>
              <a:ext cx="2941757" cy="483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Measure true cost and founder time</a:t>
              </a:r>
              <a:b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per message, then tune the prompts.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47700" y="374332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831342" y="3663950"/>
              <a:ext cx="31193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Offer a free pilot to student clubs.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47700" y="412432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TextBox 20"/>
            <p:cNvSpPr txBox="1"/>
            <p:nvPr/>
          </p:nvSpPr>
          <p:spPr>
            <a:xfrm>
              <a:off x="831342" y="4044950"/>
              <a:ext cx="32177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Finalise terms and consent notices.</a:t>
              </a:r>
            </a:p>
          </p:txBody>
        </p:sp>
      </p:grpSp>
      <p:grpSp>
        <p:nvGrpSpPr>
          <p:cNvPr id="30" name="stage-2-items"/>
          <p:cNvGrpSpPr/>
          <p:nvPr/>
        </p:nvGrpSpPr>
        <p:grpSpPr>
          <a:xfrm>
            <a:off x="4267200" y="2463800"/>
            <a:ext cx="2802904" cy="2064258"/>
            <a:chOff x="4267200" y="2463800"/>
            <a:chExt cx="2802904" cy="2064258"/>
          </a:xfrm>
        </p:grpSpPr>
        <p:sp>
          <p:nvSpPr>
            <p:cNvPr id="22" name="Rectangle 22"/>
            <p:cNvSpPr/>
            <p:nvPr/>
          </p:nvSpPr>
          <p:spPr>
            <a:xfrm>
              <a:off x="4267200" y="254317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4450842" y="2463800"/>
              <a:ext cx="2558384" cy="483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Take the first paying clients on</a:t>
              </a:r>
              <a:b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self-send delivery.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267200" y="31432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4450842" y="3063875"/>
              <a:ext cx="2843488" cy="483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Publish only measured, consented,</a:t>
              </a:r>
              <a:b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anonymised results.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267200" y="374332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7" name="TextBox 27"/>
            <p:cNvSpPr txBox="1"/>
            <p:nvPr/>
          </p:nvSpPr>
          <p:spPr>
            <a:xfrm>
              <a:off x="4450842" y="3663950"/>
              <a:ext cx="3107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Design guarantees from real data.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267200" y="412432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4450842" y="4044950"/>
              <a:ext cx="2930676" cy="483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Build a client portal to approve,</a:t>
              </a:r>
              <a:b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copy, paste replies, mark outcomes.</a:t>
              </a:r>
            </a:p>
          </p:txBody>
        </p:sp>
      </p:grpSp>
      <p:grpSp>
        <p:nvGrpSpPr>
          <p:cNvPr id="39" name="stage-3-items"/>
          <p:cNvGrpSpPr/>
          <p:nvPr/>
        </p:nvGrpSpPr>
        <p:grpSpPr>
          <a:xfrm>
            <a:off x="7886700" y="2463800"/>
            <a:ext cx="3154806" cy="2064258"/>
            <a:chOff x="7886700" y="2463800"/>
            <a:chExt cx="3154806" cy="2064258"/>
          </a:xfrm>
        </p:grpSpPr>
        <p:sp>
          <p:nvSpPr>
            <p:cNvPr id="31" name="Rectangle 31"/>
            <p:cNvSpPr/>
            <p:nvPr/>
          </p:nvSpPr>
          <p:spPr>
            <a:xfrm>
              <a:off x="7886700" y="2543175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8070342" y="2463800"/>
              <a:ext cx="2716551" cy="483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Legal review before offering any</a:t>
              </a:r>
              <a:b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automation tier.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86700" y="31432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8070342" y="3063875"/>
              <a:ext cx="351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Complete data-protection compliance.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886700" y="35242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" name="TextBox 36"/>
            <p:cNvSpPr txBox="1"/>
            <p:nvPr/>
          </p:nvSpPr>
          <p:spPr>
            <a:xfrm>
              <a:off x="8070342" y="3444875"/>
              <a:ext cx="32004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Train an operator on the playbook.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886700" y="3905250"/>
              <a:ext cx="76200" cy="762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8070342" y="3825875"/>
              <a:ext cx="2541743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Turn the self-send flow into a</a:t>
              </a:r>
              <a:b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self-serve product, keeping the</a:t>
              </a:r>
              <a:b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0E1F3A"/>
                  </a:solidFill>
                  <a:latin typeface="+mn-lt"/>
                  <a:ea typeface="+mn-ea"/>
                  <a:cs typeface="+mn-cs"/>
                </a:rPr>
                <a:t>service as the premium tier.</a:t>
              </a:r>
            </a:p>
          </p:txBody>
        </p:sp>
      </p:grpSp>
      <p:grpSp>
        <p:nvGrpSpPr>
          <p:cNvPr id="43" name="north-star"/>
          <p:cNvGrpSpPr/>
          <p:nvPr/>
        </p:nvGrpSpPr>
        <p:grpSpPr>
          <a:xfrm>
            <a:off x="609600" y="5219700"/>
            <a:ext cx="10972800" cy="914400"/>
            <a:chOff x="609600" y="5219700"/>
            <a:chExt cx="10972800" cy="914400"/>
          </a:xfrm>
        </p:grpSpPr>
        <p:sp>
          <p:nvSpPr>
            <p:cNvPr id="40" name="Rectangle 40"/>
            <p:cNvSpPr/>
            <p:nvPr/>
          </p:nvSpPr>
          <p:spPr>
            <a:xfrm>
              <a:off x="609600" y="5219700"/>
              <a:ext cx="10972800" cy="914400"/>
            </a:xfrm>
            <a:prstGeom prst="rect">
              <a:avLst/>
            </a:prstGeom>
            <a:solidFill>
              <a:srgbClr val="0E1F3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" name="TextBox 41"/>
            <p:cNvSpPr txBox="1"/>
            <p:nvPr/>
          </p:nvSpPr>
          <p:spPr>
            <a:xfrm>
              <a:off x="867156" y="5391150"/>
              <a:ext cx="4337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800" b="1" dirty="0">
                  <a:solidFill>
                    <a:srgbClr val="EEF3F8"/>
                  </a:solidFill>
                  <a:latin typeface="+mj-lt"/>
                  <a:ea typeface="+mj-ea"/>
                  <a:cs typeface="+mj-cs"/>
                </a:rPr>
                <a:t>One question judges every step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9061" y="5727700"/>
              <a:ext cx="9726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420" dirty="0">
                  <a:solidFill>
                    <a:srgbClr val="BFD0E6"/>
                  </a:solidFill>
                  <a:latin typeface="+mn-lt"/>
                  <a:ea typeface="+mn-ea"/>
                  <a:cs typeface="+mn-cs"/>
                </a:rPr>
                <a:t>Does this get the candidate into more real conversations, measured as interviews per targeted prospect?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604838" y="6438900"/>
            <a:ext cx="10982324" cy="290512"/>
            <a:chOff x="604838" y="6438900"/>
            <a:chExt cx="10982324" cy="290512"/>
          </a:xfrm>
        </p:grpSpPr>
        <p:sp>
          <p:nvSpPr>
            <p:cNvPr id="44" name="Line 44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 cap="rnd">
              <a:solidFill>
                <a:srgbClr val="4A5F80">
                  <a:alpha val="60000"/>
                </a:srgbClr>
              </a:solidFill>
              <a:custDash>
                <a:ds d="33333" sp="266667"/>
              </a:custDash>
            </a:ln>
          </p:spPr>
          <p:txBody>
            <a:bodyPr/>
            <a:p/>
          </p:txBody>
        </p:sp>
        <p:sp>
          <p:nvSpPr>
            <p:cNvPr id="45" name="TextBox 45"/>
            <p:cNvSpPr txBox="1"/>
            <p:nvPr/>
          </p:nvSpPr>
          <p:spPr>
            <a:xfrm>
              <a:off x="604838" y="6553200"/>
              <a:ext cx="21349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00" b="1" spc="15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KNOCK | CASE STUDY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915523" y="6553200"/>
              <a:ext cx="6716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r"/>
              <a:r>
                <a:rPr lang="en" sz="900" b="1" spc="150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12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irmail-band"/>
          <p:cNvGrpSpPr/>
          <p:nvPr/>
        </p:nvGrpSpPr>
        <p:grpSpPr>
          <a:xfrm>
            <a:off x="0" y="6705600"/>
            <a:ext cx="12192000" cy="9525"/>
            <a:chOff x="0" y="6705600"/>
            <a:chExt cx="12192000" cy="9525"/>
          </a:xfrm>
        </p:grpSpPr>
        <p:sp>
          <p:nvSpPr>
            <p:cNvPr id="2" name="Line 2"/>
            <p:cNvSpPr/>
            <p:nvPr/>
          </p:nvSpPr>
          <p:spPr>
            <a:xfrm>
              <a:off x="0" y="6705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114300">
              <a:solidFill>
                <a:srgbClr val="B3301B"/>
              </a:solidFill>
              <a:custDash>
                <a:ds d="266667" sp="266667"/>
              </a:custDash>
            </a:ln>
          </p:spPr>
          <p:txBody>
            <a:bodyPr/>
            <a:p/>
          </p:txBody>
        </p:sp>
        <p:sp>
          <p:nvSpPr>
            <p:cNvPr id="3" name="Line 3"/>
            <p:cNvSpPr/>
            <p:nvPr/>
          </p:nvSpPr>
          <p:spPr>
            <a:xfrm>
              <a:off x="304800" y="6705600"/>
              <a:ext cx="11887200" cy="9525"/>
            </a:xfrm>
            <a:custGeom>
              <a:avLst/>
              <a:gdLst/>
              <a:ahLst/>
              <a:cxnLst/>
              <a:rect l="l" t="t" r="r" b="b"/>
              <a:pathLst>
                <a:path w="11887200" h="9525">
                  <a:moveTo>
                    <a:pt x="0" y="0"/>
                  </a:moveTo>
                  <a:lnTo>
                    <a:pt x="11887200" y="0"/>
                  </a:lnTo>
                </a:path>
              </a:pathLst>
            </a:custGeom>
            <a:noFill/>
            <a:ln w="114300">
              <a:solidFill>
                <a:srgbClr val="A9C7E6"/>
              </a:solidFill>
              <a:custDash>
                <a:ds d="266667" sp="266667"/>
              </a:custDash>
            </a:ln>
          </p:spPr>
          <p:txBody>
            <a:bodyPr/>
            <a:p/>
          </p:txBody>
        </p:sp>
      </p:grpSp>
      <p:grpSp>
        <p:nvGrpSpPr>
          <p:cNvPr id="7" name="closing-title"/>
          <p:cNvGrpSpPr/>
          <p:nvPr/>
        </p:nvGrpSpPr>
        <p:grpSpPr>
          <a:xfrm>
            <a:off x="666750" y="787400"/>
            <a:ext cx="3657638" cy="1905000"/>
            <a:chOff x="666750" y="787400"/>
            <a:chExt cx="3657638" cy="1905000"/>
          </a:xfrm>
        </p:grpSpPr>
        <p:sp>
          <p:nvSpPr>
            <p:cNvPr id="5" name="TextBox 5"/>
            <p:cNvSpPr txBox="1"/>
            <p:nvPr/>
          </p:nvSpPr>
          <p:spPr>
            <a:xfrm>
              <a:off x="680847" y="787400"/>
              <a:ext cx="283640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A9C7E6"/>
                  </a:solidFill>
                  <a:latin typeface="+mj-lt"/>
                  <a:ea typeface="+mj-ea"/>
                  <a:cs typeface="+mj-cs"/>
                </a:rPr>
                <a:t>WHAT THIS CASE SHOWS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1187450"/>
              <a:ext cx="4301533" cy="1504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4950"/>
                </a:lnSpc>
              </a:pPr>
              <a:r>
                <a:rPr lang="en" sz="4500" b="1" dirty="0">
                  <a:solidFill>
                    <a:srgbClr val="EEF3F8"/>
                  </a:solidFill>
                  <a:latin typeface="+mj-lt"/>
                  <a:ea typeface="+mj-ea"/>
                  <a:cs typeface="+mj-cs"/>
                </a:rPr>
                <a:t>Knock on the</a:t>
              </a:r>
              <a:br>
                <a:rPr lang="en" sz="4500" b="1" dirty="0">
                  <a:solidFill>
                    <a:srgbClr val="EEF3F8"/>
                  </a:solidFill>
                  <a:latin typeface="+mj-lt"/>
                  <a:ea typeface="+mj-ea"/>
                  <a:cs typeface="+mj-cs"/>
                </a:rPr>
              </a:br>
              <a:r>
                <a:rPr lang="en" sz="4500" b="1" dirty="0">
                  <a:solidFill>
                    <a:srgbClr val="EEF3F8"/>
                  </a:solidFill>
                  <a:latin typeface="+mj-lt"/>
                  <a:ea typeface="+mj-ea"/>
                  <a:cs typeface="+mj-cs"/>
                </a:rPr>
                <a:t>right door.</a:t>
              </a:r>
            </a:p>
          </p:txBody>
        </p:sp>
      </p:grpSp>
      <p:grpSp>
        <p:nvGrpSpPr>
          <p:cNvPr id="17" name="shows-list"/>
          <p:cNvGrpSpPr/>
          <p:nvPr/>
        </p:nvGrpSpPr>
        <p:grpSpPr>
          <a:xfrm>
            <a:off x="678180" y="2762250"/>
            <a:ext cx="5989320" cy="3182620"/>
            <a:chOff x="678180" y="2762250"/>
            <a:chExt cx="5989320" cy="3182620"/>
          </a:xfrm>
        </p:grpSpPr>
        <p:sp>
          <p:nvSpPr>
            <p:cNvPr id="8" name="Line 8"/>
            <p:cNvSpPr/>
            <p:nvPr/>
          </p:nvSpPr>
          <p:spPr>
            <a:xfrm>
              <a:off x="685800" y="2762250"/>
              <a:ext cx="5981700" cy="9525"/>
            </a:xfrm>
            <a:custGeom>
              <a:avLst/>
              <a:gdLst/>
              <a:ahLst/>
              <a:cxnLst/>
              <a:rect l="l" t="t" r="r" b="b"/>
              <a:pathLst>
                <a:path w="5981700" h="9525">
                  <a:moveTo>
                    <a:pt x="0" y="0"/>
                  </a:moveTo>
                  <a:lnTo>
                    <a:pt x="5981700" y="0"/>
                  </a:lnTo>
                </a:path>
              </a:pathLst>
            </a:custGeom>
            <a:noFill/>
            <a:ln w="28575" cap="rnd">
              <a:solidFill>
                <a:srgbClr val="A9C7E6">
                  <a:alpha val="50000"/>
                </a:srgbClr>
              </a:solidFill>
              <a:custDash>
                <a:ds d="33333" sp="266667"/>
              </a:custDash>
            </a:ln>
          </p:spPr>
          <p:txBody>
            <a:bodyPr/>
            <a:p/>
          </p:txBody>
        </p:sp>
        <p:sp>
          <p:nvSpPr>
            <p:cNvPr id="9" name="TextBox 9"/>
            <p:cNvSpPr txBox="1"/>
            <p:nvPr/>
          </p:nvSpPr>
          <p:spPr>
            <a:xfrm>
              <a:off x="678942" y="3016250"/>
              <a:ext cx="12328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E8705A"/>
                  </a:solidFill>
                  <a:latin typeface="+mj-lt"/>
                  <a:ea typeface="+mj-ea"/>
                  <a:cs typeface="+mj-cs"/>
                </a:rPr>
                <a:t>Judgement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180" y="3251200"/>
              <a:ext cx="60123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EEF3F8"/>
                  </a:solidFill>
                  <a:latin typeface="+mn-lt"/>
                  <a:ea typeface="+mn-ea"/>
                  <a:cs typeface="+mn-cs"/>
                </a:rPr>
                <a:t>Product decisions with reasons, including what not to build.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942" y="3816350"/>
              <a:ext cx="9777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A9C7E6"/>
                  </a:solidFill>
                  <a:latin typeface="+mj-lt"/>
                  <a:ea typeface="+mj-ea"/>
                  <a:cs typeface="+mj-cs"/>
                </a:rPr>
                <a:t>Systems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180" y="4051300"/>
              <a:ext cx="68438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EEF3F8"/>
                  </a:solidFill>
                  <a:latin typeface="+mn-lt"/>
                  <a:ea typeface="+mn-ea"/>
                  <a:cs typeface="+mn-cs"/>
                </a:rPr>
                <a:t>Research, writing, approval, sending and learning, wired end to end.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942" y="4616450"/>
              <a:ext cx="15451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A9C7E6"/>
                  </a:solidFill>
                  <a:latin typeface="+mj-lt"/>
                  <a:ea typeface="+mj-ea"/>
                  <a:cs typeface="+mj-cs"/>
                </a:rPr>
                <a:t>Responsibility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851400"/>
              <a:ext cx="58962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EEF3F8"/>
                  </a:solidFill>
                  <a:latin typeface="+mn-lt"/>
                  <a:ea typeface="+mn-ea"/>
                  <a:cs typeface="+mn-cs"/>
                </a:rPr>
                <a:t>Safety, consent and honesty designed in from the first day.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8942" y="5416550"/>
              <a:ext cx="1035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350" b="1" dirty="0">
                  <a:solidFill>
                    <a:srgbClr val="A9C7E6"/>
                  </a:solidFill>
                  <a:latin typeface="+mj-lt"/>
                  <a:ea typeface="+mj-ea"/>
                  <a:cs typeface="+mj-cs"/>
                </a:rPr>
                <a:t>Evidence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8180" y="5651500"/>
              <a:ext cx="56154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EEF3F8"/>
                  </a:solidFill>
                  <a:latin typeface="+mn-lt"/>
                  <a:ea typeface="+mn-ea"/>
                  <a:cs typeface="+mn-cs"/>
                </a:rPr>
                <a:t>Choices tested in blind competitions rather than argued.</a:t>
              </a:r>
            </a:p>
          </p:txBody>
        </p:sp>
      </p:grpSp>
      <p:grpSp>
        <p:nvGrpSpPr>
          <p:cNvPr id="37" name="contact-letter"/>
          <p:cNvGrpSpPr/>
          <p:nvPr/>
        </p:nvGrpSpPr>
        <p:grpSpPr>
          <a:xfrm>
            <a:off x="7620000" y="914400"/>
            <a:ext cx="3886200" cy="5143500"/>
            <a:chOff x="7620000" y="914400"/>
            <a:chExt cx="3886200" cy="5143500"/>
          </a:xfrm>
        </p:grpSpPr>
        <p:sp>
          <p:nvSpPr>
            <p:cNvPr id="18" name="Rectangle 18"/>
            <p:cNvSpPr/>
            <p:nvPr/>
          </p:nvSpPr>
          <p:spPr>
            <a:xfrm>
              <a:off x="7620000" y="914400"/>
              <a:ext cx="3886200" cy="5143500"/>
            </a:xfrm>
            <a:prstGeom prst="rect">
              <a:avLst/>
            </a:prstGeom>
            <a:solidFill>
              <a:srgbClr val="FAFCFE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stamp-red"/>
            <p:cNvSpPr/>
            <p:nvPr/>
          </p:nvSpPr>
          <p:spPr>
            <a:xfrm>
              <a:off x="10306050" y="1143000"/>
              <a:ext cx="971550" cy="1181100"/>
            </a:xfrm>
            <a:prstGeom prst="rect">
              <a:avLst/>
            </a:prstGeom>
            <a:solidFill>
              <a:srgbClr val="B3301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0" name="stamp-perforation"/>
            <p:cNvSpPr/>
            <p:nvPr/>
          </p:nvSpPr>
          <p:spPr>
            <a:xfrm>
              <a:off x="10306050" y="1143000"/>
              <a:ext cx="971550" cy="1181100"/>
            </a:xfrm>
            <a:prstGeom prst="rect">
              <a:avLst/>
            </a:prstGeom>
            <a:noFill/>
            <a:ln w="57150">
              <a:solidFill>
                <a:srgbClr val="FAFCFE"/>
              </a:solidFill>
              <a:custDash>
                <a:ds d="83333" sp="116667"/>
              </a:custDash>
            </a:ln>
          </p:spPr>
          <p:txBody>
            <a:bodyPr/>
            <a:p/>
          </p:txBody>
        </p:sp>
        <p:sp>
          <p:nvSpPr>
            <p:cNvPr id="21" name="Ellipse 21"/>
            <p:cNvSpPr/>
            <p:nvPr/>
          </p:nvSpPr>
          <p:spPr>
            <a:xfrm>
              <a:off x="10639425" y="1428750"/>
              <a:ext cx="304800" cy="304800"/>
            </a:xfrm>
            <a:prstGeom prst="ellipse">
              <a:avLst/>
            </a:prstGeom>
            <a:noFill/>
            <a:ln w="38100">
              <a:solidFill>
                <a:srgbClr val="FAFCFE"/>
              </a:solidFill>
            </a:ln>
          </p:spPr>
          <p:txBody>
            <a:bodyPr/>
            <a:p/>
          </p:txBody>
        </p:sp>
        <p:sp>
          <p:nvSpPr>
            <p:cNvPr id="22" name="Rectangle 22"/>
            <p:cNvSpPr/>
            <p:nvPr/>
          </p:nvSpPr>
          <p:spPr>
            <a:xfrm>
              <a:off x="10734675" y="1733550"/>
              <a:ext cx="114300" cy="95250"/>
            </a:xfrm>
            <a:prstGeom prst="rect">
              <a:avLst/>
            </a:prstGeom>
            <a:solidFill>
              <a:srgbClr val="FAFCFE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10282397" y="1987550"/>
              <a:ext cx="10188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1350" b="1" spc="150" dirty="0">
                  <a:solidFill>
                    <a:srgbClr val="FAFCFE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9525000" y="1428750"/>
              <a:ext cx="762000" cy="762000"/>
            </a:xfrm>
            <a:prstGeom prst="ellipse">
              <a:avLst/>
            </a:prstGeom>
            <a:noFill/>
            <a:ln w="28575">
              <a:solidFill>
                <a:srgbClr val="0E1F3A">
                  <a:alpha val="50000"/>
                </a:srgbClr>
              </a:solidFill>
            </a:ln>
          </p:spPr>
          <p:txBody>
            <a:bodyPr/>
            <a:p/>
          </p:txBody>
        </p:sp>
        <p:sp>
          <p:nvSpPr>
            <p:cNvPr id="25" name="Ellipse 25"/>
            <p:cNvSpPr/>
            <p:nvPr/>
          </p:nvSpPr>
          <p:spPr>
            <a:xfrm>
              <a:off x="9601200" y="1504950"/>
              <a:ext cx="609600" cy="609600"/>
            </a:xfrm>
            <a:prstGeom prst="ellipse">
              <a:avLst/>
            </a:prstGeom>
            <a:noFill/>
            <a:ln w="14288">
              <a:solidFill>
                <a:srgbClr val="0E1F3A">
                  <a:alpha val="50000"/>
                </a:srgbClr>
              </a:solidFill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9546560" y="1755775"/>
              <a:ext cx="7188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" sz="820" b="1" spc="75" dirty="0">
                  <a:solidFill>
                    <a:srgbClr val="0E1F3A">
                      <a:alphaMod val="65000"/>
                    </a:srgbClr>
                  </a:solidFill>
                  <a:latin typeface="+mj-lt"/>
                  <a:ea typeface="+mj-ea"/>
                  <a:cs typeface="+mj-cs"/>
                </a:rPr>
                <a:t>MUMBAI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10344150" y="133350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28575">
              <a:solidFill>
                <a:srgbClr val="0E1F3A">
                  <a:alpha val="35000"/>
                </a:srgbClr>
              </a:solidFill>
            </a:ln>
          </p:spPr>
          <p:txBody>
            <a:bodyPr/>
            <a:p/>
          </p:txBody>
        </p:sp>
        <p:sp>
          <p:nvSpPr>
            <p:cNvPr id="28" name="Line 28"/>
            <p:cNvSpPr/>
            <p:nvPr/>
          </p:nvSpPr>
          <p:spPr>
            <a:xfrm>
              <a:off x="10344150" y="152400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28575">
              <a:solidFill>
                <a:srgbClr val="0E1F3A">
                  <a:alpha val="35000"/>
                </a:srgbClr>
              </a:solidFill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7900797" y="3111500"/>
              <a:ext cx="6889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FROM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93558" y="3384550"/>
              <a:ext cx="9400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240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Heet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97749" y="3790950"/>
              <a:ext cx="205634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580" i="1" dirty="0">
                  <a:solidFill>
                    <a:srgbClr val="2B4266"/>
                  </a:solidFill>
                  <a:latin typeface="+mn-lt"/>
                  <a:ea typeface="+mn-ea"/>
                  <a:cs typeface="+mn-cs"/>
                </a:rPr>
                <a:t>Founder, Mumbai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7905750" y="4248150"/>
              <a:ext cx="3314700" cy="9525"/>
            </a:xfrm>
            <a:custGeom>
              <a:avLst/>
              <a:gdLst/>
              <a:ahLst/>
              <a:cxnLst/>
              <a:rect l="l" t="t" r="r" b="b"/>
              <a:pathLst>
                <a:path w="3314700" h="9525">
                  <a:moveTo>
                    <a:pt x="0" y="0"/>
                  </a:moveTo>
                  <a:lnTo>
                    <a:pt x="3314700" y="0"/>
                  </a:lnTo>
                </a:path>
              </a:pathLst>
            </a:custGeom>
            <a:noFill/>
            <a:ln w="19050">
              <a:solidFill>
                <a:srgbClr val="A9C7E6"/>
              </a:solidFill>
            </a:ln>
          </p:spPr>
          <p:txBody>
            <a:bodyPr/>
            <a:p/>
          </p:txBody>
        </p:sp>
        <p:sp>
          <p:nvSpPr>
            <p:cNvPr id="33" name="TextBox 33"/>
            <p:cNvSpPr txBox="1"/>
            <p:nvPr/>
          </p:nvSpPr>
          <p:spPr>
            <a:xfrm>
              <a:off x="7900797" y="4502150"/>
              <a:ext cx="7525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EMAIL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97368" y="4730750"/>
              <a:ext cx="1066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0E1F3A"/>
                  </a:solidFill>
                  <a:latin typeface="+mj-lt"/>
                  <a:ea typeface="+mj-ea"/>
                  <a:cs typeface="+mj-cs"/>
                </a:rPr>
                <a:t>&lt;email&gt;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00797" y="5226050"/>
              <a:ext cx="11581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980" b="1" spc="225" dirty="0">
                  <a:solidFill>
                    <a:srgbClr val="4A5F80"/>
                  </a:solidFill>
                  <a:latin typeface="+mj-lt"/>
                  <a:ea typeface="+mj-ea"/>
                  <a:cs typeface="+mj-cs"/>
                </a:rPr>
                <a:t>LIVE SITE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98130" y="5467350"/>
              <a:ext cx="32359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B3301B"/>
                  </a:solidFill>
                  <a:latin typeface="+mj-lt"/>
                  <a:ea typeface="+mj-ea"/>
                  <a:cs typeface="+mj-cs"/>
                </a:rPr>
                <a:t>knock-eosin-beta.vercel.app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knock-case-study">
  <a:themeElements>
    <a:clrScheme name="knock-case-study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nock-case-stud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nock-case-stu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</dc:language>
  <cp:lastModifiedBy/>
  <cp:revision>1</cp:revision>
  <dcterms:created xsi:type="dcterms:W3CDTF">2026-10-05T00:45:49Z</dcterms:created>
  <dcterms:modified xsi:type="dcterms:W3CDTF">2026-10-05T00:45:49Z</dcterms:modified>
  <cp:category/>
  <cp:contentStatus/>
</cp:coreProperties>
</file>