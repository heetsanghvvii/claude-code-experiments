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-backen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-backen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85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</p:sp>
      <p:sp>
        <p:nvSpPr>
          <p:cNvPr id="3" name="Line 3"/>
          <p:cNvSpPr/>
          <p:nvPr/>
        </p:nvSpPr>
        <p:spPr>
          <a:xfrm>
            <a:off x="762000" y="59245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</p:sp>
      <p:grpSp>
        <p:nvGrpSpPr>
          <p:cNvPr id="6" name="cover-title"/>
          <p:cNvGrpSpPr/>
          <p:nvPr/>
        </p:nvGrpSpPr>
        <p:grpSpPr>
          <a:xfrm>
            <a:off x="742950" y="1689100"/>
            <a:ext cx="4808852" cy="2755900"/>
            <a:chOff x="742950" y="1689100"/>
            <a:chExt cx="4808852" cy="2755900"/>
          </a:xfrm>
        </p:grpSpPr>
        <p:sp>
          <p:nvSpPr>
            <p:cNvPr id="4" name="TextBox 4"/>
            <p:cNvSpPr txBox="1"/>
            <p:nvPr/>
          </p:nvSpPr>
          <p:spPr>
            <a:xfrm>
              <a:off x="756285" y="1689100"/>
              <a:ext cx="3923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BACKEND · PRODUCT AND TECHNOLOGY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2216150"/>
              <a:ext cx="4808852" cy="2228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050"/>
                </a:lnSpc>
              </a:pP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</a:t>
              </a:r>
              <a:b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hook.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752094" y="4349750"/>
            <a:ext cx="4526398" cy="1467231"/>
            <a:chOff x="752094" y="4349750"/>
            <a:chExt cx="4526398" cy="1467231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4349750"/>
              <a:ext cx="4526398" cy="1467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How the engine finds the right people at a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candidate's target companies, researches each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one, and writes the first message. A person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approves it before it sends.</a:t>
              </a:r>
            </a:p>
          </p:txBody>
        </p:sp>
      </p:grpSp>
      <p:grpSp>
        <p:nvGrpSpPr>
          <p:cNvPr id="25" name="stamp"/>
          <p:cNvGrpSpPr/>
          <p:nvPr/>
        </p:nvGrpSpPr>
        <p:grpSpPr>
          <a:xfrm rot="180000">
            <a:off x="8008013" y="1318718"/>
            <a:ext cx="3438525" cy="4305300"/>
            <a:chOff x="8029575" y="1333500"/>
            <a:chExt cx="3438525" cy="4305300"/>
          </a:xfrm>
        </p:grpSpPr>
        <p:sp>
          <p:nvSpPr>
            <p:cNvPr id="9" name="Rectangle 9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noFill/>
            <a:ln w="95250">
              <a:solidFill>
                <a:srgbClr val="A9C7E6"/>
              </a:solidFill>
              <a:custDash>
                <a:ds d="100000" sp="100000"/>
              </a:custDash>
            </a:ln>
          </p:spPr>
        </p:sp>
        <p:sp>
          <p:nvSpPr>
            <p:cNvPr id="11" name="Rectangle 11"/>
            <p:cNvSpPr/>
            <p:nvPr/>
          </p:nvSpPr>
          <p:spPr>
            <a:xfrm>
              <a:off x="8825865" y="1586865"/>
              <a:ext cx="2388870" cy="296799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02648" y="2075498"/>
              <a:ext cx="835304" cy="1475422"/>
              <a:chOff x="9602648" y="2075498"/>
              <a:chExt cx="835304" cy="14754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4545" y="2075498"/>
                <a:ext cx="651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1510" h="9525">
                    <a:moveTo>
                      <a:pt x="0" y="0"/>
                    </a:moveTo>
                    <a:lnTo>
                      <a:pt x="651510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57422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83178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857422" y="2238375"/>
                <a:ext cx="325755" cy="325755"/>
              </a:xfrm>
              <a:prstGeom prst="ellipse">
                <a:avLst/>
              </a:pr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02648" y="2727008"/>
                <a:ext cx="835304" cy="682826"/>
              </a:xfrm>
              <a:custGeom>
                <a:avLst/>
                <a:gdLst/>
                <a:ahLst/>
                <a:cxnLst/>
                <a:rect l="l" t="t" r="r" b="b"/>
                <a:pathLst>
                  <a:path w="835304" h="682826">
                    <a:moveTo>
                      <a:pt x="146189" y="0"/>
                    </a:moveTo>
                    <a:cubicBezTo>
                      <a:pt x="0" y="149204"/>
                      <a:pt x="1627" y="388424"/>
                      <a:pt x="149833" y="535625"/>
                    </a:cubicBezTo>
                    <a:cubicBezTo>
                      <a:pt x="298039" y="682826"/>
                      <a:pt x="537264" y="682826"/>
                      <a:pt x="685470" y="535625"/>
                    </a:cubicBezTo>
                    <a:cubicBezTo>
                      <a:pt x="833676" y="388424"/>
                      <a:pt x="835304" y="149204"/>
                      <a:pt x="689114" y="0"/>
                    </a:cubicBez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20300" y="3269932"/>
                <a:ext cx="952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7170">
                    <a:moveTo>
                      <a:pt x="0" y="0"/>
                    </a:moveTo>
                    <a:lnTo>
                      <a:pt x="0" y="21717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857422" y="3541395"/>
                <a:ext cx="32575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5755" h="9525">
                    <a:moveTo>
                      <a:pt x="0" y="0"/>
                    </a:moveTo>
                    <a:lnTo>
                      <a:pt x="325755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182877" y="3911600"/>
              <a:ext cx="1674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29575" y="4457700"/>
              <a:ext cx="1181100" cy="1181100"/>
            </a:xfrm>
            <a:prstGeom prst="ellipse">
              <a:avLst/>
            </a:prstGeom>
            <a:noFill/>
            <a:ln w="28575">
              <a:solidFill>
                <a:srgbClr val="2B426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43875" y="5048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B42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66877" y="4838700"/>
              <a:ext cx="706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0644" y="5143500"/>
              <a:ext cx="1118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THE RIGHT DOOR</a:t>
              </a:r>
            </a:p>
          </p:txBody>
        </p:sp>
      </p:grpSp>
      <p:grpSp>
        <p:nvGrpSpPr>
          <p:cNvPr id="28" name="cover-footer"/>
          <p:cNvGrpSpPr/>
          <p:nvPr/>
        </p:nvGrpSpPr>
        <p:grpSpPr>
          <a:xfrm>
            <a:off x="755904" y="6153150"/>
            <a:ext cx="10680192" cy="234696"/>
            <a:chOff x="755904" y="6153150"/>
            <a:chExt cx="106801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755904" y="6153150"/>
              <a:ext cx="4848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Python engine · FastAPI on Vercel · Supabase · Knock Desk CRM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37064" y="6153150"/>
              <a:ext cx="999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October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11821" cy="1101979"/>
            <a:chOff x="596646" y="444500"/>
            <a:chExt cx="731182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3730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SYSTEM OVERVIEW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31182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sign-up flows through five parts, and nothing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reaches LinkedIn without a person saying yes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node-intake"/>
          <p:cNvGrpSpPr/>
          <p:nvPr/>
        </p:nvGrpSpPr>
        <p:grpSpPr>
          <a:xfrm>
            <a:off x="609600" y="1771650"/>
            <a:ext cx="2219325" cy="2000250"/>
            <a:chOff x="609600" y="1771650"/>
            <a:chExt cx="2219325" cy="20002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7042" y="1882775"/>
              <a:ext cx="1444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Website intake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7804" y="2305050"/>
              <a:ext cx="1370899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form on the landing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page posts to /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api/intake. A hidden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honeypot field drops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bots. The row lands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intake_requests.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9555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node-supabase"/>
          <p:cNvGrpSpPr/>
          <p:nvPr/>
        </p:nvGrpSpPr>
        <p:grpSpPr>
          <a:xfrm>
            <a:off x="2847975" y="1771650"/>
            <a:ext cx="2219325" cy="2000250"/>
            <a:chOff x="2847975" y="1771650"/>
            <a:chExt cx="2219325" cy="2000250"/>
          </a:xfrm>
        </p:grpSpPr>
        <p:sp>
          <p:nvSpPr>
            <p:cNvPr id="16" name="Rectangle 16"/>
            <p:cNvSpPr/>
            <p:nvPr/>
          </p:nvSpPr>
          <p:spPr>
            <a:xfrm>
              <a:off x="284797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4797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55417" y="1882775"/>
              <a:ext cx="1030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Supabase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56179" y="2305050"/>
              <a:ext cx="1400343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Postgres in Mumbai.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engine_state holds one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JSON document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outbox queue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bridge.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3392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</p:sp>
      </p:grpSp>
      <p:grpSp>
        <p:nvGrpSpPr>
          <p:cNvPr id="27" name="node-engine"/>
          <p:cNvGrpSpPr/>
          <p:nvPr/>
        </p:nvGrpSpPr>
        <p:grpSpPr>
          <a:xfrm>
            <a:off x="5086350" y="1771650"/>
            <a:ext cx="2219325" cy="2000250"/>
            <a:chOff x="5086350" y="1771650"/>
            <a:chExt cx="2219325" cy="2000250"/>
          </a:xfrm>
        </p:grpSpPr>
        <p:sp>
          <p:nvSpPr>
            <p:cNvPr id="22" name="Rectangle 22"/>
            <p:cNvSpPr/>
            <p:nvPr/>
          </p:nvSpPr>
          <p:spPr>
            <a:xfrm>
              <a:off x="508635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86350" y="1771650"/>
              <a:ext cx="18669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93792" y="1882775"/>
              <a:ext cx="778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 Engine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4554" y="2305050"/>
              <a:ext cx="132856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outreach Python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package: discovery,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hooks, writers, judge,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reply agent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learning, on Claude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Opus 5.5.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7230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4" name="node-desk"/>
          <p:cNvGrpSpPr/>
          <p:nvPr/>
        </p:nvGrpSpPr>
        <p:grpSpPr>
          <a:xfrm>
            <a:off x="7324725" y="1771650"/>
            <a:ext cx="2219325" cy="2362200"/>
            <a:chOff x="7324725" y="1771650"/>
            <a:chExt cx="2219325" cy="2362200"/>
          </a:xfrm>
        </p:grpSpPr>
        <p:sp>
          <p:nvSpPr>
            <p:cNvPr id="28" name="Rectangle 28"/>
            <p:cNvSpPr/>
            <p:nvPr/>
          </p:nvSpPr>
          <p:spPr>
            <a:xfrm>
              <a:off x="732472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2472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32167" y="1882775"/>
              <a:ext cx="1220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Knock Desk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32929" y="2305050"/>
              <a:ext cx="1366510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Operator CRM served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the same Vercel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project. Approve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edit drafts, watch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funnel and the send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queue.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21067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33" name="Line 33"/>
            <p:cNvSpPr/>
            <p:nvPr/>
          </p:nvSpPr>
          <p:spPr>
            <a:xfrm>
              <a:off x="8258175" y="3790950"/>
              <a:ext cx="1" cy="3429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0" name="node-linkedin"/>
          <p:cNvGrpSpPr/>
          <p:nvPr/>
        </p:nvGrpSpPr>
        <p:grpSpPr>
          <a:xfrm>
            <a:off x="9563100" y="1771650"/>
            <a:ext cx="1866900" cy="2381250"/>
            <a:chOff x="9563100" y="1771650"/>
            <a:chExt cx="18669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95631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631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0542" y="1882775"/>
              <a:ext cx="92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5 LinkedIn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1304" y="2305050"/>
              <a:ext cx="1391717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 a real account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sends: the candidate's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own, or one connected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Machine. Replies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return the same way.</a:t>
              </a:r>
            </a:p>
          </p:txBody>
        </p:sp>
        <p:sp>
          <p:nvSpPr>
            <p:cNvPr id="39" name="Line 39"/>
            <p:cNvSpPr/>
            <p:nvPr/>
          </p:nvSpPr>
          <p:spPr>
            <a:xfrm flipV="1">
              <a:off x="10496550" y="3790950"/>
              <a:ext cx="1" cy="36195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9" name="send-routes"/>
          <p:cNvGrpSpPr/>
          <p:nvPr/>
        </p:nvGrpSpPr>
        <p:grpSpPr>
          <a:xfrm>
            <a:off x="7324725" y="4152900"/>
            <a:ext cx="4105275" cy="2209800"/>
            <a:chOff x="7324725" y="4152900"/>
            <a:chExt cx="4105275" cy="2209800"/>
          </a:xfrm>
        </p:grpSpPr>
        <p:sp>
          <p:nvSpPr>
            <p:cNvPr id="41" name="Rectangle 41"/>
            <p:cNvSpPr/>
            <p:nvPr/>
          </p:nvSpPr>
          <p:spPr>
            <a:xfrm>
              <a:off x="7324725" y="4152900"/>
              <a:ext cx="4105275" cy="2209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32548" y="4248150"/>
              <a:ext cx="14938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ways to send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39025" y="4533900"/>
              <a:ext cx="1828800" cy="17907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7229" y="4610100"/>
              <a:ext cx="1040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Self-send tier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47229" y="4857750"/>
              <a:ext cx="1425885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 gets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 it from their own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 No sender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 on our side.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01175" y="4533900"/>
              <a:ext cx="1914525" cy="17907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09379" y="4610100"/>
              <a:ext cx="1327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Done-for-you tier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09379" y="4857750"/>
              <a:ext cx="1286286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waits in outbox.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scheduled Claude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Chrome task sends 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from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 and copies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back.</a:t>
              </a:r>
            </a:p>
          </p:txBody>
        </p:sp>
      </p:grpSp>
      <p:grpSp>
        <p:nvGrpSpPr>
          <p:cNvPr id="53" name="reply-loop"/>
          <p:cNvGrpSpPr/>
          <p:nvPr/>
        </p:nvGrpSpPr>
        <p:grpSpPr>
          <a:xfrm>
            <a:off x="3781425" y="3810000"/>
            <a:ext cx="3543300" cy="1457325"/>
            <a:chOff x="3781425" y="3810000"/>
            <a:chExt cx="3543300" cy="1457325"/>
          </a:xfrm>
        </p:grpSpPr>
        <p:sp>
          <p:nvSpPr>
            <p:cNvPr id="50" name="Line 50"/>
            <p:cNvSpPr/>
            <p:nvPr/>
          </p:nvSpPr>
          <p:spPr>
            <a:xfrm>
              <a:off x="3781425" y="52578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3543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  <a:prstDash val="lgDash"/>
            </a:ln>
          </p:spPr>
        </p:sp>
        <p:sp>
          <p:nvSpPr>
            <p:cNvPr id="51" name="Line 51"/>
            <p:cNvSpPr/>
            <p:nvPr/>
          </p:nvSpPr>
          <p:spPr>
            <a:xfrm flipV="1">
              <a:off x="3781425" y="3810000"/>
              <a:ext cx="1" cy="14478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prstDash val="lgDash"/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46779" y="4610100"/>
              <a:ext cx="1849222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return as rows in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inbound_replies. The sync job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 the next message.</a:t>
              </a:r>
            </a:p>
          </p:txBody>
        </p:sp>
      </p:grpSp>
      <p:grpSp>
        <p:nvGrpSpPr>
          <p:cNvPr id="58" name="notes-left"/>
          <p:cNvGrpSpPr/>
          <p:nvPr/>
        </p:nvGrpSpPr>
        <p:grpSpPr>
          <a:xfrm>
            <a:off x="603504" y="4222750"/>
            <a:ext cx="1658478" cy="2098421"/>
            <a:chOff x="603504" y="4222750"/>
            <a:chExt cx="1658478" cy="2098421"/>
          </a:xfrm>
        </p:grpSpPr>
        <p:sp>
          <p:nvSpPr>
            <p:cNvPr id="54" name="TextBox 54"/>
            <p:cNvSpPr txBox="1"/>
            <p:nvPr/>
          </p:nvSpPr>
          <p:spPr>
            <a:xfrm>
              <a:off x="603885" y="4222750"/>
              <a:ext cx="577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Hosting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3504" y="4457700"/>
              <a:ext cx="1658478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 in Mumbai (bom1):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at /api, Knock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Desk at /crm, and a daily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sync cron.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3885" y="5251450"/>
              <a:ext cx="1021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Approval gate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3504" y="5486400"/>
              <a:ext cx="1298783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Nothing reaches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without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approving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draft.</a:t>
              </a:r>
            </a:p>
          </p:txBody>
        </p:sp>
      </p:grpSp>
      <p:grpSp>
        <p:nvGrpSpPr>
          <p:cNvPr id="60" name="source"/>
          <p:cNvGrpSpPr/>
          <p:nvPr/>
        </p:nvGrpSpPr>
        <p:grpSpPr>
          <a:xfrm>
            <a:off x="604647" y="6559550"/>
            <a:ext cx="5894997" cy="191643"/>
            <a:chOff x="604647" y="6559550"/>
            <a:chExt cx="5894997" cy="191643"/>
          </a:xfrm>
        </p:grpSpPr>
        <p:sp>
          <p:nvSpPr>
            <p:cNvPr id="59" name="TextBox 59"/>
            <p:cNvSpPr txBox="1"/>
            <p:nvPr/>
          </p:nvSpPr>
          <p:spPr>
            <a:xfrm>
              <a:off x="604647" y="6559550"/>
              <a:ext cx="58949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deploy/api/index.py, deploy/vercel.json, engine/outreach/bridge.py,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61528" cy="1101979"/>
            <a:chOff x="596646" y="444500"/>
            <a:chExt cx="796152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9391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DATA MODEL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96152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layers of state: JSON documents the engine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runs on, and a relational schema built to be queried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runtime-heading"/>
          <p:cNvGrpSpPr/>
          <p:nvPr/>
        </p:nvGrpSpPr>
        <p:grpSpPr>
          <a:xfrm>
            <a:off x="603123" y="1752600"/>
            <a:ext cx="3417739" cy="250317"/>
            <a:chOff x="603123" y="1752600"/>
            <a:chExt cx="3417739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34177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Runtime tables, used by the engine today</a:t>
              </a:r>
            </a:p>
          </p:txBody>
        </p:sp>
      </p:grpSp>
      <p:grpSp>
        <p:nvGrpSpPr>
          <p:cNvPr id="16" name="card-engine-state"/>
          <p:cNvGrpSpPr/>
          <p:nvPr/>
        </p:nvGrpSpPr>
        <p:grpSpPr>
          <a:xfrm>
            <a:off x="609600" y="2038350"/>
            <a:ext cx="4343400" cy="838200"/>
            <a:chOff x="609600" y="2038350"/>
            <a:chExt cx="4343400" cy="8382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523" y="2152650"/>
              <a:ext cx="10663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engine_state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381250"/>
              <a:ext cx="292812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JSON document per candidate, plus shared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feedback and usage documents.</a:t>
              </a:r>
            </a:p>
          </p:txBody>
        </p:sp>
      </p:grpSp>
      <p:grpSp>
        <p:nvGrpSpPr>
          <p:cNvPr id="21" name="card-inbound"/>
          <p:cNvGrpSpPr/>
          <p:nvPr/>
        </p:nvGrpSpPr>
        <p:grpSpPr>
          <a:xfrm>
            <a:off x="609600" y="2971800"/>
            <a:ext cx="4343400" cy="838200"/>
            <a:chOff x="609600" y="2971800"/>
            <a:chExt cx="4343400" cy="8382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718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29718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523" y="3086100"/>
              <a:ext cx="13437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inbound_replies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3314700"/>
              <a:ext cx="345307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copied from the LGM inbox. The engine stamps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processed_at and result.</a:t>
              </a:r>
            </a:p>
          </p:txBody>
        </p:sp>
      </p:grpSp>
      <p:grpSp>
        <p:nvGrpSpPr>
          <p:cNvPr id="26" name="card-outbox"/>
          <p:cNvGrpSpPr/>
          <p:nvPr/>
        </p:nvGrpSpPr>
        <p:grpSpPr>
          <a:xfrm>
            <a:off x="609600" y="3905250"/>
            <a:ext cx="4343400" cy="838200"/>
            <a:chOff x="609600" y="3905250"/>
            <a:chExt cx="4343400" cy="838200"/>
          </a:xfrm>
        </p:grpSpPr>
        <p:sp>
          <p:nvSpPr>
            <p:cNvPr id="22" name="Rectangle 22"/>
            <p:cNvSpPr/>
            <p:nvPr/>
          </p:nvSpPr>
          <p:spPr>
            <a:xfrm>
              <a:off x="609600" y="39052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9052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523" y="4019550"/>
              <a:ext cx="587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outbox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248150"/>
              <a:ext cx="332174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waiting to send, with a send_after time.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sender stamps sent_at.</a:t>
              </a:r>
            </a:p>
          </p:txBody>
        </p:sp>
      </p:grpSp>
      <p:grpSp>
        <p:nvGrpSpPr>
          <p:cNvPr id="31" name="card-intake"/>
          <p:cNvGrpSpPr/>
          <p:nvPr/>
        </p:nvGrpSpPr>
        <p:grpSpPr>
          <a:xfrm>
            <a:off x="609600" y="4838700"/>
            <a:ext cx="4343400" cy="838200"/>
            <a:chOff x="609600" y="4838700"/>
            <a:chExt cx="4343400" cy="838200"/>
          </a:xfrm>
        </p:grpSpPr>
        <p:sp>
          <p:nvSpPr>
            <p:cNvPr id="27" name="Rectangle 27"/>
            <p:cNvSpPr/>
            <p:nvPr/>
          </p:nvSpPr>
          <p:spPr>
            <a:xfrm>
              <a:off x="609600" y="48387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8387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523" y="4953000"/>
              <a:ext cx="13251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intake_requests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181600"/>
              <a:ext cx="352056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sign-ups. Anyone can insert; only the engine can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them.</a:t>
              </a:r>
            </a:p>
          </p:txBody>
        </p:sp>
      </p:grpSp>
      <p:grpSp>
        <p:nvGrpSpPr>
          <p:cNvPr id="33" name="relational-heading"/>
          <p:cNvGrpSpPr/>
          <p:nvPr/>
        </p:nvGrpSpPr>
        <p:grpSpPr>
          <a:xfrm>
            <a:off x="5327523" y="1752600"/>
            <a:ext cx="5726613" cy="250317"/>
            <a:chOff x="5327523" y="1752600"/>
            <a:chExt cx="5726613" cy="250317"/>
          </a:xfrm>
        </p:grpSpPr>
        <p:sp>
          <p:nvSpPr>
            <p:cNvPr id="32" name="TextBox 32"/>
            <p:cNvSpPr txBox="1"/>
            <p:nvPr/>
          </p:nvSpPr>
          <p:spPr>
            <a:xfrm>
              <a:off x="5327523" y="1752600"/>
              <a:ext cx="5726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Relational core (migration 0001), ready for analytics and client access</a:t>
              </a:r>
            </a:p>
          </p:txBody>
        </p:sp>
      </p:grpSp>
      <p:grpSp>
        <p:nvGrpSpPr>
          <p:cNvPr id="69" name="er-diagram"/>
          <p:cNvGrpSpPr/>
          <p:nvPr/>
        </p:nvGrpSpPr>
        <p:grpSpPr>
          <a:xfrm>
            <a:off x="5328285" y="2133600"/>
            <a:ext cx="6254115" cy="3162300"/>
            <a:chOff x="5328285" y="2133600"/>
            <a:chExt cx="6254115" cy="3162300"/>
          </a:xfrm>
        </p:grpSpPr>
        <p:grpSp>
          <p:nvGrpSpPr>
            <p:cNvPr id="40" name="Group 40"/>
            <p:cNvGrpSpPr/>
            <p:nvPr/>
          </p:nvGrpSpPr>
          <p:grpSpPr>
            <a:xfrm>
              <a:off x="6143625" y="2428875"/>
              <a:ext cx="3181350" cy="1104901"/>
              <a:chOff x="6143625" y="2428875"/>
              <a:chExt cx="3181350" cy="1104901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96277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896302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14362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814387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896302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9" name="Line 39"/>
              <p:cNvSpPr/>
              <p:nvPr/>
            </p:nvSpPr>
            <p:spPr>
              <a:xfrm flipH="1">
                <a:off x="696277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custDash>
                  <a:ds d="200000" sp="150000"/>
                </a:custDash>
                <a:tailEnd type="triangle" w="lg" len="lg"/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5334000" y="2133600"/>
              <a:ext cx="161925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42204" y="2209800"/>
              <a:ext cx="856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candidates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42585" y="2432050"/>
              <a:ext cx="1559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client, tier, targets, story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425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42454" y="2209800"/>
              <a:ext cx="784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2835" y="2432050"/>
              <a:ext cx="1382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person, bucket, status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33450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2704" y="2209800"/>
              <a:ext cx="524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events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3085" y="2432050"/>
              <a:ext cx="1617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status changes, outcomes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42204" y="3314700"/>
              <a:ext cx="38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facts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42585" y="3536950"/>
              <a:ext cx="1780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atomic, owner, kind, source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3425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2454" y="3314700"/>
              <a:ext cx="487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hooks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2835" y="3536950"/>
              <a:ext cx="1661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type, four scores, selected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2385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42704" y="3314700"/>
              <a:ext cx="793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43085" y="3536950"/>
              <a:ext cx="1541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step, writer, alternatives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42204" y="4419600"/>
              <a:ext cx="1179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feedback_edits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42585" y="4641850"/>
              <a:ext cx="1369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versus final text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3425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42454" y="4419600"/>
              <a:ext cx="1475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playbook_versions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42835" y="4641850"/>
              <a:ext cx="1329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learned writing rules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334500" y="4343400"/>
              <a:ext cx="22479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42704" y="441960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Views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43085" y="4648200"/>
              <a:ext cx="1140759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candidate_funnel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hook_performance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writer_performance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28285" y="5041900"/>
              <a:ext cx="2581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Dashed: operator only, no client policy.</a:t>
              </a:r>
            </a:p>
          </p:txBody>
        </p:sp>
      </p:grpSp>
      <p:grpSp>
        <p:nvGrpSpPr>
          <p:cNvPr id="72" name="schema-callout"/>
          <p:cNvGrpSpPr/>
          <p:nvPr/>
        </p:nvGrpSpPr>
        <p:grpSpPr>
          <a:xfrm>
            <a:off x="5334000" y="5429250"/>
            <a:ext cx="6248400" cy="1104900"/>
            <a:chOff x="5334000" y="5429250"/>
            <a:chExt cx="6248400" cy="1104900"/>
          </a:xfrm>
        </p:grpSpPr>
        <p:sp>
          <p:nvSpPr>
            <p:cNvPr id="70" name="Rectangle 70"/>
            <p:cNvSpPr/>
            <p:nvPr/>
          </p:nvSpPr>
          <p:spPr>
            <a:xfrm>
              <a:off x="5334000" y="5429250"/>
              <a:ext cx="6248400" cy="11049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17642" y="5537200"/>
              <a:ext cx="4250588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The schema enforces the design. hooks.candidate_fact_id and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hooks.prospect_fact_id are both required references to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facts(id), so the database refuses a hook that cites nothing.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Row-level security is on for every table.</a:t>
              </a:r>
            </a:p>
          </p:txBody>
        </p:sp>
      </p:grpSp>
      <p:grpSp>
        <p:nvGrpSpPr>
          <p:cNvPr id="74" name="source"/>
          <p:cNvGrpSpPr/>
          <p:nvPr/>
        </p:nvGrpSpPr>
        <p:grpSpPr>
          <a:xfrm>
            <a:off x="604647" y="6559550"/>
            <a:ext cx="4056058" cy="191643"/>
            <a:chOff x="604647" y="6559550"/>
            <a:chExt cx="4056058" cy="191643"/>
          </a:xfrm>
        </p:grpSpPr>
        <p:sp>
          <p:nvSpPr>
            <p:cNvPr id="73" name="TextBox 73"/>
            <p:cNvSpPr txBox="1"/>
            <p:nvPr/>
          </p:nvSpPr>
          <p:spPr>
            <a:xfrm>
              <a:off x="604647" y="6559550"/>
              <a:ext cx="40560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supabase/migrations 0001 to 0004, engine/outreach/store.py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495055" cy="1101979"/>
            <a:chOff x="596646" y="444500"/>
            <a:chExt cx="749505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6450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PIPELINE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49505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Six stages turn a company name into a reviewed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message, and any stage can drop a prospect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3" name="stage-strip"/>
          <p:cNvGrpSpPr/>
          <p:nvPr/>
        </p:nvGrpSpPr>
        <p:grpSpPr>
          <a:xfrm>
            <a:off x="609600" y="1771650"/>
            <a:ext cx="10839450" cy="800100"/>
            <a:chOff x="609600" y="1771650"/>
            <a:chExt cx="10839450" cy="8001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2076450" cy="800100"/>
            </a:xfrm>
            <a:prstGeom prst="homePlat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622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1148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8674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6200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372600" y="1771650"/>
              <a:ext cx="2076450" cy="800100"/>
            </a:xfrm>
            <a:prstGeom prst="chevron">
              <a:avLst/>
            </a:prstGeom>
            <a:solidFill>
              <a:srgbClr val="0E1F3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92044" y="1968500"/>
              <a:ext cx="9768519" cy="459867"/>
              <a:chOff x="992044" y="1968500"/>
              <a:chExt cx="9768519" cy="459867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92044" y="1968500"/>
                <a:ext cx="835313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1 Discover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sort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888175" y="1968500"/>
                <a:ext cx="1024500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2 Enrich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from the web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72230" y="1968500"/>
                <a:ext cx="961589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3 Extract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atomic facts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9795" y="1968500"/>
                <a:ext cx="491661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4 Find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hooks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67944" y="1968500"/>
                <a:ext cx="780562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5 Write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judge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061086" y="1968500"/>
                <a:ext cx="699477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6 Human</a:t>
                </a:r>
                <a:b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approval</a:t>
                </a:r>
              </a:p>
            </p:txBody>
          </p:sp>
        </p:grpSp>
      </p:grpSp>
      <p:grpSp>
        <p:nvGrpSpPr>
          <p:cNvPr id="25" name="col-discover"/>
          <p:cNvGrpSpPr/>
          <p:nvPr/>
        </p:nvGrpSpPr>
        <p:grpSpPr>
          <a:xfrm>
            <a:off x="679704" y="2800350"/>
            <a:ext cx="1358097" cy="1434846"/>
            <a:chOff x="679704" y="2800350"/>
            <a:chExt cx="1358097" cy="1434846"/>
          </a:xfrm>
        </p:grpSpPr>
        <p:sp>
          <p:nvSpPr>
            <p:cNvPr id="24" name="TextBox 24"/>
            <p:cNvSpPr txBox="1"/>
            <p:nvPr/>
          </p:nvSpPr>
          <p:spPr>
            <a:xfrm>
              <a:off x="679704" y="2800350"/>
              <a:ext cx="1358097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search results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only, never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login. Each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lands in one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six buckets,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irrelevant people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dropped.</a:t>
              </a:r>
            </a:p>
          </p:txBody>
        </p:sp>
      </p:grpSp>
      <p:grpSp>
        <p:nvGrpSpPr>
          <p:cNvPr id="27" name="col-enrich"/>
          <p:cNvGrpSpPr/>
          <p:nvPr/>
        </p:nvGrpSpPr>
        <p:grpSpPr>
          <a:xfrm>
            <a:off x="2432304" y="2800350"/>
            <a:ext cx="1375288" cy="1434846"/>
            <a:chOff x="2432304" y="2800350"/>
            <a:chExt cx="1375288" cy="1434846"/>
          </a:xfrm>
        </p:grpSpPr>
        <p:sp>
          <p:nvSpPr>
            <p:cNvPr id="26" name="TextBox 26"/>
            <p:cNvSpPr txBox="1"/>
            <p:nvPr/>
          </p:nvSpPr>
          <p:spPr>
            <a:xfrm>
              <a:off x="2432304" y="2800350"/>
              <a:ext cx="1375288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posts, talks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articles are searched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 person and read as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facts. Results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untrusted text. Three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 are needed to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continue.</a:t>
              </a:r>
            </a:p>
          </p:txBody>
        </p:sp>
      </p:grpSp>
      <p:grpSp>
        <p:nvGrpSpPr>
          <p:cNvPr id="29" name="col-facts"/>
          <p:cNvGrpSpPr/>
          <p:nvPr/>
        </p:nvGrpSpPr>
        <p:grpSpPr>
          <a:xfrm>
            <a:off x="4184904" y="2800350"/>
            <a:ext cx="1391778" cy="1234821"/>
            <a:chOff x="4184904" y="2800350"/>
            <a:chExt cx="1391778" cy="1234821"/>
          </a:xfrm>
        </p:grpSpPr>
        <p:sp>
          <p:nvSpPr>
            <p:cNvPr id="28" name="TextBox 28"/>
            <p:cNvSpPr txBox="1"/>
            <p:nvPr/>
          </p:nvSpPr>
          <p:spPr>
            <a:xfrm>
              <a:off x="4184904" y="2800350"/>
              <a:ext cx="1391778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CVs, LinkedIn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PDFs and web text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become one-line facts,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with an id, a kind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 source. Nothing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is inferred.</a:t>
              </a:r>
            </a:p>
          </p:txBody>
        </p:sp>
      </p:grpSp>
      <p:grpSp>
        <p:nvGrpSpPr>
          <p:cNvPr id="31" name="col-hooks"/>
          <p:cNvGrpSpPr/>
          <p:nvPr/>
        </p:nvGrpSpPr>
        <p:grpSpPr>
          <a:xfrm>
            <a:off x="5937504" y="2800350"/>
            <a:ext cx="1404092" cy="1234821"/>
            <a:chOff x="5937504" y="2800350"/>
            <a:chExt cx="1404092" cy="1234821"/>
          </a:xfrm>
        </p:grpSpPr>
        <p:sp>
          <p:nvSpPr>
            <p:cNvPr id="30" name="TextBox 30"/>
            <p:cNvSpPr txBox="1"/>
            <p:nvPr/>
          </p:nvSpPr>
          <p:spPr>
            <a:xfrm>
              <a:off x="5937504" y="2800350"/>
              <a:ext cx="140409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Up to five reasons for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two people to talk,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citing a candidate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 and a prospect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fact. Below a score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2.5 it is discarded.</a:t>
              </a:r>
            </a:p>
          </p:txBody>
        </p:sp>
      </p:grpSp>
      <p:grpSp>
        <p:nvGrpSpPr>
          <p:cNvPr id="33" name="col-write"/>
          <p:cNvGrpSpPr/>
          <p:nvPr/>
        </p:nvGrpSpPr>
        <p:grpSpPr>
          <a:xfrm>
            <a:off x="7690104" y="2800350"/>
            <a:ext cx="1358158" cy="1234821"/>
            <a:chOff x="7690104" y="2800350"/>
            <a:chExt cx="1358158" cy="1234821"/>
          </a:xfrm>
        </p:grpSpPr>
        <p:sp>
          <p:nvSpPr>
            <p:cNvPr id="32" name="TextBox 32"/>
            <p:cNvSpPr txBox="1"/>
            <p:nvPr/>
          </p:nvSpPr>
          <p:spPr>
            <a:xfrm>
              <a:off x="7690104" y="2800350"/>
              <a:ext cx="1358158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 agents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in parallel. Rule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checks reject bad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drafts. A judge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one this person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most likely to answer.</a:t>
              </a:r>
            </a:p>
          </p:txBody>
        </p:sp>
      </p:grpSp>
      <p:grpSp>
        <p:nvGrpSpPr>
          <p:cNvPr id="35" name="col-approve"/>
          <p:cNvGrpSpPr/>
          <p:nvPr/>
        </p:nvGrpSpPr>
        <p:grpSpPr>
          <a:xfrm>
            <a:off x="9442704" y="2800350"/>
            <a:ext cx="1311493" cy="1034796"/>
            <a:chOff x="9442704" y="2800350"/>
            <a:chExt cx="1311493" cy="1034796"/>
          </a:xfrm>
        </p:grpSpPr>
        <p:sp>
          <p:nvSpPr>
            <p:cNvPr id="34" name="TextBox 34"/>
            <p:cNvSpPr txBox="1"/>
            <p:nvPr/>
          </p:nvSpPr>
          <p:spPr>
            <a:xfrm>
              <a:off x="9442704" y="2800350"/>
              <a:ext cx="1311493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person reads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draft, edits it or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alternative, then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approves. Every edit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teaches the writers.</a:t>
              </a:r>
            </a:p>
          </p:txBody>
        </p:sp>
      </p:grpSp>
      <p:grpSp>
        <p:nvGrpSpPr>
          <p:cNvPr id="57" name="status-chain"/>
          <p:cNvGrpSpPr/>
          <p:nvPr/>
        </p:nvGrpSpPr>
        <p:grpSpPr>
          <a:xfrm>
            <a:off x="604266" y="4578350"/>
            <a:ext cx="6558534" cy="1117600"/>
            <a:chOff x="604266" y="4578350"/>
            <a:chExt cx="6558534" cy="1117600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4578350"/>
              <a:ext cx="2475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STATUS AS IT MOVES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09600" y="4838700"/>
              <a:ext cx="6553200" cy="304800"/>
              <a:chOff x="609600" y="4838700"/>
              <a:chExt cx="6553200" cy="304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09600" y="483870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7785" y="4899025"/>
                <a:ext cx="8075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discovered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076450" y="4838700"/>
                <a:ext cx="952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232771" y="4899025"/>
                <a:ext cx="6398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enriched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371850" y="4838700"/>
                <a:ext cx="1428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3514669" y="4899025"/>
                <a:ext cx="11431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message_ready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143500" y="48387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303292" y="4899025"/>
                <a:ext cx="6900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496050" y="4838700"/>
                <a:ext cx="666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668699" y="4899025"/>
                <a:ext cx="3214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sent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752600" y="4991100"/>
              <a:ext cx="4724400" cy="381000"/>
              <a:chOff x="1752600" y="4991100"/>
              <a:chExt cx="4724400" cy="381000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17526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30480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481965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61722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2552700" y="5162550"/>
                <a:ext cx="1" cy="20955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</p:grpSp>
        <p:sp>
          <p:nvSpPr>
            <p:cNvPr id="54" name="Rectangle 54"/>
            <p:cNvSpPr/>
            <p:nvPr/>
          </p:nvSpPr>
          <p:spPr>
            <a:xfrm>
              <a:off x="2076450" y="5391150"/>
              <a:ext cx="952500" cy="3048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262112" y="5451475"/>
              <a:ext cx="581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skipped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75254" y="5448300"/>
              <a:ext cx="3046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legitimate hook, so no message is written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609600" y="5924550"/>
            <a:ext cx="10839450" cy="457200"/>
            <a:chOff x="609600" y="5924550"/>
            <a:chExt cx="10839450" cy="457200"/>
          </a:xfrm>
        </p:grpSpPr>
        <p:sp>
          <p:nvSpPr>
            <p:cNvPr id="58" name="Rectangle 58"/>
            <p:cNvSpPr/>
            <p:nvPr/>
          </p:nvSpPr>
          <p:spPr>
            <a:xfrm>
              <a:off x="609600" y="5924550"/>
              <a:ext cx="10839450" cy="4572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2480" y="6042025"/>
              <a:ext cx="6310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system prefers fewer, better messages. Stopping early is designed in.</a:t>
              </a:r>
            </a:p>
          </p:txBody>
        </p:sp>
      </p:grpSp>
      <p:grpSp>
        <p:nvGrpSpPr>
          <p:cNvPr id="62" name="source"/>
          <p:cNvGrpSpPr/>
          <p:nvPr/>
        </p:nvGrpSpPr>
        <p:grpSpPr>
          <a:xfrm>
            <a:off x="604647" y="6559550"/>
            <a:ext cx="4722190" cy="191643"/>
            <a:chOff x="604647" y="6559550"/>
            <a:chExt cx="4722190" cy="191643"/>
          </a:xfrm>
        </p:grpSpPr>
        <p:sp>
          <p:nvSpPr>
            <p:cNvPr id="61" name="TextBox 61"/>
            <p:cNvSpPr txBox="1"/>
            <p:nvPr/>
          </p:nvSpPr>
          <p:spPr>
            <a:xfrm>
              <a:off x="604647" y="6559550"/>
              <a:ext cx="47221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engine/outreach/cli.py, discovery.py, hooks.py, messages.py, models.py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50100" cy="1101979"/>
            <a:chOff x="596646" y="444500"/>
            <a:chExt cx="735010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0012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HOOK ENGINE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35010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hook exists only if two real facts prove it, and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weighted scores decide which one is used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left-heading"/>
          <p:cNvGrpSpPr/>
          <p:nvPr/>
        </p:nvGrpSpPr>
        <p:grpSpPr>
          <a:xfrm>
            <a:off x="603123" y="1752600"/>
            <a:ext cx="4087900" cy="250317"/>
            <a:chOff x="603123" y="1752600"/>
            <a:chExt cx="40879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0879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How a hook is built (the facts here are illustrative)</a:t>
              </a:r>
            </a:p>
          </p:txBody>
        </p:sp>
      </p:grpSp>
      <p:grpSp>
        <p:nvGrpSpPr>
          <p:cNvPr id="15" name="fact-candidate"/>
          <p:cNvGrpSpPr/>
          <p:nvPr/>
        </p:nvGrpSpPr>
        <p:grpSpPr>
          <a:xfrm>
            <a:off x="609600" y="2038350"/>
            <a:ext cx="2286000" cy="1428750"/>
            <a:chOff x="609600" y="2038350"/>
            <a:chExt cx="22860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7047" y="2159000"/>
              <a:ext cx="14757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CANDIDATE FACT c:3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523" y="2368550"/>
              <a:ext cx="1502719" cy="688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consumer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brands into product in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2024.</a:t>
              </a:r>
            </a:p>
          </p:txBody>
        </p:sp>
      </p:grpSp>
      <p:grpSp>
        <p:nvGrpSpPr>
          <p:cNvPr id="19" name="fact-prospect"/>
          <p:cNvGrpSpPr/>
          <p:nvPr/>
        </p:nvGrpSpPr>
        <p:grpSpPr>
          <a:xfrm>
            <a:off x="3086100" y="2038350"/>
            <a:ext cx="2286000" cy="1428750"/>
            <a:chOff x="3086100" y="2038350"/>
            <a:chExt cx="2286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30861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33547" y="2159000"/>
              <a:ext cx="17897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FACT p:rahul:1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2023" y="2368550"/>
              <a:ext cx="163777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Flipkart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(category manager) to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Zepto (product manager)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 2024.</a:t>
              </a:r>
            </a:p>
          </p:txBody>
        </p:sp>
      </p:grpSp>
      <p:grpSp>
        <p:nvGrpSpPr>
          <p:cNvPr id="22" name="hook-links"/>
          <p:cNvGrpSpPr/>
          <p:nvPr/>
        </p:nvGrpSpPr>
        <p:grpSpPr>
          <a:xfrm>
            <a:off x="1752600" y="3486150"/>
            <a:ext cx="2476501" cy="419100"/>
            <a:chOff x="1752600" y="3486150"/>
            <a:chExt cx="2476501" cy="419100"/>
          </a:xfrm>
        </p:grpSpPr>
        <p:sp>
          <p:nvSpPr>
            <p:cNvPr id="20" name="Line 20"/>
            <p:cNvSpPr/>
            <p:nvPr/>
          </p:nvSpPr>
          <p:spPr>
            <a:xfrm>
              <a:off x="17526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42291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0" name="hook-card"/>
          <p:cNvGrpSpPr/>
          <p:nvPr/>
        </p:nvGrpSpPr>
        <p:grpSpPr>
          <a:xfrm>
            <a:off x="609600" y="3924300"/>
            <a:ext cx="4762500" cy="2286000"/>
            <a:chOff x="609600" y="3924300"/>
            <a:chExt cx="47625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09600" y="3924300"/>
              <a:ext cx="4762500" cy="2286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924300"/>
              <a:ext cx="4762500" cy="3619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904" y="4010025"/>
              <a:ext cx="2008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HOOK · similar_transition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142" y="4470400"/>
              <a:ext cx="2346739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line on why these two people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have a real reason to talk.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054600"/>
              <a:ext cx="1648299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candidate_fact_id c:3</a:t>
              </a:r>
              <a:b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prospect_fact_id p:rahul:1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5619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094" y="5740400"/>
              <a:ext cx="26246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 no hook.</a:t>
              </a:r>
            </a:p>
          </p:txBody>
        </p:sp>
      </p:grpSp>
      <p:grpSp>
        <p:nvGrpSpPr>
          <p:cNvPr id="32" name="right-heading"/>
          <p:cNvGrpSpPr/>
          <p:nvPr/>
        </p:nvGrpSpPr>
        <p:grpSpPr>
          <a:xfrm>
            <a:off x="5899023" y="1752600"/>
            <a:ext cx="3457027" cy="250317"/>
            <a:chOff x="5899023" y="1752600"/>
            <a:chExt cx="3457027" cy="250317"/>
          </a:xfrm>
        </p:grpSpPr>
        <p:sp>
          <p:nvSpPr>
            <p:cNvPr id="31" name="TextBox 31"/>
            <p:cNvSpPr txBox="1"/>
            <p:nvPr/>
          </p:nvSpPr>
          <p:spPr>
            <a:xfrm>
              <a:off x="5899023" y="1752600"/>
              <a:ext cx="345702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scores, rated 1 to 5, one weight each</a:t>
              </a:r>
            </a:p>
          </p:txBody>
        </p:sp>
      </p:grpSp>
      <p:grpSp>
        <p:nvGrpSpPr>
          <p:cNvPr id="38" name="tile-specificity"/>
          <p:cNvGrpSpPr/>
          <p:nvPr/>
        </p:nvGrpSpPr>
        <p:grpSpPr>
          <a:xfrm>
            <a:off x="5905500" y="2038350"/>
            <a:ext cx="2743200" cy="952500"/>
            <a:chOff x="5905500" y="2038350"/>
            <a:chExt cx="2743200" cy="952500"/>
          </a:xfrm>
        </p:grpSpPr>
        <p:sp>
          <p:nvSpPr>
            <p:cNvPr id="33" name="Rectangle 33"/>
            <p:cNvSpPr/>
            <p:nvPr/>
          </p:nvSpPr>
          <p:spPr>
            <a:xfrm>
              <a:off x="59055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51042" y="2139950"/>
              <a:ext cx="92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Specificity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98277" y="22002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1804" y="2457450"/>
              <a:ext cx="199226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concrete and checkable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overlap is.</a:t>
              </a:r>
            </a:p>
          </p:txBody>
        </p:sp>
      </p:grpSp>
      <p:grpSp>
        <p:nvGrpSpPr>
          <p:cNvPr id="44" name="tile-rarity"/>
          <p:cNvGrpSpPr/>
          <p:nvPr/>
        </p:nvGrpSpPr>
        <p:grpSpPr>
          <a:xfrm>
            <a:off x="8839200" y="2038350"/>
            <a:ext cx="2743200" cy="952500"/>
            <a:chOff x="8839200" y="2038350"/>
            <a:chExt cx="2743200" cy="952500"/>
          </a:xfrm>
        </p:grpSpPr>
        <p:sp>
          <p:nvSpPr>
            <p:cNvPr id="39" name="Rectangle 39"/>
            <p:cNvSpPr/>
            <p:nvPr/>
          </p:nvSpPr>
          <p:spPr>
            <a:xfrm>
              <a:off x="88392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84742" y="2139950"/>
              <a:ext cx="533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Rarity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7823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31977" y="22002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5504" y="2457450"/>
              <a:ext cx="205630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few people share it. A small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team beats a big city.</a:t>
              </a:r>
            </a:p>
          </p:txBody>
        </p:sp>
      </p:grpSp>
      <p:grpSp>
        <p:nvGrpSpPr>
          <p:cNvPr id="50" name="tile-relevance"/>
          <p:cNvGrpSpPr/>
          <p:nvPr/>
        </p:nvGrpSpPr>
        <p:grpSpPr>
          <a:xfrm>
            <a:off x="5905500" y="3105150"/>
            <a:ext cx="2743200" cy="952500"/>
            <a:chOff x="5905500" y="3105150"/>
            <a:chExt cx="2743200" cy="952500"/>
          </a:xfrm>
        </p:grpSpPr>
        <p:sp>
          <p:nvSpPr>
            <p:cNvPr id="45" name="Rectangle 45"/>
            <p:cNvSpPr/>
            <p:nvPr/>
          </p:nvSpPr>
          <p:spPr>
            <a:xfrm>
              <a:off x="59055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51042" y="3206750"/>
              <a:ext cx="91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Relevance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486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98277" y="32670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51804" y="3524250"/>
              <a:ext cx="210269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closely it relates to the target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role at this company.</a:t>
              </a:r>
            </a:p>
          </p:txBody>
        </p:sp>
      </p:grpSp>
      <p:grpSp>
        <p:nvGrpSpPr>
          <p:cNvPr id="56" name="tile-recency"/>
          <p:cNvGrpSpPr/>
          <p:nvPr/>
        </p:nvGrpSpPr>
        <p:grpSpPr>
          <a:xfrm>
            <a:off x="8839200" y="3105150"/>
            <a:ext cx="2743200" cy="952500"/>
            <a:chOff x="8839200" y="3105150"/>
            <a:chExt cx="2743200" cy="952500"/>
          </a:xfrm>
        </p:grpSpPr>
        <p:sp>
          <p:nvSpPr>
            <p:cNvPr id="51" name="Rectangle 51"/>
            <p:cNvSpPr/>
            <p:nvPr/>
          </p:nvSpPr>
          <p:spPr>
            <a:xfrm>
              <a:off x="88392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84742" y="3206750"/>
              <a:ext cx="767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Recency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823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931977" y="32670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85504" y="3524250"/>
              <a:ext cx="213704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recent the prospect's side is.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last six months scores highest.</a:t>
              </a:r>
            </a:p>
          </p:txBody>
        </p:sp>
      </p:grpSp>
      <p:grpSp>
        <p:nvGrpSpPr>
          <p:cNvPr id="59" name="formula"/>
          <p:cNvGrpSpPr/>
          <p:nvPr/>
        </p:nvGrpSpPr>
        <p:grpSpPr>
          <a:xfrm>
            <a:off x="5905500" y="4171950"/>
            <a:ext cx="5676900" cy="590550"/>
            <a:chOff x="5905500" y="4171950"/>
            <a:chExt cx="5676900" cy="590550"/>
          </a:xfrm>
        </p:grpSpPr>
        <p:sp>
          <p:nvSpPr>
            <p:cNvPr id="57" name="Rectangle 57"/>
            <p:cNvSpPr/>
            <p:nvPr/>
          </p:nvSpPr>
          <p:spPr>
            <a:xfrm>
              <a:off x="5905500" y="4171950"/>
              <a:ext cx="567690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1804" y="4260850"/>
              <a:ext cx="2672090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score = 0.30 × specificity + 0.25 × rarity</a:t>
              </a:r>
              <a:b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+ 0.30 × relevance + 0.15 × recency</a:t>
              </a:r>
            </a:p>
          </p:txBody>
        </p:sp>
      </p:grpSp>
      <p:grpSp>
        <p:nvGrpSpPr>
          <p:cNvPr id="66" name="hook-rules"/>
          <p:cNvGrpSpPr/>
          <p:nvPr/>
        </p:nvGrpSpPr>
        <p:grpSpPr>
          <a:xfrm>
            <a:off x="5905500" y="5029200"/>
            <a:ext cx="4867167" cy="945642"/>
            <a:chOff x="5905500" y="5029200"/>
            <a:chExt cx="4867167" cy="945642"/>
          </a:xfrm>
        </p:grpSpPr>
        <p:sp>
          <p:nvSpPr>
            <p:cNvPr id="60" name="Rectangle 60"/>
            <p:cNvSpPr/>
            <p:nvPr/>
          </p:nvSpPr>
          <p:spPr>
            <a:xfrm>
              <a:off x="5905500" y="50863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51423" y="5029200"/>
              <a:ext cx="42513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Minimum score is 2.5 of 5. Below it the hook is not used.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905500" y="53340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51423" y="5276850"/>
              <a:ext cx="44875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top hook is selected; a second one powers the follow-up.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05500" y="5581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51423" y="5524500"/>
              <a:ext cx="4721244" cy="450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Seven types: shared school, shared employer, similar transition, relevant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post reaction, shared geography, shared interest.</a:t>
              </a:r>
            </a:p>
          </p:txBody>
        </p:sp>
      </p:grpSp>
      <p:grpSp>
        <p:nvGrpSpPr>
          <p:cNvPr id="68" name="source"/>
          <p:cNvGrpSpPr/>
          <p:nvPr/>
        </p:nvGrpSpPr>
        <p:grpSpPr>
          <a:xfrm>
            <a:off x="604647" y="6559550"/>
            <a:ext cx="5877880" cy="191643"/>
            <a:chOff x="604647" y="6559550"/>
            <a:chExt cx="5877880" cy="191643"/>
          </a:xfrm>
        </p:grpSpPr>
        <p:sp>
          <p:nvSpPr>
            <p:cNvPr id="67" name="TextBox 67"/>
            <p:cNvSpPr txBox="1"/>
            <p:nvPr/>
          </p:nvSpPr>
          <p:spPr>
            <a:xfrm>
              <a:off x="604647" y="6559550"/>
              <a:ext cx="5877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engine/outreach/hooks.py (WEIGHTS, MIN_SCORE, validate), prompts.py FIND_HOOKS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14844" cy="1101979"/>
            <a:chOff x="596646" y="444500"/>
            <a:chExt cx="821484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62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WRITERS, RULES AND JUDGE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21484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Three writers compete, rule checks filter, and a judge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picks the draft this person is most likely to answer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6" name="col-input"/>
          <p:cNvGrpSpPr/>
          <p:nvPr/>
        </p:nvGrpSpPr>
        <p:grpSpPr>
          <a:xfrm>
            <a:off x="609600" y="1809750"/>
            <a:ext cx="2133600" cy="3816096"/>
            <a:chOff x="609600" y="1809750"/>
            <a:chExt cx="2133600" cy="3816096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18097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809750"/>
              <a:ext cx="18097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6092" y="1920875"/>
              <a:ext cx="462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Input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36854" y="2419350"/>
              <a:ext cx="1424017" cy="3206496"/>
              <a:chOff x="736854" y="2419350"/>
              <a:chExt cx="1424017" cy="3206496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42950" y="2495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89254" y="2419350"/>
                <a:ext cx="12716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selected hook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42950" y="280987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89254" y="2733675"/>
                <a:ext cx="10997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Both cited facts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42950" y="31242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89254" y="3048000"/>
                <a:ext cx="9578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candidate's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story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42950" y="3638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89254" y="3562350"/>
                <a:ext cx="11166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Learned playbook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rules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42950" y="41529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9254" y="4076700"/>
                <a:ext cx="1171590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Past openers that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got replies, for feel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6854" y="4991100"/>
                <a:ext cx="1066099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Writers see facts,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never raw web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pages.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24384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1" name="writer-curious"/>
          <p:cNvGrpSpPr/>
          <p:nvPr/>
        </p:nvGrpSpPr>
        <p:grpSpPr>
          <a:xfrm>
            <a:off x="2762250" y="1809750"/>
            <a:ext cx="2857500" cy="1181100"/>
            <a:chOff x="2762250" y="1809750"/>
            <a:chExt cx="2857500" cy="1181100"/>
          </a:xfrm>
        </p:grpSpPr>
        <p:sp>
          <p:nvSpPr>
            <p:cNvPr id="27" name="Rectangle 27"/>
            <p:cNvSpPr/>
            <p:nvPr/>
          </p:nvSpPr>
          <p:spPr>
            <a:xfrm>
              <a:off x="2762250" y="18097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62250" y="18097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08173" y="1924050"/>
              <a:ext cx="10951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curious_peer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8554" y="2171700"/>
              <a:ext cx="2280483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Genuinely curious about one specific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decision or change in their career,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asked in a way only they can answer.</a:t>
              </a:r>
            </a:p>
          </p:txBody>
        </p:sp>
      </p:grpSp>
      <p:grpSp>
        <p:nvGrpSpPr>
          <p:cNvPr id="37" name="writer-observer"/>
          <p:cNvGrpSpPr/>
          <p:nvPr/>
        </p:nvGrpSpPr>
        <p:grpSpPr>
          <a:xfrm>
            <a:off x="2762250" y="3124200"/>
            <a:ext cx="3181350" cy="1196721"/>
            <a:chOff x="2762250" y="3124200"/>
            <a:chExt cx="3181350" cy="1196721"/>
          </a:xfrm>
        </p:grpSpPr>
        <p:sp>
          <p:nvSpPr>
            <p:cNvPr id="32" name="Rectangle 32"/>
            <p:cNvSpPr/>
            <p:nvPr/>
          </p:nvSpPr>
          <p:spPr>
            <a:xfrm>
              <a:off x="2762250" y="312420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2250" y="312420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08173" y="3238500"/>
              <a:ext cx="13060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sharp_observer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8554" y="3486150"/>
              <a:ext cx="2172279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sharp observation about their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move or post, tied to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own experience, ending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a light question.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6388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2" name="writer-shared"/>
          <p:cNvGrpSpPr/>
          <p:nvPr/>
        </p:nvGrpSpPr>
        <p:grpSpPr>
          <a:xfrm>
            <a:off x="2762250" y="4438650"/>
            <a:ext cx="2857500" cy="1196721"/>
            <a:chOff x="2762250" y="4438650"/>
            <a:chExt cx="2857500" cy="1196721"/>
          </a:xfrm>
        </p:grpSpPr>
        <p:sp>
          <p:nvSpPr>
            <p:cNvPr id="38" name="Rectangle 38"/>
            <p:cNvSpPr/>
            <p:nvPr/>
          </p:nvSpPr>
          <p:spPr>
            <a:xfrm>
              <a:off x="2762250" y="44386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762250" y="44386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08173" y="4552950"/>
              <a:ext cx="10376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shared_path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08554" y="4800600"/>
              <a:ext cx="2115342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Leads with the concrete thing they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share, a school, employer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transition, then one easy question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about their side.</a:t>
              </a:r>
            </a:p>
          </p:txBody>
        </p:sp>
      </p:grpSp>
      <p:grpSp>
        <p:nvGrpSpPr>
          <p:cNvPr id="59" name="col-rules"/>
          <p:cNvGrpSpPr/>
          <p:nvPr/>
        </p:nvGrpSpPr>
        <p:grpSpPr>
          <a:xfrm>
            <a:off x="5962650" y="1809750"/>
            <a:ext cx="2819400" cy="3810000"/>
            <a:chOff x="5962650" y="1809750"/>
            <a:chExt cx="2819400" cy="3810000"/>
          </a:xfrm>
        </p:grpSpPr>
        <p:sp>
          <p:nvSpPr>
            <p:cNvPr id="43" name="Rectangle 43"/>
            <p:cNvSpPr/>
            <p:nvPr/>
          </p:nvSpPr>
          <p:spPr>
            <a:xfrm>
              <a:off x="5962650" y="1809750"/>
              <a:ext cx="24955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62650" y="1809750"/>
              <a:ext cx="24955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89142" y="1920875"/>
              <a:ext cx="1080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 checks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089904" y="2343150"/>
              <a:ext cx="2081510" cy="2577846"/>
              <a:chOff x="6089904" y="2343150"/>
              <a:chExt cx="2081510" cy="257784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089904" y="2343150"/>
                <a:ext cx="195087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Up to three attempts per writer.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Each retry is told what failed.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6096000" y="290512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242304" y="2828925"/>
                <a:ext cx="14925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Under 300 characters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0960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242304" y="3143250"/>
                <a:ext cx="169237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banned phrases, such as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reaching out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0960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242304" y="3657600"/>
                <a:ext cx="192911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ask: job, referral, interview,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coffee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6096000" y="42481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242304" y="4171950"/>
                <a:ext cx="1556827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exclamation marks 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dashes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096000" y="47625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242304" y="4686300"/>
                <a:ext cx="1802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Greets them by first name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847725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70" name="col-judge"/>
          <p:cNvGrpSpPr/>
          <p:nvPr/>
        </p:nvGrpSpPr>
        <p:grpSpPr>
          <a:xfrm>
            <a:off x="8801100" y="1809750"/>
            <a:ext cx="2781300" cy="3810000"/>
            <a:chOff x="8801100" y="1809750"/>
            <a:chExt cx="2781300" cy="3810000"/>
          </a:xfrm>
        </p:grpSpPr>
        <p:sp>
          <p:nvSpPr>
            <p:cNvPr id="60" name="Rectangle 60"/>
            <p:cNvSpPr/>
            <p:nvPr/>
          </p:nvSpPr>
          <p:spPr>
            <a:xfrm>
              <a:off x="8801100" y="1809750"/>
              <a:ext cx="2781300" cy="3810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01100" y="1809750"/>
              <a:ext cx="27813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46642" y="1920875"/>
              <a:ext cx="1554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Judge, high effort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947404" y="2343150"/>
              <a:ext cx="2241926" cy="2139696"/>
              <a:chOff x="8947404" y="2343150"/>
              <a:chExt cx="2241926" cy="21396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947404" y="2343150"/>
                <a:ext cx="2153717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Reads the drafts as the recipient: a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busy professional who gets generic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networking messages every week.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947404" y="3038475"/>
                <a:ext cx="213670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Scores reply likelihood, specificity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human feel, 1 to 5.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947404" y="3543300"/>
                <a:ext cx="211135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Penalises flattery, vague questions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any hint of a job ask.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947404" y="4048125"/>
                <a:ext cx="2241926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Sees recent cases where the operator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overruled it.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8953500" y="47244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47404" y="4826000"/>
              <a:ext cx="1841175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winner is stored with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its reason. Losing drafts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stay as alternatives.</a:t>
              </a:r>
            </a:p>
          </p:txBody>
        </p:sp>
      </p:grpSp>
      <p:grpSp>
        <p:nvGrpSpPr>
          <p:cNvPr id="73" name="fallbacks"/>
          <p:cNvGrpSpPr/>
          <p:nvPr/>
        </p:nvGrpSpPr>
        <p:grpSpPr>
          <a:xfrm>
            <a:off x="609600" y="5829300"/>
            <a:ext cx="10839450" cy="514350"/>
            <a:chOff x="609600" y="5829300"/>
            <a:chExt cx="10839450" cy="514350"/>
          </a:xfrm>
        </p:grpSpPr>
        <p:sp>
          <p:nvSpPr>
            <p:cNvPr id="71" name="Rectangle 71"/>
            <p:cNvSpPr/>
            <p:nvPr/>
          </p:nvSpPr>
          <p:spPr>
            <a:xfrm>
              <a:off x="609600" y="5829300"/>
              <a:ext cx="10839450" cy="5143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3623" y="6000750"/>
              <a:ext cx="94399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Fallbacks: if no draft passes the rules, the first one returns flagged for manual review. If only one passes, it wins without a judge.</a:t>
              </a:r>
            </a:p>
          </p:txBody>
        </p:sp>
      </p:grpSp>
      <p:grpSp>
        <p:nvGrpSpPr>
          <p:cNvPr id="75" name="source"/>
          <p:cNvGrpSpPr/>
          <p:nvPr/>
        </p:nvGrpSpPr>
        <p:grpSpPr>
          <a:xfrm>
            <a:off x="604647" y="6559550"/>
            <a:ext cx="5055692" cy="191643"/>
            <a:chOff x="604647" y="6559550"/>
            <a:chExt cx="5055692" cy="191643"/>
          </a:xfrm>
        </p:grpSpPr>
        <p:sp>
          <p:nvSpPr>
            <p:cNvPr id="74" name="TextBox 74"/>
            <p:cNvSpPr txBox="1"/>
            <p:nvPr/>
          </p:nvSpPr>
          <p:spPr>
            <a:xfrm>
              <a:off x="604647" y="6559550"/>
              <a:ext cx="50556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engine/outreach/messages.py, prompts.py (WRITERS, JUDGE_OPENERS)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51568" cy="1101979"/>
            <a:chOff x="596646" y="444500"/>
            <a:chExt cx="825156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659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CONVERSATION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25156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Replies are read as a whole thread, and an ask ladder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decides when it is right to ask for more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flow-heading"/>
          <p:cNvGrpSpPr/>
          <p:nvPr/>
        </p:nvGrpSpPr>
        <p:grpSpPr>
          <a:xfrm>
            <a:off x="603123" y="1743075"/>
            <a:ext cx="1550172" cy="250317"/>
            <a:chOff x="603123" y="1743075"/>
            <a:chExt cx="1550172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43075"/>
              <a:ext cx="1550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From reply to draft</a:t>
              </a:r>
            </a:p>
          </p:txBody>
        </p:sp>
      </p:grpSp>
      <p:grpSp>
        <p:nvGrpSpPr>
          <p:cNvPr id="17" name="flow-1"/>
          <p:cNvGrpSpPr/>
          <p:nvPr/>
        </p:nvGrpSpPr>
        <p:grpSpPr>
          <a:xfrm>
            <a:off x="609600" y="2038350"/>
            <a:ext cx="4476750" cy="762000"/>
            <a:chOff x="609600" y="2038350"/>
            <a:chExt cx="4476750" cy="762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004" y="2114550"/>
              <a:ext cx="1346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Reply copied 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004" y="2343150"/>
              <a:ext cx="31542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Claude in Chrome adds it to inbound_replies.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847975" y="26860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3" name="flow-2"/>
          <p:cNvGrpSpPr/>
          <p:nvPr/>
        </p:nvGrpSpPr>
        <p:grpSpPr>
          <a:xfrm>
            <a:off x="609600" y="2819400"/>
            <a:ext cx="4476750" cy="762000"/>
            <a:chOff x="609600" y="2819400"/>
            <a:chExt cx="4476750" cy="762000"/>
          </a:xfrm>
        </p:grpSpPr>
        <p:sp>
          <p:nvSpPr>
            <p:cNvPr id="18" name="Rectangle 18"/>
            <p:cNvSpPr/>
            <p:nvPr/>
          </p:nvSpPr>
          <p:spPr>
            <a:xfrm>
              <a:off x="609600" y="28194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8194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004" y="2895600"/>
              <a:ext cx="1867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Matched to a prospect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004" y="3124200"/>
              <a:ext cx="4008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profile URL, else a unique name. Duplicates skipped.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47975" y="34671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9" name="flow-3"/>
          <p:cNvGrpSpPr/>
          <p:nvPr/>
        </p:nvGrpSpPr>
        <p:grpSpPr>
          <a:xfrm>
            <a:off x="609600" y="3600450"/>
            <a:ext cx="4476750" cy="762000"/>
            <a:chOff x="609600" y="3600450"/>
            <a:chExt cx="4476750" cy="762000"/>
          </a:xfrm>
        </p:grpSpPr>
        <p:sp>
          <p:nvSpPr>
            <p:cNvPr id="24" name="Rectangle 24"/>
            <p:cNvSpPr/>
            <p:nvPr/>
          </p:nvSpPr>
          <p:spPr>
            <a:xfrm>
              <a:off x="609600" y="36004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6004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4004" y="3676650"/>
              <a:ext cx="1446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Read as a thread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004" y="3905250"/>
              <a:ext cx="3600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Sentiment, rapport 1 to 5, redirect, and the right ask.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47975" y="42481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5" name="flow-4"/>
          <p:cNvGrpSpPr/>
          <p:nvPr/>
        </p:nvGrpSpPr>
        <p:grpSpPr>
          <a:xfrm>
            <a:off x="609600" y="4381500"/>
            <a:ext cx="4476750" cy="762000"/>
            <a:chOff x="609600" y="4381500"/>
            <a:chExt cx="447675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3815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3815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004" y="4457700"/>
              <a:ext cx="1831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Next message drafted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004" y="4686300"/>
              <a:ext cx="4013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Under 400 characters, answers them first, one ask at most.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847975" y="50292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9" name="flow-5"/>
          <p:cNvGrpSpPr/>
          <p:nvPr/>
        </p:nvGrpSpPr>
        <p:grpSpPr>
          <a:xfrm>
            <a:off x="609600" y="5162550"/>
            <a:ext cx="4476750" cy="628650"/>
            <a:chOff x="609600" y="5162550"/>
            <a:chExt cx="4476750" cy="628650"/>
          </a:xfrm>
        </p:grpSpPr>
        <p:sp>
          <p:nvSpPr>
            <p:cNvPr id="36" name="Rectangle 36"/>
            <p:cNvSpPr/>
            <p:nvPr/>
          </p:nvSpPr>
          <p:spPr>
            <a:xfrm>
              <a:off x="609600" y="5162550"/>
              <a:ext cx="44767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4004" y="5238750"/>
              <a:ext cx="1328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 Auto-send gate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004" y="5467350"/>
              <a:ext cx="3172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Passes the safety filter, or is held for a person.</a:t>
              </a:r>
            </a:p>
          </p:txBody>
        </p:sp>
      </p:grpSp>
      <p:grpSp>
        <p:nvGrpSpPr>
          <p:cNvPr id="41" name="ladder-heading"/>
          <p:cNvGrpSpPr/>
          <p:nvPr/>
        </p:nvGrpSpPr>
        <p:grpSpPr>
          <a:xfrm>
            <a:off x="5899023" y="1743075"/>
            <a:ext cx="4806674" cy="250317"/>
            <a:chOff x="5899023" y="1743075"/>
            <a:chExt cx="4806674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5899023" y="1743075"/>
              <a:ext cx="48066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ask ladder, ordered by how much it asks (our reading)</a:t>
              </a:r>
            </a:p>
          </p:txBody>
        </p:sp>
      </p:grpSp>
      <p:grpSp>
        <p:nvGrpSpPr>
          <p:cNvPr id="45" name="rung-none"/>
          <p:cNvGrpSpPr/>
          <p:nvPr/>
        </p:nvGrpSpPr>
        <p:grpSpPr>
          <a:xfrm>
            <a:off x="5905500" y="2038350"/>
            <a:ext cx="5676900" cy="552450"/>
            <a:chOff x="5905500" y="2038350"/>
            <a:chExt cx="5676900" cy="552450"/>
          </a:xfrm>
        </p:grpSpPr>
        <p:sp>
          <p:nvSpPr>
            <p:cNvPr id="42" name="Rectangle 42"/>
            <p:cNvSpPr/>
            <p:nvPr/>
          </p:nvSpPr>
          <p:spPr>
            <a:xfrm>
              <a:off x="5905500" y="2038350"/>
              <a:ext cx="567690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2754" y="2114550"/>
              <a:ext cx="398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none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2754" y="2324100"/>
              <a:ext cx="3177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Rapport below 3. Another real exchange first.</a:t>
              </a:r>
            </a:p>
          </p:txBody>
        </p:sp>
      </p:grpSp>
      <p:grpSp>
        <p:nvGrpSpPr>
          <p:cNvPr id="49" name="rung-advice"/>
          <p:cNvGrpSpPr/>
          <p:nvPr/>
        </p:nvGrpSpPr>
        <p:grpSpPr>
          <a:xfrm>
            <a:off x="6248400" y="2667000"/>
            <a:ext cx="5334000" cy="552450"/>
            <a:chOff x="6248400" y="2667000"/>
            <a:chExt cx="5334000" cy="552450"/>
          </a:xfrm>
        </p:grpSpPr>
        <p:sp>
          <p:nvSpPr>
            <p:cNvPr id="46" name="Rectangle 46"/>
            <p:cNvSpPr/>
            <p:nvPr/>
          </p:nvSpPr>
          <p:spPr>
            <a:xfrm>
              <a:off x="6248400" y="2667000"/>
              <a:ext cx="5334000" cy="55245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5654" y="2743200"/>
              <a:ext cx="515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advice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75654" y="2952750"/>
              <a:ext cx="2486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how best to approach applying.</a:t>
              </a:r>
            </a:p>
          </p:txBody>
        </p:sp>
      </p:grpSp>
      <p:grpSp>
        <p:nvGrpSpPr>
          <p:cNvPr id="53" name="rung-opening"/>
          <p:cNvGrpSpPr/>
          <p:nvPr/>
        </p:nvGrpSpPr>
        <p:grpSpPr>
          <a:xfrm>
            <a:off x="6591300" y="3295650"/>
            <a:ext cx="4991100" cy="552450"/>
            <a:chOff x="6591300" y="3295650"/>
            <a:chExt cx="4991100" cy="552450"/>
          </a:xfrm>
        </p:grpSpPr>
        <p:sp>
          <p:nvSpPr>
            <p:cNvPr id="50" name="Rectangle 50"/>
            <p:cNvSpPr/>
            <p:nvPr/>
          </p:nvSpPr>
          <p:spPr>
            <a:xfrm>
              <a:off x="6591300" y="3295650"/>
              <a:ext cx="4991100" cy="5524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18554" y="3371850"/>
              <a:ext cx="640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opening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8554" y="3581400"/>
              <a:ext cx="288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if a relevant role exists on their team.</a:t>
              </a:r>
            </a:p>
          </p:txBody>
        </p:sp>
      </p:grpSp>
      <p:grpSp>
        <p:nvGrpSpPr>
          <p:cNvPr id="57" name="rung-hiring"/>
          <p:cNvGrpSpPr/>
          <p:nvPr/>
        </p:nvGrpSpPr>
        <p:grpSpPr>
          <a:xfrm>
            <a:off x="6934200" y="3924300"/>
            <a:ext cx="4648200" cy="552450"/>
            <a:chOff x="6934200" y="3924300"/>
            <a:chExt cx="4648200" cy="552450"/>
          </a:xfrm>
        </p:grpSpPr>
        <p:sp>
          <p:nvSpPr>
            <p:cNvPr id="54" name="Rectangle 54"/>
            <p:cNvSpPr/>
            <p:nvPr/>
          </p:nvSpPr>
          <p:spPr>
            <a:xfrm>
              <a:off x="6934200" y="3924300"/>
              <a:ext cx="4648200" cy="552450"/>
            </a:xfrm>
            <a:prstGeom prst="rect">
              <a:avLst/>
            </a:prstGeom>
            <a:solidFill>
              <a:srgbClr val="4A5F8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61454" y="4000500"/>
              <a:ext cx="1224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hiring_manager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1454" y="4210050"/>
              <a:ext cx="2339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who owns hiring for the role.</a:t>
              </a:r>
            </a:p>
          </p:txBody>
        </p:sp>
      </p:grpSp>
      <p:grpSp>
        <p:nvGrpSpPr>
          <p:cNvPr id="61" name="rung-intro"/>
          <p:cNvGrpSpPr/>
          <p:nvPr/>
        </p:nvGrpSpPr>
        <p:grpSpPr>
          <a:xfrm>
            <a:off x="7277100" y="4552950"/>
            <a:ext cx="4305300" cy="552450"/>
            <a:chOff x="7277100" y="4552950"/>
            <a:chExt cx="4305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7277100" y="4552950"/>
              <a:ext cx="4305300" cy="55245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4354" y="4629150"/>
              <a:ext cx="371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intro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04354" y="4838700"/>
              <a:ext cx="3329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for an introduction to someone they named.</a:t>
              </a:r>
            </a:p>
          </p:txBody>
        </p:sp>
      </p:grpSp>
      <p:grpSp>
        <p:nvGrpSpPr>
          <p:cNvPr id="65" name="rung-referral"/>
          <p:cNvGrpSpPr/>
          <p:nvPr/>
        </p:nvGrpSpPr>
        <p:grpSpPr>
          <a:xfrm>
            <a:off x="7620000" y="5181600"/>
            <a:ext cx="3962400" cy="552450"/>
            <a:chOff x="7620000" y="5181600"/>
            <a:chExt cx="3962400" cy="552450"/>
          </a:xfrm>
        </p:grpSpPr>
        <p:sp>
          <p:nvSpPr>
            <p:cNvPr id="62" name="Rectangle 62"/>
            <p:cNvSpPr/>
            <p:nvPr/>
          </p:nvSpPr>
          <p:spPr>
            <a:xfrm>
              <a:off x="7620000" y="5181600"/>
              <a:ext cx="3962400" cy="5524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47254" y="5257800"/>
              <a:ext cx="569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referral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7254" y="5467350"/>
              <a:ext cx="268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Only at rapport 4+ with a specific role.</a:t>
              </a:r>
            </a:p>
          </p:txBody>
        </p:sp>
      </p:grpSp>
      <p:grpSp>
        <p:nvGrpSpPr>
          <p:cNvPr id="68" name="followups"/>
          <p:cNvGrpSpPr/>
          <p:nvPr/>
        </p:nvGrpSpPr>
        <p:grpSpPr>
          <a:xfrm>
            <a:off x="609600" y="5886450"/>
            <a:ext cx="10839450" cy="552450"/>
            <a:chOff x="609600" y="5886450"/>
            <a:chExt cx="10839450" cy="552450"/>
          </a:xfrm>
        </p:grpSpPr>
        <p:sp>
          <p:nvSpPr>
            <p:cNvPr id="66" name="Rectangle 66"/>
            <p:cNvSpPr/>
            <p:nvPr/>
          </p:nvSpPr>
          <p:spPr>
            <a:xfrm>
              <a:off x="609600" y="5886450"/>
              <a:ext cx="1083945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93623" y="5949950"/>
              <a:ext cx="655397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Follow-ups: after six silent days, one short note built on a second verified fact, under 220 characters.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both messages go unanswered, the thread closes as no_response. Reply text is untrusted data.</a:t>
              </a:r>
            </a:p>
          </p:txBody>
        </p:sp>
      </p:grpSp>
      <p:grpSp>
        <p:nvGrpSpPr>
          <p:cNvPr id="70" name="source"/>
          <p:cNvGrpSpPr/>
          <p:nvPr/>
        </p:nvGrpSpPr>
        <p:grpSpPr>
          <a:xfrm>
            <a:off x="604647" y="6559550"/>
            <a:ext cx="5942767" cy="191643"/>
            <a:chOff x="604647" y="6559550"/>
            <a:chExt cx="5942767" cy="191643"/>
          </a:xfrm>
        </p:grpSpPr>
        <p:sp>
          <p:nvSpPr>
            <p:cNvPr id="69" name="TextBox 69"/>
            <p:cNvSpPr txBox="1"/>
            <p:nvPr/>
          </p:nvSpPr>
          <p:spPr>
            <a:xfrm>
              <a:off x="604647" y="6559550"/>
              <a:ext cx="59427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engine/outreach/bridge.py, messages.py, cli.py (followups), prompts.py (ANALYZE_REPLY)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513450" cy="1101979"/>
            <a:chOff x="596646" y="444500"/>
            <a:chExt cx="751345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74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SELF-LEARNING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51345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edit and every outcome feeds back, so the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writers, the judge and the reply agent improve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8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signal-1"/>
          <p:cNvGrpSpPr/>
          <p:nvPr/>
        </p:nvGrpSpPr>
        <p:grpSpPr>
          <a:xfrm>
            <a:off x="609600" y="1771650"/>
            <a:ext cx="4324350" cy="1066800"/>
            <a:chOff x="609600" y="1771650"/>
            <a:chExt cx="4324350" cy="1066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3623" y="1924050"/>
              <a:ext cx="12539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outcome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623" y="2171700"/>
              <a:ext cx="2627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opener gets a reply, or does not.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49580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signal-2"/>
          <p:cNvGrpSpPr/>
          <p:nvPr/>
        </p:nvGrpSpPr>
        <p:grpSpPr>
          <a:xfrm>
            <a:off x="609600" y="2914650"/>
            <a:ext cx="4324350" cy="1066800"/>
            <a:chOff x="609600" y="2914650"/>
            <a:chExt cx="4324350" cy="1066800"/>
          </a:xfrm>
        </p:grpSpPr>
        <p:sp>
          <p:nvSpPr>
            <p:cNvPr id="16" name="Rectangle 16"/>
            <p:cNvSpPr/>
            <p:nvPr/>
          </p:nvSpPr>
          <p:spPr>
            <a:xfrm>
              <a:off x="609600" y="2914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914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3623" y="3067050"/>
              <a:ext cx="10999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Operator edit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623" y="3314700"/>
              <a:ext cx="33575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edits a draft before approving it.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49580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7" name="signal-3"/>
          <p:cNvGrpSpPr/>
          <p:nvPr/>
        </p:nvGrpSpPr>
        <p:grpSpPr>
          <a:xfrm>
            <a:off x="609600" y="4057650"/>
            <a:ext cx="4324350" cy="1066800"/>
            <a:chOff x="609600" y="4057650"/>
            <a:chExt cx="43243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09600" y="4057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4057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3623" y="4210050"/>
              <a:ext cx="12536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override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445000"/>
              <a:ext cx="272094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picks an alternative over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judge's pick.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9580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3" name="signal-4"/>
          <p:cNvGrpSpPr/>
          <p:nvPr/>
        </p:nvGrpSpPr>
        <p:grpSpPr>
          <a:xfrm>
            <a:off x="609600" y="5200650"/>
            <a:ext cx="4324350" cy="1066800"/>
            <a:chOff x="609600" y="5200650"/>
            <a:chExt cx="4324350" cy="1066800"/>
          </a:xfrm>
        </p:grpSpPr>
        <p:sp>
          <p:nvSpPr>
            <p:cNvPr id="28" name="Rectangle 28"/>
            <p:cNvSpPr/>
            <p:nvPr/>
          </p:nvSpPr>
          <p:spPr>
            <a:xfrm>
              <a:off x="609600" y="5200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5200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3623" y="5353050"/>
              <a:ext cx="18855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Conversation outcome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623" y="5588000"/>
              <a:ext cx="253110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conversation reaches a referral or an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interview, or stalls.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49580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5" name="learn-step"/>
          <p:cNvGrpSpPr/>
          <p:nvPr/>
        </p:nvGrpSpPr>
        <p:grpSpPr>
          <a:xfrm>
            <a:off x="4953000" y="1771650"/>
            <a:ext cx="2743200" cy="4495800"/>
            <a:chOff x="4953000" y="1771650"/>
            <a:chExt cx="2743200" cy="4495800"/>
          </a:xfrm>
        </p:grpSpPr>
        <p:sp>
          <p:nvSpPr>
            <p:cNvPr id="34" name="Rectangle 34"/>
            <p:cNvSpPr/>
            <p:nvPr/>
          </p:nvSpPr>
          <p:spPr>
            <a:xfrm>
              <a:off x="4953000" y="1771650"/>
              <a:ext cx="2286000" cy="4495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96256" y="1905000"/>
              <a:ext cx="7588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learn()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099304" y="2305050"/>
              <a:ext cx="1679539" cy="3597021"/>
              <a:chOff x="5099304" y="2305050"/>
              <a:chExt cx="1679539" cy="3597021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099304" y="2305050"/>
                <a:ext cx="1595171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Runs inside sync once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new signals have arrived.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first playbook needs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five.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099304" y="3276600"/>
                <a:ext cx="1662318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Stored once, across all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candidates, in the feedback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document, because what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works carries over.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99304" y="4305300"/>
                <a:ext cx="1641104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At most five writers stay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active. A writer under half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best reply rate after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sends retires.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099304" y="5467350"/>
                <a:ext cx="167953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The next generate and sync</a:t>
                </a:r>
                <a:b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read the updated rules.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725805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2" name="Line 42"/>
            <p:cNvSpPr/>
            <p:nvPr/>
          </p:nvSpPr>
          <p:spPr>
            <a:xfrm>
              <a:off x="725805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3" name="Line 43"/>
            <p:cNvSpPr/>
            <p:nvPr/>
          </p:nvSpPr>
          <p:spPr>
            <a:xfrm>
              <a:off x="725805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>
              <a:off x="725805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9" name="result-1"/>
          <p:cNvGrpSpPr/>
          <p:nvPr/>
        </p:nvGrpSpPr>
        <p:grpSpPr>
          <a:xfrm>
            <a:off x="7715250" y="1771650"/>
            <a:ext cx="3867150" cy="1066800"/>
            <a:chOff x="7715250" y="1771650"/>
            <a:chExt cx="3867150" cy="1066800"/>
          </a:xfrm>
        </p:grpSpPr>
        <p:sp>
          <p:nvSpPr>
            <p:cNvPr id="46" name="Rectangle 46"/>
            <p:cNvSpPr/>
            <p:nvPr/>
          </p:nvSpPr>
          <p:spPr>
            <a:xfrm>
              <a:off x="7715250" y="1771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61173" y="1924050"/>
              <a:ext cx="11097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 choice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1554" y="2171700"/>
              <a:ext cx="2991277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Thompson sampling per prospect bucket. Weak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writers retire. A new angle evolves from openers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that got replies.</a:t>
              </a:r>
            </a:p>
          </p:txBody>
        </p:sp>
      </p:grpSp>
      <p:grpSp>
        <p:nvGrpSpPr>
          <p:cNvPr id="53" name="result-2"/>
          <p:cNvGrpSpPr/>
          <p:nvPr/>
        </p:nvGrpSpPr>
        <p:grpSpPr>
          <a:xfrm>
            <a:off x="7715250" y="2914650"/>
            <a:ext cx="3867150" cy="1066800"/>
            <a:chOff x="7715250" y="2914650"/>
            <a:chExt cx="3867150" cy="1066800"/>
          </a:xfrm>
        </p:grpSpPr>
        <p:sp>
          <p:nvSpPr>
            <p:cNvPr id="50" name="Rectangle 50"/>
            <p:cNvSpPr/>
            <p:nvPr/>
          </p:nvSpPr>
          <p:spPr>
            <a:xfrm>
              <a:off x="7715250" y="2914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61173" y="3067050"/>
              <a:ext cx="14261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Opener playbook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1554" y="3314700"/>
              <a:ext cx="306391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15 short rules distilled from the edits, fed to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every writer and to the judge.</a:t>
              </a:r>
            </a:p>
          </p:txBody>
        </p:sp>
      </p:grpSp>
      <p:grpSp>
        <p:nvGrpSpPr>
          <p:cNvPr id="57" name="result-3"/>
          <p:cNvGrpSpPr/>
          <p:nvPr/>
        </p:nvGrpSpPr>
        <p:grpSpPr>
          <a:xfrm>
            <a:off x="7715250" y="4057650"/>
            <a:ext cx="3867150" cy="1066800"/>
            <a:chOff x="7715250" y="4057650"/>
            <a:chExt cx="3867150" cy="1066800"/>
          </a:xfrm>
        </p:grpSpPr>
        <p:sp>
          <p:nvSpPr>
            <p:cNvPr id="54" name="Rectangle 54"/>
            <p:cNvSpPr/>
            <p:nvPr/>
          </p:nvSpPr>
          <p:spPr>
            <a:xfrm>
              <a:off x="7715250" y="4057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61173" y="4210050"/>
              <a:ext cx="14446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calibration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1554" y="4457700"/>
              <a:ext cx="291513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five most recent overrides are shown to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judge as examples of the operator's taste.</a:t>
              </a:r>
            </a:p>
          </p:txBody>
        </p:sp>
      </p:grpSp>
      <p:grpSp>
        <p:nvGrpSpPr>
          <p:cNvPr id="61" name="result-4"/>
          <p:cNvGrpSpPr/>
          <p:nvPr/>
        </p:nvGrpSpPr>
        <p:grpSpPr>
          <a:xfrm>
            <a:off x="7715250" y="5200650"/>
            <a:ext cx="3867150" cy="1066800"/>
            <a:chOff x="7715250" y="5200650"/>
            <a:chExt cx="3867150" cy="1066800"/>
          </a:xfrm>
        </p:grpSpPr>
        <p:sp>
          <p:nvSpPr>
            <p:cNvPr id="58" name="Rectangle 58"/>
            <p:cNvSpPr/>
            <p:nvPr/>
          </p:nvSpPr>
          <p:spPr>
            <a:xfrm>
              <a:off x="7715250" y="5200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61173" y="5353050"/>
              <a:ext cx="12920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playbook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1554" y="5600700"/>
              <a:ext cx="303818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12 rules plus success rates per ask type, fed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to the reply agent.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6100863" cy="191643"/>
            <a:chOff x="604647" y="6559550"/>
            <a:chExt cx="6100863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6100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engine/outreach/feedback.py (choose_writers, learn, _evolve_writers),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187527" cy="1101979"/>
            <a:chOff x="596646" y="444500"/>
            <a:chExt cx="718752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5597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SAFETY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18752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layers stand between model output and a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LinkedIn inbox, and the last one is a person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9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0" name="spine"/>
          <p:cNvGrpSpPr/>
          <p:nvPr/>
        </p:nvGrpSpPr>
        <p:grpSpPr>
          <a:xfrm>
            <a:off x="723900" y="2076450"/>
            <a:ext cx="381000" cy="3695700"/>
            <a:chOff x="723900" y="2076450"/>
            <a:chExt cx="381000" cy="3695700"/>
          </a:xfrm>
        </p:grpSpPr>
        <p:sp>
          <p:nvSpPr>
            <p:cNvPr id="10" name="Line 10"/>
            <p:cNvSpPr/>
            <p:nvPr/>
          </p:nvSpPr>
          <p:spPr>
            <a:xfrm>
              <a:off x="914400" y="226695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0" y="0"/>
                  </a:moveTo>
                  <a:lnTo>
                    <a:pt x="0" y="3314700"/>
                  </a:lnTo>
                </a:path>
              </a:pathLst>
            </a:custGeom>
            <a:noFill/>
            <a:ln w="28575">
              <a:solidFill>
                <a:srgbClr val="0E1F3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3900" y="2076450"/>
              <a:ext cx="381000" cy="3695700"/>
              <a:chOff x="723900" y="2076450"/>
              <a:chExt cx="381000" cy="36957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23900" y="20764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0623" y="21431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723900" y="31813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0623" y="32480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23900" y="42862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0623" y="43529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23900" y="53911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0623" y="54578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</p:grpSp>
      <p:grpSp>
        <p:nvGrpSpPr>
          <p:cNvPr id="25" name="layer-1"/>
          <p:cNvGrpSpPr/>
          <p:nvPr/>
        </p:nvGrpSpPr>
        <p:grpSpPr>
          <a:xfrm>
            <a:off x="1238250" y="1771650"/>
            <a:ext cx="10344150" cy="990600"/>
            <a:chOff x="1238250" y="1771650"/>
            <a:chExt cx="10344150" cy="990600"/>
          </a:xfrm>
        </p:grpSpPr>
        <p:sp>
          <p:nvSpPr>
            <p:cNvPr id="21" name="Rectangle 21"/>
            <p:cNvSpPr/>
            <p:nvPr/>
          </p:nvSpPr>
          <p:spPr>
            <a:xfrm>
              <a:off x="1238250" y="17716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86250" y="17716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511" y="1962150"/>
              <a:ext cx="1236895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Untrusted text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is fenced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0273" y="1930400"/>
              <a:ext cx="6093706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 results, profile text and replies are labelled untrusted data in the prompts. The model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extracts facts from them and never follows instructions inside them, such as ignore your rules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or send this link.</a:t>
              </a:r>
            </a:p>
          </p:txBody>
        </p:sp>
      </p:grpSp>
      <p:grpSp>
        <p:nvGrpSpPr>
          <p:cNvPr id="30" name="layer-2"/>
          <p:cNvGrpSpPr/>
          <p:nvPr/>
        </p:nvGrpSpPr>
        <p:grpSpPr>
          <a:xfrm>
            <a:off x="1238250" y="2876550"/>
            <a:ext cx="10344150" cy="990600"/>
            <a:chOff x="1238250" y="2876550"/>
            <a:chExt cx="10344150" cy="990600"/>
          </a:xfrm>
        </p:grpSpPr>
        <p:sp>
          <p:nvSpPr>
            <p:cNvPr id="26" name="Rectangle 26"/>
            <p:cNvSpPr/>
            <p:nvPr/>
          </p:nvSpPr>
          <p:spPr>
            <a:xfrm>
              <a:off x="1238250" y="28765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86250" y="28765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21511" y="3067050"/>
              <a:ext cx="1137239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Rules check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opener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0273" y="3035300"/>
              <a:ext cx="594421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Length, banned phrases, any hint of an ask, exclamation marks, dashes and the greeting are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checked in code. A draft that fails is rewritten with the reasons, up to three times.</a:t>
              </a:r>
            </a:p>
          </p:txBody>
        </p:sp>
      </p:grpSp>
      <p:grpSp>
        <p:nvGrpSpPr>
          <p:cNvPr id="35" name="layer-3"/>
          <p:cNvGrpSpPr/>
          <p:nvPr/>
        </p:nvGrpSpPr>
        <p:grpSpPr>
          <a:xfrm>
            <a:off x="1238250" y="3981450"/>
            <a:ext cx="10344150" cy="990600"/>
            <a:chOff x="1238250" y="3981450"/>
            <a:chExt cx="1034415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38250" y="39814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39814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21511" y="4171950"/>
              <a:ext cx="1307227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auto-send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filter holds risk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70273" y="4140200"/>
              <a:ext cx="5827042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send without approval only when the candidate turned auto-send on, the reply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was warm, neutral or redirecting, and the text is within 600 characters with no link, email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address, phone number, OTP, password or bank term.</a:t>
              </a:r>
            </a:p>
          </p:txBody>
        </p:sp>
      </p:grpSp>
      <p:grpSp>
        <p:nvGrpSpPr>
          <p:cNvPr id="40" name="layer-4"/>
          <p:cNvGrpSpPr/>
          <p:nvPr/>
        </p:nvGrpSpPr>
        <p:grpSpPr>
          <a:xfrm>
            <a:off x="1238250" y="5086350"/>
            <a:ext cx="10344150" cy="990600"/>
            <a:chOff x="1238250" y="5086350"/>
            <a:chExt cx="10344150" cy="990600"/>
          </a:xfrm>
        </p:grpSpPr>
        <p:sp>
          <p:nvSpPr>
            <p:cNvPr id="36" name="Rectangle 36"/>
            <p:cNvSpPr/>
            <p:nvPr/>
          </p:nvSpPr>
          <p:spPr>
            <a:xfrm>
              <a:off x="1238250" y="5086350"/>
              <a:ext cx="3048000" cy="9906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5086350"/>
              <a:ext cx="7296150" cy="9906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21511" y="5276850"/>
              <a:ext cx="169813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A person approves,</a:t>
              </a:r>
              <a:b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volume is capped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0273" y="5245100"/>
              <a:ext cx="5903511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opener is approved by a person before it can leave. Export to La Growth Machine 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capped per batch to the weekly invite budget, and the engine never logs into or scrapes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</a:t>
              </a:r>
            </a:p>
          </p:txBody>
        </p:sp>
      </p:grpSp>
      <p:grpSp>
        <p:nvGrpSpPr>
          <p:cNvPr id="42" name="source"/>
          <p:cNvGrpSpPr/>
          <p:nvPr/>
        </p:nvGrpSpPr>
        <p:grpSpPr>
          <a:xfrm>
            <a:off x="604647" y="6559550"/>
            <a:ext cx="8323144" cy="191643"/>
            <a:chOff x="604647" y="6559550"/>
            <a:chExt cx="8323144" cy="191643"/>
          </a:xfrm>
        </p:grpSpPr>
        <p:sp>
          <p:nvSpPr>
            <p:cNvPr id="41" name="TextBox 41"/>
            <p:cNvSpPr txBox="1"/>
            <p:nvPr/>
          </p:nvSpPr>
          <p:spPr>
            <a:xfrm>
              <a:off x="604647" y="6559550"/>
              <a:ext cx="83231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 (UNSAFE_FOR_AUTO_SEND), messages.py, prompts.py, cli.py (export-lgm),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10773" cy="1101979"/>
            <a:chOff x="596646" y="444500"/>
            <a:chExt cx="8410773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2953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INFRASTRUCTURE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410773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Small on purpose: one FastAPI function, one Postgres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project and one scheduled job, all in Mumbai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9" name="vercel-box"/>
          <p:cNvGrpSpPr/>
          <p:nvPr/>
        </p:nvGrpSpPr>
        <p:grpSpPr>
          <a:xfrm>
            <a:off x="609600" y="1771650"/>
            <a:ext cx="5334000" cy="2933700"/>
            <a:chOff x="609600" y="1771650"/>
            <a:chExt cx="5334000" cy="29337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34000" cy="29337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142" y="1882775"/>
              <a:ext cx="2018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Vercel, Mumbai (bom1)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62000" y="2324100"/>
              <a:ext cx="5029200" cy="2057400"/>
              <a:chOff x="762000" y="2324100"/>
              <a:chExt cx="5029200" cy="2057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3241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28575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62000" y="33909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39243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89635" y="2374900"/>
              <a:ext cx="1393710" cy="1820228"/>
              <a:chOff x="889635" y="2374900"/>
              <a:chExt cx="1393710" cy="182022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9635" y="2374900"/>
                <a:ext cx="12219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POST /api/intake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9635" y="2908300"/>
                <a:ext cx="6902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/api/crm/*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9635" y="3441700"/>
                <a:ext cx="13937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GET /api/cron/sync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89635" y="3975100"/>
                <a:ext cx="3299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/crm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89635" y="2555875"/>
              <a:ext cx="3403974" cy="1820228"/>
              <a:chOff x="889635" y="2555875"/>
              <a:chExt cx="3403974" cy="182022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89635" y="2555875"/>
                <a:ext cx="34039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Public sign-up form, validated, with a honeypot field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9635" y="3089275"/>
                <a:ext cx="3148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API, behind the operator password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9635" y="3622675"/>
                <a:ext cx="27530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Daily at 09:00 IST, behind a bearer secret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9635" y="4156075"/>
                <a:ext cx="27720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Desk, a single page with seven tabs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56285" y="4432300"/>
              <a:ext cx="3613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One function, 60 second limit, engine copied in at build.</a:t>
              </a:r>
            </a:p>
          </p:txBody>
        </p:sp>
      </p:grpSp>
      <p:grpSp>
        <p:nvGrpSpPr>
          <p:cNvPr id="33" name="link-box"/>
          <p:cNvGrpSpPr/>
          <p:nvPr/>
        </p:nvGrpSpPr>
        <p:grpSpPr>
          <a:xfrm>
            <a:off x="6019800" y="2978150"/>
            <a:ext cx="571500" cy="515493"/>
            <a:chOff x="6019800" y="2978150"/>
            <a:chExt cx="571500" cy="515493"/>
          </a:xfrm>
        </p:grpSpPr>
        <p:sp>
          <p:nvSpPr>
            <p:cNvPr id="30" name="Line 30"/>
            <p:cNvSpPr/>
            <p:nvPr/>
          </p:nvSpPr>
          <p:spPr>
            <a:xfrm>
              <a:off x="6019800" y="3200400"/>
              <a:ext cx="571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14714" y="2978150"/>
              <a:ext cx="3816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REST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9223" y="3302000"/>
              <a:ext cx="3326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token</a:t>
              </a:r>
            </a:p>
          </p:txBody>
        </p:sp>
      </p:grpSp>
      <p:grpSp>
        <p:nvGrpSpPr>
          <p:cNvPr id="48" name="supabase-box"/>
          <p:cNvGrpSpPr/>
          <p:nvPr/>
        </p:nvGrpSpPr>
        <p:grpSpPr>
          <a:xfrm>
            <a:off x="6667500" y="1771650"/>
            <a:ext cx="4914900" cy="2933700"/>
            <a:chOff x="6667500" y="1771650"/>
            <a:chExt cx="4914900" cy="2933700"/>
          </a:xfrm>
        </p:grpSpPr>
        <p:sp>
          <p:nvSpPr>
            <p:cNvPr id="34" name="Rectangle 34"/>
            <p:cNvSpPr/>
            <p:nvPr/>
          </p:nvSpPr>
          <p:spPr>
            <a:xfrm>
              <a:off x="6667500" y="1771650"/>
              <a:ext cx="4914900" cy="29337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0" y="1771650"/>
              <a:ext cx="4914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13042" y="1882775"/>
              <a:ext cx="2774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Supabase, Mumbai (ap-south-1)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819900" y="2305050"/>
              <a:ext cx="3456698" cy="1911096"/>
              <a:chOff x="6819900" y="2305050"/>
              <a:chExt cx="3456698" cy="1911096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819900" y="23812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85254" y="2305050"/>
                <a:ext cx="3285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Postgres with row-level security on every table.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819900" y="27051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985254" y="2628900"/>
                <a:ext cx="3274771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engine uses the publishable key plus a secret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x-engine-token header, so no service-role key is kept.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68199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985254" y="3143250"/>
                <a:ext cx="3093568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 the SHA-256 hash of the token is stored, and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engine_authorized() checks it inside each policy.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8199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85254" y="3657600"/>
                <a:ext cx="32913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public can insert sign-ups and nothing else.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819900" y="40576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985254" y="3981450"/>
                <a:ext cx="30921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Same city as the function, so calls stay short.</a:t>
                </a:r>
              </a:p>
            </p:txBody>
          </p:sp>
        </p:grpSp>
      </p:grpSp>
      <p:grpSp>
        <p:nvGrpSpPr>
          <p:cNvPr id="65" name="settings-box"/>
          <p:cNvGrpSpPr/>
          <p:nvPr/>
        </p:nvGrpSpPr>
        <p:grpSpPr>
          <a:xfrm>
            <a:off x="609600" y="4819650"/>
            <a:ext cx="5334000" cy="1638300"/>
            <a:chOff x="609600" y="4819650"/>
            <a:chExt cx="5334000" cy="1638300"/>
          </a:xfrm>
        </p:grpSpPr>
        <p:sp>
          <p:nvSpPr>
            <p:cNvPr id="49" name="Rectangle 49"/>
            <p:cNvSpPr/>
            <p:nvPr/>
          </p:nvSpPr>
          <p:spPr>
            <a:xfrm>
              <a:off x="609600" y="4819650"/>
              <a:ext cx="5334000" cy="16383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5904" y="4905375"/>
              <a:ext cx="1777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Settings, by name only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56666" y="5226050"/>
              <a:ext cx="4192433" cy="1043559"/>
              <a:chOff x="756666" y="5226050"/>
              <a:chExt cx="4192433" cy="1043559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756666" y="5226050"/>
                <a:ext cx="12306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SUPABASE_URL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56666" y="5645150"/>
                <a:ext cx="12307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SUPABASE_KEY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56666" y="6064250"/>
                <a:ext cx="11890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ENGINE_TOKEN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328416" y="5226050"/>
                <a:ext cx="13134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CRM_PASSWORD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328416" y="5645150"/>
                <a:ext cx="11392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CRON_SECRET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328416" y="6064250"/>
                <a:ext cx="16206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ANTHROPIC_API_KEY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56285" y="5384800"/>
              <a:ext cx="3967343" cy="1058228"/>
              <a:chOff x="756285" y="5384800"/>
              <a:chExt cx="3967343" cy="1058228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756285" y="5384800"/>
                <a:ext cx="9950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Project address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6285" y="5803900"/>
                <a:ext cx="13636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Publishable key only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56285" y="6223000"/>
                <a:ext cx="11251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Gates row access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328035" y="5384800"/>
                <a:ext cx="12061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login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328035" y="5803900"/>
                <a:ext cx="12747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Authorises the cron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328035" y="6223000"/>
                <a:ext cx="13955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Needed for sync only</a:t>
                </a:r>
              </a:p>
            </p:txBody>
          </p:sp>
        </p:grpSp>
      </p:grpSp>
      <p:grpSp>
        <p:nvGrpSpPr>
          <p:cNvPr id="84" name="desk-box"/>
          <p:cNvGrpSpPr/>
          <p:nvPr/>
        </p:nvGrpSpPr>
        <p:grpSpPr>
          <a:xfrm>
            <a:off x="6667500" y="4819650"/>
            <a:ext cx="4914900" cy="1638300"/>
            <a:chOff x="6667500" y="4819650"/>
            <a:chExt cx="4914900" cy="1638300"/>
          </a:xfrm>
        </p:grpSpPr>
        <p:sp>
          <p:nvSpPr>
            <p:cNvPr id="66" name="Rectangle 66"/>
            <p:cNvSpPr/>
            <p:nvPr/>
          </p:nvSpPr>
          <p:spPr>
            <a:xfrm>
              <a:off x="6667500" y="4819650"/>
              <a:ext cx="4914900" cy="16383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13804" y="4905375"/>
              <a:ext cx="1325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 Desk tabs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6819900" y="5219700"/>
              <a:ext cx="4191000" cy="685800"/>
              <a:chOff x="6819900" y="5219700"/>
              <a:chExt cx="4191000" cy="6858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819900" y="5219700"/>
                <a:ext cx="9144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955220" y="5283200"/>
                <a:ext cx="6437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Overview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7848600" y="5219700"/>
                <a:ext cx="1047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984030" y="5283200"/>
                <a:ext cx="7768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Candidates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9010650" y="5219700"/>
                <a:ext cx="10287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9116601" y="5283200"/>
                <a:ext cx="8167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Send queue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0153650" y="5219700"/>
                <a:ext cx="8572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10323501" y="5283200"/>
                <a:ext cx="5175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Replies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6819900" y="5619750"/>
                <a:ext cx="9334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6976553" y="5683250"/>
                <a:ext cx="6201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Sign-ups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7867650" y="5619750"/>
                <a:ext cx="8763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999920" y="5683250"/>
                <a:ext cx="6117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858250" y="5619750"/>
                <a:ext cx="762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015515" y="5683250"/>
                <a:ext cx="4474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Spend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6813804" y="6057900"/>
              <a:ext cx="3875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Tabs show a count when drafts or sign-ups wait for you.</a:t>
              </a:r>
            </a:p>
          </p:txBody>
        </p:sp>
      </p:grpSp>
      <p:grpSp>
        <p:nvGrpSpPr>
          <p:cNvPr id="86" name="source"/>
          <p:cNvGrpSpPr/>
          <p:nvPr/>
        </p:nvGrpSpPr>
        <p:grpSpPr>
          <a:xfrm>
            <a:off x="604647" y="6559550"/>
            <a:ext cx="7872684" cy="191643"/>
            <a:chOff x="604647" y="6559550"/>
            <a:chExt cx="7872684" cy="191643"/>
          </a:xfrm>
        </p:grpSpPr>
        <p:sp>
          <p:nvSpPr>
            <p:cNvPr id="85" name="TextBox 85"/>
            <p:cNvSpPr txBox="1"/>
            <p:nvPr/>
          </p:nvSpPr>
          <p:spPr>
            <a:xfrm>
              <a:off x="604647" y="6559550"/>
              <a:ext cx="78726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deploy/vercel.json, deploy/api/index.py, deploy/public/crm/index.html, supabase/migrations/0003. Regions are project settings.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05447" cy="1101979"/>
            <a:chOff x="596646" y="444500"/>
            <a:chExt cx="810544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3730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QUALITY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10544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design is tested twice: a blind comparison of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writing approaches, and a suite that needs no model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blind-heading"/>
          <p:cNvGrpSpPr/>
          <p:nvPr/>
        </p:nvGrpSpPr>
        <p:grpSpPr>
          <a:xfrm>
            <a:off x="603123" y="1752600"/>
            <a:ext cx="4855173" cy="250317"/>
            <a:chOff x="603123" y="1752600"/>
            <a:chExt cx="4855173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8551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Blind message test: seven approaches, the same test pairs</a:t>
              </a:r>
            </a:p>
          </p:txBody>
        </p:sp>
      </p:grpSp>
      <p:grpSp>
        <p:nvGrpSpPr>
          <p:cNvPr id="26" name="approach-chips"/>
          <p:cNvGrpSpPr/>
          <p:nvPr/>
        </p:nvGrpSpPr>
        <p:grpSpPr>
          <a:xfrm>
            <a:off x="609600" y="2057400"/>
            <a:ext cx="6019800" cy="1314450"/>
            <a:chOff x="609600" y="2057400"/>
            <a:chExt cx="6019800" cy="13144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57400"/>
              <a:ext cx="29718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8566" y="2120900"/>
              <a:ext cx="2434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 engine: 3 writers and a judge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95700" y="20574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4666" y="2120900"/>
              <a:ext cx="2151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Hybrid playbook with self-judge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24003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8566" y="2463800"/>
              <a:ext cx="131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Research playbook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95700" y="24003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04666" y="2463800"/>
              <a:ext cx="136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Single-writer engine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7432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8566" y="2806700"/>
              <a:ext cx="1216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Sales copywriting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95700" y="27432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4666" y="2806700"/>
              <a:ext cx="2033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Five-point networking method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30861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566" y="3149600"/>
              <a:ext cx="957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Plain baseline</a:t>
              </a:r>
            </a:p>
          </p:txBody>
        </p:sp>
      </p:grpSp>
      <p:grpSp>
        <p:nvGrpSpPr>
          <p:cNvPr id="28" name="judges-line"/>
          <p:cNvGrpSpPr/>
          <p:nvPr/>
        </p:nvGrpSpPr>
        <p:grpSpPr>
          <a:xfrm>
            <a:off x="603885" y="3517900"/>
            <a:ext cx="3763778" cy="410528"/>
            <a:chOff x="603885" y="3517900"/>
            <a:chExt cx="3763778" cy="410528"/>
          </a:xfrm>
        </p:grpSpPr>
        <p:sp>
          <p:nvSpPr>
            <p:cNvPr id="27" name="TextBox 27"/>
            <p:cNvSpPr txBox="1"/>
            <p:nvPr/>
          </p:nvSpPr>
          <p:spPr>
            <a:xfrm>
              <a:off x="603885" y="3517900"/>
              <a:ext cx="3763778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Ten test pairs. Four blind judges: a recipient, a hiring manager, an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Indian recruiter and a rubric auditor.</a:t>
              </a:r>
            </a:p>
          </p:txBody>
        </p:sp>
      </p:grpSp>
      <p:grpSp>
        <p:nvGrpSpPr>
          <p:cNvPr id="31" name="result-band"/>
          <p:cNvGrpSpPr/>
          <p:nvPr/>
        </p:nvGrpSpPr>
        <p:grpSpPr>
          <a:xfrm>
            <a:off x="609600" y="4038600"/>
            <a:ext cx="6019800" cy="571500"/>
            <a:chOff x="609600" y="4038600"/>
            <a:chExt cx="6019800" cy="571500"/>
          </a:xfrm>
        </p:grpSpPr>
        <p:sp>
          <p:nvSpPr>
            <p:cNvPr id="29" name="Rectangle 29"/>
            <p:cNvSpPr/>
            <p:nvPr/>
          </p:nvSpPr>
          <p:spPr>
            <a:xfrm>
              <a:off x="609600" y="4038600"/>
              <a:ext cx="6019800" cy="571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0956" y="4171950"/>
              <a:ext cx="4873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Our engine beat the six other approaches.</a:t>
              </a:r>
            </a:p>
          </p:txBody>
        </p:sp>
      </p:grpSp>
      <p:grpSp>
        <p:nvGrpSpPr>
          <p:cNvPr id="39" name="lessons"/>
          <p:cNvGrpSpPr/>
          <p:nvPr/>
        </p:nvGrpSpPr>
        <p:grpSpPr>
          <a:xfrm>
            <a:off x="603885" y="4737100"/>
            <a:ext cx="3654361" cy="1591628"/>
            <a:chOff x="603885" y="4737100"/>
            <a:chExt cx="3654361" cy="1591628"/>
          </a:xfrm>
        </p:grpSpPr>
        <p:sp>
          <p:nvSpPr>
            <p:cNvPr id="32" name="TextBox 32"/>
            <p:cNvSpPr txBox="1"/>
            <p:nvPr/>
          </p:nvSpPr>
          <p:spPr>
            <a:xfrm>
              <a:off x="603885" y="4737100"/>
              <a:ext cx="2663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What the test changed in prompts.py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5048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5335" y="5003800"/>
              <a:ext cx="3482911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Openers: no self-introduction, concrete batch-year ties, and a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practitioner question only that person could answer.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5505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5335" y="5461000"/>
              <a:ext cx="3384509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Follow-ups: a second verified fact, an insider line, either/or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questions, an openly smaller ask, an easy out.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5962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5335" y="5918200"/>
              <a:ext cx="3096075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writers plus a judge stays the default. It beat the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single-writer version of the same engine.</a:t>
              </a:r>
            </a:p>
          </p:txBody>
        </p:sp>
      </p:grpSp>
      <p:grpSp>
        <p:nvGrpSpPr>
          <p:cNvPr id="41" name="tests-heading"/>
          <p:cNvGrpSpPr/>
          <p:nvPr/>
        </p:nvGrpSpPr>
        <p:grpSpPr>
          <a:xfrm>
            <a:off x="7042023" y="1752600"/>
            <a:ext cx="2881636" cy="250317"/>
            <a:chOff x="7042023" y="1752600"/>
            <a:chExt cx="2881636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7042023" y="1752600"/>
              <a:ext cx="28816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Automated tests, no model needed</a:t>
              </a:r>
            </a:p>
          </p:txBody>
        </p:sp>
      </p:grpSp>
      <p:grpSp>
        <p:nvGrpSpPr>
          <p:cNvPr id="45" name="tile-engine-tests"/>
          <p:cNvGrpSpPr/>
          <p:nvPr/>
        </p:nvGrpSpPr>
        <p:grpSpPr>
          <a:xfrm>
            <a:off x="7048500" y="2038350"/>
            <a:ext cx="2190750" cy="1238250"/>
            <a:chOff x="7048500" y="2038350"/>
            <a:chExt cx="2190750" cy="1238250"/>
          </a:xfrm>
        </p:grpSpPr>
        <p:sp>
          <p:nvSpPr>
            <p:cNvPr id="42" name="Rectangle 42"/>
            <p:cNvSpPr/>
            <p:nvPr/>
          </p:nvSpPr>
          <p:spPr>
            <a:xfrm>
              <a:off x="704850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1850" y="2089150"/>
              <a:ext cx="801832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4804" y="2876550"/>
              <a:ext cx="954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engine tests</a:t>
              </a:r>
            </a:p>
          </p:txBody>
        </p:sp>
      </p:grpSp>
      <p:grpSp>
        <p:nvGrpSpPr>
          <p:cNvPr id="49" name="tile-api-tests"/>
          <p:cNvGrpSpPr/>
          <p:nvPr/>
        </p:nvGrpSpPr>
        <p:grpSpPr>
          <a:xfrm>
            <a:off x="9391650" y="2038350"/>
            <a:ext cx="2190750" cy="1238250"/>
            <a:chOff x="9391650" y="2038350"/>
            <a:chExt cx="2190750" cy="1238250"/>
          </a:xfrm>
        </p:grpSpPr>
        <p:sp>
          <p:nvSpPr>
            <p:cNvPr id="46" name="Rectangle 46"/>
            <p:cNvSpPr/>
            <p:nvPr/>
          </p:nvSpPr>
          <p:spPr>
            <a:xfrm>
              <a:off x="939165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25000" y="2089150"/>
              <a:ext cx="41996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7954" y="2876550"/>
              <a:ext cx="718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API tests</a:t>
              </a:r>
            </a:p>
          </p:txBody>
        </p:sp>
      </p:grpSp>
      <p:grpSp>
        <p:nvGrpSpPr>
          <p:cNvPr id="65" name="tests-covered"/>
          <p:cNvGrpSpPr/>
          <p:nvPr/>
        </p:nvGrpSpPr>
        <p:grpSpPr>
          <a:xfrm>
            <a:off x="7042404" y="3429000"/>
            <a:ext cx="3914242" cy="2615946"/>
            <a:chOff x="7042404" y="3429000"/>
            <a:chExt cx="3914242" cy="2615946"/>
          </a:xfrm>
        </p:grpSpPr>
        <p:sp>
          <p:nvSpPr>
            <p:cNvPr id="50" name="TextBox 50"/>
            <p:cNvSpPr txBox="1"/>
            <p:nvPr/>
          </p:nvSpPr>
          <p:spPr>
            <a:xfrm>
              <a:off x="7042404" y="3429000"/>
              <a:ext cx="3377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Both pass on the last run, offline, no model calls.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48500" y="37623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2904" y="3695700"/>
              <a:ext cx="3547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citation, no hook: invented fact ids are dropped.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48500" y="40481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2904" y="3981450"/>
              <a:ext cx="372374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 rules reject asks, spam phrases, dashes and a missing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name.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48500" y="45339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32904" y="4467225"/>
              <a:ext cx="3494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reply that tries to inject a link is never auto-sent.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48500" y="4819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32904" y="4752975"/>
              <a:ext cx="3394100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Thompson sampling favours winners and still tries new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writers.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8500" y="53054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32904" y="5238750"/>
              <a:ext cx="32111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Weak writers retire and a new one is spawned.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48500" y="5591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32904" y="5524500"/>
              <a:ext cx="3139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 draft once, then the thread closes.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48500" y="58769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32904" y="5810250"/>
              <a:ext cx="3628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API demands the password and the cron secret.</a:t>
              </a:r>
            </a:p>
          </p:txBody>
        </p:sp>
      </p:grpSp>
      <p:grpSp>
        <p:nvGrpSpPr>
          <p:cNvPr id="67" name="source"/>
          <p:cNvGrpSpPr/>
          <p:nvPr/>
        </p:nvGrpSpPr>
        <p:grpSpPr>
          <a:xfrm>
            <a:off x="604647" y="6559550"/>
            <a:ext cx="4798888" cy="191643"/>
            <a:chOff x="604647" y="6559550"/>
            <a:chExt cx="4798888" cy="191643"/>
          </a:xfrm>
        </p:grpSpPr>
        <p:sp>
          <p:nvSpPr>
            <p:cNvPr id="66" name="TextBox 66"/>
            <p:cNvSpPr txBox="1"/>
            <p:nvPr/>
          </p:nvSpPr>
          <p:spPr>
            <a:xfrm>
              <a:off x="604647" y="6559550"/>
              <a:ext cx="47988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competitions/messages-openers/REPORT.md, engine/tests, deploy/tests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67771" cy="1101979"/>
            <a:chOff x="596646" y="444500"/>
            <a:chExt cx="846777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975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COST TRANSPARENCY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46777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model call is metered, so spend is measured per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command, candidate and prospect, never guessed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meter-1"/>
          <p:cNvGrpSpPr/>
          <p:nvPr/>
        </p:nvGrpSpPr>
        <p:grpSpPr>
          <a:xfrm>
            <a:off x="609600" y="1771650"/>
            <a:ext cx="2781300" cy="1333500"/>
            <a:chOff x="609600" y="1771650"/>
            <a:chExt cx="27813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523" y="1866900"/>
              <a:ext cx="18768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Every call is counted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228850"/>
              <a:ext cx="2060539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After each response,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record_usage() adds input, output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cached tokens, plus any web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searches.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2004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meter-2"/>
          <p:cNvGrpSpPr/>
          <p:nvPr/>
        </p:nvGrpSpPr>
        <p:grpSpPr>
          <a:xfrm>
            <a:off x="3409950" y="1771650"/>
            <a:ext cx="2781300" cy="1333500"/>
            <a:chOff x="3409950" y="1771650"/>
            <a:chExt cx="27813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340995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0995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55873" y="1866900"/>
              <a:ext cx="2337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Each command logs a row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254" y="2228850"/>
              <a:ext cx="1954378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command name, candidate,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counts and cost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appended to the shared usage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document.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0075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7" name="meter-3"/>
          <p:cNvGrpSpPr/>
          <p:nvPr/>
        </p:nvGrpSpPr>
        <p:grpSpPr>
          <a:xfrm>
            <a:off x="6210300" y="1771650"/>
            <a:ext cx="2781300" cy="1333500"/>
            <a:chOff x="6210300" y="1771650"/>
            <a:chExt cx="2781300" cy="13335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103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6223" y="1866900"/>
              <a:ext cx="173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The cost command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604" y="2228850"/>
              <a:ext cx="1713464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Reports totals overall or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candidate, and per targeted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prospect.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8011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2" name="meter-4"/>
          <p:cNvGrpSpPr/>
          <p:nvPr/>
        </p:nvGrpSpPr>
        <p:grpSpPr>
          <a:xfrm>
            <a:off x="9010650" y="1771650"/>
            <a:ext cx="2571750" cy="1333500"/>
            <a:chOff x="9010650" y="1771650"/>
            <a:chExt cx="2571750" cy="1333500"/>
          </a:xfrm>
        </p:grpSpPr>
        <p:sp>
          <p:nvSpPr>
            <p:cNvPr id="28" name="Rectangle 28"/>
            <p:cNvSpPr/>
            <p:nvPr/>
          </p:nvSpPr>
          <p:spPr>
            <a:xfrm>
              <a:off x="9010650" y="1771650"/>
              <a:ext cx="2571750" cy="1333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10650" y="1771650"/>
              <a:ext cx="2571750" cy="38100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56573" y="1866900"/>
              <a:ext cx="20922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 Knock Desk, Spend tab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56954" y="2228850"/>
              <a:ext cx="2052157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Shows the same usage rows, read</a:t>
              </a:r>
              <a:b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through the API.</a:t>
              </a:r>
            </a:p>
          </p:txBody>
        </p:sp>
      </p:grpSp>
      <p:grpSp>
        <p:nvGrpSpPr>
          <p:cNvPr id="34" name="effort-heading"/>
          <p:cNvGrpSpPr/>
          <p:nvPr/>
        </p:nvGrpSpPr>
        <p:grpSpPr>
          <a:xfrm>
            <a:off x="603123" y="3238500"/>
            <a:ext cx="2335485" cy="250317"/>
            <a:chOff x="603123" y="3238500"/>
            <a:chExt cx="2335485" cy="250317"/>
          </a:xfrm>
        </p:grpSpPr>
        <p:sp>
          <p:nvSpPr>
            <p:cNvPr id="33" name="TextBox 33"/>
            <p:cNvSpPr txBox="1"/>
            <p:nvPr/>
          </p:nvSpPr>
          <p:spPr>
            <a:xfrm>
              <a:off x="603123" y="3238500"/>
              <a:ext cx="23354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Effort is matched to the task</a:t>
              </a:r>
            </a:p>
          </p:txBody>
        </p:sp>
      </p:grpSp>
      <p:grpSp>
        <p:nvGrpSpPr>
          <p:cNvPr id="39" name="effort-low"/>
          <p:cNvGrpSpPr/>
          <p:nvPr/>
        </p:nvGrpSpPr>
        <p:grpSpPr>
          <a:xfrm>
            <a:off x="609600" y="3505200"/>
            <a:ext cx="3486150" cy="1238250"/>
            <a:chOff x="609600" y="3505200"/>
            <a:chExt cx="34861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3505200"/>
              <a:ext cx="3486150" cy="3238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285" y="3584575"/>
              <a:ext cx="10643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LOW EFFORT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523" y="3987800"/>
              <a:ext cx="2730437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Classifying a person into a bucket,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extracting facts from web results, running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search.</a:t>
              </a:r>
            </a:p>
          </p:txBody>
        </p:sp>
      </p:grpSp>
      <p:grpSp>
        <p:nvGrpSpPr>
          <p:cNvPr id="44" name="effort-medium"/>
          <p:cNvGrpSpPr/>
          <p:nvPr/>
        </p:nvGrpSpPr>
        <p:grpSpPr>
          <a:xfrm>
            <a:off x="4352925" y="3505200"/>
            <a:ext cx="3486150" cy="1238250"/>
            <a:chOff x="4352925" y="3505200"/>
            <a:chExt cx="3486150" cy="1238250"/>
          </a:xfrm>
        </p:grpSpPr>
        <p:sp>
          <p:nvSpPr>
            <p:cNvPr id="40" name="Rectangle 40"/>
            <p:cNvSpPr/>
            <p:nvPr/>
          </p:nvSpPr>
          <p:spPr>
            <a:xfrm>
              <a:off x="4352925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52925" y="3505200"/>
              <a:ext cx="3486150" cy="3238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99610" y="3584575"/>
              <a:ext cx="2533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MEDIUM EFFORT, THE DEFAULT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98848" y="3987800"/>
              <a:ext cx="2576850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Reading a profile, the three writers,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follow-ups. The default for a structured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call.</a:t>
              </a:r>
            </a:p>
          </p:txBody>
        </p:sp>
      </p:grpSp>
      <p:grpSp>
        <p:nvGrpSpPr>
          <p:cNvPr id="49" name="effort-high"/>
          <p:cNvGrpSpPr/>
          <p:nvPr/>
        </p:nvGrpSpPr>
        <p:grpSpPr>
          <a:xfrm>
            <a:off x="8096250" y="3505200"/>
            <a:ext cx="3486150" cy="1238250"/>
            <a:chOff x="8096250" y="3505200"/>
            <a:chExt cx="3486150" cy="1238250"/>
          </a:xfrm>
        </p:grpSpPr>
        <p:sp>
          <p:nvSpPr>
            <p:cNvPr id="45" name="Rectangle 45"/>
            <p:cNvSpPr/>
            <p:nvPr/>
          </p:nvSpPr>
          <p:spPr>
            <a:xfrm>
              <a:off x="809625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96250" y="3505200"/>
              <a:ext cx="3486150" cy="3238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42935" y="3584575"/>
              <a:ext cx="1091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HIGH EFFORT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2173" y="3987800"/>
              <a:ext cx="260910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Finding hooks, the judge, reply analysis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the learning steps.</a:t>
              </a:r>
            </a:p>
          </p:txBody>
        </p:sp>
      </p:grpSp>
      <p:grpSp>
        <p:nvGrpSpPr>
          <p:cNvPr id="53" name="note-prices"/>
          <p:cNvGrpSpPr/>
          <p:nvPr/>
        </p:nvGrpSpPr>
        <p:grpSpPr>
          <a:xfrm>
            <a:off x="609600" y="5143500"/>
            <a:ext cx="3486150" cy="1181100"/>
            <a:chOff x="609600" y="5143500"/>
            <a:chExt cx="3486150" cy="11811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5904" y="5257800"/>
              <a:ext cx="1184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One price table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904" y="5486400"/>
              <a:ext cx="2437272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Prices for the model in use sit in one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constant, and cost is computed from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counts.</a:t>
              </a:r>
            </a:p>
          </p:txBody>
        </p:sp>
      </p:grpSp>
      <p:grpSp>
        <p:nvGrpSpPr>
          <p:cNvPr id="57" name="note-fallback"/>
          <p:cNvGrpSpPr/>
          <p:nvPr/>
        </p:nvGrpSpPr>
        <p:grpSpPr>
          <a:xfrm>
            <a:off x="4352925" y="5143500"/>
            <a:ext cx="3486150" cy="1181100"/>
            <a:chOff x="4352925" y="5143500"/>
            <a:chExt cx="3486150" cy="1181100"/>
          </a:xfrm>
        </p:grpSpPr>
        <p:sp>
          <p:nvSpPr>
            <p:cNvPr id="54" name="Rectangle 54"/>
            <p:cNvSpPr/>
            <p:nvPr/>
          </p:nvSpPr>
          <p:spPr>
            <a:xfrm>
              <a:off x="4352925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99229" y="5257800"/>
              <a:ext cx="12374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Fallback built in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99229" y="5486400"/>
              <a:ext cx="2665324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the primary model declines, a server-side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 answers. A refusal is raised, not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hidden.</a:t>
              </a:r>
            </a:p>
          </p:txBody>
        </p:sp>
      </p:grpSp>
      <p:grpSp>
        <p:nvGrpSpPr>
          <p:cNvPr id="61" name="note-isolated"/>
          <p:cNvGrpSpPr/>
          <p:nvPr/>
        </p:nvGrpSpPr>
        <p:grpSpPr>
          <a:xfrm>
            <a:off x="8096250" y="5143500"/>
            <a:ext cx="3486150" cy="1181100"/>
            <a:chOff x="8096250" y="5143500"/>
            <a:chExt cx="3486150" cy="1181100"/>
          </a:xfrm>
        </p:grpSpPr>
        <p:sp>
          <p:nvSpPr>
            <p:cNvPr id="58" name="Rectangle 58"/>
            <p:cNvSpPr/>
            <p:nvPr/>
          </p:nvSpPr>
          <p:spPr>
            <a:xfrm>
              <a:off x="809625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42554" y="5257800"/>
              <a:ext cx="1579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Failures are isolated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2554" y="5486400"/>
              <a:ext cx="273743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one prospect fails it stays enriched and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batch continues. Rerun generate to retry.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5455347" cy="191643"/>
            <a:chOff x="604647" y="6559550"/>
            <a:chExt cx="5455347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54553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engine/outreach/llm.py (record_usage, effort levels), cli.py (cost), deploy/api/index.py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41524" cy="1101979"/>
            <a:chOff x="596646" y="444500"/>
            <a:chExt cx="814152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621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CURRENT STATUS AND GAPS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14152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engine and desk are built and tested; three open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steps stand between today and a live end-to-end run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built-heading"/>
          <p:cNvGrpSpPr/>
          <p:nvPr/>
        </p:nvGrpSpPr>
        <p:grpSpPr>
          <a:xfrm>
            <a:off x="603123" y="1733550"/>
            <a:ext cx="1310600" cy="250317"/>
            <a:chOff x="603123" y="1733550"/>
            <a:chExt cx="13106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33550"/>
              <a:ext cx="13106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Built and tested</a:t>
              </a:r>
            </a:p>
          </p:txBody>
        </p:sp>
      </p:grpSp>
      <p:grpSp>
        <p:nvGrpSpPr>
          <p:cNvPr id="24" name="built-list"/>
          <p:cNvGrpSpPr/>
          <p:nvPr/>
        </p:nvGrpSpPr>
        <p:grpSpPr>
          <a:xfrm>
            <a:off x="676275" y="2101850"/>
            <a:ext cx="4136315" cy="3406267"/>
            <a:chOff x="676275" y="2101850"/>
            <a:chExt cx="4136315" cy="3406267"/>
          </a:xfrm>
        </p:grpSpPr>
        <p:sp>
          <p:nvSpPr>
            <p:cNvPr id="12" name="Ellipse 12"/>
            <p:cNvSpPr/>
            <p:nvPr/>
          </p:nvSpPr>
          <p:spPr>
            <a:xfrm>
              <a:off x="676275" y="21240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4123" y="2101850"/>
              <a:ext cx="371919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Engine: discovery, hooks, writers, judge, reply agent and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learning.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6275" y="27527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123" y="2743200"/>
              <a:ext cx="27179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36 engine tests and 7 API tests pass.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6275" y="33813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4123" y="3359150"/>
              <a:ext cx="377758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Supabase schema applied, with row-level security and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gate.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6275" y="40100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4123" y="4000500"/>
              <a:ext cx="38284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and the Knock Desk are set up on Vercel.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6275" y="46386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123" y="4616450"/>
              <a:ext cx="360195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 land in intake_requests and import as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candidates.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6275" y="52673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4123" y="5257800"/>
              <a:ext cx="36678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Cost metering and the cost command are in place.</a:t>
              </a:r>
            </a:p>
          </p:txBody>
        </p:sp>
      </p:grpSp>
      <p:grpSp>
        <p:nvGrpSpPr>
          <p:cNvPr id="26" name="open-heading"/>
          <p:cNvGrpSpPr/>
          <p:nvPr/>
        </p:nvGrpSpPr>
        <p:grpSpPr>
          <a:xfrm>
            <a:off x="6280023" y="1733550"/>
            <a:ext cx="4069071" cy="250317"/>
            <a:chOff x="6280023" y="1733550"/>
            <a:chExt cx="4069071" cy="250317"/>
          </a:xfrm>
        </p:grpSpPr>
        <p:sp>
          <p:nvSpPr>
            <p:cNvPr id="25" name="TextBox 25"/>
            <p:cNvSpPr txBox="1"/>
            <p:nvPr/>
          </p:nvSpPr>
          <p:spPr>
            <a:xfrm>
              <a:off x="6280023" y="1733550"/>
              <a:ext cx="40690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 before go-live (dashed means not yet done)</a:t>
              </a:r>
            </a:p>
          </p:txBody>
        </p:sp>
      </p:grpSp>
      <p:grpSp>
        <p:nvGrpSpPr>
          <p:cNvPr id="32" name="open-1"/>
          <p:cNvGrpSpPr/>
          <p:nvPr/>
        </p:nvGrpSpPr>
        <p:grpSpPr>
          <a:xfrm>
            <a:off x="6286500" y="2038350"/>
            <a:ext cx="5295900" cy="1162050"/>
            <a:chOff x="6286500" y="2038350"/>
            <a:chExt cx="5295900" cy="1162050"/>
          </a:xfrm>
        </p:grpSpPr>
        <p:sp>
          <p:nvSpPr>
            <p:cNvPr id="27" name="Rectangle 27"/>
            <p:cNvSpPr/>
            <p:nvPr/>
          </p:nvSpPr>
          <p:spPr>
            <a:xfrm>
              <a:off x="6286500" y="20383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28" name="Ellipse 28"/>
            <p:cNvSpPr/>
            <p:nvPr/>
          </p:nvSpPr>
          <p:spPr>
            <a:xfrm>
              <a:off x="6438900" y="21907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0279" y="22479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9242" y="2235200"/>
              <a:ext cx="3302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Add ANTHROPIC_API_KEY in Vercel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0004" y="2533650"/>
              <a:ext cx="387611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Until it is set, sync and the daily cron answer with an error,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replies are drafted.</a:t>
              </a:r>
            </a:p>
          </p:txBody>
        </p:sp>
      </p:grpSp>
      <p:grpSp>
        <p:nvGrpSpPr>
          <p:cNvPr id="38" name="open-2"/>
          <p:cNvGrpSpPr/>
          <p:nvPr/>
        </p:nvGrpSpPr>
        <p:grpSpPr>
          <a:xfrm>
            <a:off x="6286500" y="3333750"/>
            <a:ext cx="5295900" cy="1162050"/>
            <a:chOff x="6286500" y="3333750"/>
            <a:chExt cx="5295900" cy="1162050"/>
          </a:xfrm>
        </p:grpSpPr>
        <p:sp>
          <p:nvSpPr>
            <p:cNvPr id="33" name="Rectangle 33"/>
            <p:cNvSpPr/>
            <p:nvPr/>
          </p:nvSpPr>
          <p:spPr>
            <a:xfrm>
              <a:off x="6286500" y="33337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438900" y="34861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0279" y="35433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9242" y="3530600"/>
              <a:ext cx="2988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 one real candidate end to 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0004" y="3829050"/>
              <a:ext cx="383362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hook and message is reviewed by hand and every edit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logged. The first real learning signal.</a:t>
              </a:r>
            </a:p>
          </p:txBody>
        </p:sp>
      </p:grpSp>
      <p:grpSp>
        <p:nvGrpSpPr>
          <p:cNvPr id="44" name="open-3"/>
          <p:cNvGrpSpPr/>
          <p:nvPr/>
        </p:nvGrpSpPr>
        <p:grpSpPr>
          <a:xfrm>
            <a:off x="6286500" y="4629150"/>
            <a:ext cx="5295900" cy="1162050"/>
            <a:chOff x="6286500" y="4629150"/>
            <a:chExt cx="5295900" cy="1162050"/>
          </a:xfrm>
        </p:grpSpPr>
        <p:sp>
          <p:nvSpPr>
            <p:cNvPr id="39" name="Rectangle 39"/>
            <p:cNvSpPr/>
            <p:nvPr/>
          </p:nvSpPr>
          <p:spPr>
            <a:xfrm>
              <a:off x="6286500" y="46291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6438900" y="47815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0279" y="48387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9242" y="4826000"/>
              <a:ext cx="2643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Schedule the LGM bridge task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0004" y="5124450"/>
              <a:ext cx="364367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Claude in Chrome task that sends due outbox rows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copies replies back is written, not yet scheduled.</a:t>
              </a:r>
            </a:p>
          </p:txBody>
        </p:sp>
      </p:grpSp>
      <p:grpSp>
        <p:nvGrpSpPr>
          <p:cNvPr id="47" name="status-takeaway"/>
          <p:cNvGrpSpPr/>
          <p:nvPr/>
        </p:nvGrpSpPr>
        <p:grpSpPr>
          <a:xfrm>
            <a:off x="609600" y="5981700"/>
            <a:ext cx="10972800" cy="438150"/>
            <a:chOff x="609600" y="5981700"/>
            <a:chExt cx="109728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09600" y="5981700"/>
              <a:ext cx="10972800" cy="4381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2480" y="6089650"/>
              <a:ext cx="4304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open steps are a setting, a run and a schedule.</a:t>
              </a:r>
            </a:p>
          </p:txBody>
        </p:sp>
      </p:grpSp>
      <p:grpSp>
        <p:nvGrpSpPr>
          <p:cNvPr id="49" name="source"/>
          <p:cNvGrpSpPr/>
          <p:nvPr/>
        </p:nvGrpSpPr>
        <p:grpSpPr>
          <a:xfrm>
            <a:off x="604647" y="6559550"/>
            <a:ext cx="6241125" cy="191643"/>
            <a:chOff x="604647" y="6559550"/>
            <a:chExt cx="6241125" cy="191643"/>
          </a:xfrm>
        </p:grpSpPr>
        <p:sp>
          <p:nvSpPr>
            <p:cNvPr id="48" name="TextBox 48"/>
            <p:cNvSpPr txBox="1"/>
            <p:nvPr/>
          </p:nvSpPr>
          <p:spPr>
            <a:xfrm>
              <a:off x="604647" y="6559550"/>
              <a:ext cx="62411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 (/api/health, sync guard), docs/AUTOMATION.md,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97605" cy="1101979"/>
            <a:chOff x="596646" y="444500"/>
            <a:chExt cx="799760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7301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99760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Next: close the loop on a real candidate, then widen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sender and the client view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7" name="phase-strip"/>
          <p:cNvGrpSpPr/>
          <p:nvPr/>
        </p:nvGrpSpPr>
        <p:grpSpPr>
          <a:xfrm>
            <a:off x="609600" y="1771650"/>
            <a:ext cx="10744200" cy="609600"/>
            <a:chOff x="609600" y="1771650"/>
            <a:chExt cx="10744200" cy="6096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3733800" cy="609600"/>
            </a:xfrm>
            <a:prstGeom prst="homePlat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14800" y="1771650"/>
              <a:ext cx="3733800" cy="6096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620000" y="1771650"/>
              <a:ext cx="3733800" cy="609600"/>
            </a:xfrm>
            <a:prstGeom prst="chevron">
              <a:avLst/>
            </a:prstGeom>
            <a:solidFill>
              <a:srgbClr val="C4D9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29056" y="1924050"/>
              <a:ext cx="7932756" cy="352044"/>
              <a:chOff x="829056" y="1924050"/>
              <a:chExt cx="7932756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29056" y="1924050"/>
                <a:ext cx="5394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39056" y="1924050"/>
                <a:ext cx="5509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Next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44256" y="1924050"/>
                <a:ext cx="6175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Later</a:t>
                </a:r>
              </a:p>
            </p:txBody>
          </p:sp>
        </p:grpSp>
      </p:grpSp>
      <p:grpSp>
        <p:nvGrpSpPr>
          <p:cNvPr id="24" name="col-now"/>
          <p:cNvGrpSpPr/>
          <p:nvPr/>
        </p:nvGrpSpPr>
        <p:grpSpPr>
          <a:xfrm>
            <a:off x="666750" y="2597150"/>
            <a:ext cx="2539686" cy="1317117"/>
            <a:chOff x="666750" y="2597150"/>
            <a:chExt cx="2539686" cy="1317117"/>
          </a:xfrm>
        </p:grpSpPr>
        <p:sp>
          <p:nvSpPr>
            <p:cNvPr id="18" name="Rectangle 18"/>
            <p:cNvSpPr/>
            <p:nvPr/>
          </p:nvSpPr>
          <p:spPr>
            <a:xfrm>
              <a:off x="66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723" y="2597150"/>
              <a:ext cx="2117293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ANTHROPIC_API_KEY in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23" y="3143250"/>
              <a:ext cx="23747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 the LGM bridge task.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" y="35433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723" y="3454400"/>
              <a:ext cx="2337627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Run one real candidate end to end,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reviewing every hook and message.</a:t>
              </a:r>
            </a:p>
          </p:txBody>
        </p:sp>
      </p:grpSp>
      <p:grpSp>
        <p:nvGrpSpPr>
          <p:cNvPr id="33" name="col-next"/>
          <p:cNvGrpSpPr/>
          <p:nvPr/>
        </p:nvGrpSpPr>
        <p:grpSpPr>
          <a:xfrm>
            <a:off x="4476750" y="2597150"/>
            <a:ext cx="2809838" cy="1850517"/>
            <a:chOff x="4476750" y="2597150"/>
            <a:chExt cx="2809838" cy="1850517"/>
          </a:xfrm>
        </p:grpSpPr>
        <p:sp>
          <p:nvSpPr>
            <p:cNvPr id="25" name="Rectangle 25"/>
            <p:cNvSpPr/>
            <p:nvPr/>
          </p:nvSpPr>
          <p:spPr>
            <a:xfrm>
              <a:off x="447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41723" y="2597150"/>
              <a:ext cx="2644865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Tune the prompts from the edits that run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produces.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41723" y="3130550"/>
              <a:ext cx="2626171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Let the first learning cycle run once five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signals exist.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41723" y="3676650"/>
              <a:ext cx="2609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safe sending limits per account.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40767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41723" y="3987800"/>
              <a:ext cx="2626789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funnel views by bucket, hook type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company.</a:t>
              </a:r>
            </a:p>
          </p:txBody>
        </p:sp>
      </p:grpSp>
      <p:grpSp>
        <p:nvGrpSpPr>
          <p:cNvPr id="40" name="col-later"/>
          <p:cNvGrpSpPr/>
          <p:nvPr/>
        </p:nvGrpSpPr>
        <p:grpSpPr>
          <a:xfrm>
            <a:off x="7981950" y="2597150"/>
            <a:ext cx="2859029" cy="1526667"/>
            <a:chOff x="7981950" y="2597150"/>
            <a:chExt cx="2859029" cy="1526667"/>
          </a:xfrm>
        </p:grpSpPr>
        <p:sp>
          <p:nvSpPr>
            <p:cNvPr id="34" name="Rectangle 34"/>
            <p:cNvSpPr/>
            <p:nvPr/>
          </p:nvSpPr>
          <p:spPr>
            <a:xfrm>
              <a:off x="79819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6923" y="2597150"/>
              <a:ext cx="247343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Swap Chrome for the LGM API.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lgm.py is ready; it needs the Pro plan.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819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46923" y="3130550"/>
              <a:ext cx="236867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Receive accepted and replied events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through a webhook.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819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46923" y="3663950"/>
              <a:ext cx="269405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 a client site with magic-link login,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the row-level security already written.</a:t>
              </a:r>
            </a:p>
          </p:txBody>
        </p:sp>
      </p:grpSp>
      <p:grpSp>
        <p:nvGrpSpPr>
          <p:cNvPr id="53" name="principles"/>
          <p:cNvGrpSpPr/>
          <p:nvPr/>
        </p:nvGrpSpPr>
        <p:grpSpPr>
          <a:xfrm>
            <a:off x="609600" y="4762500"/>
            <a:ext cx="10972800" cy="1562100"/>
            <a:chOff x="609600" y="4762500"/>
            <a:chExt cx="10972800" cy="1562100"/>
          </a:xfrm>
        </p:grpSpPr>
        <p:sp>
          <p:nvSpPr>
            <p:cNvPr id="41" name="Rectangle 41"/>
            <p:cNvSpPr/>
            <p:nvPr/>
          </p:nvSpPr>
          <p:spPr>
            <a:xfrm>
              <a:off x="609600" y="4762500"/>
              <a:ext cx="10972800" cy="1562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2866" y="4959350"/>
              <a:ext cx="329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THREE DESIGN PRINCIPLES TO HOLD ON TO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27532" y="5327650"/>
              <a:ext cx="8538720" cy="410718"/>
              <a:chOff x="827532" y="5327650"/>
              <a:chExt cx="8538720" cy="410718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827532" y="5327650"/>
                <a:ext cx="7360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Cited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37532" y="5327650"/>
                <a:ext cx="13500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42732" y="5327650"/>
                <a:ext cx="122352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31342" y="5727700"/>
              <a:ext cx="10196046" cy="492633"/>
              <a:chOff x="831342" y="5727700"/>
              <a:chExt cx="10196046" cy="492633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31342" y="5740400"/>
                <a:ext cx="16621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No citation, no hook.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41342" y="5727700"/>
                <a:ext cx="1727702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 person says yes before</a:t>
                </a:r>
                <a:b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anything sends.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6542" y="5740400"/>
                <a:ext cx="28808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Edits and outcomes rewrite the rules.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3434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8486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</p:sp>
      </p:grpSp>
      <p:grpSp>
        <p:nvGrpSpPr>
          <p:cNvPr id="55" name="source"/>
          <p:cNvGrpSpPr/>
          <p:nvPr/>
        </p:nvGrpSpPr>
        <p:grpSpPr>
          <a:xfrm>
            <a:off x="604647" y="6559550"/>
            <a:ext cx="6654411" cy="191643"/>
            <a:chOff x="604647" y="6559550"/>
            <a:chExt cx="6654411" cy="191643"/>
          </a:xfrm>
        </p:grpSpPr>
        <p:sp>
          <p:nvSpPr>
            <p:cNvPr id="54" name="TextBox 54"/>
            <p:cNvSpPr txBox="1"/>
            <p:nvPr/>
          </p:nvSpPr>
          <p:spPr>
            <a:xfrm>
              <a:off x="604647" y="6559550"/>
              <a:ext cx="66544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docs/LAUNCH_PLAN.md, docs/AUTOMATION.md, engine/outreach/lgm.py, supabase/migrations/0001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-backend">
  <a:themeElements>
    <a:clrScheme name="knock-backen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-backen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-back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2026-10-05T00:51:14Z</dcterms:created>
  <dcterms:modified xsi:type="dcterms:W3CDTF">2026-10-05T00:51:14Z</dcterms:modified>
  <cp:category/>
  <cp:contentStatus/>
</cp:coreProperties>
</file>