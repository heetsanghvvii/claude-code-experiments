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16x9"/>
  <p:notesSz cx="6858000" cy="9144000"/>
  <p:defaultTextStyle>
    <a:defPPr>
      <a:defRPr lang="en"/>
    </a:defPPr>
    <a:lvl1pPr marL="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knock-backend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" smtClean="0"/>
              <a:t>1/27/13</a:t>
            </a:fld>
            <a:endParaRPr lang="e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" smtClean="0"/>
              <a:t>‹#›</a:t>
            </a:fld>
            <a:endParaRPr lang="e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knock-backend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e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" smtClean="0"/>
              <a:t>1/27/13</a:t>
            </a:fld>
            <a:endParaRPr lang="e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e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e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" smtClean="0"/>
              <a:t>‹#›</a:t>
            </a:fld>
            <a:endParaRPr lang="e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e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e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e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e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e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e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e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e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e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e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"/>
      </a:defPPr>
      <a:lvl1pPr marL="0" algn="l" defTabSz="457200" rtl="0" eaLnBrk="1" latinLnBrk="0" hangingPunct="1">
        <a:defRPr sz="1800" kern="1200" lang="e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e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e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e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e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e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e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e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e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9C7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762000" y="6858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38100">
            <a:solidFill>
              <a:srgbClr val="FAFCFE"/>
            </a:solidFill>
            <a:custDash>
              <a:ds d="50000" sp="200000"/>
            </a:custDash>
          </a:ln>
        </p:spPr>
        <p:txBody>
          <a:bodyPr/>
          <a:p/>
        </p:txBody>
      </p:sp>
      <p:sp>
        <p:nvSpPr>
          <p:cNvPr id="3" name="Line 3"/>
          <p:cNvSpPr/>
          <p:nvPr/>
        </p:nvSpPr>
        <p:spPr>
          <a:xfrm>
            <a:off x="762000" y="592455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38100">
            <a:solidFill>
              <a:srgbClr val="FAFCFE"/>
            </a:solidFill>
            <a:custDash>
              <a:ds d="50000" sp="200000"/>
            </a:custDash>
          </a:ln>
        </p:spPr>
        <p:txBody>
          <a:bodyPr/>
          <a:p/>
        </p:txBody>
      </p:sp>
      <p:grpSp>
        <p:nvGrpSpPr>
          <p:cNvPr id="6" name="cover-title"/>
          <p:cNvGrpSpPr/>
          <p:nvPr/>
        </p:nvGrpSpPr>
        <p:grpSpPr>
          <a:xfrm>
            <a:off x="742950" y="1689100"/>
            <a:ext cx="4808852" cy="2755900"/>
            <a:chOff x="742950" y="1689100"/>
            <a:chExt cx="4808852" cy="2755900"/>
          </a:xfrm>
        </p:grpSpPr>
        <p:sp>
          <p:nvSpPr>
            <p:cNvPr id="4" name="TextBox 4"/>
            <p:cNvSpPr txBox="1"/>
            <p:nvPr/>
          </p:nvSpPr>
          <p:spPr>
            <a:xfrm>
              <a:off x="756285" y="1689100"/>
              <a:ext cx="47864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120" b="1" dirty="0">
                  <a:solidFill>
                    <a:srgbClr val="2B4266"/>
                  </a:solidFill>
                  <a:latin typeface="+mj-lt"/>
                  <a:ea typeface="+mj-ea"/>
                  <a:cs typeface="+mj-cs"/>
                </a:rPr>
                <a:t>KNOCK BACKEND · PRODUCT AND TECHNOLOGY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42950" y="2216150"/>
              <a:ext cx="5866799" cy="22288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7050"/>
                </a:lnSpc>
              </a:pPr>
              <a:r>
                <a:rPr lang="en" sz="69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No citation,</a:t>
              </a:r>
              <a:br>
                <a:rPr lang="en" sz="69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</a:br>
              <a:r>
                <a:rPr lang="en" sz="69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no hook.</a:t>
              </a:r>
            </a:p>
          </p:txBody>
        </p:sp>
      </p:grpSp>
      <p:grpSp>
        <p:nvGrpSpPr>
          <p:cNvPr id="8" name="cover-subtitle"/>
          <p:cNvGrpSpPr/>
          <p:nvPr/>
        </p:nvGrpSpPr>
        <p:grpSpPr>
          <a:xfrm>
            <a:off x="752094" y="4349750"/>
            <a:ext cx="4526398" cy="1467231"/>
            <a:chOff x="752094" y="4349750"/>
            <a:chExt cx="4526398" cy="1467231"/>
          </a:xfrm>
        </p:grpSpPr>
        <p:sp>
          <p:nvSpPr>
            <p:cNvPr id="7" name="TextBox 7"/>
            <p:cNvSpPr txBox="1"/>
            <p:nvPr/>
          </p:nvSpPr>
          <p:spPr>
            <a:xfrm>
              <a:off x="752094" y="4349750"/>
              <a:ext cx="5522205" cy="14672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en" sz="195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How the engine finds the right people at a</a:t>
              </a:r>
              <a:br>
                <a:rPr lang="en" sz="195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</a:br>
              <a:r>
                <a:rPr lang="en" sz="195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candidate's target companies, researches each</a:t>
              </a:r>
              <a:br>
                <a:rPr lang="en" sz="195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</a:br>
              <a:r>
                <a:rPr lang="en" sz="195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one, and writes the first message. A person</a:t>
              </a:r>
              <a:br>
                <a:rPr lang="en" sz="195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</a:br>
              <a:r>
                <a:rPr lang="en" sz="195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approves it before it sends.</a:t>
              </a:r>
            </a:p>
          </p:txBody>
        </p:sp>
      </p:grpSp>
      <p:grpSp>
        <p:nvGrpSpPr>
          <p:cNvPr id="25" name="stamp"/>
          <p:cNvGrpSpPr/>
          <p:nvPr/>
        </p:nvGrpSpPr>
        <p:grpSpPr>
          <a:xfrm rot="180000">
            <a:off x="8008013" y="1318718"/>
            <a:ext cx="3438525" cy="4305300"/>
            <a:chOff x="8029575" y="1333500"/>
            <a:chExt cx="3438525" cy="4305300"/>
          </a:xfrm>
        </p:grpSpPr>
        <p:sp>
          <p:nvSpPr>
            <p:cNvPr id="9" name="Rectangle 9"/>
            <p:cNvSpPr/>
            <p:nvPr/>
          </p:nvSpPr>
          <p:spPr>
            <a:xfrm>
              <a:off x="8572500" y="1333500"/>
              <a:ext cx="2895600" cy="3476625"/>
            </a:xfrm>
            <a:prstGeom prst="rect">
              <a:avLst/>
            </a:prstGeom>
            <a:solidFill>
              <a:srgbClr val="FAFCFE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0" name="Rectangle 10"/>
            <p:cNvSpPr/>
            <p:nvPr/>
          </p:nvSpPr>
          <p:spPr>
            <a:xfrm>
              <a:off x="8572500" y="1333500"/>
              <a:ext cx="2895600" cy="3476625"/>
            </a:xfrm>
            <a:prstGeom prst="rect">
              <a:avLst/>
            </a:prstGeom>
            <a:noFill/>
            <a:ln w="95250">
              <a:solidFill>
                <a:srgbClr val="A9C7E6"/>
              </a:solidFill>
              <a:custDash>
                <a:ds d="100000" sp="100000"/>
              </a:custDash>
            </a:ln>
          </p:spPr>
          <p:txBody>
            <a:bodyPr/>
            <a:p/>
          </p:txBody>
        </p:sp>
        <p:sp>
          <p:nvSpPr>
            <p:cNvPr id="11" name="Rectangle 11"/>
            <p:cNvSpPr/>
            <p:nvPr/>
          </p:nvSpPr>
          <p:spPr>
            <a:xfrm>
              <a:off x="8825865" y="1586865"/>
              <a:ext cx="2388870" cy="2967990"/>
            </a:xfrm>
            <a:prstGeom prst="rect">
              <a:avLst/>
            </a:prstGeom>
            <a:solidFill>
              <a:srgbClr val="B3301B"/>
            </a:solidFill>
            <a:ln>
              <a:noFill/>
            </a:ln>
          </p:spPr>
          <p:txBody>
            <a:bodyPr/>
            <a:p/>
          </p:txBody>
        </p:sp>
        <p:grpSp>
          <p:nvGrpSpPr>
            <p:cNvPr id="19" name="Group 19"/>
            <p:cNvGrpSpPr/>
            <p:nvPr/>
          </p:nvGrpSpPr>
          <p:grpSpPr>
            <a:xfrm>
              <a:off x="9602648" y="2075498"/>
              <a:ext cx="835304" cy="1475422"/>
              <a:chOff x="9602648" y="2075498"/>
              <a:chExt cx="835304" cy="1475422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9694545" y="2075498"/>
                <a:ext cx="65151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51510" h="9525">
                    <a:moveTo>
                      <a:pt x="0" y="0"/>
                    </a:moveTo>
                    <a:lnTo>
                      <a:pt x="651510" y="0"/>
                    </a:lnTo>
                  </a:path>
                </a:pathLst>
              </a:custGeom>
              <a:noFill/>
              <a:ln w="81439">
                <a:solidFill>
                  <a:srgbClr val="FAFCFE"/>
                </a:solidFill>
              </a:ln>
            </p:spPr>
            <p:txBody>
              <a:bodyPr/>
              <a:p/>
            </p:txBody>
          </p:sp>
          <p:sp>
            <p:nvSpPr>
              <p:cNvPr id="13" name="Freeform 13"/>
              <p:cNvSpPr/>
              <p:nvPr/>
            </p:nvSpPr>
            <p:spPr>
              <a:xfrm>
                <a:off x="9857422" y="2075498"/>
                <a:ext cx="9525" cy="162877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62877">
                    <a:moveTo>
                      <a:pt x="0" y="0"/>
                    </a:moveTo>
                    <a:lnTo>
                      <a:pt x="0" y="162877"/>
                    </a:lnTo>
                  </a:path>
                </a:pathLst>
              </a:custGeom>
              <a:noFill/>
              <a:ln w="81439">
                <a:solidFill>
                  <a:srgbClr val="FAFCFE"/>
                </a:solidFill>
              </a:ln>
            </p:spPr>
            <p:txBody>
              <a:bodyPr/>
              <a:p/>
            </p:txBody>
          </p:sp>
          <p:sp>
            <p:nvSpPr>
              <p:cNvPr id="14" name="Freeform 14"/>
              <p:cNvSpPr/>
              <p:nvPr/>
            </p:nvSpPr>
            <p:spPr>
              <a:xfrm>
                <a:off x="10183178" y="2075498"/>
                <a:ext cx="9525" cy="162877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62877">
                    <a:moveTo>
                      <a:pt x="0" y="0"/>
                    </a:moveTo>
                    <a:lnTo>
                      <a:pt x="0" y="162877"/>
                    </a:lnTo>
                  </a:path>
                </a:pathLst>
              </a:custGeom>
              <a:noFill/>
              <a:ln w="81439">
                <a:solidFill>
                  <a:srgbClr val="FAFCFE"/>
                </a:solidFill>
              </a:ln>
            </p:spPr>
            <p:txBody>
              <a:bodyPr/>
              <a:p/>
            </p:txBody>
          </p:sp>
          <p:sp>
            <p:nvSpPr>
              <p:cNvPr id="15" name="Ellipse 15"/>
              <p:cNvSpPr/>
              <p:nvPr/>
            </p:nvSpPr>
            <p:spPr>
              <a:xfrm>
                <a:off x="9857422" y="2238375"/>
                <a:ext cx="325755" cy="325755"/>
              </a:xfrm>
              <a:prstGeom prst="ellipse">
                <a:avLst/>
              </a:prstGeom>
              <a:noFill/>
              <a:ln w="81439">
                <a:solidFill>
                  <a:srgbClr val="FAFCFE"/>
                </a:solidFill>
              </a:ln>
            </p:spPr>
            <p:txBody>
              <a:bodyPr/>
              <a:p/>
            </p:txBody>
          </p:sp>
          <p:sp>
            <p:nvSpPr>
              <p:cNvPr id="16" name="Freeform 16"/>
              <p:cNvSpPr/>
              <p:nvPr/>
            </p:nvSpPr>
            <p:spPr>
              <a:xfrm>
                <a:off x="9602648" y="2727008"/>
                <a:ext cx="835304" cy="682826"/>
              </a:xfrm>
              <a:custGeom>
                <a:avLst/>
                <a:gdLst/>
                <a:ahLst/>
                <a:cxnLst/>
                <a:rect l="l" t="t" r="r" b="b"/>
                <a:pathLst>
                  <a:path w="835304" h="682826">
                    <a:moveTo>
                      <a:pt x="146189" y="0"/>
                    </a:moveTo>
                    <a:cubicBezTo>
                      <a:pt x="0" y="149204"/>
                      <a:pt x="1627" y="388424"/>
                      <a:pt x="149833" y="535625"/>
                    </a:cubicBezTo>
                    <a:cubicBezTo>
                      <a:pt x="298039" y="682826"/>
                      <a:pt x="537264" y="682826"/>
                      <a:pt x="685470" y="535625"/>
                    </a:cubicBezTo>
                    <a:cubicBezTo>
                      <a:pt x="833676" y="388424"/>
                      <a:pt x="835304" y="149204"/>
                      <a:pt x="689114" y="0"/>
                    </a:cubicBezTo>
                  </a:path>
                </a:pathLst>
              </a:custGeom>
              <a:noFill/>
              <a:ln w="81439">
                <a:solidFill>
                  <a:srgbClr val="FAFCFE"/>
                </a:solidFill>
              </a:ln>
            </p:spPr>
            <p:txBody>
              <a:bodyPr/>
              <a:p/>
            </p:txBody>
          </p:sp>
          <p:sp>
            <p:nvSpPr>
              <p:cNvPr id="17" name="Freeform 17"/>
              <p:cNvSpPr/>
              <p:nvPr/>
            </p:nvSpPr>
            <p:spPr>
              <a:xfrm>
                <a:off x="10020300" y="3269932"/>
                <a:ext cx="9525" cy="21717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17170">
                    <a:moveTo>
                      <a:pt x="0" y="0"/>
                    </a:moveTo>
                    <a:lnTo>
                      <a:pt x="0" y="217170"/>
                    </a:lnTo>
                  </a:path>
                </a:pathLst>
              </a:custGeom>
              <a:noFill/>
              <a:ln w="81439">
                <a:solidFill>
                  <a:srgbClr val="FAFCFE"/>
                </a:solidFill>
              </a:ln>
            </p:spPr>
            <p:txBody>
              <a:bodyPr/>
              <a:p/>
            </p:txBody>
          </p:sp>
          <p:sp>
            <p:nvSpPr>
              <p:cNvPr id="18" name="Freeform 18"/>
              <p:cNvSpPr/>
              <p:nvPr/>
            </p:nvSpPr>
            <p:spPr>
              <a:xfrm>
                <a:off x="9857422" y="3541395"/>
                <a:ext cx="32575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25755" h="9525">
                    <a:moveTo>
                      <a:pt x="0" y="0"/>
                    </a:moveTo>
                    <a:lnTo>
                      <a:pt x="325755" y="0"/>
                    </a:lnTo>
                  </a:path>
                </a:pathLst>
              </a:custGeom>
              <a:noFill/>
              <a:ln w="81439">
                <a:solidFill>
                  <a:srgbClr val="FAFCFE"/>
                </a:solidFill>
              </a:ln>
            </p:spPr>
            <p:txBody>
              <a:bodyPr/>
              <a:p/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8998644" y="3911600"/>
              <a:ext cx="204331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en" sz="315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KNOCK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8029575" y="4457700"/>
              <a:ext cx="1181100" cy="1181100"/>
            </a:xfrm>
            <a:prstGeom prst="ellipse">
              <a:avLst/>
            </a:prstGeom>
            <a:noFill/>
            <a:ln w="28575">
              <a:solidFill>
                <a:srgbClr val="2B4266"/>
              </a:solidFill>
            </a:ln>
          </p:spPr>
          <p:txBody>
            <a:bodyPr/>
            <a:p/>
          </p:txBody>
        </p:sp>
        <p:sp>
          <p:nvSpPr>
            <p:cNvPr id="22" name="Line 22"/>
            <p:cNvSpPr/>
            <p:nvPr/>
          </p:nvSpPr>
          <p:spPr>
            <a:xfrm>
              <a:off x="8143875" y="5048250"/>
              <a:ext cx="952500" cy="9525"/>
            </a:xfrm>
            <a:custGeom>
              <a:avLst/>
              <a:gdLst/>
              <a:ahLst/>
              <a:cxnLst/>
              <a:rect l="l" t="t" r="r" b="b"/>
              <a:pathLst>
                <a:path w="952500" h="9525">
                  <a:moveTo>
                    <a:pt x="0" y="0"/>
                  </a:moveTo>
                  <a:lnTo>
                    <a:pt x="952500" y="0"/>
                  </a:lnTo>
                </a:path>
              </a:pathLst>
            </a:custGeom>
            <a:noFill/>
            <a:ln w="19050">
              <a:solidFill>
                <a:srgbClr val="2B4266"/>
              </a:solidFill>
            </a:ln>
          </p:spPr>
          <p:txBody>
            <a:bodyPr/>
            <a:p/>
          </p:txBody>
        </p:sp>
        <p:sp>
          <p:nvSpPr>
            <p:cNvPr id="23" name="TextBox 23"/>
            <p:cNvSpPr txBox="1"/>
            <p:nvPr/>
          </p:nvSpPr>
          <p:spPr>
            <a:xfrm>
              <a:off x="8152577" y="4838700"/>
              <a:ext cx="93509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en" sz="900" b="1" dirty="0">
                  <a:solidFill>
                    <a:srgbClr val="2B4266"/>
                  </a:solidFill>
                  <a:latin typeface="+mj-lt"/>
                  <a:ea typeface="+mj-ea"/>
                  <a:cs typeface="+mj-cs"/>
                </a:rPr>
                <a:t>KNOCK ON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937559" y="5143500"/>
              <a:ext cx="136513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en" sz="900" b="1" dirty="0">
                  <a:solidFill>
                    <a:srgbClr val="2B4266"/>
                  </a:solidFill>
                  <a:latin typeface="+mj-lt"/>
                  <a:ea typeface="+mj-ea"/>
                  <a:cs typeface="+mj-cs"/>
                </a:rPr>
                <a:t>THE RIGHT DOOR</a:t>
              </a:r>
            </a:p>
          </p:txBody>
        </p:sp>
      </p:grpSp>
      <p:grpSp>
        <p:nvGrpSpPr>
          <p:cNvPr id="28" name="cover-footer"/>
          <p:cNvGrpSpPr/>
          <p:nvPr/>
        </p:nvGrpSpPr>
        <p:grpSpPr>
          <a:xfrm>
            <a:off x="755904" y="6153150"/>
            <a:ext cx="10680192" cy="234696"/>
            <a:chOff x="755904" y="6153150"/>
            <a:chExt cx="10680192" cy="234696"/>
          </a:xfrm>
        </p:grpSpPr>
        <p:sp>
          <p:nvSpPr>
            <p:cNvPr id="26" name="TextBox 26"/>
            <p:cNvSpPr txBox="1"/>
            <p:nvPr/>
          </p:nvSpPr>
          <p:spPr>
            <a:xfrm>
              <a:off x="755904" y="6153150"/>
              <a:ext cx="59157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rgbClr val="2B4266"/>
                  </a:solidFill>
                  <a:latin typeface="+mj-lt"/>
                  <a:ea typeface="+mj-ea"/>
                  <a:cs typeface="+mj-cs"/>
                </a:rPr>
                <a:t>Python engine · FastAPI on Vercel · Supabase · Knock Desk CRM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208464" y="6153150"/>
              <a:ext cx="12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r"/>
              <a:r>
                <a:rPr lang="en" sz="1200" dirty="0">
                  <a:solidFill>
                    <a:srgbClr val="2B4266"/>
                  </a:solidFill>
                  <a:latin typeface="+mj-lt"/>
                  <a:ea typeface="+mj-ea"/>
                  <a:cs typeface="+mj-cs"/>
                </a:rPr>
                <a:t>October 2026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596646" y="444500"/>
            <a:ext cx="7311821" cy="1101979"/>
            <a:chOff x="596646" y="444500"/>
            <a:chExt cx="7311821" cy="1101979"/>
          </a:xfrm>
        </p:grpSpPr>
        <p:sp>
          <p:nvSpPr>
            <p:cNvPr id="2" name="TextBox 2"/>
            <p:cNvSpPr txBox="1"/>
            <p:nvPr/>
          </p:nvSpPr>
          <p:spPr>
            <a:xfrm>
              <a:off x="604647" y="444500"/>
              <a:ext cx="167515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SYSTEM OVERVIEW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6646" y="666750"/>
              <a:ext cx="8920421" cy="87972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A sign-up flows through five parts, and nothing</a:t>
              </a:r>
              <a:b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</a:br>
              <a: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reaches LinkedIn without a person saying yes</a:t>
              </a:r>
            </a:p>
          </p:txBody>
        </p:sp>
      </p:grpSp>
      <p:grpSp>
        <p:nvGrpSpPr>
          <p:cNvPr id="8" name="page-stamp"/>
          <p:cNvGrpSpPr/>
          <p:nvPr/>
        </p:nvGrpSpPr>
        <p:grpSpPr>
          <a:xfrm>
            <a:off x="11163300" y="285750"/>
            <a:ext cx="495300" cy="609600"/>
            <a:chOff x="11163300" y="285750"/>
            <a:chExt cx="495300" cy="609600"/>
          </a:xfrm>
        </p:grpSpPr>
        <p:sp>
          <p:nvSpPr>
            <p:cNvPr id="5" name="Rectangle 5"/>
            <p:cNvSpPr/>
            <p:nvPr/>
          </p:nvSpPr>
          <p:spPr>
            <a:xfrm>
              <a:off x="11163300" y="285750"/>
              <a:ext cx="495300" cy="6096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8000"/>
                </a:srgbClr>
              </a:solidFill>
            </a:ln>
          </p:spPr>
          <p:txBody>
            <a:bodyPr/>
            <a:p/>
          </p:txBody>
        </p:sp>
        <p:sp>
          <p:nvSpPr>
            <p:cNvPr id="6" name="Rectangle 6"/>
            <p:cNvSpPr/>
            <p:nvPr/>
          </p:nvSpPr>
          <p:spPr>
            <a:xfrm>
              <a:off x="11220450" y="342900"/>
              <a:ext cx="381000" cy="495300"/>
            </a:xfrm>
            <a:prstGeom prst="rect">
              <a:avLst/>
            </a:prstGeom>
            <a:solidFill>
              <a:srgbClr val="B3301B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" name="TextBox 7"/>
            <p:cNvSpPr txBox="1"/>
            <p:nvPr/>
          </p:nvSpPr>
          <p:spPr>
            <a:xfrm>
              <a:off x="11226496" y="463550"/>
              <a:ext cx="3689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2</a:t>
              </a:r>
            </a:p>
          </p:txBody>
        </p:sp>
      </p:grpSp>
      <p:sp>
        <p:nvSpPr>
          <p:cNvPr id="9" name="Line 9"/>
          <p:cNvSpPr/>
          <p:nvPr/>
        </p:nvSpPr>
        <p:spPr>
          <a:xfrm>
            <a:off x="609600" y="15811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28575">
            <a:solidFill>
              <a:srgbClr val="97B9DD"/>
            </a:solidFill>
            <a:custDash>
              <a:ds d="66667" sp="233333"/>
            </a:custDash>
          </a:ln>
        </p:spPr>
        <p:txBody>
          <a:bodyPr/>
          <a:p/>
        </p:txBody>
      </p:sp>
      <p:grpSp>
        <p:nvGrpSpPr>
          <p:cNvPr id="15" name="node-intake"/>
          <p:cNvGrpSpPr/>
          <p:nvPr/>
        </p:nvGrpSpPr>
        <p:grpSpPr>
          <a:xfrm>
            <a:off x="609600" y="1771650"/>
            <a:ext cx="2219325" cy="2000250"/>
            <a:chOff x="609600" y="1771650"/>
            <a:chExt cx="2219325" cy="2000250"/>
          </a:xfrm>
        </p:grpSpPr>
        <p:sp>
          <p:nvSpPr>
            <p:cNvPr id="10" name="Rectangle 10"/>
            <p:cNvSpPr/>
            <p:nvPr/>
          </p:nvSpPr>
          <p:spPr>
            <a:xfrm>
              <a:off x="609600" y="1771650"/>
              <a:ext cx="1866900" cy="200025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  <p:txBody>
            <a:bodyPr/>
            <a:p/>
          </p:txBody>
        </p:sp>
        <p:sp>
          <p:nvSpPr>
            <p:cNvPr id="11" name="Rectangle 11"/>
            <p:cNvSpPr/>
            <p:nvPr/>
          </p:nvSpPr>
          <p:spPr>
            <a:xfrm>
              <a:off x="609600" y="1771650"/>
              <a:ext cx="1866900" cy="41910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2" name="TextBox 12"/>
            <p:cNvSpPr txBox="1"/>
            <p:nvPr/>
          </p:nvSpPr>
          <p:spPr>
            <a:xfrm>
              <a:off x="717042" y="1882775"/>
              <a:ext cx="17616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3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1 Website intake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17804" y="2305050"/>
              <a:ext cx="1672496" cy="12348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A form on the landing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page posts to /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api/intake. A hidden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honeypot field drops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bots. The row lands in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intake_requests.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2495550" y="2771775"/>
              <a:ext cx="333375" cy="1"/>
            </a:xfrm>
            <a:prstGeom prst="line">
              <a:avLst/>
            </a:prstGeom>
            <a:noFill/>
            <a:ln w="19050">
              <a:solidFill>
                <a:srgbClr val="0E1F3A"/>
              </a:solidFill>
              <a:tailEnd type="triangle" w="lg" len="lg"/>
            </a:ln>
          </p:spPr>
          <p:txBody>
            <a:bodyPr/>
            <a:p/>
          </p:txBody>
        </p:sp>
      </p:grpSp>
      <p:grpSp>
        <p:nvGrpSpPr>
          <p:cNvPr id="21" name="node-supabase"/>
          <p:cNvGrpSpPr/>
          <p:nvPr/>
        </p:nvGrpSpPr>
        <p:grpSpPr>
          <a:xfrm>
            <a:off x="2847975" y="1771650"/>
            <a:ext cx="2219325" cy="2000250"/>
            <a:chOff x="2847975" y="1771650"/>
            <a:chExt cx="2219325" cy="2000250"/>
          </a:xfrm>
        </p:grpSpPr>
        <p:sp>
          <p:nvSpPr>
            <p:cNvPr id="16" name="Rectangle 16"/>
            <p:cNvSpPr/>
            <p:nvPr/>
          </p:nvSpPr>
          <p:spPr>
            <a:xfrm>
              <a:off x="2847975" y="1771650"/>
              <a:ext cx="1866900" cy="200025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  <p:txBody>
            <a:bodyPr/>
            <a:p/>
          </p:txBody>
        </p:sp>
        <p:sp>
          <p:nvSpPr>
            <p:cNvPr id="17" name="Rectangle 17"/>
            <p:cNvSpPr/>
            <p:nvPr/>
          </p:nvSpPr>
          <p:spPr>
            <a:xfrm>
              <a:off x="2847975" y="1771650"/>
              <a:ext cx="1866900" cy="41910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8" name="TextBox 18"/>
            <p:cNvSpPr txBox="1"/>
            <p:nvPr/>
          </p:nvSpPr>
          <p:spPr>
            <a:xfrm>
              <a:off x="2955417" y="1882775"/>
              <a:ext cx="12595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3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2 Supabase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956179" y="2305050"/>
              <a:ext cx="1708418" cy="143484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Postgres in Mumbai.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engine_state holds one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JSON document per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candidate.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inbound_replies and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outbox queue the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bridge.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4733925" y="2771775"/>
              <a:ext cx="333375" cy="1"/>
            </a:xfrm>
            <a:prstGeom prst="line">
              <a:avLst/>
            </a:prstGeom>
            <a:noFill/>
            <a:ln w="19050">
              <a:solidFill>
                <a:srgbClr val="0E1F3A"/>
              </a:solidFill>
              <a:headEnd type="triangle" w="lg" len="lg"/>
              <a:tailEnd type="triangle" w="lg" len="lg"/>
            </a:ln>
          </p:spPr>
          <p:txBody>
            <a:bodyPr/>
            <a:p/>
          </p:txBody>
        </p:sp>
      </p:grpSp>
      <p:grpSp>
        <p:nvGrpSpPr>
          <p:cNvPr id="27" name="node-engine"/>
          <p:cNvGrpSpPr/>
          <p:nvPr/>
        </p:nvGrpSpPr>
        <p:grpSpPr>
          <a:xfrm>
            <a:off x="5086350" y="1771650"/>
            <a:ext cx="2219325" cy="2000250"/>
            <a:chOff x="5086350" y="1771650"/>
            <a:chExt cx="2219325" cy="2000250"/>
          </a:xfrm>
        </p:grpSpPr>
        <p:sp>
          <p:nvSpPr>
            <p:cNvPr id="22" name="Rectangle 22"/>
            <p:cNvSpPr/>
            <p:nvPr/>
          </p:nvSpPr>
          <p:spPr>
            <a:xfrm>
              <a:off x="5086350" y="1771650"/>
              <a:ext cx="1866900" cy="2000250"/>
            </a:xfrm>
            <a:prstGeom prst="rect">
              <a:avLst/>
            </a:prstGeom>
            <a:solidFill>
              <a:srgbClr val="FAFCFE"/>
            </a:solidFill>
            <a:ln w="19050">
              <a:solidFill>
                <a:srgbClr val="0E1F3A"/>
              </a:solidFill>
            </a:ln>
          </p:spPr>
          <p:txBody>
            <a:bodyPr/>
            <a:p/>
          </p:txBody>
        </p:sp>
        <p:sp>
          <p:nvSpPr>
            <p:cNvPr id="23" name="Rectangle 23"/>
            <p:cNvSpPr/>
            <p:nvPr/>
          </p:nvSpPr>
          <p:spPr>
            <a:xfrm>
              <a:off x="5086350" y="1771650"/>
              <a:ext cx="1866900" cy="4191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4" name="TextBox 24"/>
            <p:cNvSpPr txBox="1"/>
            <p:nvPr/>
          </p:nvSpPr>
          <p:spPr>
            <a:xfrm>
              <a:off x="5193792" y="1882775"/>
              <a:ext cx="10068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35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3 Engine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194554" y="2305050"/>
              <a:ext cx="1620845" cy="12348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The outreach Python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package: discovery,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hooks, writers, judge,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reply agent and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learning, on Claude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Opus 5.5.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6972300" y="2771775"/>
              <a:ext cx="333375" cy="1"/>
            </a:xfrm>
            <a:prstGeom prst="line">
              <a:avLst/>
            </a:prstGeom>
            <a:noFill/>
            <a:ln w="19050">
              <a:solidFill>
                <a:srgbClr val="0E1F3A"/>
              </a:solidFill>
              <a:tailEnd type="triangle" w="lg" len="lg"/>
            </a:ln>
          </p:spPr>
          <p:txBody>
            <a:bodyPr/>
            <a:p/>
          </p:txBody>
        </p:sp>
      </p:grpSp>
      <p:grpSp>
        <p:nvGrpSpPr>
          <p:cNvPr id="34" name="node-desk"/>
          <p:cNvGrpSpPr/>
          <p:nvPr/>
        </p:nvGrpSpPr>
        <p:grpSpPr>
          <a:xfrm>
            <a:off x="7324725" y="1771650"/>
            <a:ext cx="2219325" cy="2362200"/>
            <a:chOff x="7324725" y="1771650"/>
            <a:chExt cx="2219325" cy="2362200"/>
          </a:xfrm>
        </p:grpSpPr>
        <p:sp>
          <p:nvSpPr>
            <p:cNvPr id="28" name="Rectangle 28"/>
            <p:cNvSpPr/>
            <p:nvPr/>
          </p:nvSpPr>
          <p:spPr>
            <a:xfrm>
              <a:off x="7324725" y="1771650"/>
              <a:ext cx="1866900" cy="200025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  <p:txBody>
            <a:bodyPr/>
            <a:p/>
          </p:txBody>
        </p:sp>
        <p:sp>
          <p:nvSpPr>
            <p:cNvPr id="29" name="Rectangle 29"/>
            <p:cNvSpPr/>
            <p:nvPr/>
          </p:nvSpPr>
          <p:spPr>
            <a:xfrm>
              <a:off x="7324725" y="1771650"/>
              <a:ext cx="1866900" cy="41910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0" name="TextBox 30"/>
            <p:cNvSpPr txBox="1"/>
            <p:nvPr/>
          </p:nvSpPr>
          <p:spPr>
            <a:xfrm>
              <a:off x="7432167" y="1882775"/>
              <a:ext cx="14892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3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4 Knock Desk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432929" y="2305050"/>
              <a:ext cx="1667142" cy="12348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Operator CRM served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by the same Vercel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project. Approve or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edit drafts, watch the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funnel and the send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queue.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210675" y="2771775"/>
              <a:ext cx="333375" cy="1"/>
            </a:xfrm>
            <a:prstGeom prst="line">
              <a:avLst/>
            </a:prstGeom>
            <a:noFill/>
            <a:ln w="19050">
              <a:solidFill>
                <a:srgbClr val="0E1F3A"/>
              </a:solidFill>
              <a:tailEnd type="triangle" w="lg" len="lg"/>
            </a:ln>
          </p:spPr>
          <p:txBody>
            <a:bodyPr/>
            <a:p/>
          </p:txBody>
        </p:sp>
        <p:sp>
          <p:nvSpPr>
            <p:cNvPr id="33" name="Line 33"/>
            <p:cNvSpPr/>
            <p:nvPr/>
          </p:nvSpPr>
          <p:spPr>
            <a:xfrm>
              <a:off x="8258175" y="3790950"/>
              <a:ext cx="1" cy="342900"/>
            </a:xfrm>
            <a:prstGeom prst="line">
              <a:avLst/>
            </a:prstGeom>
            <a:noFill/>
            <a:ln w="19050">
              <a:solidFill>
                <a:srgbClr val="0E1F3A"/>
              </a:solidFill>
              <a:tailEnd type="triangle" w="lg" len="lg"/>
            </a:ln>
          </p:spPr>
          <p:txBody>
            <a:bodyPr/>
            <a:p/>
          </p:txBody>
        </p:sp>
      </p:grpSp>
      <p:grpSp>
        <p:nvGrpSpPr>
          <p:cNvPr id="40" name="node-linkedin"/>
          <p:cNvGrpSpPr/>
          <p:nvPr/>
        </p:nvGrpSpPr>
        <p:grpSpPr>
          <a:xfrm>
            <a:off x="9563100" y="1771650"/>
            <a:ext cx="1866900" cy="2381250"/>
            <a:chOff x="9563100" y="1771650"/>
            <a:chExt cx="1866900" cy="2381250"/>
          </a:xfrm>
        </p:grpSpPr>
        <p:sp>
          <p:nvSpPr>
            <p:cNvPr id="35" name="Rectangle 35"/>
            <p:cNvSpPr/>
            <p:nvPr/>
          </p:nvSpPr>
          <p:spPr>
            <a:xfrm>
              <a:off x="9563100" y="1771650"/>
              <a:ext cx="1866900" cy="200025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  <p:txBody>
            <a:bodyPr/>
            <a:p/>
          </p:txBody>
        </p:sp>
        <p:sp>
          <p:nvSpPr>
            <p:cNvPr id="36" name="Rectangle 36"/>
            <p:cNvSpPr/>
            <p:nvPr/>
          </p:nvSpPr>
          <p:spPr>
            <a:xfrm>
              <a:off x="9563100" y="1771650"/>
              <a:ext cx="1866900" cy="41910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7" name="TextBox 37"/>
            <p:cNvSpPr txBox="1"/>
            <p:nvPr/>
          </p:nvSpPr>
          <p:spPr>
            <a:xfrm>
              <a:off x="9670542" y="1882775"/>
              <a:ext cx="11537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3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5 LinkedIn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671304" y="2305050"/>
              <a:ext cx="1697894" cy="12348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Only a real account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sends: the candidate's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own, or one connected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to La Growth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Machine. Replies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return the same way.</a:t>
              </a:r>
            </a:p>
          </p:txBody>
        </p:sp>
        <p:sp>
          <p:nvSpPr>
            <p:cNvPr id="39" name="Line 39"/>
            <p:cNvSpPr/>
            <p:nvPr/>
          </p:nvSpPr>
          <p:spPr>
            <a:xfrm flipV="1">
              <a:off x="10496550" y="3790950"/>
              <a:ext cx="1" cy="361950"/>
            </a:xfrm>
            <a:prstGeom prst="line">
              <a:avLst/>
            </a:prstGeom>
            <a:noFill/>
            <a:ln w="19050">
              <a:solidFill>
                <a:srgbClr val="0E1F3A"/>
              </a:solidFill>
              <a:tailEnd type="triangle" w="lg" len="lg"/>
            </a:ln>
          </p:spPr>
          <p:txBody>
            <a:bodyPr/>
            <a:p/>
          </p:txBody>
        </p:sp>
      </p:grpSp>
      <p:grpSp>
        <p:nvGrpSpPr>
          <p:cNvPr id="49" name="send-routes"/>
          <p:cNvGrpSpPr/>
          <p:nvPr/>
        </p:nvGrpSpPr>
        <p:grpSpPr>
          <a:xfrm>
            <a:off x="7324725" y="4152900"/>
            <a:ext cx="4105275" cy="2209800"/>
            <a:chOff x="7324725" y="4152900"/>
            <a:chExt cx="4105275" cy="2209800"/>
          </a:xfrm>
        </p:grpSpPr>
        <p:sp>
          <p:nvSpPr>
            <p:cNvPr id="41" name="Rectangle 41"/>
            <p:cNvSpPr/>
            <p:nvPr/>
          </p:nvSpPr>
          <p:spPr>
            <a:xfrm>
              <a:off x="7324725" y="4152900"/>
              <a:ext cx="4105275" cy="220980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  <p:txBody>
            <a:bodyPr/>
            <a:p/>
          </p:txBody>
        </p:sp>
        <p:sp>
          <p:nvSpPr>
            <p:cNvPr id="42" name="TextBox 42"/>
            <p:cNvSpPr txBox="1"/>
            <p:nvPr/>
          </p:nvSpPr>
          <p:spPr>
            <a:xfrm>
              <a:off x="7432548" y="4248150"/>
              <a:ext cx="1822511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28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Two ways to send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7439025" y="4533900"/>
              <a:ext cx="1828800" cy="1790700"/>
            </a:xfrm>
            <a:prstGeom prst="rect">
              <a:avLst/>
            </a:prstGeom>
            <a:solidFill>
              <a:srgbClr val="FAFCFE"/>
            </a:solidFill>
            <a:ln>
              <a:noFill/>
            </a:ln>
          </p:spPr>
          <p:txBody>
            <a:bodyPr/>
            <a:p/>
          </p:txBody>
        </p:sp>
        <p:sp>
          <p:nvSpPr>
            <p:cNvPr id="44" name="TextBox 44"/>
            <p:cNvSpPr txBox="1"/>
            <p:nvPr/>
          </p:nvSpPr>
          <p:spPr>
            <a:xfrm>
              <a:off x="7547229" y="4610100"/>
              <a:ext cx="12692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Self-send tier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547229" y="4857750"/>
              <a:ext cx="1739579" cy="10347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Candidate gets the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approved message and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sends it from their own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LinkedIn. No sender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account on our side.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9401175" y="4533900"/>
              <a:ext cx="1914525" cy="1790700"/>
            </a:xfrm>
            <a:prstGeom prst="rect">
              <a:avLst/>
            </a:prstGeom>
            <a:solidFill>
              <a:srgbClr val="FAFCFE"/>
            </a:solidFill>
            <a:ln>
              <a:noFill/>
            </a:ln>
          </p:spPr>
          <p:txBody>
            <a:bodyPr/>
            <a:p/>
          </p:txBody>
        </p:sp>
        <p:sp>
          <p:nvSpPr>
            <p:cNvPr id="47" name="TextBox 47"/>
            <p:cNvSpPr txBox="1"/>
            <p:nvPr/>
          </p:nvSpPr>
          <p:spPr>
            <a:xfrm>
              <a:off x="9509379" y="4610100"/>
              <a:ext cx="16198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Done-for-you tier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509379" y="4857750"/>
              <a:ext cx="1569268" cy="143484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Approved message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waits in outbox. A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scheduled Claude in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Chrome task sends it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from La Growth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Machine and copies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replies back.</a:t>
              </a:r>
            </a:p>
          </p:txBody>
        </p:sp>
      </p:grpSp>
      <p:grpSp>
        <p:nvGrpSpPr>
          <p:cNvPr id="53" name="reply-loop"/>
          <p:cNvGrpSpPr/>
          <p:nvPr/>
        </p:nvGrpSpPr>
        <p:grpSpPr>
          <a:xfrm>
            <a:off x="3781425" y="3810000"/>
            <a:ext cx="3543300" cy="1457325"/>
            <a:chOff x="3781425" y="3810000"/>
            <a:chExt cx="3543300" cy="1457325"/>
          </a:xfrm>
        </p:grpSpPr>
        <p:sp>
          <p:nvSpPr>
            <p:cNvPr id="50" name="Line 50"/>
            <p:cNvSpPr/>
            <p:nvPr/>
          </p:nvSpPr>
          <p:spPr>
            <a:xfrm>
              <a:off x="3781425" y="5257800"/>
              <a:ext cx="3543300" cy="9525"/>
            </a:xfrm>
            <a:custGeom>
              <a:avLst/>
              <a:gdLst/>
              <a:ahLst/>
              <a:cxnLst/>
              <a:rect l="l" t="t" r="r" b="b"/>
              <a:pathLst>
                <a:path w="3543300" h="9525">
                  <a:moveTo>
                    <a:pt x="3543300" y="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0E1F3A"/>
              </a:solidFill>
              <a:prstDash val="lgDash"/>
            </a:ln>
          </p:spPr>
          <p:txBody>
            <a:bodyPr/>
            <a:p/>
          </p:txBody>
        </p:sp>
        <p:sp>
          <p:nvSpPr>
            <p:cNvPr id="51" name="Line 51"/>
            <p:cNvSpPr/>
            <p:nvPr/>
          </p:nvSpPr>
          <p:spPr>
            <a:xfrm flipV="1">
              <a:off x="3781425" y="3810000"/>
              <a:ext cx="1" cy="1447800"/>
            </a:xfrm>
            <a:prstGeom prst="line">
              <a:avLst/>
            </a:prstGeom>
            <a:noFill/>
            <a:ln w="19050">
              <a:solidFill>
                <a:srgbClr val="0E1F3A"/>
              </a:solidFill>
              <a:prstDash val="lgDash"/>
              <a:tailEnd type="triangle" w="lg" len="lg"/>
            </a:ln>
          </p:spPr>
          <p:txBody>
            <a:bodyPr/>
            <a:p/>
          </p:txBody>
        </p:sp>
        <p:sp>
          <p:nvSpPr>
            <p:cNvPr id="52" name="TextBox 52"/>
            <p:cNvSpPr txBox="1"/>
            <p:nvPr/>
          </p:nvSpPr>
          <p:spPr>
            <a:xfrm>
              <a:off x="3946779" y="4610100"/>
              <a:ext cx="2256050" cy="63474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i="1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Replies return as rows in</a:t>
              </a:r>
              <a:br>
                <a:rPr lang="en" sz="1200" i="1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i="1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inbound_replies. The sync job</a:t>
              </a:r>
              <a:br>
                <a:rPr lang="en" sz="1200" i="1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i="1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drafts the next message.</a:t>
              </a:r>
            </a:p>
          </p:txBody>
        </p:sp>
      </p:grpSp>
      <p:grpSp>
        <p:nvGrpSpPr>
          <p:cNvPr id="58" name="notes-left"/>
          <p:cNvGrpSpPr/>
          <p:nvPr/>
        </p:nvGrpSpPr>
        <p:grpSpPr>
          <a:xfrm>
            <a:off x="603504" y="4222750"/>
            <a:ext cx="1658478" cy="2269871"/>
            <a:chOff x="603504" y="4222750"/>
            <a:chExt cx="1658478" cy="2269871"/>
          </a:xfrm>
        </p:grpSpPr>
        <p:sp>
          <p:nvSpPr>
            <p:cNvPr id="54" name="TextBox 54"/>
            <p:cNvSpPr txBox="1"/>
            <p:nvPr/>
          </p:nvSpPr>
          <p:spPr>
            <a:xfrm>
              <a:off x="603885" y="4222750"/>
              <a:ext cx="8056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12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Hosting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03504" y="4457700"/>
              <a:ext cx="2023343" cy="83477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Vercel in Mumbai (bom1):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FastAPI at /api, Knock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Desk at /crm, and a daily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sync cron.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03885" y="5422900"/>
              <a:ext cx="12501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12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Approval gate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03504" y="5657850"/>
              <a:ext cx="1584515" cy="83477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Nothing reaches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LinkedIn without a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person approving the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draft.</a:t>
              </a:r>
            </a:p>
          </p:txBody>
        </p:sp>
      </p:grpSp>
      <p:grpSp>
        <p:nvGrpSpPr>
          <p:cNvPr id="60" name="source"/>
          <p:cNvGrpSpPr/>
          <p:nvPr/>
        </p:nvGrpSpPr>
        <p:grpSpPr>
          <a:xfrm>
            <a:off x="604647" y="6559550"/>
            <a:ext cx="5894997" cy="191643"/>
            <a:chOff x="604647" y="6559550"/>
            <a:chExt cx="5894997" cy="191643"/>
          </a:xfrm>
        </p:grpSpPr>
        <p:sp>
          <p:nvSpPr>
            <p:cNvPr id="59" name="TextBox 59"/>
            <p:cNvSpPr txBox="1"/>
            <p:nvPr/>
          </p:nvSpPr>
          <p:spPr>
            <a:xfrm>
              <a:off x="604647" y="6559550"/>
              <a:ext cx="719189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Source: deploy/api/index.py, deploy/vercel.json, engine/outreach/bridge.py, docs/AUTOMATION.md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596646" y="444500"/>
            <a:ext cx="7961528" cy="1101979"/>
            <a:chOff x="596646" y="444500"/>
            <a:chExt cx="7961528" cy="1101979"/>
          </a:xfrm>
        </p:grpSpPr>
        <p:sp>
          <p:nvSpPr>
            <p:cNvPr id="2" name="TextBox 2"/>
            <p:cNvSpPr txBox="1"/>
            <p:nvPr/>
          </p:nvSpPr>
          <p:spPr>
            <a:xfrm>
              <a:off x="604647" y="444500"/>
              <a:ext cx="116771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DATA MODEL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6646" y="666750"/>
              <a:ext cx="9713064" cy="87972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Two layers of state: JSON documents the engine</a:t>
              </a:r>
              <a:b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</a:br>
              <a: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runs on, and a relational schema built to be queried</a:t>
              </a:r>
            </a:p>
          </p:txBody>
        </p:sp>
      </p:grpSp>
      <p:grpSp>
        <p:nvGrpSpPr>
          <p:cNvPr id="8" name="page-stamp"/>
          <p:cNvGrpSpPr/>
          <p:nvPr/>
        </p:nvGrpSpPr>
        <p:grpSpPr>
          <a:xfrm>
            <a:off x="11163300" y="285750"/>
            <a:ext cx="495300" cy="609600"/>
            <a:chOff x="11163300" y="285750"/>
            <a:chExt cx="495300" cy="609600"/>
          </a:xfrm>
        </p:grpSpPr>
        <p:sp>
          <p:nvSpPr>
            <p:cNvPr id="5" name="Rectangle 5"/>
            <p:cNvSpPr/>
            <p:nvPr/>
          </p:nvSpPr>
          <p:spPr>
            <a:xfrm>
              <a:off x="11163300" y="285750"/>
              <a:ext cx="495300" cy="6096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8000"/>
                </a:srgbClr>
              </a:solidFill>
            </a:ln>
          </p:spPr>
          <p:txBody>
            <a:bodyPr/>
            <a:p/>
          </p:txBody>
        </p:sp>
        <p:sp>
          <p:nvSpPr>
            <p:cNvPr id="6" name="Rectangle 6"/>
            <p:cNvSpPr/>
            <p:nvPr/>
          </p:nvSpPr>
          <p:spPr>
            <a:xfrm>
              <a:off x="11220450" y="342900"/>
              <a:ext cx="381000" cy="495300"/>
            </a:xfrm>
            <a:prstGeom prst="rect">
              <a:avLst/>
            </a:prstGeom>
            <a:solidFill>
              <a:srgbClr val="B3301B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" name="TextBox 7"/>
            <p:cNvSpPr txBox="1"/>
            <p:nvPr/>
          </p:nvSpPr>
          <p:spPr>
            <a:xfrm>
              <a:off x="11226496" y="463550"/>
              <a:ext cx="3689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3</a:t>
              </a:r>
            </a:p>
          </p:txBody>
        </p:sp>
      </p:grpSp>
      <p:sp>
        <p:nvSpPr>
          <p:cNvPr id="9" name="Line 9"/>
          <p:cNvSpPr/>
          <p:nvPr/>
        </p:nvSpPr>
        <p:spPr>
          <a:xfrm>
            <a:off x="609600" y="15811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28575">
            <a:solidFill>
              <a:srgbClr val="97B9DD"/>
            </a:solidFill>
            <a:custDash>
              <a:ds d="66667" sp="233333"/>
            </a:custDash>
          </a:ln>
        </p:spPr>
        <p:txBody>
          <a:bodyPr/>
          <a:p/>
        </p:txBody>
      </p:sp>
      <p:grpSp>
        <p:nvGrpSpPr>
          <p:cNvPr id="11" name="runtime-heading"/>
          <p:cNvGrpSpPr/>
          <p:nvPr/>
        </p:nvGrpSpPr>
        <p:grpSpPr>
          <a:xfrm>
            <a:off x="603123" y="1752600"/>
            <a:ext cx="3417739" cy="250317"/>
            <a:chOff x="603123" y="1752600"/>
            <a:chExt cx="3417739" cy="250317"/>
          </a:xfrm>
        </p:grpSpPr>
        <p:sp>
          <p:nvSpPr>
            <p:cNvPr id="10" name="TextBox 10"/>
            <p:cNvSpPr txBox="1"/>
            <p:nvPr/>
          </p:nvSpPr>
          <p:spPr>
            <a:xfrm>
              <a:off x="603123" y="1752600"/>
              <a:ext cx="4169641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28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Runtime tables, used by the engine today</a:t>
              </a:r>
            </a:p>
          </p:txBody>
        </p:sp>
      </p:grpSp>
      <p:grpSp>
        <p:nvGrpSpPr>
          <p:cNvPr id="16" name="card-engine-state"/>
          <p:cNvGrpSpPr/>
          <p:nvPr/>
        </p:nvGrpSpPr>
        <p:grpSpPr>
          <a:xfrm>
            <a:off x="609600" y="2038350"/>
            <a:ext cx="4343400" cy="838200"/>
            <a:chOff x="609600" y="2038350"/>
            <a:chExt cx="4343400" cy="838200"/>
          </a:xfrm>
        </p:grpSpPr>
        <p:sp>
          <p:nvSpPr>
            <p:cNvPr id="12" name="Rectangle 12"/>
            <p:cNvSpPr/>
            <p:nvPr/>
          </p:nvSpPr>
          <p:spPr>
            <a:xfrm>
              <a:off x="609600" y="2038350"/>
              <a:ext cx="4343400" cy="8382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  <p:txBody>
            <a:bodyPr/>
            <a:p/>
          </p:txBody>
        </p:sp>
        <p:sp>
          <p:nvSpPr>
            <p:cNvPr id="13" name="Rectangle 13"/>
            <p:cNvSpPr/>
            <p:nvPr/>
          </p:nvSpPr>
          <p:spPr>
            <a:xfrm>
              <a:off x="609600" y="2038350"/>
              <a:ext cx="57150" cy="8382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4" name="TextBox 14"/>
            <p:cNvSpPr txBox="1"/>
            <p:nvPr/>
          </p:nvSpPr>
          <p:spPr>
            <a:xfrm>
              <a:off x="755523" y="2152650"/>
              <a:ext cx="130097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28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engine_state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5904" y="2381250"/>
              <a:ext cx="3572308" cy="4347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One JSON document per candidate, plus shared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feedback and usage documents.</a:t>
              </a:r>
            </a:p>
          </p:txBody>
        </p:sp>
      </p:grpSp>
      <p:grpSp>
        <p:nvGrpSpPr>
          <p:cNvPr id="21" name="card-inbound"/>
          <p:cNvGrpSpPr/>
          <p:nvPr/>
        </p:nvGrpSpPr>
        <p:grpSpPr>
          <a:xfrm>
            <a:off x="609600" y="2971800"/>
            <a:ext cx="4343400" cy="838200"/>
            <a:chOff x="609600" y="2971800"/>
            <a:chExt cx="4343400" cy="838200"/>
          </a:xfrm>
        </p:grpSpPr>
        <p:sp>
          <p:nvSpPr>
            <p:cNvPr id="17" name="Rectangle 17"/>
            <p:cNvSpPr/>
            <p:nvPr/>
          </p:nvSpPr>
          <p:spPr>
            <a:xfrm>
              <a:off x="609600" y="2971800"/>
              <a:ext cx="4343400" cy="8382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  <p:txBody>
            <a:bodyPr/>
            <a:p/>
          </p:txBody>
        </p:sp>
        <p:sp>
          <p:nvSpPr>
            <p:cNvPr id="18" name="Rectangle 18"/>
            <p:cNvSpPr/>
            <p:nvPr/>
          </p:nvSpPr>
          <p:spPr>
            <a:xfrm>
              <a:off x="609600" y="2971800"/>
              <a:ext cx="57150" cy="8382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9" name="TextBox 19"/>
            <p:cNvSpPr txBox="1"/>
            <p:nvPr/>
          </p:nvSpPr>
          <p:spPr>
            <a:xfrm>
              <a:off x="755523" y="3086100"/>
              <a:ext cx="163935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28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inbound_replies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55904" y="3314700"/>
              <a:ext cx="4212756" cy="4347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Replies copied from the LGM inbox. The engine stamps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processed_at and result.</a:t>
              </a:r>
            </a:p>
          </p:txBody>
        </p:sp>
      </p:grpSp>
      <p:grpSp>
        <p:nvGrpSpPr>
          <p:cNvPr id="26" name="card-outbox"/>
          <p:cNvGrpSpPr/>
          <p:nvPr/>
        </p:nvGrpSpPr>
        <p:grpSpPr>
          <a:xfrm>
            <a:off x="609600" y="3905250"/>
            <a:ext cx="4343400" cy="838200"/>
            <a:chOff x="609600" y="3905250"/>
            <a:chExt cx="4343400" cy="838200"/>
          </a:xfrm>
        </p:grpSpPr>
        <p:sp>
          <p:nvSpPr>
            <p:cNvPr id="22" name="Rectangle 22"/>
            <p:cNvSpPr/>
            <p:nvPr/>
          </p:nvSpPr>
          <p:spPr>
            <a:xfrm>
              <a:off x="609600" y="3905250"/>
              <a:ext cx="4343400" cy="8382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  <p:txBody>
            <a:bodyPr/>
            <a:p/>
          </p:txBody>
        </p:sp>
        <p:sp>
          <p:nvSpPr>
            <p:cNvPr id="23" name="Rectangle 23"/>
            <p:cNvSpPr/>
            <p:nvPr/>
          </p:nvSpPr>
          <p:spPr>
            <a:xfrm>
              <a:off x="609600" y="3905250"/>
              <a:ext cx="57150" cy="8382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4" name="TextBox 24"/>
            <p:cNvSpPr txBox="1"/>
            <p:nvPr/>
          </p:nvSpPr>
          <p:spPr>
            <a:xfrm>
              <a:off x="755523" y="4019550"/>
              <a:ext cx="81577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28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outbox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55904" y="4248150"/>
              <a:ext cx="4052524" cy="4347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Messages waiting to send, with a send_after time. The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sender stamps sent_at.</a:t>
              </a:r>
            </a:p>
          </p:txBody>
        </p:sp>
      </p:grpSp>
      <p:grpSp>
        <p:nvGrpSpPr>
          <p:cNvPr id="31" name="card-intake"/>
          <p:cNvGrpSpPr/>
          <p:nvPr/>
        </p:nvGrpSpPr>
        <p:grpSpPr>
          <a:xfrm>
            <a:off x="609600" y="4838700"/>
            <a:ext cx="4343400" cy="838200"/>
            <a:chOff x="609600" y="4838700"/>
            <a:chExt cx="4343400" cy="838200"/>
          </a:xfrm>
        </p:grpSpPr>
        <p:sp>
          <p:nvSpPr>
            <p:cNvPr id="27" name="Rectangle 27"/>
            <p:cNvSpPr/>
            <p:nvPr/>
          </p:nvSpPr>
          <p:spPr>
            <a:xfrm>
              <a:off x="609600" y="4838700"/>
              <a:ext cx="4343400" cy="8382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  <p:txBody>
            <a:bodyPr/>
            <a:p/>
          </p:txBody>
        </p:sp>
        <p:sp>
          <p:nvSpPr>
            <p:cNvPr id="28" name="Rectangle 28"/>
            <p:cNvSpPr/>
            <p:nvPr/>
          </p:nvSpPr>
          <p:spPr>
            <a:xfrm>
              <a:off x="609600" y="4838700"/>
              <a:ext cx="57150" cy="8382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9" name="TextBox 29"/>
            <p:cNvSpPr txBox="1"/>
            <p:nvPr/>
          </p:nvSpPr>
          <p:spPr>
            <a:xfrm>
              <a:off x="755523" y="4953000"/>
              <a:ext cx="161664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28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intake_requests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55904" y="5181600"/>
              <a:ext cx="4295085" cy="4347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Website sign-ups. Anyone can insert; only the engine can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read them.</a:t>
              </a:r>
            </a:p>
          </p:txBody>
        </p:sp>
      </p:grpSp>
      <p:grpSp>
        <p:nvGrpSpPr>
          <p:cNvPr id="33" name="relational-heading"/>
          <p:cNvGrpSpPr/>
          <p:nvPr/>
        </p:nvGrpSpPr>
        <p:grpSpPr>
          <a:xfrm>
            <a:off x="5327523" y="1752600"/>
            <a:ext cx="5726613" cy="250317"/>
            <a:chOff x="5327523" y="1752600"/>
            <a:chExt cx="5726613" cy="250317"/>
          </a:xfrm>
        </p:grpSpPr>
        <p:sp>
          <p:nvSpPr>
            <p:cNvPr id="32" name="TextBox 32"/>
            <p:cNvSpPr txBox="1"/>
            <p:nvPr/>
          </p:nvSpPr>
          <p:spPr>
            <a:xfrm>
              <a:off x="5327523" y="1752600"/>
              <a:ext cx="6864477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28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Relational core (migration 0001), ready for analytics and client access</a:t>
              </a:r>
            </a:p>
          </p:txBody>
        </p:sp>
      </p:grpSp>
      <p:grpSp>
        <p:nvGrpSpPr>
          <p:cNvPr id="69" name="er-diagram"/>
          <p:cNvGrpSpPr/>
          <p:nvPr/>
        </p:nvGrpSpPr>
        <p:grpSpPr>
          <a:xfrm>
            <a:off x="5328285" y="2133600"/>
            <a:ext cx="6254115" cy="3162300"/>
            <a:chOff x="5328285" y="2133600"/>
            <a:chExt cx="6254115" cy="3162300"/>
          </a:xfrm>
        </p:grpSpPr>
        <p:grpSp>
          <p:nvGrpSpPr>
            <p:cNvPr id="40" name="Group 40"/>
            <p:cNvGrpSpPr/>
            <p:nvPr/>
          </p:nvGrpSpPr>
          <p:grpSpPr>
            <a:xfrm>
              <a:off x="6143625" y="2428875"/>
              <a:ext cx="3181350" cy="1104901"/>
              <a:chOff x="6143625" y="2428875"/>
              <a:chExt cx="3181350" cy="1104901"/>
            </a:xfrm>
          </p:grpSpPr>
          <p:sp>
            <p:nvSpPr>
              <p:cNvPr id="34" name="Line 34"/>
              <p:cNvSpPr/>
              <p:nvPr/>
            </p:nvSpPr>
            <p:spPr>
              <a:xfrm>
                <a:off x="6962775" y="2428875"/>
                <a:ext cx="361950" cy="1"/>
              </a:xfrm>
              <a:prstGeom prst="line">
                <a:avLst/>
              </a:prstGeom>
              <a:noFill/>
              <a:ln w="19050">
                <a:solidFill>
                  <a:srgbClr val="0E1F3A"/>
                </a:solidFill>
                <a:tailEnd type="triangle" w="lg" len="lg"/>
              </a:ln>
            </p:spPr>
            <p:txBody>
              <a:bodyPr/>
              <a:p/>
            </p:txBody>
          </p:sp>
          <p:sp>
            <p:nvSpPr>
              <p:cNvPr id="35" name="Line 35"/>
              <p:cNvSpPr/>
              <p:nvPr/>
            </p:nvSpPr>
            <p:spPr>
              <a:xfrm>
                <a:off x="8963025" y="2428875"/>
                <a:ext cx="361950" cy="1"/>
              </a:xfrm>
              <a:prstGeom prst="line">
                <a:avLst/>
              </a:prstGeom>
              <a:noFill/>
              <a:ln w="19050">
                <a:solidFill>
                  <a:srgbClr val="0E1F3A"/>
                </a:solidFill>
                <a:tailEnd type="triangle" w="lg" len="lg"/>
              </a:ln>
            </p:spPr>
            <p:txBody>
              <a:bodyPr/>
              <a:p/>
            </p:txBody>
          </p:sp>
          <p:sp>
            <p:nvSpPr>
              <p:cNvPr id="36" name="Line 36"/>
              <p:cNvSpPr/>
              <p:nvPr/>
            </p:nvSpPr>
            <p:spPr>
              <a:xfrm>
                <a:off x="6143625" y="2733675"/>
                <a:ext cx="1" cy="495300"/>
              </a:xfrm>
              <a:prstGeom prst="line">
                <a:avLst/>
              </a:prstGeom>
              <a:noFill/>
              <a:ln w="19050">
                <a:solidFill>
                  <a:srgbClr val="0E1F3A"/>
                </a:solidFill>
                <a:tailEnd type="triangle" w="lg" len="lg"/>
              </a:ln>
            </p:spPr>
            <p:txBody>
              <a:bodyPr/>
              <a:p/>
            </p:txBody>
          </p:sp>
          <p:sp>
            <p:nvSpPr>
              <p:cNvPr id="37" name="Line 37"/>
              <p:cNvSpPr/>
              <p:nvPr/>
            </p:nvSpPr>
            <p:spPr>
              <a:xfrm>
                <a:off x="8143875" y="2733675"/>
                <a:ext cx="1" cy="495300"/>
              </a:xfrm>
              <a:prstGeom prst="line">
                <a:avLst/>
              </a:prstGeom>
              <a:noFill/>
              <a:ln w="19050">
                <a:solidFill>
                  <a:srgbClr val="0E1F3A"/>
                </a:solidFill>
                <a:tailEnd type="triangle" w="lg" len="lg"/>
              </a:ln>
            </p:spPr>
            <p:txBody>
              <a:bodyPr/>
              <a:p/>
            </p:txBody>
          </p:sp>
          <p:sp>
            <p:nvSpPr>
              <p:cNvPr id="38" name="Line 38"/>
              <p:cNvSpPr/>
              <p:nvPr/>
            </p:nvSpPr>
            <p:spPr>
              <a:xfrm>
                <a:off x="8963025" y="3533775"/>
                <a:ext cx="361950" cy="1"/>
              </a:xfrm>
              <a:prstGeom prst="line">
                <a:avLst/>
              </a:prstGeom>
              <a:noFill/>
              <a:ln w="19050">
                <a:solidFill>
                  <a:srgbClr val="0E1F3A"/>
                </a:solidFill>
                <a:tailEnd type="triangle" w="lg" len="lg"/>
              </a:ln>
            </p:spPr>
            <p:txBody>
              <a:bodyPr/>
              <a:p/>
            </p:txBody>
          </p:sp>
          <p:sp>
            <p:nvSpPr>
              <p:cNvPr id="39" name="Line 39"/>
              <p:cNvSpPr/>
              <p:nvPr/>
            </p:nvSpPr>
            <p:spPr>
              <a:xfrm flipH="1">
                <a:off x="6962775" y="3533775"/>
                <a:ext cx="361950" cy="1"/>
              </a:xfrm>
              <a:prstGeom prst="line">
                <a:avLst/>
              </a:prstGeom>
              <a:noFill/>
              <a:ln w="19050">
                <a:solidFill>
                  <a:srgbClr val="0E1F3A"/>
                </a:solidFill>
                <a:custDash>
                  <a:ds d="200000" sp="150000"/>
                </a:custDash>
                <a:tailEnd type="triangle" w="lg" len="lg"/>
              </a:ln>
            </p:spPr>
            <p:txBody>
              <a:bodyPr/>
              <a:p/>
            </p:txBody>
          </p:sp>
        </p:grpSp>
        <p:sp>
          <p:nvSpPr>
            <p:cNvPr id="41" name="Rectangle 41"/>
            <p:cNvSpPr/>
            <p:nvPr/>
          </p:nvSpPr>
          <p:spPr>
            <a:xfrm>
              <a:off x="5334000" y="2133600"/>
              <a:ext cx="1619250" cy="59055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42" name="TextBox 42"/>
            <p:cNvSpPr txBox="1"/>
            <p:nvPr/>
          </p:nvSpPr>
          <p:spPr>
            <a:xfrm>
              <a:off x="5442204" y="2209800"/>
              <a:ext cx="10847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candidates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442585" y="2432050"/>
              <a:ext cx="19028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120" dirty="0">
                  <a:solidFill>
                    <a:srgbClr val="C4D9EF"/>
                  </a:solidFill>
                  <a:latin typeface="+mn-lt"/>
                  <a:ea typeface="+mn-ea"/>
                  <a:cs typeface="+mn-cs"/>
                </a:rPr>
                <a:t>client, tier, targets, story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7334250" y="2133600"/>
              <a:ext cx="1619250" cy="59055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  <p:txBody>
            <a:bodyPr/>
            <a:p/>
          </p:txBody>
        </p:sp>
        <p:sp>
          <p:nvSpPr>
            <p:cNvPr id="45" name="TextBox 45"/>
            <p:cNvSpPr txBox="1"/>
            <p:nvPr/>
          </p:nvSpPr>
          <p:spPr>
            <a:xfrm>
              <a:off x="7442454" y="2209800"/>
              <a:ext cx="10128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prospects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442835" y="2432050"/>
              <a:ext cx="16872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1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person, bucket, status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9334500" y="2133600"/>
              <a:ext cx="1619250" cy="59055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  <p:txBody>
            <a:bodyPr/>
            <a:p/>
          </p:txBody>
        </p:sp>
        <p:sp>
          <p:nvSpPr>
            <p:cNvPr id="48" name="TextBox 48"/>
            <p:cNvSpPr txBox="1"/>
            <p:nvPr/>
          </p:nvSpPr>
          <p:spPr>
            <a:xfrm>
              <a:off x="9442704" y="2209800"/>
              <a:ext cx="7526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events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443085" y="2432050"/>
              <a:ext cx="19732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1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status changes, outcomes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334000" y="3238500"/>
              <a:ext cx="1619250" cy="590550"/>
            </a:xfrm>
            <a:prstGeom prst="rect">
              <a:avLst/>
            </a:prstGeom>
            <a:solidFill>
              <a:srgbClr val="FAFCFE"/>
            </a:solidFill>
            <a:ln w="19050">
              <a:solidFill>
                <a:srgbClr val="0E1F3A"/>
              </a:solidFill>
            </a:ln>
          </p:spPr>
          <p:txBody>
            <a:bodyPr/>
            <a:p/>
          </p:txBody>
        </p:sp>
        <p:sp>
          <p:nvSpPr>
            <p:cNvPr id="51" name="TextBox 51"/>
            <p:cNvSpPr txBox="1"/>
            <p:nvPr/>
          </p:nvSpPr>
          <p:spPr>
            <a:xfrm>
              <a:off x="5442204" y="3314700"/>
              <a:ext cx="61793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facts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442585" y="3536950"/>
              <a:ext cx="21727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1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atomic, owner, kind, source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7334250" y="3238500"/>
              <a:ext cx="1619250" cy="590550"/>
            </a:xfrm>
            <a:prstGeom prst="rect">
              <a:avLst/>
            </a:prstGeom>
            <a:solidFill>
              <a:srgbClr val="FAFCFE"/>
            </a:solidFill>
            <a:ln w="19050">
              <a:solidFill>
                <a:srgbClr val="0E1F3A"/>
              </a:solidFill>
            </a:ln>
          </p:spPr>
          <p:txBody>
            <a:bodyPr/>
            <a:p/>
          </p:txBody>
        </p:sp>
        <p:sp>
          <p:nvSpPr>
            <p:cNvPr id="54" name="TextBox 54"/>
            <p:cNvSpPr txBox="1"/>
            <p:nvPr/>
          </p:nvSpPr>
          <p:spPr>
            <a:xfrm>
              <a:off x="7442454" y="3314700"/>
              <a:ext cx="7165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hooks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442835" y="3536950"/>
              <a:ext cx="2026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1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type, four scores, selected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9334500" y="3238500"/>
              <a:ext cx="1619250" cy="59055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  <p:txBody>
            <a:bodyPr/>
            <a:p/>
          </p:txBody>
        </p:sp>
        <p:sp>
          <p:nvSpPr>
            <p:cNvPr id="57" name="TextBox 57"/>
            <p:cNvSpPr txBox="1"/>
            <p:nvPr/>
          </p:nvSpPr>
          <p:spPr>
            <a:xfrm>
              <a:off x="9442704" y="3314700"/>
              <a:ext cx="10222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messages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443085" y="3536950"/>
              <a:ext cx="18811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1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step, writer, alternatives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5334000" y="4343400"/>
              <a:ext cx="1619250" cy="590550"/>
            </a:xfrm>
            <a:prstGeom prst="rect">
              <a:avLst/>
            </a:prstGeom>
            <a:noFill/>
            <a:ln w="19050">
              <a:solidFill>
                <a:srgbClr val="2B4266"/>
              </a:solidFill>
              <a:custDash>
                <a:ds d="300000" sp="200000"/>
              </a:custDash>
            </a:ln>
          </p:spPr>
          <p:txBody>
            <a:bodyPr/>
            <a:p/>
          </p:txBody>
        </p:sp>
        <p:sp>
          <p:nvSpPr>
            <p:cNvPr id="60" name="TextBox 60"/>
            <p:cNvSpPr txBox="1"/>
            <p:nvPr/>
          </p:nvSpPr>
          <p:spPr>
            <a:xfrm>
              <a:off x="5442204" y="4419600"/>
              <a:ext cx="143896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feedback_edits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5442585" y="4641850"/>
              <a:ext cx="16707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1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draft versus final text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7334250" y="4343400"/>
              <a:ext cx="1619250" cy="590550"/>
            </a:xfrm>
            <a:prstGeom prst="rect">
              <a:avLst/>
            </a:prstGeom>
            <a:noFill/>
            <a:ln w="19050">
              <a:solidFill>
                <a:srgbClr val="2B4266"/>
              </a:solidFill>
              <a:custDash>
                <a:ds d="300000" sp="200000"/>
              </a:custDash>
            </a:ln>
          </p:spPr>
          <p:txBody>
            <a:bodyPr/>
            <a:p/>
          </p:txBody>
        </p:sp>
        <p:sp>
          <p:nvSpPr>
            <p:cNvPr id="63" name="TextBox 63"/>
            <p:cNvSpPr txBox="1"/>
            <p:nvPr/>
          </p:nvSpPr>
          <p:spPr>
            <a:xfrm>
              <a:off x="7442454" y="4419600"/>
              <a:ext cx="18002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playbook_versions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442835" y="4641850"/>
              <a:ext cx="16221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1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learned writing rules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9334500" y="4343400"/>
              <a:ext cx="2247900" cy="9525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  <p:txBody>
            <a:bodyPr/>
            <a:p/>
          </p:txBody>
        </p:sp>
        <p:sp>
          <p:nvSpPr>
            <p:cNvPr id="66" name="TextBox 66"/>
            <p:cNvSpPr txBox="1"/>
            <p:nvPr/>
          </p:nvSpPr>
          <p:spPr>
            <a:xfrm>
              <a:off x="9442704" y="4419600"/>
              <a:ext cx="7039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Views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9443085" y="4648200"/>
              <a:ext cx="1391725" cy="62007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1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candidate_funnel</a:t>
              </a:r>
              <a:br>
                <a:rPr lang="en" sz="11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1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hook_performance</a:t>
              </a:r>
              <a:br>
                <a:rPr lang="en" sz="11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1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writer_performance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5328285" y="5041900"/>
              <a:ext cx="31491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120" i="1" dirty="0">
                  <a:solidFill>
                    <a:srgbClr val="4A5F80"/>
                  </a:solidFill>
                  <a:latin typeface="+mn-lt"/>
                  <a:ea typeface="+mn-ea"/>
                  <a:cs typeface="+mn-cs"/>
                </a:rPr>
                <a:t>Dashed: operator only, no client policy.</a:t>
              </a:r>
            </a:p>
          </p:txBody>
        </p:sp>
      </p:grpSp>
      <p:grpSp>
        <p:nvGrpSpPr>
          <p:cNvPr id="72" name="schema-callout"/>
          <p:cNvGrpSpPr/>
          <p:nvPr/>
        </p:nvGrpSpPr>
        <p:grpSpPr>
          <a:xfrm>
            <a:off x="5334000" y="5429250"/>
            <a:ext cx="6248400" cy="1104900"/>
            <a:chOff x="5334000" y="5429250"/>
            <a:chExt cx="6248400" cy="1104900"/>
          </a:xfrm>
        </p:grpSpPr>
        <p:sp>
          <p:nvSpPr>
            <p:cNvPr id="70" name="Rectangle 70"/>
            <p:cNvSpPr/>
            <p:nvPr/>
          </p:nvSpPr>
          <p:spPr>
            <a:xfrm>
              <a:off x="5334000" y="5429250"/>
              <a:ext cx="6248400" cy="11049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1" name="TextBox 71"/>
            <p:cNvSpPr txBox="1"/>
            <p:nvPr/>
          </p:nvSpPr>
          <p:spPr>
            <a:xfrm>
              <a:off x="5517642" y="5537200"/>
              <a:ext cx="5185717" cy="97840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875"/>
                </a:lnSpc>
              </a:pPr>
              <a:r>
                <a:rPr lang="en" sz="1350" dirty="0">
                  <a:solidFill>
                    <a:srgbClr val="FAFCFE"/>
                  </a:solidFill>
                  <a:latin typeface="+mn-lt"/>
                  <a:ea typeface="+mn-ea"/>
                  <a:cs typeface="+mn-cs"/>
                </a:rPr>
                <a:t>The schema enforces the design. hooks.candidate_fact_id and</a:t>
              </a:r>
              <a:br>
                <a:rPr lang="en" sz="1350" dirty="0">
                  <a:solidFill>
                    <a:srgbClr val="FAFCFE"/>
                  </a:solidFill>
                  <a:latin typeface="+mn-lt"/>
                  <a:ea typeface="+mn-ea"/>
                  <a:cs typeface="+mn-cs"/>
                </a:rPr>
              </a:br>
              <a:r>
                <a:rPr lang="en" sz="1350" dirty="0">
                  <a:solidFill>
                    <a:srgbClr val="FAFCFE"/>
                  </a:solidFill>
                  <a:latin typeface="+mn-lt"/>
                  <a:ea typeface="+mn-ea"/>
                  <a:cs typeface="+mn-cs"/>
                </a:rPr>
                <a:t>hooks.prospect_fact_id are both required references to</a:t>
              </a:r>
              <a:br>
                <a:rPr lang="en" sz="1350" dirty="0">
                  <a:solidFill>
                    <a:srgbClr val="FAFCFE"/>
                  </a:solidFill>
                  <a:latin typeface="+mn-lt"/>
                  <a:ea typeface="+mn-ea"/>
                  <a:cs typeface="+mn-cs"/>
                </a:rPr>
              </a:br>
              <a:r>
                <a:rPr lang="en" sz="1350" dirty="0">
                  <a:solidFill>
                    <a:srgbClr val="FAFCFE"/>
                  </a:solidFill>
                  <a:latin typeface="+mn-lt"/>
                  <a:ea typeface="+mn-ea"/>
                  <a:cs typeface="+mn-cs"/>
                </a:rPr>
                <a:t>facts(id), so the database refuses a hook that cites nothing.</a:t>
              </a:r>
              <a:br>
                <a:rPr lang="en" sz="1350" dirty="0">
                  <a:solidFill>
                    <a:srgbClr val="FAFCFE"/>
                  </a:solidFill>
                  <a:latin typeface="+mn-lt"/>
                  <a:ea typeface="+mn-ea"/>
                  <a:cs typeface="+mn-cs"/>
                </a:rPr>
              </a:br>
              <a:r>
                <a:rPr lang="en" sz="1350" dirty="0">
                  <a:solidFill>
                    <a:srgbClr val="FAFCFE"/>
                  </a:solidFill>
                  <a:latin typeface="+mn-lt"/>
                  <a:ea typeface="+mn-ea"/>
                  <a:cs typeface="+mn-cs"/>
                </a:rPr>
                <a:t>Row-level security is on for every table.</a:t>
              </a:r>
            </a:p>
          </p:txBody>
        </p:sp>
      </p:grpSp>
      <p:grpSp>
        <p:nvGrpSpPr>
          <p:cNvPr id="74" name="source"/>
          <p:cNvGrpSpPr/>
          <p:nvPr/>
        </p:nvGrpSpPr>
        <p:grpSpPr>
          <a:xfrm>
            <a:off x="604647" y="6559550"/>
            <a:ext cx="4056058" cy="191643"/>
            <a:chOff x="604647" y="6559550"/>
            <a:chExt cx="4056058" cy="191643"/>
          </a:xfrm>
        </p:grpSpPr>
        <p:sp>
          <p:nvSpPr>
            <p:cNvPr id="73" name="TextBox 73"/>
            <p:cNvSpPr txBox="1"/>
            <p:nvPr/>
          </p:nvSpPr>
          <p:spPr>
            <a:xfrm>
              <a:off x="604647" y="6559550"/>
              <a:ext cx="494839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Source: supabase/migrations 0001 to 0004, engine/outreach/store.py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596646" y="444500"/>
            <a:ext cx="7495055" cy="1101979"/>
            <a:chOff x="596646" y="444500"/>
            <a:chExt cx="7495055" cy="1101979"/>
          </a:xfrm>
        </p:grpSpPr>
        <p:sp>
          <p:nvSpPr>
            <p:cNvPr id="2" name="TextBox 2"/>
            <p:cNvSpPr txBox="1"/>
            <p:nvPr/>
          </p:nvSpPr>
          <p:spPr>
            <a:xfrm>
              <a:off x="604647" y="444500"/>
              <a:ext cx="87367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PIPELINE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6646" y="666750"/>
              <a:ext cx="9143967" cy="87972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Six stages turn a company name into a reviewed</a:t>
              </a:r>
              <a:b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</a:br>
              <a: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message, and any stage can drop a prospect</a:t>
              </a:r>
            </a:p>
          </p:txBody>
        </p:sp>
      </p:grpSp>
      <p:grpSp>
        <p:nvGrpSpPr>
          <p:cNvPr id="8" name="page-stamp"/>
          <p:cNvGrpSpPr/>
          <p:nvPr/>
        </p:nvGrpSpPr>
        <p:grpSpPr>
          <a:xfrm>
            <a:off x="11163300" y="285750"/>
            <a:ext cx="495300" cy="609600"/>
            <a:chOff x="11163300" y="285750"/>
            <a:chExt cx="495300" cy="609600"/>
          </a:xfrm>
        </p:grpSpPr>
        <p:sp>
          <p:nvSpPr>
            <p:cNvPr id="5" name="Rectangle 5"/>
            <p:cNvSpPr/>
            <p:nvPr/>
          </p:nvSpPr>
          <p:spPr>
            <a:xfrm>
              <a:off x="11163300" y="285750"/>
              <a:ext cx="495300" cy="6096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8000"/>
                </a:srgbClr>
              </a:solidFill>
            </a:ln>
          </p:spPr>
          <p:txBody>
            <a:bodyPr/>
            <a:p/>
          </p:txBody>
        </p:sp>
        <p:sp>
          <p:nvSpPr>
            <p:cNvPr id="6" name="Rectangle 6"/>
            <p:cNvSpPr/>
            <p:nvPr/>
          </p:nvSpPr>
          <p:spPr>
            <a:xfrm>
              <a:off x="11220450" y="342900"/>
              <a:ext cx="381000" cy="495300"/>
            </a:xfrm>
            <a:prstGeom prst="rect">
              <a:avLst/>
            </a:prstGeom>
            <a:solidFill>
              <a:srgbClr val="B3301B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" name="TextBox 7"/>
            <p:cNvSpPr txBox="1"/>
            <p:nvPr/>
          </p:nvSpPr>
          <p:spPr>
            <a:xfrm>
              <a:off x="11226496" y="463550"/>
              <a:ext cx="3689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4</a:t>
              </a:r>
            </a:p>
          </p:txBody>
        </p:sp>
      </p:grpSp>
      <p:sp>
        <p:nvSpPr>
          <p:cNvPr id="9" name="Line 9"/>
          <p:cNvSpPr/>
          <p:nvPr/>
        </p:nvSpPr>
        <p:spPr>
          <a:xfrm>
            <a:off x="609600" y="15811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28575">
            <a:solidFill>
              <a:srgbClr val="97B9DD"/>
            </a:solidFill>
            <a:custDash>
              <a:ds d="66667" sp="233333"/>
            </a:custDash>
          </a:ln>
        </p:spPr>
        <p:txBody>
          <a:bodyPr/>
          <a:p/>
        </p:txBody>
      </p:sp>
      <p:grpSp>
        <p:nvGrpSpPr>
          <p:cNvPr id="23" name="stage-strip"/>
          <p:cNvGrpSpPr/>
          <p:nvPr/>
        </p:nvGrpSpPr>
        <p:grpSpPr>
          <a:xfrm>
            <a:off x="609600" y="1771650"/>
            <a:ext cx="10839450" cy="800100"/>
            <a:chOff x="609600" y="1771650"/>
            <a:chExt cx="10839450" cy="800100"/>
          </a:xfrm>
        </p:grpSpPr>
        <p:sp>
          <p:nvSpPr>
            <p:cNvPr id="10" name="Freeform 10"/>
            <p:cNvSpPr/>
            <p:nvPr/>
          </p:nvSpPr>
          <p:spPr>
            <a:xfrm>
              <a:off x="609600" y="1771650"/>
              <a:ext cx="2076450" cy="800100"/>
            </a:xfrm>
            <a:prstGeom prst="homePlate">
              <a:avLst/>
            </a:prstGeom>
            <a:solidFill>
              <a:srgbClr val="A9C7E6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1" name="Freeform 11"/>
            <p:cNvSpPr/>
            <p:nvPr/>
          </p:nvSpPr>
          <p:spPr>
            <a:xfrm>
              <a:off x="2362200" y="1771650"/>
              <a:ext cx="2076450" cy="800100"/>
            </a:xfrm>
            <a:prstGeom prst="chevron">
              <a:avLst/>
            </a:prstGeom>
            <a:solidFill>
              <a:srgbClr val="A9C7E6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2" name="Freeform 12"/>
            <p:cNvSpPr/>
            <p:nvPr/>
          </p:nvSpPr>
          <p:spPr>
            <a:xfrm>
              <a:off x="4114800" y="1771650"/>
              <a:ext cx="2076450" cy="800100"/>
            </a:xfrm>
            <a:prstGeom prst="chevron">
              <a:avLst/>
            </a:prstGeom>
            <a:solidFill>
              <a:srgbClr val="A9C7E6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3" name="Freeform 13"/>
            <p:cNvSpPr/>
            <p:nvPr/>
          </p:nvSpPr>
          <p:spPr>
            <a:xfrm>
              <a:off x="5867400" y="1771650"/>
              <a:ext cx="2076450" cy="800100"/>
            </a:xfrm>
            <a:prstGeom prst="chevron">
              <a:avLst/>
            </a:prstGeom>
            <a:solidFill>
              <a:srgbClr val="A9C7E6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4" name="Freeform 14"/>
            <p:cNvSpPr/>
            <p:nvPr/>
          </p:nvSpPr>
          <p:spPr>
            <a:xfrm>
              <a:off x="7620000" y="1771650"/>
              <a:ext cx="2076450" cy="800100"/>
            </a:xfrm>
            <a:prstGeom prst="chevron">
              <a:avLst/>
            </a:prstGeom>
            <a:solidFill>
              <a:srgbClr val="A9C7E6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5" name="Freeform 15"/>
            <p:cNvSpPr/>
            <p:nvPr/>
          </p:nvSpPr>
          <p:spPr>
            <a:xfrm>
              <a:off x="9372600" y="1771650"/>
              <a:ext cx="2076450" cy="800100"/>
            </a:xfrm>
            <a:prstGeom prst="chevron">
              <a:avLst/>
            </a:prstGeom>
            <a:solidFill>
              <a:srgbClr val="0E1F3A"/>
            </a:solidFill>
            <a:ln>
              <a:noFill/>
            </a:ln>
          </p:spPr>
          <p:txBody>
            <a:bodyPr/>
            <a:p/>
          </p:txBody>
        </p:sp>
        <p:grpSp>
          <p:nvGrpSpPr>
            <p:cNvPr id="22" name="Group 22"/>
            <p:cNvGrpSpPr/>
            <p:nvPr/>
          </p:nvGrpSpPr>
          <p:grpSpPr>
            <a:xfrm>
              <a:off x="992044" y="1968500"/>
              <a:ext cx="9768519" cy="459867"/>
              <a:chOff x="992044" y="1968500"/>
              <a:chExt cx="9768519" cy="459867"/>
            </a:xfrm>
          </p:grpSpPr>
          <p:sp>
            <p:nvSpPr>
              <p:cNvPr id="16" name="TextBox 16"/>
              <p:cNvSpPr txBox="1"/>
              <p:nvPr/>
            </p:nvSpPr>
            <p:spPr>
              <a:xfrm>
                <a:off x="877744" y="1968500"/>
                <a:ext cx="1063913" cy="4598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ctr">
                  <a:lnSpc>
                    <a:spcPts val="1650"/>
                  </a:lnSpc>
                </a:pPr>
                <a:r>
                  <a:rPr lang="en" sz="128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1 Discover</a:t>
                </a:r>
                <a:br>
                  <a:rPr lang="en" sz="128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</a:br>
                <a:r>
                  <a:rPr lang="en" sz="128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and sort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2773875" y="1968500"/>
                <a:ext cx="1253100" cy="4598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ctr">
                  <a:lnSpc>
                    <a:spcPts val="1650"/>
                  </a:lnSpc>
                </a:pPr>
                <a:r>
                  <a:rPr lang="en" sz="128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2 Enrich</a:t>
                </a:r>
                <a:br>
                  <a:rPr lang="en" sz="128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</a:br>
                <a:r>
                  <a:rPr lang="en" sz="128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from the web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4557930" y="1968500"/>
                <a:ext cx="1190189" cy="4598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ctr">
                  <a:lnSpc>
                    <a:spcPts val="1650"/>
                  </a:lnSpc>
                </a:pPr>
                <a:r>
                  <a:rPr lang="en" sz="128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3 Extract</a:t>
                </a:r>
                <a:br>
                  <a:rPr lang="en" sz="128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</a:br>
                <a:r>
                  <a:rPr lang="en" sz="128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atomic facts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6545495" y="1968500"/>
                <a:ext cx="720261" cy="4598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ctr">
                  <a:lnSpc>
                    <a:spcPts val="1650"/>
                  </a:lnSpc>
                </a:pPr>
                <a:r>
                  <a:rPr lang="en" sz="128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4 Find</a:t>
                </a:r>
                <a:br>
                  <a:rPr lang="en" sz="128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</a:br>
                <a:r>
                  <a:rPr lang="en" sz="128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hooks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8153644" y="1968500"/>
                <a:ext cx="1009162" cy="4598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ctr">
                  <a:lnSpc>
                    <a:spcPts val="1650"/>
                  </a:lnSpc>
                </a:pPr>
                <a:r>
                  <a:rPr lang="en" sz="128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5 Write</a:t>
                </a:r>
                <a:br>
                  <a:rPr lang="en" sz="128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</a:br>
                <a:r>
                  <a:rPr lang="en" sz="128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and judge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9946786" y="1968500"/>
                <a:ext cx="928077" cy="4598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ctr">
                  <a:lnSpc>
                    <a:spcPts val="1650"/>
                  </a:lnSpc>
                </a:pPr>
                <a:r>
                  <a:rPr lang="en" sz="1280" b="1" dirty="0">
                    <a:solidFill>
                      <a:srgbClr val="FAFCFE"/>
                    </a:solidFill>
                    <a:latin typeface="+mj-lt"/>
                    <a:ea typeface="+mj-ea"/>
                    <a:cs typeface="+mj-cs"/>
                  </a:rPr>
                  <a:t>6 Human</a:t>
                </a:r>
                <a:br>
                  <a:rPr lang="en" sz="1280" b="1" dirty="0">
                    <a:solidFill>
                      <a:srgbClr val="FAFCFE"/>
                    </a:solidFill>
                    <a:latin typeface="+mj-lt"/>
                    <a:ea typeface="+mj-ea"/>
                    <a:cs typeface="+mj-cs"/>
                  </a:rPr>
                </a:br>
                <a:r>
                  <a:rPr lang="en" sz="1280" b="1" dirty="0">
                    <a:solidFill>
                      <a:srgbClr val="FAFCFE"/>
                    </a:solidFill>
                    <a:latin typeface="+mj-lt"/>
                    <a:ea typeface="+mj-ea"/>
                    <a:cs typeface="+mj-cs"/>
                  </a:rPr>
                  <a:t>approval</a:t>
                </a:r>
              </a:p>
            </p:txBody>
          </p:sp>
        </p:grpSp>
      </p:grpSp>
      <p:grpSp>
        <p:nvGrpSpPr>
          <p:cNvPr id="25" name="col-discover"/>
          <p:cNvGrpSpPr/>
          <p:nvPr/>
        </p:nvGrpSpPr>
        <p:grpSpPr>
          <a:xfrm>
            <a:off x="679704" y="2800350"/>
            <a:ext cx="1358097" cy="1434846"/>
            <a:chOff x="679704" y="2800350"/>
            <a:chExt cx="1358097" cy="1434846"/>
          </a:xfrm>
        </p:grpSpPr>
        <p:sp>
          <p:nvSpPr>
            <p:cNvPr id="24" name="TextBox 24"/>
            <p:cNvSpPr txBox="1"/>
            <p:nvPr/>
          </p:nvSpPr>
          <p:spPr>
            <a:xfrm>
              <a:off x="679704" y="2800350"/>
              <a:ext cx="1656878" cy="143484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Public search results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only, never a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LinkedIn login. Each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person lands in one of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six buckets, and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irrelevant people are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dropped.</a:t>
              </a:r>
            </a:p>
          </p:txBody>
        </p:sp>
      </p:grpSp>
      <p:grpSp>
        <p:nvGrpSpPr>
          <p:cNvPr id="27" name="col-enrich"/>
          <p:cNvGrpSpPr/>
          <p:nvPr/>
        </p:nvGrpSpPr>
        <p:grpSpPr>
          <a:xfrm>
            <a:off x="2432304" y="2800350"/>
            <a:ext cx="1375288" cy="1434846"/>
            <a:chOff x="2432304" y="2800350"/>
            <a:chExt cx="1375288" cy="1434846"/>
          </a:xfrm>
        </p:grpSpPr>
        <p:sp>
          <p:nvSpPr>
            <p:cNvPr id="26" name="TextBox 26"/>
            <p:cNvSpPr txBox="1"/>
            <p:nvPr/>
          </p:nvSpPr>
          <p:spPr>
            <a:xfrm>
              <a:off x="2432304" y="2800350"/>
              <a:ext cx="1677851" cy="143484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Public posts, talks and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articles are searched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per person and read as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facts. Results are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untrusted text. Three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facts are needed to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continue.</a:t>
              </a:r>
            </a:p>
          </p:txBody>
        </p:sp>
      </p:grpSp>
      <p:grpSp>
        <p:nvGrpSpPr>
          <p:cNvPr id="29" name="col-facts"/>
          <p:cNvGrpSpPr/>
          <p:nvPr/>
        </p:nvGrpSpPr>
        <p:grpSpPr>
          <a:xfrm>
            <a:off x="4184904" y="2800350"/>
            <a:ext cx="1391778" cy="1234821"/>
            <a:chOff x="4184904" y="2800350"/>
            <a:chExt cx="1391778" cy="1234821"/>
          </a:xfrm>
        </p:grpSpPr>
        <p:sp>
          <p:nvSpPr>
            <p:cNvPr id="28" name="TextBox 28"/>
            <p:cNvSpPr txBox="1"/>
            <p:nvPr/>
          </p:nvSpPr>
          <p:spPr>
            <a:xfrm>
              <a:off x="4184904" y="2800350"/>
              <a:ext cx="1697969" cy="12348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CVs, LinkedIn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PDFs and web text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become one-line facts,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each with an id, a kind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and a source. Nothing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is inferred.</a:t>
              </a:r>
            </a:p>
          </p:txBody>
        </p:sp>
      </p:grpSp>
      <p:grpSp>
        <p:nvGrpSpPr>
          <p:cNvPr id="31" name="col-hooks"/>
          <p:cNvGrpSpPr/>
          <p:nvPr/>
        </p:nvGrpSpPr>
        <p:grpSpPr>
          <a:xfrm>
            <a:off x="5937504" y="2800350"/>
            <a:ext cx="1404092" cy="1234821"/>
            <a:chOff x="5937504" y="2800350"/>
            <a:chExt cx="1404092" cy="1234821"/>
          </a:xfrm>
        </p:grpSpPr>
        <p:sp>
          <p:nvSpPr>
            <p:cNvPr id="30" name="TextBox 30"/>
            <p:cNvSpPr txBox="1"/>
            <p:nvPr/>
          </p:nvSpPr>
          <p:spPr>
            <a:xfrm>
              <a:off x="5937504" y="2800350"/>
              <a:ext cx="1712992" cy="12348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Up to five reasons for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two people to talk,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each citing a candidate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fact and a prospect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fact. Below a score of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2.5 it is discarded.</a:t>
              </a:r>
            </a:p>
          </p:txBody>
        </p:sp>
      </p:grpSp>
      <p:grpSp>
        <p:nvGrpSpPr>
          <p:cNvPr id="33" name="col-write"/>
          <p:cNvGrpSpPr/>
          <p:nvPr/>
        </p:nvGrpSpPr>
        <p:grpSpPr>
          <a:xfrm>
            <a:off x="7690104" y="2800350"/>
            <a:ext cx="1358158" cy="1234821"/>
            <a:chOff x="7690104" y="2800350"/>
            <a:chExt cx="1358158" cy="1234821"/>
          </a:xfrm>
        </p:grpSpPr>
        <p:sp>
          <p:nvSpPr>
            <p:cNvPr id="32" name="TextBox 32"/>
            <p:cNvSpPr txBox="1"/>
            <p:nvPr/>
          </p:nvSpPr>
          <p:spPr>
            <a:xfrm>
              <a:off x="7690104" y="2800350"/>
              <a:ext cx="1656952" cy="12348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Three writer agents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draft in parallel. Rule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checks reject bad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drafts. A judge picks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the one this person is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most likely to answer.</a:t>
              </a:r>
            </a:p>
          </p:txBody>
        </p:sp>
      </p:grpSp>
      <p:grpSp>
        <p:nvGrpSpPr>
          <p:cNvPr id="35" name="col-approve"/>
          <p:cNvGrpSpPr/>
          <p:nvPr/>
        </p:nvGrpSpPr>
        <p:grpSpPr>
          <a:xfrm>
            <a:off x="9442704" y="2800350"/>
            <a:ext cx="1311493" cy="1034796"/>
            <a:chOff x="9442704" y="2800350"/>
            <a:chExt cx="1311493" cy="1034796"/>
          </a:xfrm>
        </p:grpSpPr>
        <p:sp>
          <p:nvSpPr>
            <p:cNvPr id="34" name="TextBox 34"/>
            <p:cNvSpPr txBox="1"/>
            <p:nvPr/>
          </p:nvSpPr>
          <p:spPr>
            <a:xfrm>
              <a:off x="9442704" y="2800350"/>
              <a:ext cx="1600021" cy="10347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A person reads the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draft, edits it or picks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an alternative, then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approves. Every edit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teaches the writers.</a:t>
              </a:r>
            </a:p>
          </p:txBody>
        </p:sp>
      </p:grpSp>
      <p:grpSp>
        <p:nvGrpSpPr>
          <p:cNvPr id="57" name="status-chain"/>
          <p:cNvGrpSpPr/>
          <p:nvPr/>
        </p:nvGrpSpPr>
        <p:grpSpPr>
          <a:xfrm>
            <a:off x="604266" y="4578350"/>
            <a:ext cx="6558534" cy="1117600"/>
            <a:chOff x="604266" y="4578350"/>
            <a:chExt cx="6558534" cy="1117600"/>
          </a:xfrm>
        </p:grpSpPr>
        <p:sp>
          <p:nvSpPr>
            <p:cNvPr id="36" name="TextBox 36"/>
            <p:cNvSpPr txBox="1"/>
            <p:nvPr/>
          </p:nvSpPr>
          <p:spPr>
            <a:xfrm>
              <a:off x="604266" y="4578350"/>
              <a:ext cx="30197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PROSPECT STATUS AS IT MOVES</a:t>
              </a:r>
            </a:p>
          </p:txBody>
        </p:sp>
        <p:grpSp>
          <p:nvGrpSpPr>
            <p:cNvPr id="47" name="Group 47"/>
            <p:cNvGrpSpPr/>
            <p:nvPr/>
          </p:nvGrpSpPr>
          <p:grpSpPr>
            <a:xfrm>
              <a:off x="609600" y="4838700"/>
              <a:ext cx="6553200" cy="304800"/>
              <a:chOff x="609600" y="4838700"/>
              <a:chExt cx="6553200" cy="304800"/>
            </a:xfrm>
          </p:grpSpPr>
          <p:sp>
            <p:nvSpPr>
              <p:cNvPr id="37" name="Rectangle 37"/>
              <p:cNvSpPr/>
              <p:nvPr/>
            </p:nvSpPr>
            <p:spPr>
              <a:xfrm>
                <a:off x="609600" y="4838700"/>
                <a:ext cx="1123950" cy="304800"/>
              </a:xfrm>
              <a:prstGeom prst="roundRect">
                <a:avLst>
                  <a:gd name="adj" fmla="val 50000"/>
                </a:avLst>
              </a:prstGeom>
              <a:solidFill>
                <a:srgbClr val="C4D9EF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653485" y="4899025"/>
                <a:ext cx="103617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ctr"/>
                <a:r>
                  <a:rPr lang="en" sz="112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discovered</a:t>
                </a:r>
              </a:p>
            </p:txBody>
          </p:sp>
          <p:sp>
            <p:nvSpPr>
              <p:cNvPr id="39" name="Rectangle 39"/>
              <p:cNvSpPr/>
              <p:nvPr/>
            </p:nvSpPr>
            <p:spPr>
              <a:xfrm>
                <a:off x="2076450" y="4838700"/>
                <a:ext cx="952500" cy="304800"/>
              </a:xfrm>
              <a:prstGeom prst="roundRect">
                <a:avLst>
                  <a:gd name="adj" fmla="val 50000"/>
                </a:avLst>
              </a:prstGeom>
              <a:solidFill>
                <a:srgbClr val="C4D9EF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2118471" y="4899025"/>
                <a:ext cx="86845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ctr"/>
                <a:r>
                  <a:rPr lang="en" sz="112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enriched</a:t>
                </a:r>
              </a:p>
            </p:txBody>
          </p:sp>
          <p:sp>
            <p:nvSpPr>
              <p:cNvPr id="41" name="Rectangle 41"/>
              <p:cNvSpPr/>
              <p:nvPr/>
            </p:nvSpPr>
            <p:spPr>
              <a:xfrm>
                <a:off x="3371850" y="4838700"/>
                <a:ext cx="1428750" cy="304800"/>
              </a:xfrm>
              <a:prstGeom prst="roundRect">
                <a:avLst>
                  <a:gd name="adj" fmla="val 50000"/>
                </a:avLst>
              </a:prstGeom>
              <a:solidFill>
                <a:srgbClr val="C4D9EF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3388927" y="4899025"/>
                <a:ext cx="139459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ctr"/>
                <a:r>
                  <a:rPr lang="en" sz="112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message_ready</a:t>
                </a:r>
              </a:p>
            </p:txBody>
          </p:sp>
          <p:sp>
            <p:nvSpPr>
              <p:cNvPr id="43" name="Rectangle 43"/>
              <p:cNvSpPr/>
              <p:nvPr/>
            </p:nvSpPr>
            <p:spPr>
              <a:xfrm>
                <a:off x="5143500" y="4838700"/>
                <a:ext cx="1009650" cy="304800"/>
              </a:xfrm>
              <a:prstGeom prst="roundRect">
                <a:avLst>
                  <a:gd name="adj" fmla="val 50000"/>
                </a:avLst>
              </a:prstGeom>
              <a:solidFill>
                <a:srgbClr val="C4D9EF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5188992" y="4899025"/>
                <a:ext cx="91866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ctr"/>
                <a:r>
                  <a:rPr lang="en" sz="112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approved</a:t>
                </a:r>
              </a:p>
            </p:txBody>
          </p:sp>
          <p:sp>
            <p:nvSpPr>
              <p:cNvPr id="45" name="Rectangle 45"/>
              <p:cNvSpPr/>
              <p:nvPr/>
            </p:nvSpPr>
            <p:spPr>
              <a:xfrm>
                <a:off x="6496050" y="4838700"/>
                <a:ext cx="666750" cy="304800"/>
              </a:xfrm>
              <a:prstGeom prst="roundRect">
                <a:avLst>
                  <a:gd name="adj" fmla="val 50000"/>
                </a:avLst>
              </a:prstGeom>
              <a:solidFill>
                <a:srgbClr val="0E1F3A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6554399" y="4899025"/>
                <a:ext cx="55005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ctr"/>
                <a:r>
                  <a:rPr lang="en" sz="1120" b="1" dirty="0">
                    <a:solidFill>
                      <a:srgbClr val="FAFCFE"/>
                    </a:solidFill>
                    <a:latin typeface="+mj-lt"/>
                    <a:ea typeface="+mj-ea"/>
                    <a:cs typeface="+mj-cs"/>
                  </a:rPr>
                  <a:t>sent</a:t>
                </a:r>
              </a:p>
            </p:txBody>
          </p:sp>
        </p:grpSp>
        <p:grpSp>
          <p:nvGrpSpPr>
            <p:cNvPr id="53" name="Group 53"/>
            <p:cNvGrpSpPr/>
            <p:nvPr/>
          </p:nvGrpSpPr>
          <p:grpSpPr>
            <a:xfrm>
              <a:off x="1752600" y="4991100"/>
              <a:ext cx="4724400" cy="381000"/>
              <a:chOff x="1752600" y="4991100"/>
              <a:chExt cx="4724400" cy="381000"/>
            </a:xfrm>
          </p:grpSpPr>
          <p:sp>
            <p:nvSpPr>
              <p:cNvPr id="48" name="Line 48"/>
              <p:cNvSpPr/>
              <p:nvPr/>
            </p:nvSpPr>
            <p:spPr>
              <a:xfrm>
                <a:off x="1752600" y="4991100"/>
                <a:ext cx="304800" cy="1"/>
              </a:xfrm>
              <a:prstGeom prst="line">
                <a:avLst/>
              </a:prstGeom>
              <a:noFill/>
              <a:ln w="19050">
                <a:solidFill>
                  <a:srgbClr val="0E1F3A"/>
                </a:solidFill>
                <a:tailEnd type="triangle" w="lg" len="lg"/>
              </a:ln>
            </p:spPr>
            <p:txBody>
              <a:bodyPr/>
              <a:p/>
            </p:txBody>
          </p:sp>
          <p:sp>
            <p:nvSpPr>
              <p:cNvPr id="49" name="Line 49"/>
              <p:cNvSpPr/>
              <p:nvPr/>
            </p:nvSpPr>
            <p:spPr>
              <a:xfrm>
                <a:off x="3048000" y="4991100"/>
                <a:ext cx="304800" cy="1"/>
              </a:xfrm>
              <a:prstGeom prst="line">
                <a:avLst/>
              </a:prstGeom>
              <a:noFill/>
              <a:ln w="19050">
                <a:solidFill>
                  <a:srgbClr val="0E1F3A"/>
                </a:solidFill>
                <a:tailEnd type="triangle" w="lg" len="lg"/>
              </a:ln>
            </p:spPr>
            <p:txBody>
              <a:bodyPr/>
              <a:p/>
            </p:txBody>
          </p:sp>
          <p:sp>
            <p:nvSpPr>
              <p:cNvPr id="50" name="Line 50"/>
              <p:cNvSpPr/>
              <p:nvPr/>
            </p:nvSpPr>
            <p:spPr>
              <a:xfrm>
                <a:off x="4819650" y="4991100"/>
                <a:ext cx="304800" cy="1"/>
              </a:xfrm>
              <a:prstGeom prst="line">
                <a:avLst/>
              </a:prstGeom>
              <a:noFill/>
              <a:ln w="19050">
                <a:solidFill>
                  <a:srgbClr val="0E1F3A"/>
                </a:solidFill>
                <a:tailEnd type="triangle" w="lg" len="lg"/>
              </a:ln>
            </p:spPr>
            <p:txBody>
              <a:bodyPr/>
              <a:p/>
            </p:txBody>
          </p:sp>
          <p:sp>
            <p:nvSpPr>
              <p:cNvPr id="51" name="Line 51"/>
              <p:cNvSpPr/>
              <p:nvPr/>
            </p:nvSpPr>
            <p:spPr>
              <a:xfrm>
                <a:off x="6172200" y="4991100"/>
                <a:ext cx="304800" cy="1"/>
              </a:xfrm>
              <a:prstGeom prst="line">
                <a:avLst/>
              </a:prstGeom>
              <a:noFill/>
              <a:ln w="19050">
                <a:solidFill>
                  <a:srgbClr val="0E1F3A"/>
                </a:solidFill>
                <a:tailEnd type="triangle" w="lg" len="lg"/>
              </a:ln>
            </p:spPr>
            <p:txBody>
              <a:bodyPr/>
              <a:p/>
            </p:txBody>
          </p:sp>
          <p:sp>
            <p:nvSpPr>
              <p:cNvPr id="52" name="Line 52"/>
              <p:cNvSpPr/>
              <p:nvPr/>
            </p:nvSpPr>
            <p:spPr>
              <a:xfrm>
                <a:off x="2552700" y="5162550"/>
                <a:ext cx="1" cy="209550"/>
              </a:xfrm>
              <a:prstGeom prst="line">
                <a:avLst/>
              </a:prstGeom>
              <a:noFill/>
              <a:ln w="19050">
                <a:solidFill>
                  <a:srgbClr val="0E1F3A"/>
                </a:solidFill>
                <a:tailEnd type="triangle" w="lg" len="lg"/>
              </a:ln>
            </p:spPr>
            <p:txBody>
              <a:bodyPr/>
              <a:p/>
            </p:txBody>
          </p:sp>
        </p:grpSp>
        <p:sp>
          <p:nvSpPr>
            <p:cNvPr id="54" name="Rectangle 54"/>
            <p:cNvSpPr/>
            <p:nvPr/>
          </p:nvSpPr>
          <p:spPr>
            <a:xfrm>
              <a:off x="2076450" y="5391150"/>
              <a:ext cx="952500" cy="304800"/>
            </a:xfrm>
            <a:prstGeom prst="roundRect">
              <a:avLst>
                <a:gd name="adj" fmla="val 50000"/>
              </a:avLst>
            </a:prstGeom>
            <a:noFill/>
            <a:ln w="19050">
              <a:solidFill>
                <a:srgbClr val="2B4266"/>
              </a:solidFill>
              <a:custDash>
                <a:ds d="300000" sp="200000"/>
              </a:custDash>
            </a:ln>
          </p:spPr>
          <p:txBody>
            <a:bodyPr/>
            <a:p/>
          </p:txBody>
        </p:sp>
        <p:sp>
          <p:nvSpPr>
            <p:cNvPr id="55" name="TextBox 55"/>
            <p:cNvSpPr txBox="1"/>
            <p:nvPr/>
          </p:nvSpPr>
          <p:spPr>
            <a:xfrm>
              <a:off x="2147812" y="5451475"/>
              <a:ext cx="8097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en" sz="112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skipped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3175254" y="5448300"/>
              <a:ext cx="37162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no legitimate hook, so no message is written</a:t>
              </a:r>
            </a:p>
          </p:txBody>
        </p:sp>
      </p:grpSp>
      <p:grpSp>
        <p:nvGrpSpPr>
          <p:cNvPr id="60" name="takeaway"/>
          <p:cNvGrpSpPr/>
          <p:nvPr/>
        </p:nvGrpSpPr>
        <p:grpSpPr>
          <a:xfrm>
            <a:off x="609600" y="5924550"/>
            <a:ext cx="10839450" cy="457200"/>
            <a:chOff x="609600" y="5924550"/>
            <a:chExt cx="10839450" cy="457200"/>
          </a:xfrm>
        </p:grpSpPr>
        <p:sp>
          <p:nvSpPr>
            <p:cNvPr id="58" name="Rectangle 58"/>
            <p:cNvSpPr/>
            <p:nvPr/>
          </p:nvSpPr>
          <p:spPr>
            <a:xfrm>
              <a:off x="609600" y="5924550"/>
              <a:ext cx="10839450" cy="45720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  <p:txBody>
            <a:bodyPr/>
            <a:p/>
          </p:txBody>
        </p:sp>
        <p:sp>
          <p:nvSpPr>
            <p:cNvPr id="59" name="TextBox 59"/>
            <p:cNvSpPr txBox="1"/>
            <p:nvPr/>
          </p:nvSpPr>
          <p:spPr>
            <a:xfrm>
              <a:off x="792480" y="6042025"/>
              <a:ext cx="769894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The system prefers fewer, better messages. Stopping early is designed in.</a:t>
              </a:r>
            </a:p>
          </p:txBody>
        </p:sp>
      </p:grpSp>
      <p:grpSp>
        <p:nvGrpSpPr>
          <p:cNvPr id="62" name="source"/>
          <p:cNvGrpSpPr/>
          <p:nvPr/>
        </p:nvGrpSpPr>
        <p:grpSpPr>
          <a:xfrm>
            <a:off x="604647" y="6559550"/>
            <a:ext cx="4722190" cy="191643"/>
            <a:chOff x="604647" y="6559550"/>
            <a:chExt cx="4722190" cy="191643"/>
          </a:xfrm>
        </p:grpSpPr>
        <p:sp>
          <p:nvSpPr>
            <p:cNvPr id="61" name="TextBox 61"/>
            <p:cNvSpPr txBox="1"/>
            <p:nvPr/>
          </p:nvSpPr>
          <p:spPr>
            <a:xfrm>
              <a:off x="604647" y="6559550"/>
              <a:ext cx="576107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Source: engine/outreach/cli.py, discovery.py, hooks.py, messages.py, models.py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596646" y="444500"/>
            <a:ext cx="7350100" cy="1101979"/>
            <a:chOff x="596646" y="444500"/>
            <a:chExt cx="7350100" cy="1101979"/>
          </a:xfrm>
        </p:grpSpPr>
        <p:sp>
          <p:nvSpPr>
            <p:cNvPr id="2" name="TextBox 2"/>
            <p:cNvSpPr txBox="1"/>
            <p:nvPr/>
          </p:nvSpPr>
          <p:spPr>
            <a:xfrm>
              <a:off x="604647" y="444500"/>
              <a:ext cx="122985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HOOK ENGINE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6646" y="666750"/>
              <a:ext cx="8967122" cy="87972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A hook exists only if two real facts prove it, and</a:t>
              </a:r>
              <a:b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</a:br>
              <a: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four weighted scores decide which one is used</a:t>
              </a:r>
            </a:p>
          </p:txBody>
        </p:sp>
      </p:grpSp>
      <p:grpSp>
        <p:nvGrpSpPr>
          <p:cNvPr id="8" name="page-stamp"/>
          <p:cNvGrpSpPr/>
          <p:nvPr/>
        </p:nvGrpSpPr>
        <p:grpSpPr>
          <a:xfrm>
            <a:off x="11163300" y="285750"/>
            <a:ext cx="495300" cy="609600"/>
            <a:chOff x="11163300" y="285750"/>
            <a:chExt cx="495300" cy="609600"/>
          </a:xfrm>
        </p:grpSpPr>
        <p:sp>
          <p:nvSpPr>
            <p:cNvPr id="5" name="Rectangle 5"/>
            <p:cNvSpPr/>
            <p:nvPr/>
          </p:nvSpPr>
          <p:spPr>
            <a:xfrm>
              <a:off x="11163300" y="285750"/>
              <a:ext cx="495300" cy="6096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8000"/>
                </a:srgbClr>
              </a:solidFill>
            </a:ln>
          </p:spPr>
          <p:txBody>
            <a:bodyPr/>
            <a:p/>
          </p:txBody>
        </p:sp>
        <p:sp>
          <p:nvSpPr>
            <p:cNvPr id="6" name="Rectangle 6"/>
            <p:cNvSpPr/>
            <p:nvPr/>
          </p:nvSpPr>
          <p:spPr>
            <a:xfrm>
              <a:off x="11220450" y="342900"/>
              <a:ext cx="381000" cy="495300"/>
            </a:xfrm>
            <a:prstGeom prst="rect">
              <a:avLst/>
            </a:prstGeom>
            <a:solidFill>
              <a:srgbClr val="B3301B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" name="TextBox 7"/>
            <p:cNvSpPr txBox="1"/>
            <p:nvPr/>
          </p:nvSpPr>
          <p:spPr>
            <a:xfrm>
              <a:off x="11226496" y="463550"/>
              <a:ext cx="3689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5</a:t>
              </a:r>
            </a:p>
          </p:txBody>
        </p:sp>
      </p:grpSp>
      <p:sp>
        <p:nvSpPr>
          <p:cNvPr id="9" name="Line 9"/>
          <p:cNvSpPr/>
          <p:nvPr/>
        </p:nvSpPr>
        <p:spPr>
          <a:xfrm>
            <a:off x="609600" y="15811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28575">
            <a:solidFill>
              <a:srgbClr val="97B9DD"/>
            </a:solidFill>
            <a:custDash>
              <a:ds d="66667" sp="233333"/>
            </a:custDash>
          </a:ln>
        </p:spPr>
        <p:txBody>
          <a:bodyPr/>
          <a:p/>
        </p:txBody>
      </p:sp>
      <p:grpSp>
        <p:nvGrpSpPr>
          <p:cNvPr id="11" name="left-heading"/>
          <p:cNvGrpSpPr/>
          <p:nvPr/>
        </p:nvGrpSpPr>
        <p:grpSpPr>
          <a:xfrm>
            <a:off x="603123" y="1752600"/>
            <a:ext cx="4087900" cy="250317"/>
            <a:chOff x="603123" y="1752600"/>
            <a:chExt cx="4087900" cy="250317"/>
          </a:xfrm>
        </p:grpSpPr>
        <p:sp>
          <p:nvSpPr>
            <p:cNvPr id="10" name="TextBox 10"/>
            <p:cNvSpPr txBox="1"/>
            <p:nvPr/>
          </p:nvSpPr>
          <p:spPr>
            <a:xfrm>
              <a:off x="603123" y="1752600"/>
              <a:ext cx="498723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28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How a hook is built (the facts here are illustrative)</a:t>
              </a:r>
            </a:p>
          </p:txBody>
        </p:sp>
      </p:grpSp>
      <p:grpSp>
        <p:nvGrpSpPr>
          <p:cNvPr id="15" name="fact-candidate"/>
          <p:cNvGrpSpPr/>
          <p:nvPr/>
        </p:nvGrpSpPr>
        <p:grpSpPr>
          <a:xfrm>
            <a:off x="609600" y="2038350"/>
            <a:ext cx="2286000" cy="1428750"/>
            <a:chOff x="609600" y="2038350"/>
            <a:chExt cx="2286000" cy="1428750"/>
          </a:xfrm>
        </p:grpSpPr>
        <p:sp>
          <p:nvSpPr>
            <p:cNvPr id="12" name="Rectangle 12"/>
            <p:cNvSpPr/>
            <p:nvPr/>
          </p:nvSpPr>
          <p:spPr>
            <a:xfrm>
              <a:off x="609600" y="2038350"/>
              <a:ext cx="2286000" cy="142875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  <p:txBody>
            <a:bodyPr/>
            <a:p/>
          </p:txBody>
        </p:sp>
        <p:sp>
          <p:nvSpPr>
            <p:cNvPr id="13" name="TextBox 13"/>
            <p:cNvSpPr txBox="1"/>
            <p:nvPr/>
          </p:nvSpPr>
          <p:spPr>
            <a:xfrm>
              <a:off x="757047" y="2159000"/>
              <a:ext cx="180035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CANDIDATE FACT c:3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5523" y="2368550"/>
              <a:ext cx="1833317" cy="68846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en" sz="128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Moved from consumer</a:t>
              </a:r>
              <a:br>
                <a:rPr lang="en" sz="128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brands into product in</a:t>
              </a:r>
              <a:br>
                <a:rPr lang="en" sz="128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2024.</a:t>
              </a:r>
            </a:p>
          </p:txBody>
        </p:sp>
      </p:grpSp>
      <p:grpSp>
        <p:nvGrpSpPr>
          <p:cNvPr id="19" name="fact-prospect"/>
          <p:cNvGrpSpPr/>
          <p:nvPr/>
        </p:nvGrpSpPr>
        <p:grpSpPr>
          <a:xfrm>
            <a:off x="3086100" y="2038350"/>
            <a:ext cx="2286000" cy="1428750"/>
            <a:chOff x="3086100" y="2038350"/>
            <a:chExt cx="2286000" cy="1428750"/>
          </a:xfrm>
        </p:grpSpPr>
        <p:sp>
          <p:nvSpPr>
            <p:cNvPr id="16" name="Rectangle 16"/>
            <p:cNvSpPr/>
            <p:nvPr/>
          </p:nvSpPr>
          <p:spPr>
            <a:xfrm>
              <a:off x="3086100" y="2038350"/>
              <a:ext cx="2286000" cy="142875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  <p:txBody>
            <a:bodyPr/>
            <a:p/>
          </p:txBody>
        </p:sp>
        <p:sp>
          <p:nvSpPr>
            <p:cNvPr id="17" name="TextBox 17"/>
            <p:cNvSpPr txBox="1"/>
            <p:nvPr/>
          </p:nvSpPr>
          <p:spPr>
            <a:xfrm>
              <a:off x="3233547" y="2159000"/>
              <a:ext cx="218348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PROSPECT FACT p:rahul:1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232023" y="2368550"/>
              <a:ext cx="1998084" cy="90754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en" sz="128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Moved from Flipkart</a:t>
              </a:r>
              <a:br>
                <a:rPr lang="en" sz="128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(category manager) to</a:t>
              </a:r>
              <a:br>
                <a:rPr lang="en" sz="128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Zepto (product manager)</a:t>
              </a:r>
              <a:br>
                <a:rPr lang="en" sz="128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in 2024.</a:t>
              </a:r>
            </a:p>
          </p:txBody>
        </p:sp>
      </p:grpSp>
      <p:grpSp>
        <p:nvGrpSpPr>
          <p:cNvPr id="22" name="hook-links"/>
          <p:cNvGrpSpPr/>
          <p:nvPr/>
        </p:nvGrpSpPr>
        <p:grpSpPr>
          <a:xfrm>
            <a:off x="1752600" y="3486150"/>
            <a:ext cx="2476501" cy="419100"/>
            <a:chOff x="1752600" y="3486150"/>
            <a:chExt cx="2476501" cy="419100"/>
          </a:xfrm>
        </p:grpSpPr>
        <p:sp>
          <p:nvSpPr>
            <p:cNvPr id="20" name="Line 20"/>
            <p:cNvSpPr/>
            <p:nvPr/>
          </p:nvSpPr>
          <p:spPr>
            <a:xfrm>
              <a:off x="1752600" y="3486150"/>
              <a:ext cx="1" cy="419100"/>
            </a:xfrm>
            <a:prstGeom prst="line">
              <a:avLst/>
            </a:prstGeom>
            <a:noFill/>
            <a:ln w="19050">
              <a:solidFill>
                <a:srgbClr val="0E1F3A"/>
              </a:solidFill>
              <a:tailEnd type="triangle" w="lg" len="lg"/>
            </a:ln>
          </p:spPr>
          <p:txBody>
            <a:bodyPr/>
            <a:p/>
          </p:txBody>
        </p:sp>
        <p:sp>
          <p:nvSpPr>
            <p:cNvPr id="21" name="Line 21"/>
            <p:cNvSpPr/>
            <p:nvPr/>
          </p:nvSpPr>
          <p:spPr>
            <a:xfrm>
              <a:off x="4229100" y="3486150"/>
              <a:ext cx="1" cy="419100"/>
            </a:xfrm>
            <a:prstGeom prst="line">
              <a:avLst/>
            </a:prstGeom>
            <a:noFill/>
            <a:ln w="19050">
              <a:solidFill>
                <a:srgbClr val="0E1F3A"/>
              </a:solidFill>
              <a:tailEnd type="triangle" w="lg" len="lg"/>
            </a:ln>
          </p:spPr>
          <p:txBody>
            <a:bodyPr/>
            <a:p/>
          </p:txBody>
        </p:sp>
      </p:grpSp>
      <p:grpSp>
        <p:nvGrpSpPr>
          <p:cNvPr id="30" name="hook-card"/>
          <p:cNvGrpSpPr/>
          <p:nvPr/>
        </p:nvGrpSpPr>
        <p:grpSpPr>
          <a:xfrm>
            <a:off x="609600" y="3924300"/>
            <a:ext cx="4762500" cy="2286000"/>
            <a:chOff x="609600" y="3924300"/>
            <a:chExt cx="4762500" cy="2286000"/>
          </a:xfrm>
        </p:grpSpPr>
        <p:sp>
          <p:nvSpPr>
            <p:cNvPr id="23" name="Rectangle 23"/>
            <p:cNvSpPr/>
            <p:nvPr/>
          </p:nvSpPr>
          <p:spPr>
            <a:xfrm>
              <a:off x="609600" y="3924300"/>
              <a:ext cx="4762500" cy="2286000"/>
            </a:xfrm>
            <a:prstGeom prst="rect">
              <a:avLst/>
            </a:prstGeom>
            <a:solidFill>
              <a:srgbClr val="FAFCFE"/>
            </a:solidFill>
            <a:ln w="19050">
              <a:solidFill>
                <a:srgbClr val="0E1F3A"/>
              </a:solidFill>
            </a:ln>
          </p:spPr>
          <p:txBody>
            <a:bodyPr/>
            <a:p/>
          </p:txBody>
        </p:sp>
        <p:sp>
          <p:nvSpPr>
            <p:cNvPr id="24" name="Rectangle 24"/>
            <p:cNvSpPr/>
            <p:nvPr/>
          </p:nvSpPr>
          <p:spPr>
            <a:xfrm>
              <a:off x="609600" y="3924300"/>
              <a:ext cx="4762500" cy="36195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5" name="TextBox 25"/>
            <p:cNvSpPr txBox="1"/>
            <p:nvPr/>
          </p:nvSpPr>
          <p:spPr>
            <a:xfrm>
              <a:off x="755904" y="4010025"/>
              <a:ext cx="24501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HOOK · similar_transition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55142" y="4470400"/>
              <a:ext cx="2863021" cy="4926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en" sz="135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One line on why these two people</a:t>
              </a:r>
              <a:br>
                <a:rPr lang="en" sz="135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35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have a real reason to talk.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56285" y="5054600"/>
              <a:ext cx="2010924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" sz="1120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candidate_fact_id c:3</a:t>
              </a:r>
              <a:br>
                <a:rPr lang="en" sz="1120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</a:br>
              <a:r>
                <a:rPr lang="en" sz="1120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prospect_fact_id p:rahul:1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762000" y="5619750"/>
              <a:ext cx="4457700" cy="9525"/>
            </a:xfrm>
            <a:custGeom>
              <a:avLst/>
              <a:gdLst/>
              <a:ahLst/>
              <a:cxnLst/>
              <a:rect l="l" t="t" r="r" b="b"/>
              <a:pathLst>
                <a:path w="4457700" h="9525">
                  <a:moveTo>
                    <a:pt x="0" y="0"/>
                  </a:moveTo>
                  <a:lnTo>
                    <a:pt x="4457700" y="0"/>
                  </a:lnTo>
                </a:path>
              </a:pathLst>
            </a:custGeom>
            <a:noFill/>
            <a:ln w="9525">
              <a:solidFill>
                <a:srgbClr val="0E1F3A">
                  <a:alpha val="20000"/>
                </a:srgbClr>
              </a:solidFill>
            </a:ln>
          </p:spPr>
          <p:txBody>
            <a:bodyPr/>
            <a:p/>
          </p:txBody>
        </p:sp>
        <p:sp>
          <p:nvSpPr>
            <p:cNvPr id="29" name="TextBox 29"/>
            <p:cNvSpPr txBox="1"/>
            <p:nvPr/>
          </p:nvSpPr>
          <p:spPr>
            <a:xfrm>
              <a:off x="752094" y="5740400"/>
              <a:ext cx="320204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9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No citation, no hook.</a:t>
              </a:r>
            </a:p>
          </p:txBody>
        </p:sp>
      </p:grpSp>
      <p:grpSp>
        <p:nvGrpSpPr>
          <p:cNvPr id="32" name="right-heading"/>
          <p:cNvGrpSpPr/>
          <p:nvPr/>
        </p:nvGrpSpPr>
        <p:grpSpPr>
          <a:xfrm>
            <a:off x="5899023" y="1752600"/>
            <a:ext cx="3457027" cy="250317"/>
            <a:chOff x="5899023" y="1752600"/>
            <a:chExt cx="3457027" cy="250317"/>
          </a:xfrm>
        </p:grpSpPr>
        <p:sp>
          <p:nvSpPr>
            <p:cNvPr id="31" name="TextBox 31"/>
            <p:cNvSpPr txBox="1"/>
            <p:nvPr/>
          </p:nvSpPr>
          <p:spPr>
            <a:xfrm>
              <a:off x="5899023" y="1752600"/>
              <a:ext cx="421757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28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Four scores, rated 1 to 5, one weight each</a:t>
              </a:r>
            </a:p>
          </p:txBody>
        </p:sp>
      </p:grpSp>
      <p:grpSp>
        <p:nvGrpSpPr>
          <p:cNvPr id="38" name="tile-specificity"/>
          <p:cNvGrpSpPr/>
          <p:nvPr/>
        </p:nvGrpSpPr>
        <p:grpSpPr>
          <a:xfrm>
            <a:off x="5905500" y="2038350"/>
            <a:ext cx="2743200" cy="952500"/>
            <a:chOff x="5905500" y="2038350"/>
            <a:chExt cx="2743200" cy="952500"/>
          </a:xfrm>
        </p:grpSpPr>
        <p:sp>
          <p:nvSpPr>
            <p:cNvPr id="33" name="Rectangle 33"/>
            <p:cNvSpPr/>
            <p:nvPr/>
          </p:nvSpPr>
          <p:spPr>
            <a:xfrm>
              <a:off x="5905500" y="2038350"/>
              <a:ext cx="2743200" cy="9525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  <p:txBody>
            <a:bodyPr/>
            <a:p/>
          </p:txBody>
        </p:sp>
        <p:sp>
          <p:nvSpPr>
            <p:cNvPr id="34" name="TextBox 34"/>
            <p:cNvSpPr txBox="1"/>
            <p:nvPr/>
          </p:nvSpPr>
          <p:spPr>
            <a:xfrm>
              <a:off x="6051042" y="2139950"/>
              <a:ext cx="11560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3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Specificity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7848600" y="2152650"/>
              <a:ext cx="647700" cy="28575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6" name="TextBox 36"/>
            <p:cNvSpPr txBox="1"/>
            <p:nvPr/>
          </p:nvSpPr>
          <p:spPr>
            <a:xfrm>
              <a:off x="7883977" y="2200275"/>
              <a:ext cx="576945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en" sz="128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0.30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051804" y="2457450"/>
              <a:ext cx="2430562" cy="4347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How concrete and checkable the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overlap is.</a:t>
              </a:r>
            </a:p>
          </p:txBody>
        </p:sp>
      </p:grpSp>
      <p:grpSp>
        <p:nvGrpSpPr>
          <p:cNvPr id="44" name="tile-rarity"/>
          <p:cNvGrpSpPr/>
          <p:nvPr/>
        </p:nvGrpSpPr>
        <p:grpSpPr>
          <a:xfrm>
            <a:off x="8839200" y="2038350"/>
            <a:ext cx="2743200" cy="952500"/>
            <a:chOff x="8839200" y="2038350"/>
            <a:chExt cx="2743200" cy="952500"/>
          </a:xfrm>
        </p:grpSpPr>
        <p:sp>
          <p:nvSpPr>
            <p:cNvPr id="39" name="Rectangle 39"/>
            <p:cNvSpPr/>
            <p:nvPr/>
          </p:nvSpPr>
          <p:spPr>
            <a:xfrm>
              <a:off x="8839200" y="2038350"/>
              <a:ext cx="2743200" cy="9525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  <p:txBody>
            <a:bodyPr/>
            <a:p/>
          </p:txBody>
        </p:sp>
        <p:sp>
          <p:nvSpPr>
            <p:cNvPr id="40" name="TextBox 40"/>
            <p:cNvSpPr txBox="1"/>
            <p:nvPr/>
          </p:nvSpPr>
          <p:spPr>
            <a:xfrm>
              <a:off x="8984742" y="2139950"/>
              <a:ext cx="7623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3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Rarity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10782300" y="2152650"/>
              <a:ext cx="647700" cy="28575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42" name="TextBox 42"/>
            <p:cNvSpPr txBox="1"/>
            <p:nvPr/>
          </p:nvSpPr>
          <p:spPr>
            <a:xfrm>
              <a:off x="10817677" y="2200275"/>
              <a:ext cx="576945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en" sz="128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0.25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985504" y="2457450"/>
              <a:ext cx="2508689" cy="4347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How few people share it. A small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team beats a big city.</a:t>
              </a:r>
            </a:p>
          </p:txBody>
        </p:sp>
      </p:grpSp>
      <p:grpSp>
        <p:nvGrpSpPr>
          <p:cNvPr id="50" name="tile-relevance"/>
          <p:cNvGrpSpPr/>
          <p:nvPr/>
        </p:nvGrpSpPr>
        <p:grpSpPr>
          <a:xfrm>
            <a:off x="5905500" y="3105150"/>
            <a:ext cx="2743200" cy="952500"/>
            <a:chOff x="5905500" y="3105150"/>
            <a:chExt cx="2743200" cy="952500"/>
          </a:xfrm>
        </p:grpSpPr>
        <p:sp>
          <p:nvSpPr>
            <p:cNvPr id="45" name="Rectangle 45"/>
            <p:cNvSpPr/>
            <p:nvPr/>
          </p:nvSpPr>
          <p:spPr>
            <a:xfrm>
              <a:off x="5905500" y="3105150"/>
              <a:ext cx="2743200" cy="9525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  <p:txBody>
            <a:bodyPr/>
            <a:p/>
          </p:txBody>
        </p:sp>
        <p:sp>
          <p:nvSpPr>
            <p:cNvPr id="46" name="TextBox 46"/>
            <p:cNvSpPr txBox="1"/>
            <p:nvPr/>
          </p:nvSpPr>
          <p:spPr>
            <a:xfrm>
              <a:off x="6051042" y="3206750"/>
              <a:ext cx="11472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3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Relevance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7848600" y="3219450"/>
              <a:ext cx="647700" cy="28575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48" name="TextBox 48"/>
            <p:cNvSpPr txBox="1"/>
            <p:nvPr/>
          </p:nvSpPr>
          <p:spPr>
            <a:xfrm>
              <a:off x="7883977" y="3267075"/>
              <a:ext cx="576945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en" sz="128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0.30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051804" y="3524250"/>
              <a:ext cx="2565285" cy="4347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How closely it relates to the target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role at this company.</a:t>
              </a:r>
            </a:p>
          </p:txBody>
        </p:sp>
      </p:grpSp>
      <p:grpSp>
        <p:nvGrpSpPr>
          <p:cNvPr id="56" name="tile-recency"/>
          <p:cNvGrpSpPr/>
          <p:nvPr/>
        </p:nvGrpSpPr>
        <p:grpSpPr>
          <a:xfrm>
            <a:off x="8839200" y="3105150"/>
            <a:ext cx="2743200" cy="952500"/>
            <a:chOff x="8839200" y="3105150"/>
            <a:chExt cx="2743200" cy="952500"/>
          </a:xfrm>
        </p:grpSpPr>
        <p:sp>
          <p:nvSpPr>
            <p:cNvPr id="51" name="Rectangle 51"/>
            <p:cNvSpPr/>
            <p:nvPr/>
          </p:nvSpPr>
          <p:spPr>
            <a:xfrm>
              <a:off x="8839200" y="3105150"/>
              <a:ext cx="2743200" cy="9525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  <p:txBody>
            <a:bodyPr/>
            <a:p/>
          </p:txBody>
        </p:sp>
        <p:sp>
          <p:nvSpPr>
            <p:cNvPr id="52" name="TextBox 52"/>
            <p:cNvSpPr txBox="1"/>
            <p:nvPr/>
          </p:nvSpPr>
          <p:spPr>
            <a:xfrm>
              <a:off x="8984742" y="3206750"/>
              <a:ext cx="9960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3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Recency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10782300" y="3219450"/>
              <a:ext cx="647700" cy="28575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54" name="TextBox 54"/>
            <p:cNvSpPr txBox="1"/>
            <p:nvPr/>
          </p:nvSpPr>
          <p:spPr>
            <a:xfrm>
              <a:off x="10817677" y="3267075"/>
              <a:ext cx="576945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en" sz="128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0.15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985504" y="3524250"/>
              <a:ext cx="2607193" cy="4347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How recent the prospect's side is.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The last six months scores highest.</a:t>
              </a:r>
            </a:p>
          </p:txBody>
        </p:sp>
      </p:grpSp>
      <p:grpSp>
        <p:nvGrpSpPr>
          <p:cNvPr id="59" name="formula"/>
          <p:cNvGrpSpPr/>
          <p:nvPr/>
        </p:nvGrpSpPr>
        <p:grpSpPr>
          <a:xfrm>
            <a:off x="5905500" y="4171950"/>
            <a:ext cx="5676900" cy="590550"/>
            <a:chOff x="5905500" y="4171950"/>
            <a:chExt cx="5676900" cy="590550"/>
          </a:xfrm>
        </p:grpSpPr>
        <p:sp>
          <p:nvSpPr>
            <p:cNvPr id="57" name="Rectangle 57"/>
            <p:cNvSpPr/>
            <p:nvPr/>
          </p:nvSpPr>
          <p:spPr>
            <a:xfrm>
              <a:off x="5905500" y="4171950"/>
              <a:ext cx="5676900" cy="59055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58" name="TextBox 58"/>
            <p:cNvSpPr txBox="1"/>
            <p:nvPr/>
          </p:nvSpPr>
          <p:spPr>
            <a:xfrm>
              <a:off x="6051804" y="4260850"/>
              <a:ext cx="3259949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en" sz="1200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score = 0.30 × specificity + 0.25 × rarity</a:t>
              </a:r>
              <a:br>
                <a:rPr lang="en" sz="1200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</a:br>
              <a:r>
                <a:rPr lang="en" sz="1200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+ 0.30 × relevance + 0.15 × recency</a:t>
              </a:r>
            </a:p>
          </p:txBody>
        </p:sp>
      </p:grpSp>
      <p:grpSp>
        <p:nvGrpSpPr>
          <p:cNvPr id="66" name="hook-rules"/>
          <p:cNvGrpSpPr/>
          <p:nvPr/>
        </p:nvGrpSpPr>
        <p:grpSpPr>
          <a:xfrm>
            <a:off x="5905500" y="5029200"/>
            <a:ext cx="4867167" cy="945642"/>
            <a:chOff x="5905500" y="5029200"/>
            <a:chExt cx="4867167" cy="945642"/>
          </a:xfrm>
        </p:grpSpPr>
        <p:sp>
          <p:nvSpPr>
            <p:cNvPr id="60" name="Rectangle 60"/>
            <p:cNvSpPr/>
            <p:nvPr/>
          </p:nvSpPr>
          <p:spPr>
            <a:xfrm>
              <a:off x="5905500" y="5086350"/>
              <a:ext cx="76200" cy="762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61" name="TextBox 61"/>
            <p:cNvSpPr txBox="1"/>
            <p:nvPr/>
          </p:nvSpPr>
          <p:spPr>
            <a:xfrm>
              <a:off x="6051423" y="5029200"/>
              <a:ext cx="518658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Minimum score is 2.5 of 5. Below it the hook is not used.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5905500" y="5334000"/>
              <a:ext cx="76200" cy="762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63" name="TextBox 63"/>
            <p:cNvSpPr txBox="1"/>
            <p:nvPr/>
          </p:nvSpPr>
          <p:spPr>
            <a:xfrm>
              <a:off x="6051423" y="5276850"/>
              <a:ext cx="5474839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The top hook is selected; a second one powers the follow-up.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5905500" y="5581650"/>
              <a:ext cx="76200" cy="762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65" name="TextBox 65"/>
            <p:cNvSpPr txBox="1"/>
            <p:nvPr/>
          </p:nvSpPr>
          <p:spPr>
            <a:xfrm>
              <a:off x="6051423" y="5524500"/>
              <a:ext cx="5759917" cy="45034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Seven types: shared school, shared employer, similar transition, relevant</a:t>
              </a:r>
              <a:b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work, post reaction, shared geography, shared interest.</a:t>
              </a:r>
            </a:p>
          </p:txBody>
        </p:sp>
      </p:grpSp>
      <p:grpSp>
        <p:nvGrpSpPr>
          <p:cNvPr id="68" name="source"/>
          <p:cNvGrpSpPr/>
          <p:nvPr/>
        </p:nvGrpSpPr>
        <p:grpSpPr>
          <a:xfrm>
            <a:off x="604647" y="6559550"/>
            <a:ext cx="5877880" cy="191643"/>
            <a:chOff x="604647" y="6559550"/>
            <a:chExt cx="5877880" cy="191643"/>
          </a:xfrm>
        </p:grpSpPr>
        <p:sp>
          <p:nvSpPr>
            <p:cNvPr id="67" name="TextBox 67"/>
            <p:cNvSpPr txBox="1"/>
            <p:nvPr/>
          </p:nvSpPr>
          <p:spPr>
            <a:xfrm>
              <a:off x="604647" y="6559550"/>
              <a:ext cx="717101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Source: engine/outreach/hooks.py (WEIGHTS, MIN_SCORE, validate), prompts.py FIND_HOOKS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596646" y="444500"/>
            <a:ext cx="8214844" cy="1101979"/>
            <a:chOff x="596646" y="444500"/>
            <a:chExt cx="8214844" cy="1101979"/>
          </a:xfrm>
        </p:grpSpPr>
        <p:sp>
          <p:nvSpPr>
            <p:cNvPr id="2" name="TextBox 2"/>
            <p:cNvSpPr txBox="1"/>
            <p:nvPr/>
          </p:nvSpPr>
          <p:spPr>
            <a:xfrm>
              <a:off x="604647" y="444500"/>
              <a:ext cx="251594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WRITERS, RULES AND JUDGE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6646" y="666750"/>
              <a:ext cx="10022109" cy="87972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Three writers compete, rule checks filter, and a judge</a:t>
              </a:r>
              <a:b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</a:br>
              <a: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picks the draft this person is most likely to answer</a:t>
              </a:r>
            </a:p>
          </p:txBody>
        </p:sp>
      </p:grpSp>
      <p:grpSp>
        <p:nvGrpSpPr>
          <p:cNvPr id="8" name="page-stamp"/>
          <p:cNvGrpSpPr/>
          <p:nvPr/>
        </p:nvGrpSpPr>
        <p:grpSpPr>
          <a:xfrm>
            <a:off x="11163300" y="285750"/>
            <a:ext cx="495300" cy="609600"/>
            <a:chOff x="11163300" y="285750"/>
            <a:chExt cx="495300" cy="609600"/>
          </a:xfrm>
        </p:grpSpPr>
        <p:sp>
          <p:nvSpPr>
            <p:cNvPr id="5" name="Rectangle 5"/>
            <p:cNvSpPr/>
            <p:nvPr/>
          </p:nvSpPr>
          <p:spPr>
            <a:xfrm>
              <a:off x="11163300" y="285750"/>
              <a:ext cx="495300" cy="6096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8000"/>
                </a:srgbClr>
              </a:solidFill>
            </a:ln>
          </p:spPr>
          <p:txBody>
            <a:bodyPr/>
            <a:p/>
          </p:txBody>
        </p:sp>
        <p:sp>
          <p:nvSpPr>
            <p:cNvPr id="6" name="Rectangle 6"/>
            <p:cNvSpPr/>
            <p:nvPr/>
          </p:nvSpPr>
          <p:spPr>
            <a:xfrm>
              <a:off x="11220450" y="342900"/>
              <a:ext cx="381000" cy="495300"/>
            </a:xfrm>
            <a:prstGeom prst="rect">
              <a:avLst/>
            </a:prstGeom>
            <a:solidFill>
              <a:srgbClr val="B3301B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" name="TextBox 7"/>
            <p:cNvSpPr txBox="1"/>
            <p:nvPr/>
          </p:nvSpPr>
          <p:spPr>
            <a:xfrm>
              <a:off x="11226496" y="463550"/>
              <a:ext cx="3689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6</a:t>
              </a:r>
            </a:p>
          </p:txBody>
        </p:sp>
      </p:grpSp>
      <p:sp>
        <p:nvSpPr>
          <p:cNvPr id="9" name="Line 9"/>
          <p:cNvSpPr/>
          <p:nvPr/>
        </p:nvSpPr>
        <p:spPr>
          <a:xfrm>
            <a:off x="609600" y="15811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28575">
            <a:solidFill>
              <a:srgbClr val="97B9DD"/>
            </a:solidFill>
            <a:custDash>
              <a:ds d="66667" sp="233333"/>
            </a:custDash>
          </a:ln>
        </p:spPr>
        <p:txBody>
          <a:bodyPr/>
          <a:p/>
        </p:txBody>
      </p:sp>
      <p:grpSp>
        <p:nvGrpSpPr>
          <p:cNvPr id="26" name="col-input"/>
          <p:cNvGrpSpPr/>
          <p:nvPr/>
        </p:nvGrpSpPr>
        <p:grpSpPr>
          <a:xfrm>
            <a:off x="609600" y="1809750"/>
            <a:ext cx="2133600" cy="3816096"/>
            <a:chOff x="609600" y="1809750"/>
            <a:chExt cx="2133600" cy="3816096"/>
          </a:xfrm>
        </p:grpSpPr>
        <p:sp>
          <p:nvSpPr>
            <p:cNvPr id="10" name="Rectangle 10"/>
            <p:cNvSpPr/>
            <p:nvPr/>
          </p:nvSpPr>
          <p:spPr>
            <a:xfrm>
              <a:off x="609600" y="1809750"/>
              <a:ext cx="1809750" cy="38100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  <p:txBody>
            <a:bodyPr/>
            <a:p/>
          </p:txBody>
        </p:sp>
        <p:sp>
          <p:nvSpPr>
            <p:cNvPr id="11" name="Rectangle 11"/>
            <p:cNvSpPr/>
            <p:nvPr/>
          </p:nvSpPr>
          <p:spPr>
            <a:xfrm>
              <a:off x="609600" y="1809750"/>
              <a:ext cx="1809750" cy="41910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2" name="TextBox 12"/>
            <p:cNvSpPr txBox="1"/>
            <p:nvPr/>
          </p:nvSpPr>
          <p:spPr>
            <a:xfrm>
              <a:off x="736092" y="1920875"/>
              <a:ext cx="6913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3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Input</a:t>
              </a:r>
            </a:p>
          </p:txBody>
        </p:sp>
        <p:grpSp>
          <p:nvGrpSpPr>
            <p:cNvPr id="24" name="Group 24"/>
            <p:cNvGrpSpPr/>
            <p:nvPr/>
          </p:nvGrpSpPr>
          <p:grpSpPr>
            <a:xfrm>
              <a:off x="736854" y="2419350"/>
              <a:ext cx="1424017" cy="3206496"/>
              <a:chOff x="736854" y="2419350"/>
              <a:chExt cx="1424017" cy="3206496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742950" y="2495550"/>
                <a:ext cx="76200" cy="76200"/>
              </a:xfrm>
              <a:prstGeom prst="rect">
                <a:avLst/>
              </a:prstGeom>
              <a:solidFill>
                <a:srgbClr val="0E1F3A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889254" y="2419350"/>
                <a:ext cx="155137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The selected hook</a:t>
                </a:r>
              </a:p>
            </p:txBody>
          </p:sp>
          <p:sp>
            <p:nvSpPr>
              <p:cNvPr id="15" name="Rectangle 15"/>
              <p:cNvSpPr/>
              <p:nvPr/>
            </p:nvSpPr>
            <p:spPr>
              <a:xfrm>
                <a:off x="742950" y="2809875"/>
                <a:ext cx="76200" cy="76200"/>
              </a:xfrm>
              <a:prstGeom prst="rect">
                <a:avLst/>
              </a:prstGeom>
              <a:solidFill>
                <a:srgbClr val="0E1F3A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889254" y="2733675"/>
                <a:ext cx="1341703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Both cited facts</a:t>
                </a:r>
              </a:p>
            </p:txBody>
          </p:sp>
          <p:sp>
            <p:nvSpPr>
              <p:cNvPr id="17" name="Rectangle 17"/>
              <p:cNvSpPr/>
              <p:nvPr/>
            </p:nvSpPr>
            <p:spPr>
              <a:xfrm>
                <a:off x="742950" y="3124200"/>
                <a:ext cx="76200" cy="76200"/>
              </a:xfrm>
              <a:prstGeom prst="rect">
                <a:avLst/>
              </a:prstGeom>
              <a:solidFill>
                <a:srgbClr val="0E1F3A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889254" y="3048000"/>
                <a:ext cx="1186404" cy="4347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>
                  <a:lnSpc>
                    <a:spcPts val="1575"/>
                  </a:lnSpc>
                </a:pPr>
                <a: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The candidate's</a:t>
                </a:r>
                <a:b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story</a:t>
                </a:r>
              </a:p>
            </p:txBody>
          </p:sp>
          <p:sp>
            <p:nvSpPr>
              <p:cNvPr id="19" name="Rectangle 19"/>
              <p:cNvSpPr/>
              <p:nvPr/>
            </p:nvSpPr>
            <p:spPr>
              <a:xfrm>
                <a:off x="742950" y="3638550"/>
                <a:ext cx="76200" cy="76200"/>
              </a:xfrm>
              <a:prstGeom prst="rect">
                <a:avLst/>
              </a:prstGeom>
              <a:solidFill>
                <a:srgbClr val="0E1F3A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889254" y="3562350"/>
                <a:ext cx="1362256" cy="4347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>
                  <a:lnSpc>
                    <a:spcPts val="1575"/>
                  </a:lnSpc>
                </a:pPr>
                <a: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Learned playbook</a:t>
                </a:r>
                <a:b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rules</a:t>
                </a:r>
              </a:p>
            </p:txBody>
          </p:sp>
          <p:sp>
            <p:nvSpPr>
              <p:cNvPr id="21" name="Rectangle 21"/>
              <p:cNvSpPr/>
              <p:nvPr/>
            </p:nvSpPr>
            <p:spPr>
              <a:xfrm>
                <a:off x="742950" y="4152900"/>
                <a:ext cx="76200" cy="76200"/>
              </a:xfrm>
              <a:prstGeom prst="rect">
                <a:avLst/>
              </a:prstGeom>
              <a:solidFill>
                <a:srgbClr val="0E1F3A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89254" y="4076700"/>
                <a:ext cx="1429339" cy="6347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>
                  <a:lnSpc>
                    <a:spcPts val="1575"/>
                  </a:lnSpc>
                </a:pPr>
                <a: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Past openers that</a:t>
                </a:r>
                <a:b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got replies, for feel</a:t>
                </a:r>
                <a:b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only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736854" y="4991100"/>
                <a:ext cx="1300640" cy="6347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>
                  <a:lnSpc>
                    <a:spcPts val="1575"/>
                  </a:lnSpc>
                </a:pPr>
                <a:r>
                  <a:rPr lang="en" sz="1200" i="1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Writers see facts,</a:t>
                </a:r>
                <a:br>
                  <a:rPr lang="en" sz="1200" i="1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" sz="1200" i="1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never raw web</a:t>
                </a:r>
                <a:br>
                  <a:rPr lang="en" sz="1200" i="1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" sz="1200" i="1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pages.</a:t>
                </a:r>
              </a:p>
            </p:txBody>
          </p:sp>
        </p:grpSp>
        <p:sp>
          <p:nvSpPr>
            <p:cNvPr id="25" name="Line 25"/>
            <p:cNvSpPr/>
            <p:nvPr/>
          </p:nvSpPr>
          <p:spPr>
            <a:xfrm>
              <a:off x="2438400" y="3714750"/>
              <a:ext cx="304800" cy="1"/>
            </a:xfrm>
            <a:prstGeom prst="line">
              <a:avLst/>
            </a:prstGeom>
            <a:noFill/>
            <a:ln w="19050">
              <a:solidFill>
                <a:srgbClr val="0E1F3A"/>
              </a:solidFill>
              <a:tailEnd type="triangle" w="lg" len="lg"/>
            </a:ln>
          </p:spPr>
          <p:txBody>
            <a:bodyPr/>
            <a:p/>
          </p:txBody>
        </p:sp>
      </p:grpSp>
      <p:grpSp>
        <p:nvGrpSpPr>
          <p:cNvPr id="31" name="writer-curious"/>
          <p:cNvGrpSpPr/>
          <p:nvPr/>
        </p:nvGrpSpPr>
        <p:grpSpPr>
          <a:xfrm>
            <a:off x="2762250" y="1809750"/>
            <a:ext cx="2857500" cy="1181100"/>
            <a:chOff x="2762250" y="1809750"/>
            <a:chExt cx="2857500" cy="1181100"/>
          </a:xfrm>
        </p:grpSpPr>
        <p:sp>
          <p:nvSpPr>
            <p:cNvPr id="27" name="Rectangle 27"/>
            <p:cNvSpPr/>
            <p:nvPr/>
          </p:nvSpPr>
          <p:spPr>
            <a:xfrm>
              <a:off x="2762250" y="1809750"/>
              <a:ext cx="2857500" cy="11811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  <p:txBody>
            <a:bodyPr/>
            <a:p/>
          </p:txBody>
        </p:sp>
        <p:sp>
          <p:nvSpPr>
            <p:cNvPr id="28" name="Rectangle 28"/>
            <p:cNvSpPr/>
            <p:nvPr/>
          </p:nvSpPr>
          <p:spPr>
            <a:xfrm>
              <a:off x="2762250" y="1809750"/>
              <a:ext cx="57150" cy="11811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9" name="TextBox 29"/>
            <p:cNvSpPr txBox="1"/>
            <p:nvPr/>
          </p:nvSpPr>
          <p:spPr>
            <a:xfrm>
              <a:off x="2908173" y="1924050"/>
              <a:ext cx="1336085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28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curious_peer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908554" y="2171700"/>
              <a:ext cx="2782189" cy="63474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Genuinely curious about one specific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decision or change in their career,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asked in a way only they can answer.</a:t>
              </a:r>
            </a:p>
          </p:txBody>
        </p:sp>
      </p:grpSp>
      <p:grpSp>
        <p:nvGrpSpPr>
          <p:cNvPr id="37" name="writer-observer"/>
          <p:cNvGrpSpPr/>
          <p:nvPr/>
        </p:nvGrpSpPr>
        <p:grpSpPr>
          <a:xfrm>
            <a:off x="2762250" y="3124200"/>
            <a:ext cx="3181350" cy="1196721"/>
            <a:chOff x="2762250" y="3124200"/>
            <a:chExt cx="3181350" cy="1196721"/>
          </a:xfrm>
        </p:grpSpPr>
        <p:sp>
          <p:nvSpPr>
            <p:cNvPr id="32" name="Rectangle 32"/>
            <p:cNvSpPr/>
            <p:nvPr/>
          </p:nvSpPr>
          <p:spPr>
            <a:xfrm>
              <a:off x="2762250" y="3124200"/>
              <a:ext cx="2857500" cy="11811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  <p:txBody>
            <a:bodyPr/>
            <a:p/>
          </p:txBody>
        </p:sp>
        <p:sp>
          <p:nvSpPr>
            <p:cNvPr id="33" name="Rectangle 33"/>
            <p:cNvSpPr/>
            <p:nvPr/>
          </p:nvSpPr>
          <p:spPr>
            <a:xfrm>
              <a:off x="2762250" y="3124200"/>
              <a:ext cx="57150" cy="11811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4" name="TextBox 34"/>
            <p:cNvSpPr txBox="1"/>
            <p:nvPr/>
          </p:nvSpPr>
          <p:spPr>
            <a:xfrm>
              <a:off x="2908173" y="3238500"/>
              <a:ext cx="1593356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28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sharp_observer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908554" y="3486150"/>
              <a:ext cx="2650180" cy="83477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One sharp observation about their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work, move or post, tied to the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candidate's own experience, ending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on a light question.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5638800" y="3714750"/>
              <a:ext cx="304800" cy="1"/>
            </a:xfrm>
            <a:prstGeom prst="line">
              <a:avLst/>
            </a:prstGeom>
            <a:noFill/>
            <a:ln w="19050">
              <a:solidFill>
                <a:srgbClr val="0E1F3A"/>
              </a:solidFill>
              <a:tailEnd type="triangle" w="lg" len="lg"/>
            </a:ln>
          </p:spPr>
          <p:txBody>
            <a:bodyPr/>
            <a:p/>
          </p:txBody>
        </p:sp>
      </p:grpSp>
      <p:grpSp>
        <p:nvGrpSpPr>
          <p:cNvPr id="42" name="writer-shared"/>
          <p:cNvGrpSpPr/>
          <p:nvPr/>
        </p:nvGrpSpPr>
        <p:grpSpPr>
          <a:xfrm>
            <a:off x="2762250" y="4438650"/>
            <a:ext cx="2857500" cy="1196721"/>
            <a:chOff x="2762250" y="4438650"/>
            <a:chExt cx="2857500" cy="1196721"/>
          </a:xfrm>
        </p:grpSpPr>
        <p:sp>
          <p:nvSpPr>
            <p:cNvPr id="38" name="Rectangle 38"/>
            <p:cNvSpPr/>
            <p:nvPr/>
          </p:nvSpPr>
          <p:spPr>
            <a:xfrm>
              <a:off x="2762250" y="4438650"/>
              <a:ext cx="2857500" cy="11811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  <p:txBody>
            <a:bodyPr/>
            <a:p/>
          </p:txBody>
        </p:sp>
        <p:sp>
          <p:nvSpPr>
            <p:cNvPr id="39" name="Rectangle 39"/>
            <p:cNvSpPr/>
            <p:nvPr/>
          </p:nvSpPr>
          <p:spPr>
            <a:xfrm>
              <a:off x="2762250" y="4438650"/>
              <a:ext cx="57150" cy="11811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40" name="TextBox 40"/>
            <p:cNvSpPr txBox="1"/>
            <p:nvPr/>
          </p:nvSpPr>
          <p:spPr>
            <a:xfrm>
              <a:off x="2908173" y="4552950"/>
              <a:ext cx="126620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28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shared_path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908554" y="4800600"/>
              <a:ext cx="2580717" cy="83477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Leads with the concrete thing they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share, a school, employer or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transition, then one easy question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about their side.</a:t>
              </a:r>
            </a:p>
          </p:txBody>
        </p:sp>
      </p:grpSp>
      <p:grpSp>
        <p:nvGrpSpPr>
          <p:cNvPr id="59" name="col-rules"/>
          <p:cNvGrpSpPr/>
          <p:nvPr/>
        </p:nvGrpSpPr>
        <p:grpSpPr>
          <a:xfrm>
            <a:off x="5962650" y="1809750"/>
            <a:ext cx="2819400" cy="3810000"/>
            <a:chOff x="5962650" y="1809750"/>
            <a:chExt cx="2819400" cy="3810000"/>
          </a:xfrm>
        </p:grpSpPr>
        <p:sp>
          <p:nvSpPr>
            <p:cNvPr id="43" name="Rectangle 43"/>
            <p:cNvSpPr/>
            <p:nvPr/>
          </p:nvSpPr>
          <p:spPr>
            <a:xfrm>
              <a:off x="5962650" y="1809750"/>
              <a:ext cx="2495550" cy="38100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  <p:txBody>
            <a:bodyPr/>
            <a:p/>
          </p:txBody>
        </p:sp>
        <p:sp>
          <p:nvSpPr>
            <p:cNvPr id="44" name="Rectangle 44"/>
            <p:cNvSpPr/>
            <p:nvPr/>
          </p:nvSpPr>
          <p:spPr>
            <a:xfrm>
              <a:off x="5962650" y="1809750"/>
              <a:ext cx="2495550" cy="41910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  <p:txBody>
            <a:bodyPr/>
            <a:p/>
          </p:txBody>
        </p:sp>
        <p:sp>
          <p:nvSpPr>
            <p:cNvPr id="45" name="TextBox 45"/>
            <p:cNvSpPr txBox="1"/>
            <p:nvPr/>
          </p:nvSpPr>
          <p:spPr>
            <a:xfrm>
              <a:off x="6089142" y="1920875"/>
              <a:ext cx="13181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3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Rule checks</a:t>
              </a:r>
            </a:p>
          </p:txBody>
        </p:sp>
        <p:grpSp>
          <p:nvGrpSpPr>
            <p:cNvPr id="57" name="Group 57"/>
            <p:cNvGrpSpPr/>
            <p:nvPr/>
          </p:nvGrpSpPr>
          <p:grpSpPr>
            <a:xfrm>
              <a:off x="6089904" y="2343150"/>
              <a:ext cx="2081510" cy="2577846"/>
              <a:chOff x="6089904" y="2343150"/>
              <a:chExt cx="2081510" cy="2577846"/>
            </a:xfrm>
          </p:grpSpPr>
          <p:sp>
            <p:nvSpPr>
              <p:cNvPr id="46" name="TextBox 46"/>
              <p:cNvSpPr txBox="1"/>
              <p:nvPr/>
            </p:nvSpPr>
            <p:spPr>
              <a:xfrm>
                <a:off x="6089904" y="2343150"/>
                <a:ext cx="2380063" cy="4347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>
                  <a:lnSpc>
                    <a:spcPts val="1575"/>
                  </a:lnSpc>
                </a:pPr>
                <a:r>
                  <a:rPr lang="en" sz="1200" i="1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Up to three attempts per writer.</a:t>
                </a:r>
                <a:br>
                  <a:rPr lang="en" sz="1200" i="1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" sz="1200" i="1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Each retry is told what failed.</a:t>
                </a:r>
              </a:p>
            </p:txBody>
          </p:sp>
          <p:sp>
            <p:nvSpPr>
              <p:cNvPr id="47" name="Rectangle 47"/>
              <p:cNvSpPr/>
              <p:nvPr/>
            </p:nvSpPr>
            <p:spPr>
              <a:xfrm>
                <a:off x="6096000" y="2905125"/>
                <a:ext cx="76200" cy="76200"/>
              </a:xfrm>
              <a:prstGeom prst="rect">
                <a:avLst/>
              </a:prstGeom>
              <a:solidFill>
                <a:srgbClr val="0E1F3A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6242304" y="2828925"/>
                <a:ext cx="182096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Under 300 characters</a:t>
                </a:r>
              </a:p>
            </p:txBody>
          </p:sp>
          <p:sp>
            <p:nvSpPr>
              <p:cNvPr id="49" name="Rectangle 49"/>
              <p:cNvSpPr/>
              <p:nvPr/>
            </p:nvSpPr>
            <p:spPr>
              <a:xfrm>
                <a:off x="6096000" y="3219450"/>
                <a:ext cx="76200" cy="76200"/>
              </a:xfrm>
              <a:prstGeom prst="rect">
                <a:avLst/>
              </a:prstGeom>
              <a:solidFill>
                <a:srgbClr val="0E1F3A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6242304" y="3143250"/>
                <a:ext cx="2064693" cy="4347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>
                  <a:lnSpc>
                    <a:spcPts val="1575"/>
                  </a:lnSpc>
                </a:pPr>
                <a: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No banned phrases, such as</a:t>
                </a:r>
                <a:b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reaching out</a:t>
                </a:r>
              </a:p>
            </p:txBody>
          </p:sp>
          <p:sp>
            <p:nvSpPr>
              <p:cNvPr id="51" name="Rectangle 51"/>
              <p:cNvSpPr/>
              <p:nvPr/>
            </p:nvSpPr>
            <p:spPr>
              <a:xfrm>
                <a:off x="6096000" y="3733800"/>
                <a:ext cx="76200" cy="76200"/>
              </a:xfrm>
              <a:prstGeom prst="rect">
                <a:avLst/>
              </a:prstGeom>
              <a:solidFill>
                <a:srgbClr val="0E1F3A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6242304" y="3657600"/>
                <a:ext cx="2353514" cy="4347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>
                  <a:lnSpc>
                    <a:spcPts val="1575"/>
                  </a:lnSpc>
                </a:pPr>
                <a: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No ask: job, referral, interview,</a:t>
                </a:r>
                <a:b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coffee</a:t>
                </a:r>
              </a:p>
            </p:txBody>
          </p:sp>
          <p:sp>
            <p:nvSpPr>
              <p:cNvPr id="53" name="Rectangle 53"/>
              <p:cNvSpPr/>
              <p:nvPr/>
            </p:nvSpPr>
            <p:spPr>
              <a:xfrm>
                <a:off x="6096000" y="4248150"/>
                <a:ext cx="76200" cy="76200"/>
              </a:xfrm>
              <a:prstGeom prst="rect">
                <a:avLst/>
              </a:prstGeom>
              <a:solidFill>
                <a:srgbClr val="0E1F3A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6242304" y="4171950"/>
                <a:ext cx="1899328" cy="4347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>
                  <a:lnSpc>
                    <a:spcPts val="1575"/>
                  </a:lnSpc>
                </a:pPr>
                <a: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No exclamation marks or</a:t>
                </a:r>
                <a:b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dashes</a:t>
                </a:r>
              </a:p>
            </p:txBody>
          </p:sp>
          <p:sp>
            <p:nvSpPr>
              <p:cNvPr id="55" name="Rectangle 55"/>
              <p:cNvSpPr/>
              <p:nvPr/>
            </p:nvSpPr>
            <p:spPr>
              <a:xfrm>
                <a:off x="6096000" y="4762500"/>
                <a:ext cx="76200" cy="76200"/>
              </a:xfrm>
              <a:prstGeom prst="rect">
                <a:avLst/>
              </a:prstGeom>
              <a:solidFill>
                <a:srgbClr val="0E1F3A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6242304" y="4686300"/>
                <a:ext cx="219959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Greets them by first name</a:t>
                </a:r>
              </a:p>
            </p:txBody>
          </p:sp>
        </p:grpSp>
        <p:sp>
          <p:nvSpPr>
            <p:cNvPr id="58" name="Line 58"/>
            <p:cNvSpPr/>
            <p:nvPr/>
          </p:nvSpPr>
          <p:spPr>
            <a:xfrm>
              <a:off x="8477250" y="3714750"/>
              <a:ext cx="304800" cy="1"/>
            </a:xfrm>
            <a:prstGeom prst="line">
              <a:avLst/>
            </a:prstGeom>
            <a:noFill/>
            <a:ln w="19050">
              <a:solidFill>
                <a:srgbClr val="0E1F3A"/>
              </a:solidFill>
              <a:tailEnd type="triangle" w="lg" len="lg"/>
            </a:ln>
          </p:spPr>
          <p:txBody>
            <a:bodyPr/>
            <a:p/>
          </p:txBody>
        </p:sp>
      </p:grpSp>
      <p:grpSp>
        <p:nvGrpSpPr>
          <p:cNvPr id="70" name="col-judge"/>
          <p:cNvGrpSpPr/>
          <p:nvPr/>
        </p:nvGrpSpPr>
        <p:grpSpPr>
          <a:xfrm>
            <a:off x="8801100" y="1809750"/>
            <a:ext cx="2781300" cy="3810000"/>
            <a:chOff x="8801100" y="1809750"/>
            <a:chExt cx="2781300" cy="3810000"/>
          </a:xfrm>
        </p:grpSpPr>
        <p:sp>
          <p:nvSpPr>
            <p:cNvPr id="60" name="Rectangle 60"/>
            <p:cNvSpPr/>
            <p:nvPr/>
          </p:nvSpPr>
          <p:spPr>
            <a:xfrm>
              <a:off x="8801100" y="1809750"/>
              <a:ext cx="2781300" cy="3810000"/>
            </a:xfrm>
            <a:prstGeom prst="rect">
              <a:avLst/>
            </a:prstGeom>
            <a:solidFill>
              <a:srgbClr val="FAFCFE"/>
            </a:solidFill>
            <a:ln w="19050">
              <a:solidFill>
                <a:srgbClr val="0E1F3A"/>
              </a:solidFill>
            </a:ln>
          </p:spPr>
          <p:txBody>
            <a:bodyPr/>
            <a:p/>
          </p:txBody>
        </p:sp>
        <p:sp>
          <p:nvSpPr>
            <p:cNvPr id="61" name="Rectangle 61"/>
            <p:cNvSpPr/>
            <p:nvPr/>
          </p:nvSpPr>
          <p:spPr>
            <a:xfrm>
              <a:off x="8801100" y="1809750"/>
              <a:ext cx="2781300" cy="4191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62" name="TextBox 62"/>
            <p:cNvSpPr txBox="1"/>
            <p:nvPr/>
          </p:nvSpPr>
          <p:spPr>
            <a:xfrm>
              <a:off x="8946642" y="1920875"/>
              <a:ext cx="18959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35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Judge, high effort</a:t>
              </a:r>
            </a:p>
          </p:txBody>
        </p:sp>
        <p:grpSp>
          <p:nvGrpSpPr>
            <p:cNvPr id="67" name="Group 67"/>
            <p:cNvGrpSpPr/>
            <p:nvPr/>
          </p:nvGrpSpPr>
          <p:grpSpPr>
            <a:xfrm>
              <a:off x="8947404" y="2343150"/>
              <a:ext cx="2241926" cy="2139696"/>
              <a:chOff x="8947404" y="2343150"/>
              <a:chExt cx="2241926" cy="2139696"/>
            </a:xfrm>
          </p:grpSpPr>
          <p:sp>
            <p:nvSpPr>
              <p:cNvPr id="63" name="TextBox 63"/>
              <p:cNvSpPr txBox="1"/>
              <p:nvPr/>
            </p:nvSpPr>
            <p:spPr>
              <a:xfrm>
                <a:off x="8947404" y="2343150"/>
                <a:ext cx="2627534" cy="6347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>
                  <a:lnSpc>
                    <a:spcPts val="1575"/>
                  </a:lnSpc>
                </a:pPr>
                <a: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Reads the drafts as the recipient: a</a:t>
                </a:r>
                <a:b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busy professional who gets generic</a:t>
                </a:r>
                <a:b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networking messages every week.</a:t>
                </a: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8947404" y="3038475"/>
                <a:ext cx="2606784" cy="4347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>
                  <a:lnSpc>
                    <a:spcPts val="1575"/>
                  </a:lnSpc>
                </a:pPr>
                <a: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Scores reply likelihood, specificity</a:t>
                </a:r>
                <a:b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and human feel, 1 to 5.</a:t>
                </a: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8947404" y="3543300"/>
                <a:ext cx="2575847" cy="4347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>
                  <a:lnSpc>
                    <a:spcPts val="1575"/>
                  </a:lnSpc>
                </a:pPr>
                <a: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Penalises flattery, vague questions</a:t>
                </a:r>
                <a:b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and any hint of a job ask.</a:t>
                </a:r>
              </a:p>
            </p:txBody>
          </p:sp>
          <p:sp>
            <p:nvSpPr>
              <p:cNvPr id="66" name="TextBox 66"/>
              <p:cNvSpPr txBox="1"/>
              <p:nvPr/>
            </p:nvSpPr>
            <p:spPr>
              <a:xfrm>
                <a:off x="8947404" y="4048125"/>
                <a:ext cx="2735149" cy="4347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>
                  <a:lnSpc>
                    <a:spcPts val="1575"/>
                  </a:lnSpc>
                </a:pPr>
                <a: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Sees recent cases where the operator</a:t>
                </a:r>
                <a:b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overruled it.</a:t>
                </a:r>
              </a:p>
            </p:txBody>
          </p:sp>
        </p:grpSp>
        <p:sp>
          <p:nvSpPr>
            <p:cNvPr id="68" name="Line 68"/>
            <p:cNvSpPr/>
            <p:nvPr/>
          </p:nvSpPr>
          <p:spPr>
            <a:xfrm>
              <a:off x="8953500" y="4724400"/>
              <a:ext cx="2476500" cy="9525"/>
            </a:xfrm>
            <a:custGeom>
              <a:avLst/>
              <a:gdLst/>
              <a:ahLst/>
              <a:cxnLst/>
              <a:rect l="l" t="t" r="r" b="b"/>
              <a:pathLst>
                <a:path w="2476500" h="9525">
                  <a:moveTo>
                    <a:pt x="0" y="0"/>
                  </a:moveTo>
                  <a:lnTo>
                    <a:pt x="2476500" y="0"/>
                  </a:lnTo>
                </a:path>
              </a:pathLst>
            </a:custGeom>
            <a:noFill/>
            <a:ln w="9525">
              <a:solidFill>
                <a:srgbClr val="0E1F3A">
                  <a:alpha val="20000"/>
                </a:srgbClr>
              </a:solidFill>
            </a:ln>
          </p:spPr>
          <p:txBody>
            <a:bodyPr/>
            <a:p/>
          </p:txBody>
        </p:sp>
        <p:sp>
          <p:nvSpPr>
            <p:cNvPr id="69" name="TextBox 69"/>
            <p:cNvSpPr txBox="1"/>
            <p:nvPr/>
          </p:nvSpPr>
          <p:spPr>
            <a:xfrm>
              <a:off x="8947404" y="4826000"/>
              <a:ext cx="2246233" cy="6537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" sz="12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The winner is stored with</a:t>
              </a:r>
              <a:br>
                <a:rPr lang="en" sz="12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</a:br>
              <a:r>
                <a:rPr lang="en" sz="12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its reason. Losing drafts</a:t>
              </a:r>
              <a:br>
                <a:rPr lang="en" sz="12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</a:br>
              <a:r>
                <a:rPr lang="en" sz="12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stay as alternatives.</a:t>
              </a:r>
            </a:p>
          </p:txBody>
        </p:sp>
      </p:grpSp>
      <p:grpSp>
        <p:nvGrpSpPr>
          <p:cNvPr id="73" name="fallbacks"/>
          <p:cNvGrpSpPr/>
          <p:nvPr/>
        </p:nvGrpSpPr>
        <p:grpSpPr>
          <a:xfrm>
            <a:off x="609600" y="5829300"/>
            <a:ext cx="10839450" cy="514350"/>
            <a:chOff x="609600" y="5829300"/>
            <a:chExt cx="10839450" cy="514350"/>
          </a:xfrm>
        </p:grpSpPr>
        <p:sp>
          <p:nvSpPr>
            <p:cNvPr id="71" name="Rectangle 71"/>
            <p:cNvSpPr/>
            <p:nvPr/>
          </p:nvSpPr>
          <p:spPr>
            <a:xfrm>
              <a:off x="609600" y="5829300"/>
              <a:ext cx="10839450" cy="51435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2" name="TextBox 72"/>
            <p:cNvSpPr txBox="1"/>
            <p:nvPr/>
          </p:nvSpPr>
          <p:spPr>
            <a:xfrm>
              <a:off x="793623" y="6000750"/>
              <a:ext cx="11398377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28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Fallbacks: if no draft passes the rules, the first one returns flagged for manual review. If only one passes, it wins without a judge.</a:t>
              </a:r>
            </a:p>
          </p:txBody>
        </p:sp>
      </p:grpSp>
      <p:grpSp>
        <p:nvGrpSpPr>
          <p:cNvPr id="75" name="source"/>
          <p:cNvGrpSpPr/>
          <p:nvPr/>
        </p:nvGrpSpPr>
        <p:grpSpPr>
          <a:xfrm>
            <a:off x="604647" y="6559550"/>
            <a:ext cx="5055692" cy="191643"/>
            <a:chOff x="604647" y="6559550"/>
            <a:chExt cx="5055692" cy="191643"/>
          </a:xfrm>
        </p:grpSpPr>
        <p:sp>
          <p:nvSpPr>
            <p:cNvPr id="74" name="TextBox 74"/>
            <p:cNvSpPr txBox="1"/>
            <p:nvPr/>
          </p:nvSpPr>
          <p:spPr>
            <a:xfrm>
              <a:off x="604647" y="6559550"/>
              <a:ext cx="616794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Source: engine/outreach/messages.py, prompts.py (WRITERS, JUDGE_OPENERS)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596646" y="444500"/>
            <a:ext cx="8251568" cy="1101979"/>
            <a:chOff x="596646" y="444500"/>
            <a:chExt cx="8251568" cy="1101979"/>
          </a:xfrm>
        </p:grpSpPr>
        <p:sp>
          <p:nvSpPr>
            <p:cNvPr id="2" name="TextBox 2"/>
            <p:cNvSpPr txBox="1"/>
            <p:nvPr/>
          </p:nvSpPr>
          <p:spPr>
            <a:xfrm>
              <a:off x="604647" y="444500"/>
              <a:ext cx="202460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CONVERSATION AGENT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6646" y="666750"/>
              <a:ext cx="10066912" cy="87972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Replies are read as a whole thread, and an ask ladder</a:t>
              </a:r>
              <a:b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</a:br>
              <a: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decides when it is right to ask for more</a:t>
              </a:r>
            </a:p>
          </p:txBody>
        </p:sp>
      </p:grpSp>
      <p:grpSp>
        <p:nvGrpSpPr>
          <p:cNvPr id="8" name="page-stamp"/>
          <p:cNvGrpSpPr/>
          <p:nvPr/>
        </p:nvGrpSpPr>
        <p:grpSpPr>
          <a:xfrm>
            <a:off x="11163300" y="285750"/>
            <a:ext cx="495300" cy="609600"/>
            <a:chOff x="11163300" y="285750"/>
            <a:chExt cx="495300" cy="609600"/>
          </a:xfrm>
        </p:grpSpPr>
        <p:sp>
          <p:nvSpPr>
            <p:cNvPr id="5" name="Rectangle 5"/>
            <p:cNvSpPr/>
            <p:nvPr/>
          </p:nvSpPr>
          <p:spPr>
            <a:xfrm>
              <a:off x="11163300" y="285750"/>
              <a:ext cx="495300" cy="6096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8000"/>
                </a:srgbClr>
              </a:solidFill>
            </a:ln>
          </p:spPr>
          <p:txBody>
            <a:bodyPr/>
            <a:p/>
          </p:txBody>
        </p:sp>
        <p:sp>
          <p:nvSpPr>
            <p:cNvPr id="6" name="Rectangle 6"/>
            <p:cNvSpPr/>
            <p:nvPr/>
          </p:nvSpPr>
          <p:spPr>
            <a:xfrm>
              <a:off x="11220450" y="342900"/>
              <a:ext cx="381000" cy="495300"/>
            </a:xfrm>
            <a:prstGeom prst="rect">
              <a:avLst/>
            </a:prstGeom>
            <a:solidFill>
              <a:srgbClr val="B3301B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" name="TextBox 7"/>
            <p:cNvSpPr txBox="1"/>
            <p:nvPr/>
          </p:nvSpPr>
          <p:spPr>
            <a:xfrm>
              <a:off x="11226496" y="463550"/>
              <a:ext cx="3689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7</a:t>
              </a:r>
            </a:p>
          </p:txBody>
        </p:sp>
      </p:grpSp>
      <p:sp>
        <p:nvSpPr>
          <p:cNvPr id="9" name="Line 9"/>
          <p:cNvSpPr/>
          <p:nvPr/>
        </p:nvSpPr>
        <p:spPr>
          <a:xfrm>
            <a:off x="609600" y="15811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28575">
            <a:solidFill>
              <a:srgbClr val="97B9DD"/>
            </a:solidFill>
            <a:custDash>
              <a:ds d="66667" sp="233333"/>
            </a:custDash>
          </a:ln>
        </p:spPr>
        <p:txBody>
          <a:bodyPr/>
          <a:p/>
        </p:txBody>
      </p:sp>
      <p:grpSp>
        <p:nvGrpSpPr>
          <p:cNvPr id="11" name="flow-heading"/>
          <p:cNvGrpSpPr/>
          <p:nvPr/>
        </p:nvGrpSpPr>
        <p:grpSpPr>
          <a:xfrm>
            <a:off x="603123" y="1743075"/>
            <a:ext cx="1550172" cy="250317"/>
            <a:chOff x="603123" y="1743075"/>
            <a:chExt cx="1550172" cy="250317"/>
          </a:xfrm>
        </p:grpSpPr>
        <p:sp>
          <p:nvSpPr>
            <p:cNvPr id="10" name="TextBox 10"/>
            <p:cNvSpPr txBox="1"/>
            <p:nvPr/>
          </p:nvSpPr>
          <p:spPr>
            <a:xfrm>
              <a:off x="603123" y="1743075"/>
              <a:ext cx="1891209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28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From reply to draft</a:t>
              </a:r>
            </a:p>
          </p:txBody>
        </p:sp>
      </p:grpSp>
      <p:grpSp>
        <p:nvGrpSpPr>
          <p:cNvPr id="17" name="flow-1"/>
          <p:cNvGrpSpPr/>
          <p:nvPr/>
        </p:nvGrpSpPr>
        <p:grpSpPr>
          <a:xfrm>
            <a:off x="609600" y="2038350"/>
            <a:ext cx="4476750" cy="762000"/>
            <a:chOff x="609600" y="2038350"/>
            <a:chExt cx="4476750" cy="762000"/>
          </a:xfrm>
        </p:grpSpPr>
        <p:sp>
          <p:nvSpPr>
            <p:cNvPr id="12" name="Rectangle 12"/>
            <p:cNvSpPr/>
            <p:nvPr/>
          </p:nvSpPr>
          <p:spPr>
            <a:xfrm>
              <a:off x="609600" y="2038350"/>
              <a:ext cx="4476750" cy="62865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  <p:txBody>
            <a:bodyPr/>
            <a:p/>
          </p:txBody>
        </p:sp>
        <p:sp>
          <p:nvSpPr>
            <p:cNvPr id="13" name="Rectangle 13"/>
            <p:cNvSpPr/>
            <p:nvPr/>
          </p:nvSpPr>
          <p:spPr>
            <a:xfrm>
              <a:off x="609600" y="2038350"/>
              <a:ext cx="57150" cy="62865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4" name="TextBox 14"/>
            <p:cNvSpPr txBox="1"/>
            <p:nvPr/>
          </p:nvSpPr>
          <p:spPr>
            <a:xfrm>
              <a:off x="794004" y="2114550"/>
              <a:ext cx="16427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1 Reply copied in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94004" y="2343150"/>
              <a:ext cx="38481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Claude in Chrome adds it to inbound_replies.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2847975" y="2686050"/>
              <a:ext cx="1" cy="114300"/>
            </a:xfrm>
            <a:prstGeom prst="line">
              <a:avLst/>
            </a:prstGeom>
            <a:noFill/>
            <a:ln w="19050">
              <a:solidFill>
                <a:srgbClr val="0E1F3A"/>
              </a:solidFill>
              <a:tailEnd type="triangle" w="lg" len="lg"/>
            </a:ln>
          </p:spPr>
          <p:txBody>
            <a:bodyPr/>
            <a:p/>
          </p:txBody>
        </p:sp>
      </p:grpSp>
      <p:grpSp>
        <p:nvGrpSpPr>
          <p:cNvPr id="23" name="flow-2"/>
          <p:cNvGrpSpPr/>
          <p:nvPr/>
        </p:nvGrpSpPr>
        <p:grpSpPr>
          <a:xfrm>
            <a:off x="609600" y="2819400"/>
            <a:ext cx="4476750" cy="762000"/>
            <a:chOff x="609600" y="2819400"/>
            <a:chExt cx="4476750" cy="762000"/>
          </a:xfrm>
        </p:grpSpPr>
        <p:sp>
          <p:nvSpPr>
            <p:cNvPr id="18" name="Rectangle 18"/>
            <p:cNvSpPr/>
            <p:nvPr/>
          </p:nvSpPr>
          <p:spPr>
            <a:xfrm>
              <a:off x="609600" y="2819400"/>
              <a:ext cx="4476750" cy="62865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  <p:txBody>
            <a:bodyPr/>
            <a:p/>
          </p:txBody>
        </p:sp>
        <p:sp>
          <p:nvSpPr>
            <p:cNvPr id="19" name="Rectangle 19"/>
            <p:cNvSpPr/>
            <p:nvPr/>
          </p:nvSpPr>
          <p:spPr>
            <a:xfrm>
              <a:off x="609600" y="2819400"/>
              <a:ext cx="57150" cy="62865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0" name="TextBox 20"/>
            <p:cNvSpPr txBox="1"/>
            <p:nvPr/>
          </p:nvSpPr>
          <p:spPr>
            <a:xfrm>
              <a:off x="794004" y="2895600"/>
              <a:ext cx="22779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2 Matched to a prospect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94004" y="3124200"/>
              <a:ext cx="48900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By profile URL, else a unique name. Duplicates skipped.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2847975" y="3467100"/>
              <a:ext cx="1" cy="114300"/>
            </a:xfrm>
            <a:prstGeom prst="line">
              <a:avLst/>
            </a:prstGeom>
            <a:noFill/>
            <a:ln w="19050">
              <a:solidFill>
                <a:srgbClr val="0E1F3A"/>
              </a:solidFill>
              <a:tailEnd type="triangle" w="lg" len="lg"/>
            </a:ln>
          </p:spPr>
          <p:txBody>
            <a:bodyPr/>
            <a:p/>
          </p:txBody>
        </p:sp>
      </p:grpSp>
      <p:grpSp>
        <p:nvGrpSpPr>
          <p:cNvPr id="29" name="flow-3"/>
          <p:cNvGrpSpPr/>
          <p:nvPr/>
        </p:nvGrpSpPr>
        <p:grpSpPr>
          <a:xfrm>
            <a:off x="609600" y="3600450"/>
            <a:ext cx="4476750" cy="762000"/>
            <a:chOff x="609600" y="3600450"/>
            <a:chExt cx="4476750" cy="762000"/>
          </a:xfrm>
        </p:grpSpPr>
        <p:sp>
          <p:nvSpPr>
            <p:cNvPr id="24" name="Rectangle 24"/>
            <p:cNvSpPr/>
            <p:nvPr/>
          </p:nvSpPr>
          <p:spPr>
            <a:xfrm>
              <a:off x="609600" y="3600450"/>
              <a:ext cx="4476750" cy="62865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  <p:txBody>
            <a:bodyPr/>
            <a:p/>
          </p:txBody>
        </p:sp>
        <p:sp>
          <p:nvSpPr>
            <p:cNvPr id="25" name="Rectangle 25"/>
            <p:cNvSpPr/>
            <p:nvPr/>
          </p:nvSpPr>
          <p:spPr>
            <a:xfrm>
              <a:off x="609600" y="3600450"/>
              <a:ext cx="57150" cy="62865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6" name="TextBox 26"/>
            <p:cNvSpPr txBox="1"/>
            <p:nvPr/>
          </p:nvSpPr>
          <p:spPr>
            <a:xfrm>
              <a:off x="794004" y="3676650"/>
              <a:ext cx="17642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3 Read as a thread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94004" y="3905250"/>
              <a:ext cx="43925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Sentiment, rapport 1 to 5, redirect, and the right ask.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2847975" y="4248150"/>
              <a:ext cx="1" cy="114300"/>
            </a:xfrm>
            <a:prstGeom prst="line">
              <a:avLst/>
            </a:prstGeom>
            <a:noFill/>
            <a:ln w="19050">
              <a:solidFill>
                <a:srgbClr val="0E1F3A"/>
              </a:solidFill>
              <a:tailEnd type="triangle" w="lg" len="lg"/>
            </a:ln>
          </p:spPr>
          <p:txBody>
            <a:bodyPr/>
            <a:p/>
          </p:txBody>
        </p:sp>
      </p:grpSp>
      <p:grpSp>
        <p:nvGrpSpPr>
          <p:cNvPr id="35" name="flow-4"/>
          <p:cNvGrpSpPr/>
          <p:nvPr/>
        </p:nvGrpSpPr>
        <p:grpSpPr>
          <a:xfrm>
            <a:off x="609600" y="4381500"/>
            <a:ext cx="4476750" cy="762000"/>
            <a:chOff x="609600" y="4381500"/>
            <a:chExt cx="4476750" cy="762000"/>
          </a:xfrm>
        </p:grpSpPr>
        <p:sp>
          <p:nvSpPr>
            <p:cNvPr id="30" name="Rectangle 30"/>
            <p:cNvSpPr/>
            <p:nvPr/>
          </p:nvSpPr>
          <p:spPr>
            <a:xfrm>
              <a:off x="609600" y="4381500"/>
              <a:ext cx="4476750" cy="62865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  <p:txBody>
            <a:bodyPr/>
            <a:p/>
          </p:txBody>
        </p:sp>
        <p:sp>
          <p:nvSpPr>
            <p:cNvPr id="31" name="Rectangle 31"/>
            <p:cNvSpPr/>
            <p:nvPr/>
          </p:nvSpPr>
          <p:spPr>
            <a:xfrm>
              <a:off x="609600" y="4381500"/>
              <a:ext cx="57150" cy="62865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2" name="TextBox 32"/>
            <p:cNvSpPr txBox="1"/>
            <p:nvPr/>
          </p:nvSpPr>
          <p:spPr>
            <a:xfrm>
              <a:off x="794004" y="4457700"/>
              <a:ext cx="22345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4 Next message drafted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94004" y="4686300"/>
              <a:ext cx="48963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Under 400 characters, answers them first, one ask at most.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2847975" y="5029200"/>
              <a:ext cx="1" cy="114300"/>
            </a:xfrm>
            <a:prstGeom prst="line">
              <a:avLst/>
            </a:prstGeom>
            <a:noFill/>
            <a:ln w="19050">
              <a:solidFill>
                <a:srgbClr val="0E1F3A"/>
              </a:solidFill>
              <a:tailEnd type="triangle" w="lg" len="lg"/>
            </a:ln>
          </p:spPr>
          <p:txBody>
            <a:bodyPr/>
            <a:p/>
          </p:txBody>
        </p:sp>
      </p:grpSp>
      <p:grpSp>
        <p:nvGrpSpPr>
          <p:cNvPr id="39" name="flow-5"/>
          <p:cNvGrpSpPr/>
          <p:nvPr/>
        </p:nvGrpSpPr>
        <p:grpSpPr>
          <a:xfrm>
            <a:off x="609600" y="5162550"/>
            <a:ext cx="4476750" cy="628650"/>
            <a:chOff x="609600" y="5162550"/>
            <a:chExt cx="4476750" cy="628650"/>
          </a:xfrm>
        </p:grpSpPr>
        <p:sp>
          <p:nvSpPr>
            <p:cNvPr id="36" name="Rectangle 36"/>
            <p:cNvSpPr/>
            <p:nvPr/>
          </p:nvSpPr>
          <p:spPr>
            <a:xfrm>
              <a:off x="609600" y="5162550"/>
              <a:ext cx="4476750" cy="62865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7" name="TextBox 37"/>
            <p:cNvSpPr txBox="1"/>
            <p:nvPr/>
          </p:nvSpPr>
          <p:spPr>
            <a:xfrm>
              <a:off x="794004" y="5238750"/>
              <a:ext cx="16211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5 Auto-send gate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94004" y="5467350"/>
              <a:ext cx="38698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rgbClr val="C4D9EF"/>
                  </a:solidFill>
                  <a:latin typeface="+mn-lt"/>
                  <a:ea typeface="+mn-ea"/>
                  <a:cs typeface="+mn-cs"/>
                </a:rPr>
                <a:t>Passes the safety filter, or is held for a person.</a:t>
              </a:r>
            </a:p>
          </p:txBody>
        </p:sp>
      </p:grpSp>
      <p:grpSp>
        <p:nvGrpSpPr>
          <p:cNvPr id="41" name="ladder-heading"/>
          <p:cNvGrpSpPr/>
          <p:nvPr/>
        </p:nvGrpSpPr>
        <p:grpSpPr>
          <a:xfrm>
            <a:off x="5899023" y="1743075"/>
            <a:ext cx="4806674" cy="250317"/>
            <a:chOff x="5899023" y="1743075"/>
            <a:chExt cx="4806674" cy="250317"/>
          </a:xfrm>
        </p:grpSpPr>
        <p:sp>
          <p:nvSpPr>
            <p:cNvPr id="40" name="TextBox 40"/>
            <p:cNvSpPr txBox="1"/>
            <p:nvPr/>
          </p:nvSpPr>
          <p:spPr>
            <a:xfrm>
              <a:off x="5899023" y="1743075"/>
              <a:ext cx="586414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28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The ask ladder, ordered by how much it asks (our reading)</a:t>
              </a:r>
            </a:p>
          </p:txBody>
        </p:sp>
      </p:grpSp>
      <p:grpSp>
        <p:nvGrpSpPr>
          <p:cNvPr id="45" name="rung-none"/>
          <p:cNvGrpSpPr/>
          <p:nvPr/>
        </p:nvGrpSpPr>
        <p:grpSpPr>
          <a:xfrm>
            <a:off x="5905500" y="2038350"/>
            <a:ext cx="5676900" cy="552450"/>
            <a:chOff x="5905500" y="2038350"/>
            <a:chExt cx="5676900" cy="552450"/>
          </a:xfrm>
        </p:grpSpPr>
        <p:sp>
          <p:nvSpPr>
            <p:cNvPr id="42" name="Rectangle 42"/>
            <p:cNvSpPr/>
            <p:nvPr/>
          </p:nvSpPr>
          <p:spPr>
            <a:xfrm>
              <a:off x="5905500" y="2038350"/>
              <a:ext cx="5676900" cy="55245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  <p:txBody>
            <a:bodyPr/>
            <a:p/>
          </p:txBody>
        </p:sp>
        <p:sp>
          <p:nvSpPr>
            <p:cNvPr id="43" name="TextBox 43"/>
            <p:cNvSpPr txBox="1"/>
            <p:nvPr/>
          </p:nvSpPr>
          <p:spPr>
            <a:xfrm>
              <a:off x="6032754" y="2114550"/>
              <a:ext cx="6266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none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032754" y="2324100"/>
              <a:ext cx="38766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Rapport below 3. Another real exchange first.</a:t>
              </a:r>
            </a:p>
          </p:txBody>
        </p:sp>
      </p:grpSp>
      <p:grpSp>
        <p:nvGrpSpPr>
          <p:cNvPr id="49" name="rung-advice"/>
          <p:cNvGrpSpPr/>
          <p:nvPr/>
        </p:nvGrpSpPr>
        <p:grpSpPr>
          <a:xfrm>
            <a:off x="6248400" y="2667000"/>
            <a:ext cx="5334000" cy="552450"/>
            <a:chOff x="6248400" y="2667000"/>
            <a:chExt cx="5334000" cy="552450"/>
          </a:xfrm>
        </p:grpSpPr>
        <p:sp>
          <p:nvSpPr>
            <p:cNvPr id="46" name="Rectangle 46"/>
            <p:cNvSpPr/>
            <p:nvPr/>
          </p:nvSpPr>
          <p:spPr>
            <a:xfrm>
              <a:off x="6248400" y="2667000"/>
              <a:ext cx="5334000" cy="552450"/>
            </a:xfrm>
            <a:prstGeom prst="rect">
              <a:avLst/>
            </a:prstGeom>
            <a:solidFill>
              <a:srgbClr val="A9C7E6"/>
            </a:solidFill>
            <a:ln>
              <a:noFill/>
            </a:ln>
          </p:spPr>
          <p:txBody>
            <a:bodyPr/>
            <a:p/>
          </p:txBody>
        </p:sp>
        <p:sp>
          <p:nvSpPr>
            <p:cNvPr id="47" name="TextBox 47"/>
            <p:cNvSpPr txBox="1"/>
            <p:nvPr/>
          </p:nvSpPr>
          <p:spPr>
            <a:xfrm>
              <a:off x="6375654" y="2743200"/>
              <a:ext cx="7437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advice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375654" y="2952750"/>
              <a:ext cx="30335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Ask how best to approach applying.</a:t>
              </a:r>
            </a:p>
          </p:txBody>
        </p:sp>
      </p:grpSp>
      <p:grpSp>
        <p:nvGrpSpPr>
          <p:cNvPr id="53" name="rung-opening"/>
          <p:cNvGrpSpPr/>
          <p:nvPr/>
        </p:nvGrpSpPr>
        <p:grpSpPr>
          <a:xfrm>
            <a:off x="6591300" y="3295650"/>
            <a:ext cx="4991100" cy="552450"/>
            <a:chOff x="6591300" y="3295650"/>
            <a:chExt cx="4991100" cy="552450"/>
          </a:xfrm>
        </p:grpSpPr>
        <p:sp>
          <p:nvSpPr>
            <p:cNvPr id="50" name="Rectangle 50"/>
            <p:cNvSpPr/>
            <p:nvPr/>
          </p:nvSpPr>
          <p:spPr>
            <a:xfrm>
              <a:off x="6591300" y="3295650"/>
              <a:ext cx="4991100" cy="552450"/>
            </a:xfrm>
            <a:prstGeom prst="rect">
              <a:avLst/>
            </a:prstGeom>
            <a:solidFill>
              <a:srgbClr val="97B9DD"/>
            </a:solidFill>
            <a:ln>
              <a:noFill/>
            </a:ln>
          </p:spPr>
          <p:txBody>
            <a:bodyPr/>
            <a:p/>
          </p:txBody>
        </p:sp>
        <p:sp>
          <p:nvSpPr>
            <p:cNvPr id="51" name="TextBox 51"/>
            <p:cNvSpPr txBox="1"/>
            <p:nvPr/>
          </p:nvSpPr>
          <p:spPr>
            <a:xfrm>
              <a:off x="6718554" y="3371850"/>
              <a:ext cx="8688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opening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718554" y="3581400"/>
              <a:ext cx="35229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Ask if a relevant role exists on their team.</a:t>
              </a:r>
            </a:p>
          </p:txBody>
        </p:sp>
      </p:grpSp>
      <p:grpSp>
        <p:nvGrpSpPr>
          <p:cNvPr id="57" name="rung-hiring"/>
          <p:cNvGrpSpPr/>
          <p:nvPr/>
        </p:nvGrpSpPr>
        <p:grpSpPr>
          <a:xfrm>
            <a:off x="6934200" y="3924300"/>
            <a:ext cx="4648200" cy="552450"/>
            <a:chOff x="6934200" y="3924300"/>
            <a:chExt cx="4648200" cy="552450"/>
          </a:xfrm>
        </p:grpSpPr>
        <p:sp>
          <p:nvSpPr>
            <p:cNvPr id="54" name="Rectangle 54"/>
            <p:cNvSpPr/>
            <p:nvPr/>
          </p:nvSpPr>
          <p:spPr>
            <a:xfrm>
              <a:off x="6934200" y="3924300"/>
              <a:ext cx="4648200" cy="552450"/>
            </a:xfrm>
            <a:prstGeom prst="rect">
              <a:avLst/>
            </a:prstGeom>
            <a:solidFill>
              <a:srgbClr val="4A5F80"/>
            </a:solidFill>
            <a:ln>
              <a:noFill/>
            </a:ln>
          </p:spPr>
          <p:txBody>
            <a:bodyPr/>
            <a:p/>
          </p:txBody>
        </p:sp>
        <p:sp>
          <p:nvSpPr>
            <p:cNvPr id="55" name="TextBox 55"/>
            <p:cNvSpPr txBox="1"/>
            <p:nvPr/>
          </p:nvSpPr>
          <p:spPr>
            <a:xfrm>
              <a:off x="7061454" y="4000500"/>
              <a:ext cx="14933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hiring_manager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061454" y="4210050"/>
              <a:ext cx="28546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rgbClr val="FAFCFE"/>
                  </a:solidFill>
                  <a:latin typeface="+mn-lt"/>
                  <a:ea typeface="+mn-ea"/>
                  <a:cs typeface="+mn-cs"/>
                </a:rPr>
                <a:t>Ask who owns hiring for the role.</a:t>
              </a:r>
            </a:p>
          </p:txBody>
        </p:sp>
      </p:grpSp>
      <p:grpSp>
        <p:nvGrpSpPr>
          <p:cNvPr id="61" name="rung-intro"/>
          <p:cNvGrpSpPr/>
          <p:nvPr/>
        </p:nvGrpSpPr>
        <p:grpSpPr>
          <a:xfrm>
            <a:off x="7277100" y="4552950"/>
            <a:ext cx="4305300" cy="552450"/>
            <a:chOff x="7277100" y="4552950"/>
            <a:chExt cx="4305300" cy="552450"/>
          </a:xfrm>
        </p:grpSpPr>
        <p:sp>
          <p:nvSpPr>
            <p:cNvPr id="58" name="Rectangle 58"/>
            <p:cNvSpPr/>
            <p:nvPr/>
          </p:nvSpPr>
          <p:spPr>
            <a:xfrm>
              <a:off x="7277100" y="4552950"/>
              <a:ext cx="4305300" cy="552450"/>
            </a:xfrm>
            <a:prstGeom prst="rect">
              <a:avLst/>
            </a:prstGeom>
            <a:solidFill>
              <a:srgbClr val="2B4266"/>
            </a:solidFill>
            <a:ln>
              <a:noFill/>
            </a:ln>
          </p:spPr>
          <p:txBody>
            <a:bodyPr/>
            <a:p/>
          </p:txBody>
        </p:sp>
        <p:sp>
          <p:nvSpPr>
            <p:cNvPr id="59" name="TextBox 59"/>
            <p:cNvSpPr txBox="1"/>
            <p:nvPr/>
          </p:nvSpPr>
          <p:spPr>
            <a:xfrm>
              <a:off x="7404354" y="4629150"/>
              <a:ext cx="5996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intro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404354" y="4838700"/>
              <a:ext cx="40625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rgbClr val="FAFCFE"/>
                  </a:solidFill>
                  <a:latin typeface="+mn-lt"/>
                  <a:ea typeface="+mn-ea"/>
                  <a:cs typeface="+mn-cs"/>
                </a:rPr>
                <a:t>Ask for an introduction to someone they named.</a:t>
              </a:r>
            </a:p>
          </p:txBody>
        </p:sp>
      </p:grpSp>
      <p:grpSp>
        <p:nvGrpSpPr>
          <p:cNvPr id="65" name="rung-referral"/>
          <p:cNvGrpSpPr/>
          <p:nvPr/>
        </p:nvGrpSpPr>
        <p:grpSpPr>
          <a:xfrm>
            <a:off x="7620000" y="5181600"/>
            <a:ext cx="3962400" cy="552450"/>
            <a:chOff x="7620000" y="5181600"/>
            <a:chExt cx="3962400" cy="552450"/>
          </a:xfrm>
        </p:grpSpPr>
        <p:sp>
          <p:nvSpPr>
            <p:cNvPr id="62" name="Rectangle 62"/>
            <p:cNvSpPr/>
            <p:nvPr/>
          </p:nvSpPr>
          <p:spPr>
            <a:xfrm>
              <a:off x="7620000" y="5181600"/>
              <a:ext cx="3962400" cy="55245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63" name="TextBox 63"/>
            <p:cNvSpPr txBox="1"/>
            <p:nvPr/>
          </p:nvSpPr>
          <p:spPr>
            <a:xfrm>
              <a:off x="7747254" y="5257800"/>
              <a:ext cx="7976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referral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747254" y="5467350"/>
              <a:ext cx="32779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rgbClr val="FAFCFE"/>
                  </a:solidFill>
                  <a:latin typeface="+mn-lt"/>
                  <a:ea typeface="+mn-ea"/>
                  <a:cs typeface="+mn-cs"/>
                </a:rPr>
                <a:t>Only at rapport 4+ with a specific role.</a:t>
              </a:r>
            </a:p>
          </p:txBody>
        </p:sp>
      </p:grpSp>
      <p:grpSp>
        <p:nvGrpSpPr>
          <p:cNvPr id="68" name="followups"/>
          <p:cNvGrpSpPr/>
          <p:nvPr/>
        </p:nvGrpSpPr>
        <p:grpSpPr>
          <a:xfrm>
            <a:off x="609600" y="5886450"/>
            <a:ext cx="10839450" cy="552450"/>
            <a:chOff x="609600" y="5886450"/>
            <a:chExt cx="10839450" cy="552450"/>
          </a:xfrm>
        </p:grpSpPr>
        <p:sp>
          <p:nvSpPr>
            <p:cNvPr id="66" name="Rectangle 66"/>
            <p:cNvSpPr/>
            <p:nvPr/>
          </p:nvSpPr>
          <p:spPr>
            <a:xfrm>
              <a:off x="609600" y="5886450"/>
              <a:ext cx="10839450" cy="55245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  <p:txBody>
            <a:bodyPr/>
            <a:p/>
          </p:txBody>
        </p:sp>
        <p:sp>
          <p:nvSpPr>
            <p:cNvPr id="67" name="TextBox 67"/>
            <p:cNvSpPr txBox="1"/>
            <p:nvPr/>
          </p:nvSpPr>
          <p:spPr>
            <a:xfrm>
              <a:off x="793623" y="5949950"/>
              <a:ext cx="7995853" cy="45986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" sz="128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Follow-ups: after six silent days, one short note built on a second verified fact, under 220 characters.</a:t>
              </a:r>
              <a:br>
                <a:rPr lang="en" sz="128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If both messages go unanswered, the thread closes as no_response. Reply text is untrusted data.</a:t>
              </a:r>
            </a:p>
          </p:txBody>
        </p:sp>
      </p:grpSp>
      <p:grpSp>
        <p:nvGrpSpPr>
          <p:cNvPr id="70" name="source"/>
          <p:cNvGrpSpPr/>
          <p:nvPr/>
        </p:nvGrpSpPr>
        <p:grpSpPr>
          <a:xfrm>
            <a:off x="604647" y="6559550"/>
            <a:ext cx="5942767" cy="191643"/>
            <a:chOff x="604647" y="6559550"/>
            <a:chExt cx="5942767" cy="191643"/>
          </a:xfrm>
        </p:grpSpPr>
        <p:sp>
          <p:nvSpPr>
            <p:cNvPr id="69" name="TextBox 69"/>
            <p:cNvSpPr txBox="1"/>
            <p:nvPr/>
          </p:nvSpPr>
          <p:spPr>
            <a:xfrm>
              <a:off x="604647" y="6559550"/>
              <a:ext cx="725017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Source: engine/outreach/bridge.py, messages.py, cli.py (followups), prompts.py (ANALYZE_REPLY)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596646" y="444500"/>
            <a:ext cx="7513450" cy="1101979"/>
            <a:chOff x="596646" y="444500"/>
            <a:chExt cx="7513450" cy="1101979"/>
          </a:xfrm>
        </p:grpSpPr>
        <p:sp>
          <p:nvSpPr>
            <p:cNvPr id="2" name="TextBox 2"/>
            <p:cNvSpPr txBox="1"/>
            <p:nvPr/>
          </p:nvSpPr>
          <p:spPr>
            <a:xfrm>
              <a:off x="604647" y="444500"/>
              <a:ext cx="192052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SELF-LEARNING LOOP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6646" y="666750"/>
              <a:ext cx="9166409" cy="87972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Every edit and every outcome feeds back, so the</a:t>
              </a:r>
              <a:b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</a:br>
              <a: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writers, the judge and the reply agent improve</a:t>
              </a:r>
            </a:p>
          </p:txBody>
        </p:sp>
      </p:grpSp>
      <p:grpSp>
        <p:nvGrpSpPr>
          <p:cNvPr id="8" name="page-stamp"/>
          <p:cNvGrpSpPr/>
          <p:nvPr/>
        </p:nvGrpSpPr>
        <p:grpSpPr>
          <a:xfrm>
            <a:off x="11163300" y="285750"/>
            <a:ext cx="495300" cy="609600"/>
            <a:chOff x="11163300" y="285750"/>
            <a:chExt cx="495300" cy="609600"/>
          </a:xfrm>
        </p:grpSpPr>
        <p:sp>
          <p:nvSpPr>
            <p:cNvPr id="5" name="Rectangle 5"/>
            <p:cNvSpPr/>
            <p:nvPr/>
          </p:nvSpPr>
          <p:spPr>
            <a:xfrm>
              <a:off x="11163300" y="285750"/>
              <a:ext cx="495300" cy="6096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8000"/>
                </a:srgbClr>
              </a:solidFill>
            </a:ln>
          </p:spPr>
          <p:txBody>
            <a:bodyPr/>
            <a:p/>
          </p:txBody>
        </p:sp>
        <p:sp>
          <p:nvSpPr>
            <p:cNvPr id="6" name="Rectangle 6"/>
            <p:cNvSpPr/>
            <p:nvPr/>
          </p:nvSpPr>
          <p:spPr>
            <a:xfrm>
              <a:off x="11220450" y="342900"/>
              <a:ext cx="381000" cy="495300"/>
            </a:xfrm>
            <a:prstGeom prst="rect">
              <a:avLst/>
            </a:prstGeom>
            <a:solidFill>
              <a:srgbClr val="B3301B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" name="TextBox 7"/>
            <p:cNvSpPr txBox="1"/>
            <p:nvPr/>
          </p:nvSpPr>
          <p:spPr>
            <a:xfrm>
              <a:off x="11226496" y="463550"/>
              <a:ext cx="3689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8</a:t>
              </a:r>
            </a:p>
          </p:txBody>
        </p:sp>
      </p:grpSp>
      <p:sp>
        <p:nvSpPr>
          <p:cNvPr id="9" name="Line 9"/>
          <p:cNvSpPr/>
          <p:nvPr/>
        </p:nvSpPr>
        <p:spPr>
          <a:xfrm>
            <a:off x="609600" y="15811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28575">
            <a:solidFill>
              <a:srgbClr val="97B9DD"/>
            </a:solidFill>
            <a:custDash>
              <a:ds d="66667" sp="233333"/>
            </a:custDash>
          </a:ln>
        </p:spPr>
        <p:txBody>
          <a:bodyPr/>
          <a:p/>
        </p:txBody>
      </p:sp>
      <p:grpSp>
        <p:nvGrpSpPr>
          <p:cNvPr id="15" name="signal-1"/>
          <p:cNvGrpSpPr/>
          <p:nvPr/>
        </p:nvGrpSpPr>
        <p:grpSpPr>
          <a:xfrm>
            <a:off x="609600" y="1771650"/>
            <a:ext cx="4324350" cy="1066800"/>
            <a:chOff x="609600" y="1771650"/>
            <a:chExt cx="4324350" cy="1066800"/>
          </a:xfrm>
        </p:grpSpPr>
        <p:sp>
          <p:nvSpPr>
            <p:cNvPr id="10" name="Rectangle 10"/>
            <p:cNvSpPr/>
            <p:nvPr/>
          </p:nvSpPr>
          <p:spPr>
            <a:xfrm>
              <a:off x="609600" y="1771650"/>
              <a:ext cx="3867150" cy="10668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  <p:txBody>
            <a:bodyPr/>
            <a:p/>
          </p:txBody>
        </p:sp>
        <p:sp>
          <p:nvSpPr>
            <p:cNvPr id="11" name="Rectangle 11"/>
            <p:cNvSpPr/>
            <p:nvPr/>
          </p:nvSpPr>
          <p:spPr>
            <a:xfrm>
              <a:off x="609600" y="1771650"/>
              <a:ext cx="57150" cy="10668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2" name="TextBox 12"/>
            <p:cNvSpPr txBox="1"/>
            <p:nvPr/>
          </p:nvSpPr>
          <p:spPr>
            <a:xfrm>
              <a:off x="793623" y="1924050"/>
              <a:ext cx="1529787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28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Reply outcome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93623" y="2171700"/>
              <a:ext cx="320522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An opener gets a reply, or does not.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4495800" y="2305050"/>
              <a:ext cx="438150" cy="1"/>
            </a:xfrm>
            <a:prstGeom prst="line">
              <a:avLst/>
            </a:prstGeom>
            <a:noFill/>
            <a:ln w="19050">
              <a:solidFill>
                <a:srgbClr val="0E1F3A"/>
              </a:solidFill>
              <a:tailEnd type="triangle" w="lg" len="lg"/>
            </a:ln>
          </p:spPr>
          <p:txBody>
            <a:bodyPr/>
            <a:p/>
          </p:txBody>
        </p:sp>
      </p:grpSp>
      <p:grpSp>
        <p:nvGrpSpPr>
          <p:cNvPr id="21" name="signal-2"/>
          <p:cNvGrpSpPr/>
          <p:nvPr/>
        </p:nvGrpSpPr>
        <p:grpSpPr>
          <a:xfrm>
            <a:off x="609600" y="2914650"/>
            <a:ext cx="4324350" cy="1066800"/>
            <a:chOff x="609600" y="2914650"/>
            <a:chExt cx="4324350" cy="1066800"/>
          </a:xfrm>
        </p:grpSpPr>
        <p:sp>
          <p:nvSpPr>
            <p:cNvPr id="16" name="Rectangle 16"/>
            <p:cNvSpPr/>
            <p:nvPr/>
          </p:nvSpPr>
          <p:spPr>
            <a:xfrm>
              <a:off x="609600" y="2914650"/>
              <a:ext cx="3867150" cy="10668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  <p:txBody>
            <a:bodyPr/>
            <a:p/>
          </p:txBody>
        </p:sp>
        <p:sp>
          <p:nvSpPr>
            <p:cNvPr id="17" name="Rectangle 17"/>
            <p:cNvSpPr/>
            <p:nvPr/>
          </p:nvSpPr>
          <p:spPr>
            <a:xfrm>
              <a:off x="609600" y="2914650"/>
              <a:ext cx="57150" cy="10668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8" name="TextBox 18"/>
            <p:cNvSpPr txBox="1"/>
            <p:nvPr/>
          </p:nvSpPr>
          <p:spPr>
            <a:xfrm>
              <a:off x="793623" y="3067050"/>
              <a:ext cx="1341975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28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Operator edit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93623" y="3314700"/>
              <a:ext cx="4096225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The operator edits a draft before approving it.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4495800" y="3448050"/>
              <a:ext cx="438150" cy="1"/>
            </a:xfrm>
            <a:prstGeom prst="line">
              <a:avLst/>
            </a:prstGeom>
            <a:noFill/>
            <a:ln w="19050">
              <a:solidFill>
                <a:srgbClr val="0E1F3A"/>
              </a:solidFill>
              <a:tailEnd type="triangle" w="lg" len="lg"/>
            </a:ln>
          </p:spPr>
          <p:txBody>
            <a:bodyPr/>
            <a:p/>
          </p:txBody>
        </p:sp>
      </p:grpSp>
      <p:grpSp>
        <p:nvGrpSpPr>
          <p:cNvPr id="27" name="signal-3"/>
          <p:cNvGrpSpPr/>
          <p:nvPr/>
        </p:nvGrpSpPr>
        <p:grpSpPr>
          <a:xfrm>
            <a:off x="609600" y="4057650"/>
            <a:ext cx="4324350" cy="1066800"/>
            <a:chOff x="609600" y="4057650"/>
            <a:chExt cx="4324350" cy="1066800"/>
          </a:xfrm>
        </p:grpSpPr>
        <p:sp>
          <p:nvSpPr>
            <p:cNvPr id="22" name="Rectangle 22"/>
            <p:cNvSpPr/>
            <p:nvPr/>
          </p:nvSpPr>
          <p:spPr>
            <a:xfrm>
              <a:off x="609600" y="4057650"/>
              <a:ext cx="3867150" cy="10668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  <p:txBody>
            <a:bodyPr/>
            <a:p/>
          </p:txBody>
        </p:sp>
        <p:sp>
          <p:nvSpPr>
            <p:cNvPr id="23" name="Rectangle 23"/>
            <p:cNvSpPr/>
            <p:nvPr/>
          </p:nvSpPr>
          <p:spPr>
            <a:xfrm>
              <a:off x="609600" y="4057650"/>
              <a:ext cx="57150" cy="10668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4" name="TextBox 24"/>
            <p:cNvSpPr txBox="1"/>
            <p:nvPr/>
          </p:nvSpPr>
          <p:spPr>
            <a:xfrm>
              <a:off x="793623" y="4210050"/>
              <a:ext cx="1529451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28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Judge override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93623" y="4445000"/>
              <a:ext cx="3319551" cy="45986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The operator picks an alternative over the</a:t>
              </a:r>
              <a:b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judge's pick.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495800" y="4591050"/>
              <a:ext cx="438150" cy="1"/>
            </a:xfrm>
            <a:prstGeom prst="line">
              <a:avLst/>
            </a:prstGeom>
            <a:noFill/>
            <a:ln w="19050">
              <a:solidFill>
                <a:srgbClr val="0E1F3A"/>
              </a:solidFill>
              <a:tailEnd type="triangle" w="lg" len="lg"/>
            </a:ln>
          </p:spPr>
          <p:txBody>
            <a:bodyPr/>
            <a:p/>
          </p:txBody>
        </p:sp>
      </p:grpSp>
      <p:grpSp>
        <p:nvGrpSpPr>
          <p:cNvPr id="33" name="signal-4"/>
          <p:cNvGrpSpPr/>
          <p:nvPr/>
        </p:nvGrpSpPr>
        <p:grpSpPr>
          <a:xfrm>
            <a:off x="609600" y="5200650"/>
            <a:ext cx="4324350" cy="1066800"/>
            <a:chOff x="609600" y="5200650"/>
            <a:chExt cx="4324350" cy="1066800"/>
          </a:xfrm>
        </p:grpSpPr>
        <p:sp>
          <p:nvSpPr>
            <p:cNvPr id="28" name="Rectangle 28"/>
            <p:cNvSpPr/>
            <p:nvPr/>
          </p:nvSpPr>
          <p:spPr>
            <a:xfrm>
              <a:off x="609600" y="5200650"/>
              <a:ext cx="3867150" cy="10668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  <p:txBody>
            <a:bodyPr/>
            <a:p/>
          </p:txBody>
        </p:sp>
        <p:sp>
          <p:nvSpPr>
            <p:cNvPr id="29" name="Rectangle 29"/>
            <p:cNvSpPr/>
            <p:nvPr/>
          </p:nvSpPr>
          <p:spPr>
            <a:xfrm>
              <a:off x="609600" y="5200650"/>
              <a:ext cx="57150" cy="10668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0" name="TextBox 30"/>
            <p:cNvSpPr txBox="1"/>
            <p:nvPr/>
          </p:nvSpPr>
          <p:spPr>
            <a:xfrm>
              <a:off x="793623" y="5353050"/>
              <a:ext cx="2300351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28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Conversation outcome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93623" y="5588000"/>
              <a:ext cx="3087949" cy="45986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A conversation reaches a referral or an</a:t>
              </a:r>
              <a:b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interview, or stalls.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4495800" y="5734050"/>
              <a:ext cx="438150" cy="1"/>
            </a:xfrm>
            <a:prstGeom prst="line">
              <a:avLst/>
            </a:prstGeom>
            <a:noFill/>
            <a:ln w="19050">
              <a:solidFill>
                <a:srgbClr val="0E1F3A"/>
              </a:solidFill>
              <a:tailEnd type="triangle" w="lg" len="lg"/>
            </a:ln>
          </p:spPr>
          <p:txBody>
            <a:bodyPr/>
            <a:p/>
          </p:txBody>
        </p:sp>
      </p:grpSp>
      <p:grpSp>
        <p:nvGrpSpPr>
          <p:cNvPr id="45" name="learn-step"/>
          <p:cNvGrpSpPr/>
          <p:nvPr/>
        </p:nvGrpSpPr>
        <p:grpSpPr>
          <a:xfrm>
            <a:off x="4953000" y="1771650"/>
            <a:ext cx="2743200" cy="4495800"/>
            <a:chOff x="4953000" y="1771650"/>
            <a:chExt cx="2743200" cy="4495800"/>
          </a:xfrm>
        </p:grpSpPr>
        <p:sp>
          <p:nvSpPr>
            <p:cNvPr id="34" name="Rectangle 34"/>
            <p:cNvSpPr/>
            <p:nvPr/>
          </p:nvSpPr>
          <p:spPr>
            <a:xfrm>
              <a:off x="4953000" y="1771650"/>
              <a:ext cx="2286000" cy="44958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5" name="TextBox 35"/>
            <p:cNvSpPr txBox="1"/>
            <p:nvPr/>
          </p:nvSpPr>
          <p:spPr>
            <a:xfrm>
              <a:off x="5096256" y="1905000"/>
              <a:ext cx="98745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80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learn()</a:t>
              </a:r>
            </a:p>
          </p:txBody>
        </p:sp>
        <p:grpSp>
          <p:nvGrpSpPr>
            <p:cNvPr id="40" name="Group 40"/>
            <p:cNvGrpSpPr/>
            <p:nvPr/>
          </p:nvGrpSpPr>
          <p:grpSpPr>
            <a:xfrm>
              <a:off x="5099304" y="2305050"/>
              <a:ext cx="1679539" cy="3597021"/>
              <a:chOff x="5099304" y="2305050"/>
              <a:chExt cx="1679539" cy="3597021"/>
            </a:xfrm>
          </p:grpSpPr>
          <p:sp>
            <p:nvSpPr>
              <p:cNvPr id="36" name="TextBox 36"/>
              <p:cNvSpPr txBox="1"/>
              <p:nvPr/>
            </p:nvSpPr>
            <p:spPr>
              <a:xfrm>
                <a:off x="5099304" y="2305050"/>
                <a:ext cx="1946108" cy="8347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>
                  <a:lnSpc>
                    <a:spcPts val="1575"/>
                  </a:lnSpc>
                </a:pPr>
                <a:r>
                  <a:rPr lang="en" sz="1200" dirty="0">
                    <a:solidFill>
                      <a:srgbClr val="FAFCFE"/>
                    </a:solidFill>
                    <a:latin typeface="+mn-lt"/>
                    <a:ea typeface="+mn-ea"/>
                    <a:cs typeface="+mn-cs"/>
                  </a:rPr>
                  <a:t>Runs inside sync once ten</a:t>
                </a:r>
                <a:br>
                  <a:rPr lang="en" sz="1200" dirty="0">
                    <a:solidFill>
                      <a:srgbClr val="FAFCFE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" sz="1200" dirty="0">
                    <a:solidFill>
                      <a:srgbClr val="FAFCFE"/>
                    </a:solidFill>
                    <a:latin typeface="+mn-lt"/>
                    <a:ea typeface="+mn-ea"/>
                    <a:cs typeface="+mn-cs"/>
                  </a:rPr>
                  <a:t>new signals have arrived.</a:t>
                </a:r>
                <a:br>
                  <a:rPr lang="en" sz="1200" dirty="0">
                    <a:solidFill>
                      <a:srgbClr val="FAFCFE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" sz="1200" dirty="0">
                    <a:solidFill>
                      <a:srgbClr val="FAFCFE"/>
                    </a:solidFill>
                    <a:latin typeface="+mn-lt"/>
                    <a:ea typeface="+mn-ea"/>
                    <a:cs typeface="+mn-cs"/>
                  </a:rPr>
                  <a:t>The first playbook needs</a:t>
                </a:r>
                <a:br>
                  <a:rPr lang="en" sz="1200" dirty="0">
                    <a:solidFill>
                      <a:srgbClr val="FAFCFE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" sz="1200" dirty="0">
                    <a:solidFill>
                      <a:srgbClr val="FAFCFE"/>
                    </a:solidFill>
                    <a:latin typeface="+mn-lt"/>
                    <a:ea typeface="+mn-ea"/>
                    <a:cs typeface="+mn-cs"/>
                  </a:rPr>
                  <a:t>five.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5099304" y="3276600"/>
                <a:ext cx="2028027" cy="8347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>
                  <a:lnSpc>
                    <a:spcPts val="1575"/>
                  </a:lnSpc>
                </a:pPr>
                <a:r>
                  <a:rPr lang="en" sz="1200" dirty="0">
                    <a:solidFill>
                      <a:srgbClr val="FAFCFE"/>
                    </a:solidFill>
                    <a:latin typeface="+mn-lt"/>
                    <a:ea typeface="+mn-ea"/>
                    <a:cs typeface="+mn-cs"/>
                  </a:rPr>
                  <a:t>Stored once, across all</a:t>
                </a:r>
                <a:br>
                  <a:rPr lang="en" sz="1200" dirty="0">
                    <a:solidFill>
                      <a:srgbClr val="FAFCFE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" sz="1200" dirty="0">
                    <a:solidFill>
                      <a:srgbClr val="FAFCFE"/>
                    </a:solidFill>
                    <a:latin typeface="+mn-lt"/>
                    <a:ea typeface="+mn-ea"/>
                    <a:cs typeface="+mn-cs"/>
                  </a:rPr>
                  <a:t>candidates, in the feedback</a:t>
                </a:r>
                <a:br>
                  <a:rPr lang="en" sz="1200" dirty="0">
                    <a:solidFill>
                      <a:srgbClr val="FAFCFE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" sz="1200" dirty="0">
                    <a:solidFill>
                      <a:srgbClr val="FAFCFE"/>
                    </a:solidFill>
                    <a:latin typeface="+mn-lt"/>
                    <a:ea typeface="+mn-ea"/>
                    <a:cs typeface="+mn-cs"/>
                  </a:rPr>
                  <a:t>document, because what</a:t>
                </a:r>
                <a:br>
                  <a:rPr lang="en" sz="1200" dirty="0">
                    <a:solidFill>
                      <a:srgbClr val="FAFCFE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" sz="1200" dirty="0">
                    <a:solidFill>
                      <a:srgbClr val="FAFCFE"/>
                    </a:solidFill>
                    <a:latin typeface="+mn-lt"/>
                    <a:ea typeface="+mn-ea"/>
                    <a:cs typeface="+mn-cs"/>
                  </a:rPr>
                  <a:t>works carries over.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5099304" y="4305300"/>
                <a:ext cx="2002146" cy="8347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>
                  <a:lnSpc>
                    <a:spcPts val="1575"/>
                  </a:lnSpc>
                </a:pPr>
                <a:r>
                  <a:rPr lang="en" sz="1200" dirty="0">
                    <a:solidFill>
                      <a:srgbClr val="FAFCFE"/>
                    </a:solidFill>
                    <a:latin typeface="+mn-lt"/>
                    <a:ea typeface="+mn-ea"/>
                    <a:cs typeface="+mn-cs"/>
                  </a:rPr>
                  <a:t>At most five writers stay</a:t>
                </a:r>
                <a:br>
                  <a:rPr lang="en" sz="1200" dirty="0">
                    <a:solidFill>
                      <a:srgbClr val="FAFCFE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" sz="1200" dirty="0">
                    <a:solidFill>
                      <a:srgbClr val="FAFCFE"/>
                    </a:solidFill>
                    <a:latin typeface="+mn-lt"/>
                    <a:ea typeface="+mn-ea"/>
                    <a:cs typeface="+mn-cs"/>
                  </a:rPr>
                  <a:t>active. A writer under half</a:t>
                </a:r>
                <a:br>
                  <a:rPr lang="en" sz="1200" dirty="0">
                    <a:solidFill>
                      <a:srgbClr val="FAFCFE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" sz="1200" dirty="0">
                    <a:solidFill>
                      <a:srgbClr val="FAFCFE"/>
                    </a:solidFill>
                    <a:latin typeface="+mn-lt"/>
                    <a:ea typeface="+mn-ea"/>
                    <a:cs typeface="+mn-cs"/>
                  </a:rPr>
                  <a:t>the best reply rate after ten</a:t>
                </a:r>
                <a:br>
                  <a:rPr lang="en" sz="1200" dirty="0">
                    <a:solidFill>
                      <a:srgbClr val="FAFCFE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" sz="1200" dirty="0">
                    <a:solidFill>
                      <a:srgbClr val="FAFCFE"/>
                    </a:solidFill>
                    <a:latin typeface="+mn-lt"/>
                    <a:ea typeface="+mn-ea"/>
                    <a:cs typeface="+mn-cs"/>
                  </a:rPr>
                  <a:t>sends retires.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5099304" y="5467350"/>
                <a:ext cx="2049037" cy="4347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>
                  <a:lnSpc>
                    <a:spcPts val="1575"/>
                  </a:lnSpc>
                </a:pPr>
                <a:r>
                  <a:rPr lang="en" sz="1200" i="1" dirty="0">
                    <a:solidFill>
                      <a:srgbClr val="C4D9EF"/>
                    </a:solidFill>
                    <a:latin typeface="+mn-lt"/>
                    <a:ea typeface="+mn-ea"/>
                    <a:cs typeface="+mn-cs"/>
                  </a:rPr>
                  <a:t>The next generate and sync</a:t>
                </a:r>
                <a:br>
                  <a:rPr lang="en" sz="1200" i="1" dirty="0">
                    <a:solidFill>
                      <a:srgbClr val="C4D9EF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" sz="1200" i="1" dirty="0">
                    <a:solidFill>
                      <a:srgbClr val="C4D9EF"/>
                    </a:solidFill>
                    <a:latin typeface="+mn-lt"/>
                    <a:ea typeface="+mn-ea"/>
                    <a:cs typeface="+mn-cs"/>
                  </a:rPr>
                  <a:t>read the updated rules.</a:t>
                </a:r>
              </a:p>
            </p:txBody>
          </p:sp>
        </p:grpSp>
        <p:sp>
          <p:nvSpPr>
            <p:cNvPr id="41" name="Line 41"/>
            <p:cNvSpPr/>
            <p:nvPr/>
          </p:nvSpPr>
          <p:spPr>
            <a:xfrm>
              <a:off x="7258050" y="2305050"/>
              <a:ext cx="438150" cy="1"/>
            </a:xfrm>
            <a:prstGeom prst="line">
              <a:avLst/>
            </a:prstGeom>
            <a:noFill/>
            <a:ln w="19050">
              <a:solidFill>
                <a:srgbClr val="0E1F3A"/>
              </a:solidFill>
              <a:tailEnd type="triangle" w="lg" len="lg"/>
            </a:ln>
          </p:spPr>
          <p:txBody>
            <a:bodyPr/>
            <a:p/>
          </p:txBody>
        </p:sp>
        <p:sp>
          <p:nvSpPr>
            <p:cNvPr id="42" name="Line 42"/>
            <p:cNvSpPr/>
            <p:nvPr/>
          </p:nvSpPr>
          <p:spPr>
            <a:xfrm>
              <a:off x="7258050" y="3448050"/>
              <a:ext cx="438150" cy="1"/>
            </a:xfrm>
            <a:prstGeom prst="line">
              <a:avLst/>
            </a:prstGeom>
            <a:noFill/>
            <a:ln w="19050">
              <a:solidFill>
                <a:srgbClr val="0E1F3A"/>
              </a:solidFill>
              <a:tailEnd type="triangle" w="lg" len="lg"/>
            </a:ln>
          </p:spPr>
          <p:txBody>
            <a:bodyPr/>
            <a:p/>
          </p:txBody>
        </p:sp>
        <p:sp>
          <p:nvSpPr>
            <p:cNvPr id="43" name="Line 43"/>
            <p:cNvSpPr/>
            <p:nvPr/>
          </p:nvSpPr>
          <p:spPr>
            <a:xfrm>
              <a:off x="7258050" y="4591050"/>
              <a:ext cx="438150" cy="1"/>
            </a:xfrm>
            <a:prstGeom prst="line">
              <a:avLst/>
            </a:prstGeom>
            <a:noFill/>
            <a:ln w="19050">
              <a:solidFill>
                <a:srgbClr val="0E1F3A"/>
              </a:solidFill>
              <a:tailEnd type="triangle" w="lg" len="lg"/>
            </a:ln>
          </p:spPr>
          <p:txBody>
            <a:bodyPr/>
            <a:p/>
          </p:txBody>
        </p:sp>
        <p:sp>
          <p:nvSpPr>
            <p:cNvPr id="44" name="Line 44"/>
            <p:cNvSpPr/>
            <p:nvPr/>
          </p:nvSpPr>
          <p:spPr>
            <a:xfrm>
              <a:off x="7258050" y="5734050"/>
              <a:ext cx="438150" cy="1"/>
            </a:xfrm>
            <a:prstGeom prst="line">
              <a:avLst/>
            </a:prstGeom>
            <a:noFill/>
            <a:ln w="19050">
              <a:solidFill>
                <a:srgbClr val="0E1F3A"/>
              </a:solidFill>
              <a:tailEnd type="triangle" w="lg" len="lg"/>
            </a:ln>
          </p:spPr>
          <p:txBody>
            <a:bodyPr/>
            <a:p/>
          </p:txBody>
        </p:sp>
      </p:grpSp>
      <p:grpSp>
        <p:nvGrpSpPr>
          <p:cNvPr id="49" name="result-1"/>
          <p:cNvGrpSpPr/>
          <p:nvPr/>
        </p:nvGrpSpPr>
        <p:grpSpPr>
          <a:xfrm>
            <a:off x="7715250" y="1771650"/>
            <a:ext cx="3867150" cy="1066800"/>
            <a:chOff x="7715250" y="1771650"/>
            <a:chExt cx="3867150" cy="1066800"/>
          </a:xfrm>
        </p:grpSpPr>
        <p:sp>
          <p:nvSpPr>
            <p:cNvPr id="46" name="Rectangle 46"/>
            <p:cNvSpPr/>
            <p:nvPr/>
          </p:nvSpPr>
          <p:spPr>
            <a:xfrm>
              <a:off x="7715250" y="1771650"/>
              <a:ext cx="3867150" cy="106680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  <p:txBody>
            <a:bodyPr/>
            <a:p/>
          </p:txBody>
        </p:sp>
        <p:sp>
          <p:nvSpPr>
            <p:cNvPr id="47" name="TextBox 47"/>
            <p:cNvSpPr txBox="1"/>
            <p:nvPr/>
          </p:nvSpPr>
          <p:spPr>
            <a:xfrm>
              <a:off x="7861173" y="1924050"/>
              <a:ext cx="1353846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28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Writer choice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861554" y="2171700"/>
              <a:ext cx="3649357" cy="63474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Thompson sampling per prospect bucket. Weak</a:t>
              </a:r>
              <a:br>
                <a:rPr lang="en" sz="12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writers retire. A new angle evolves from openers</a:t>
              </a:r>
              <a:br>
                <a:rPr lang="en" sz="12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that got replies.</a:t>
              </a:r>
            </a:p>
          </p:txBody>
        </p:sp>
      </p:grpSp>
      <p:grpSp>
        <p:nvGrpSpPr>
          <p:cNvPr id="53" name="result-2"/>
          <p:cNvGrpSpPr/>
          <p:nvPr/>
        </p:nvGrpSpPr>
        <p:grpSpPr>
          <a:xfrm>
            <a:off x="7715250" y="2914650"/>
            <a:ext cx="3867150" cy="1066800"/>
            <a:chOff x="7715250" y="2914650"/>
            <a:chExt cx="3867150" cy="1066800"/>
          </a:xfrm>
        </p:grpSpPr>
        <p:sp>
          <p:nvSpPr>
            <p:cNvPr id="50" name="Rectangle 50"/>
            <p:cNvSpPr/>
            <p:nvPr/>
          </p:nvSpPr>
          <p:spPr>
            <a:xfrm>
              <a:off x="7715250" y="2914650"/>
              <a:ext cx="3867150" cy="106680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  <p:txBody>
            <a:bodyPr/>
            <a:p/>
          </p:txBody>
        </p:sp>
        <p:sp>
          <p:nvSpPr>
            <p:cNvPr id="51" name="TextBox 51"/>
            <p:cNvSpPr txBox="1"/>
            <p:nvPr/>
          </p:nvSpPr>
          <p:spPr>
            <a:xfrm>
              <a:off x="7861173" y="3067050"/>
              <a:ext cx="173992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28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Opener playbook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861554" y="3314700"/>
              <a:ext cx="3737971" cy="4347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Up to 15 short rules distilled from the edits, fed to</a:t>
              </a:r>
              <a:br>
                <a:rPr lang="en" sz="12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every writer and to the judge.</a:t>
              </a:r>
            </a:p>
          </p:txBody>
        </p:sp>
      </p:grpSp>
      <p:grpSp>
        <p:nvGrpSpPr>
          <p:cNvPr id="57" name="result-3"/>
          <p:cNvGrpSpPr/>
          <p:nvPr/>
        </p:nvGrpSpPr>
        <p:grpSpPr>
          <a:xfrm>
            <a:off x="7715250" y="4057650"/>
            <a:ext cx="3867150" cy="1066800"/>
            <a:chOff x="7715250" y="4057650"/>
            <a:chExt cx="3867150" cy="1066800"/>
          </a:xfrm>
        </p:grpSpPr>
        <p:sp>
          <p:nvSpPr>
            <p:cNvPr id="54" name="Rectangle 54"/>
            <p:cNvSpPr/>
            <p:nvPr/>
          </p:nvSpPr>
          <p:spPr>
            <a:xfrm>
              <a:off x="7715250" y="4057650"/>
              <a:ext cx="3867150" cy="106680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  <p:txBody>
            <a:bodyPr/>
            <a:p/>
          </p:txBody>
        </p:sp>
        <p:sp>
          <p:nvSpPr>
            <p:cNvPr id="55" name="TextBox 55"/>
            <p:cNvSpPr txBox="1"/>
            <p:nvPr/>
          </p:nvSpPr>
          <p:spPr>
            <a:xfrm>
              <a:off x="7861173" y="4210050"/>
              <a:ext cx="1762436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28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Judge calibration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861554" y="4457700"/>
              <a:ext cx="3556468" cy="4347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The five most recent overrides are shown to the</a:t>
              </a:r>
              <a:br>
                <a:rPr lang="en" sz="12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judge as examples of the operator's taste.</a:t>
              </a:r>
            </a:p>
          </p:txBody>
        </p:sp>
      </p:grpSp>
      <p:grpSp>
        <p:nvGrpSpPr>
          <p:cNvPr id="61" name="result-4"/>
          <p:cNvGrpSpPr/>
          <p:nvPr/>
        </p:nvGrpSpPr>
        <p:grpSpPr>
          <a:xfrm>
            <a:off x="7715250" y="5200650"/>
            <a:ext cx="3867150" cy="1066800"/>
            <a:chOff x="7715250" y="5200650"/>
            <a:chExt cx="3867150" cy="1066800"/>
          </a:xfrm>
        </p:grpSpPr>
        <p:sp>
          <p:nvSpPr>
            <p:cNvPr id="58" name="Rectangle 58"/>
            <p:cNvSpPr/>
            <p:nvPr/>
          </p:nvSpPr>
          <p:spPr>
            <a:xfrm>
              <a:off x="7715250" y="5200650"/>
              <a:ext cx="3867150" cy="106680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  <p:txBody>
            <a:bodyPr/>
            <a:p/>
          </p:txBody>
        </p:sp>
        <p:sp>
          <p:nvSpPr>
            <p:cNvPr id="59" name="TextBox 59"/>
            <p:cNvSpPr txBox="1"/>
            <p:nvPr/>
          </p:nvSpPr>
          <p:spPr>
            <a:xfrm>
              <a:off x="7861173" y="5353050"/>
              <a:ext cx="157624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28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Reply playbook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861554" y="5600700"/>
              <a:ext cx="3706585" cy="4347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Up to 12 rules plus success rates per ask type, fed</a:t>
              </a:r>
              <a:br>
                <a:rPr lang="en" sz="12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to the reply agent.</a:t>
              </a:r>
            </a:p>
          </p:txBody>
        </p:sp>
      </p:grpSp>
      <p:grpSp>
        <p:nvGrpSpPr>
          <p:cNvPr id="63" name="source"/>
          <p:cNvGrpSpPr/>
          <p:nvPr/>
        </p:nvGrpSpPr>
        <p:grpSpPr>
          <a:xfrm>
            <a:off x="604647" y="6559550"/>
            <a:ext cx="6100863" cy="191643"/>
            <a:chOff x="604647" y="6559550"/>
            <a:chExt cx="6100863" cy="191643"/>
          </a:xfrm>
        </p:grpSpPr>
        <p:sp>
          <p:nvSpPr>
            <p:cNvPr id="62" name="TextBox 62"/>
            <p:cNvSpPr txBox="1"/>
            <p:nvPr/>
          </p:nvSpPr>
          <p:spPr>
            <a:xfrm>
              <a:off x="604647" y="6559550"/>
              <a:ext cx="744305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Source: engine/outreach/feedback.py (choose_writers, learn, _evolve_writers), docs/AUTOMATION.md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596646" y="444500"/>
            <a:ext cx="7187527" cy="1101979"/>
            <a:chOff x="596646" y="444500"/>
            <a:chExt cx="7187527" cy="1101979"/>
          </a:xfrm>
        </p:grpSpPr>
        <p:sp>
          <p:nvSpPr>
            <p:cNvPr id="2" name="TextBox 2"/>
            <p:cNvSpPr txBox="1"/>
            <p:nvPr/>
          </p:nvSpPr>
          <p:spPr>
            <a:xfrm>
              <a:off x="604647" y="444500"/>
              <a:ext cx="78839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SAFETY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6646" y="666750"/>
              <a:ext cx="8768782" cy="87972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Four layers stand between model output and a</a:t>
              </a:r>
              <a:b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</a:br>
              <a: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LinkedIn inbox, and the last one is a person</a:t>
              </a:r>
            </a:p>
          </p:txBody>
        </p:sp>
      </p:grpSp>
      <p:grpSp>
        <p:nvGrpSpPr>
          <p:cNvPr id="8" name="page-stamp"/>
          <p:cNvGrpSpPr/>
          <p:nvPr/>
        </p:nvGrpSpPr>
        <p:grpSpPr>
          <a:xfrm>
            <a:off x="11163300" y="285750"/>
            <a:ext cx="495300" cy="609600"/>
            <a:chOff x="11163300" y="285750"/>
            <a:chExt cx="495300" cy="609600"/>
          </a:xfrm>
        </p:grpSpPr>
        <p:sp>
          <p:nvSpPr>
            <p:cNvPr id="5" name="Rectangle 5"/>
            <p:cNvSpPr/>
            <p:nvPr/>
          </p:nvSpPr>
          <p:spPr>
            <a:xfrm>
              <a:off x="11163300" y="285750"/>
              <a:ext cx="495300" cy="6096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8000"/>
                </a:srgbClr>
              </a:solidFill>
            </a:ln>
          </p:spPr>
          <p:txBody>
            <a:bodyPr/>
            <a:p/>
          </p:txBody>
        </p:sp>
        <p:sp>
          <p:nvSpPr>
            <p:cNvPr id="6" name="Rectangle 6"/>
            <p:cNvSpPr/>
            <p:nvPr/>
          </p:nvSpPr>
          <p:spPr>
            <a:xfrm>
              <a:off x="11220450" y="342900"/>
              <a:ext cx="381000" cy="495300"/>
            </a:xfrm>
            <a:prstGeom prst="rect">
              <a:avLst/>
            </a:prstGeom>
            <a:solidFill>
              <a:srgbClr val="B3301B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" name="TextBox 7"/>
            <p:cNvSpPr txBox="1"/>
            <p:nvPr/>
          </p:nvSpPr>
          <p:spPr>
            <a:xfrm>
              <a:off x="11226496" y="463550"/>
              <a:ext cx="3689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9</a:t>
              </a:r>
            </a:p>
          </p:txBody>
        </p:sp>
      </p:grpSp>
      <p:sp>
        <p:nvSpPr>
          <p:cNvPr id="9" name="Line 9"/>
          <p:cNvSpPr/>
          <p:nvPr/>
        </p:nvSpPr>
        <p:spPr>
          <a:xfrm>
            <a:off x="609600" y="15811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28575">
            <a:solidFill>
              <a:srgbClr val="97B9DD"/>
            </a:solidFill>
            <a:custDash>
              <a:ds d="66667" sp="233333"/>
            </a:custDash>
          </a:ln>
        </p:spPr>
        <p:txBody>
          <a:bodyPr/>
          <a:p/>
        </p:txBody>
      </p:sp>
      <p:grpSp>
        <p:nvGrpSpPr>
          <p:cNvPr id="20" name="spine"/>
          <p:cNvGrpSpPr/>
          <p:nvPr/>
        </p:nvGrpSpPr>
        <p:grpSpPr>
          <a:xfrm>
            <a:off x="723900" y="2076450"/>
            <a:ext cx="381000" cy="3695700"/>
            <a:chOff x="723900" y="2076450"/>
            <a:chExt cx="381000" cy="3695700"/>
          </a:xfrm>
        </p:grpSpPr>
        <p:sp>
          <p:nvSpPr>
            <p:cNvPr id="10" name="Line 10"/>
            <p:cNvSpPr/>
            <p:nvPr/>
          </p:nvSpPr>
          <p:spPr>
            <a:xfrm>
              <a:off x="914400" y="2266950"/>
              <a:ext cx="9525" cy="3314700"/>
            </a:xfrm>
            <a:custGeom>
              <a:avLst/>
              <a:gdLst/>
              <a:ahLst/>
              <a:cxnLst/>
              <a:rect l="l" t="t" r="r" b="b"/>
              <a:pathLst>
                <a:path w="9525" h="3314700">
                  <a:moveTo>
                    <a:pt x="0" y="0"/>
                  </a:moveTo>
                  <a:lnTo>
                    <a:pt x="0" y="3314700"/>
                  </a:lnTo>
                </a:path>
              </a:pathLst>
            </a:custGeom>
            <a:noFill/>
            <a:ln w="28575">
              <a:solidFill>
                <a:srgbClr val="0E1F3A"/>
              </a:solidFill>
            </a:ln>
          </p:spPr>
          <p:txBody>
            <a:bodyPr/>
            <a:p/>
          </p:txBody>
        </p:sp>
        <p:grpSp>
          <p:nvGrpSpPr>
            <p:cNvPr id="19" name="Group 19"/>
            <p:cNvGrpSpPr/>
            <p:nvPr/>
          </p:nvGrpSpPr>
          <p:grpSpPr>
            <a:xfrm>
              <a:off x="723900" y="2076450"/>
              <a:ext cx="381000" cy="3695700"/>
              <a:chOff x="723900" y="2076450"/>
              <a:chExt cx="381000" cy="3695700"/>
            </a:xfrm>
          </p:grpSpPr>
          <p:sp>
            <p:nvSpPr>
              <p:cNvPr id="11" name="Ellipse 11"/>
              <p:cNvSpPr/>
              <p:nvPr/>
            </p:nvSpPr>
            <p:spPr>
              <a:xfrm>
                <a:off x="723900" y="2076450"/>
                <a:ext cx="381000" cy="381000"/>
              </a:xfrm>
              <a:prstGeom prst="ellipse">
                <a:avLst/>
              </a:prstGeom>
              <a:solidFill>
                <a:srgbClr val="0E1F3A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736323" y="2143125"/>
                <a:ext cx="35615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ctr"/>
                <a:r>
                  <a:rPr lang="en" sz="1500" b="1" dirty="0">
                    <a:solidFill>
                      <a:srgbClr val="FAFCFE"/>
                    </a:solidFill>
                    <a:latin typeface="+mj-lt"/>
                    <a:ea typeface="+mj-ea"/>
                    <a:cs typeface="+mj-cs"/>
                  </a:rPr>
                  <a:t>1</a:t>
                </a:r>
              </a:p>
            </p:txBody>
          </p:sp>
          <p:sp>
            <p:nvSpPr>
              <p:cNvPr id="13" name="Ellipse 13"/>
              <p:cNvSpPr/>
              <p:nvPr/>
            </p:nvSpPr>
            <p:spPr>
              <a:xfrm>
                <a:off x="723900" y="3181350"/>
                <a:ext cx="381000" cy="381000"/>
              </a:xfrm>
              <a:prstGeom prst="ellipse">
                <a:avLst/>
              </a:prstGeom>
              <a:solidFill>
                <a:srgbClr val="0E1F3A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736323" y="3248025"/>
                <a:ext cx="35615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ctr"/>
                <a:r>
                  <a:rPr lang="en" sz="1500" b="1" dirty="0">
                    <a:solidFill>
                      <a:srgbClr val="FAFCFE"/>
                    </a:solidFill>
                    <a:latin typeface="+mj-lt"/>
                    <a:ea typeface="+mj-ea"/>
                    <a:cs typeface="+mj-cs"/>
                  </a:rPr>
                  <a:t>2</a:t>
                </a:r>
              </a:p>
            </p:txBody>
          </p:sp>
          <p:sp>
            <p:nvSpPr>
              <p:cNvPr id="15" name="Ellipse 15"/>
              <p:cNvSpPr/>
              <p:nvPr/>
            </p:nvSpPr>
            <p:spPr>
              <a:xfrm>
                <a:off x="723900" y="4286250"/>
                <a:ext cx="381000" cy="381000"/>
              </a:xfrm>
              <a:prstGeom prst="ellipse">
                <a:avLst/>
              </a:prstGeom>
              <a:solidFill>
                <a:srgbClr val="0E1F3A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736323" y="4352925"/>
                <a:ext cx="35615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ctr"/>
                <a:r>
                  <a:rPr lang="en" sz="1500" b="1" dirty="0">
                    <a:solidFill>
                      <a:srgbClr val="FAFCFE"/>
                    </a:solidFill>
                    <a:latin typeface="+mj-lt"/>
                    <a:ea typeface="+mj-ea"/>
                    <a:cs typeface="+mj-cs"/>
                  </a:rPr>
                  <a:t>3</a:t>
                </a:r>
              </a:p>
            </p:txBody>
          </p:sp>
          <p:sp>
            <p:nvSpPr>
              <p:cNvPr id="17" name="Ellipse 17"/>
              <p:cNvSpPr/>
              <p:nvPr/>
            </p:nvSpPr>
            <p:spPr>
              <a:xfrm>
                <a:off x="723900" y="5391150"/>
                <a:ext cx="381000" cy="381000"/>
              </a:xfrm>
              <a:prstGeom prst="ellipse">
                <a:avLst/>
              </a:prstGeom>
              <a:solidFill>
                <a:srgbClr val="0E1F3A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736323" y="5457825"/>
                <a:ext cx="35615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ctr"/>
                <a:r>
                  <a:rPr lang="en" sz="1500" b="1" dirty="0">
                    <a:solidFill>
                      <a:srgbClr val="FAFCFE"/>
                    </a:solidFill>
                    <a:latin typeface="+mj-lt"/>
                    <a:ea typeface="+mj-ea"/>
                    <a:cs typeface="+mj-cs"/>
                  </a:rPr>
                  <a:t>4</a:t>
                </a:r>
              </a:p>
            </p:txBody>
          </p:sp>
        </p:grpSp>
      </p:grpSp>
      <p:grpSp>
        <p:nvGrpSpPr>
          <p:cNvPr id="25" name="layer-1"/>
          <p:cNvGrpSpPr/>
          <p:nvPr/>
        </p:nvGrpSpPr>
        <p:grpSpPr>
          <a:xfrm>
            <a:off x="1238250" y="1771650"/>
            <a:ext cx="10344150" cy="990600"/>
            <a:chOff x="1238250" y="1771650"/>
            <a:chExt cx="10344150" cy="990600"/>
          </a:xfrm>
        </p:grpSpPr>
        <p:sp>
          <p:nvSpPr>
            <p:cNvPr id="21" name="Rectangle 21"/>
            <p:cNvSpPr/>
            <p:nvPr/>
          </p:nvSpPr>
          <p:spPr>
            <a:xfrm>
              <a:off x="1238250" y="1771650"/>
              <a:ext cx="3048000" cy="99060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2" name="Rectangle 22"/>
            <p:cNvSpPr/>
            <p:nvPr/>
          </p:nvSpPr>
          <p:spPr>
            <a:xfrm>
              <a:off x="4286250" y="1771650"/>
              <a:ext cx="7296150" cy="9906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  <p:txBody>
            <a:bodyPr/>
            <a:p/>
          </p:txBody>
        </p:sp>
        <p:sp>
          <p:nvSpPr>
            <p:cNvPr id="23" name="TextBox 23"/>
            <p:cNvSpPr txBox="1"/>
            <p:nvPr/>
          </p:nvSpPr>
          <p:spPr>
            <a:xfrm>
              <a:off x="1421511" y="1962150"/>
              <a:ext cx="1509011" cy="52635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en" sz="142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Untrusted text</a:t>
              </a:r>
              <a:br>
                <a:rPr lang="en" sz="142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</a:br>
              <a:r>
                <a:rPr lang="en" sz="142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is fenced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470273" y="1930400"/>
              <a:ext cx="7434321" cy="66941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Search results, profile text and replies are labelled untrusted data in the prompts. The model</a:t>
              </a:r>
              <a:b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extracts facts from them and never follows instructions inside them, such as ignore your rules</a:t>
              </a:r>
              <a:b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or send this link.</a:t>
              </a:r>
            </a:p>
          </p:txBody>
        </p:sp>
      </p:grpSp>
      <p:grpSp>
        <p:nvGrpSpPr>
          <p:cNvPr id="30" name="layer-2"/>
          <p:cNvGrpSpPr/>
          <p:nvPr/>
        </p:nvGrpSpPr>
        <p:grpSpPr>
          <a:xfrm>
            <a:off x="1238250" y="2876550"/>
            <a:ext cx="10344150" cy="990600"/>
            <a:chOff x="1238250" y="2876550"/>
            <a:chExt cx="10344150" cy="990600"/>
          </a:xfrm>
        </p:grpSpPr>
        <p:sp>
          <p:nvSpPr>
            <p:cNvPr id="26" name="Rectangle 26"/>
            <p:cNvSpPr/>
            <p:nvPr/>
          </p:nvSpPr>
          <p:spPr>
            <a:xfrm>
              <a:off x="1238250" y="2876550"/>
              <a:ext cx="3048000" cy="99060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7" name="Rectangle 27"/>
            <p:cNvSpPr/>
            <p:nvPr/>
          </p:nvSpPr>
          <p:spPr>
            <a:xfrm>
              <a:off x="4286250" y="2876550"/>
              <a:ext cx="7296150" cy="9906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  <p:txBody>
            <a:bodyPr/>
            <a:p/>
          </p:txBody>
        </p:sp>
        <p:sp>
          <p:nvSpPr>
            <p:cNvPr id="28" name="TextBox 28"/>
            <p:cNvSpPr txBox="1"/>
            <p:nvPr/>
          </p:nvSpPr>
          <p:spPr>
            <a:xfrm>
              <a:off x="1421511" y="3067050"/>
              <a:ext cx="1387431" cy="52635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en" sz="142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Rules check</a:t>
              </a:r>
              <a:br>
                <a:rPr lang="en" sz="142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</a:br>
              <a:r>
                <a:rPr lang="en" sz="142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every opener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470273" y="3035300"/>
              <a:ext cx="7251943" cy="45986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Length, banned phrases, any hint of an ask, exclamation marks, dashes and the greeting are</a:t>
              </a:r>
              <a:b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checked in code. A draft that fails is rewritten with the reasons, up to three times.</a:t>
              </a:r>
            </a:p>
          </p:txBody>
        </p:sp>
      </p:grpSp>
      <p:grpSp>
        <p:nvGrpSpPr>
          <p:cNvPr id="35" name="layer-3"/>
          <p:cNvGrpSpPr/>
          <p:nvPr/>
        </p:nvGrpSpPr>
        <p:grpSpPr>
          <a:xfrm>
            <a:off x="1238250" y="3981450"/>
            <a:ext cx="10344150" cy="990600"/>
            <a:chOff x="1238250" y="3981450"/>
            <a:chExt cx="10344150" cy="990600"/>
          </a:xfrm>
        </p:grpSpPr>
        <p:sp>
          <p:nvSpPr>
            <p:cNvPr id="31" name="Rectangle 31"/>
            <p:cNvSpPr/>
            <p:nvPr/>
          </p:nvSpPr>
          <p:spPr>
            <a:xfrm>
              <a:off x="1238250" y="3981450"/>
              <a:ext cx="3048000" cy="99060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2" name="Rectangle 32"/>
            <p:cNvSpPr/>
            <p:nvPr/>
          </p:nvSpPr>
          <p:spPr>
            <a:xfrm>
              <a:off x="4286250" y="3981450"/>
              <a:ext cx="7296150" cy="9906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  <p:txBody>
            <a:bodyPr/>
            <a:p/>
          </p:txBody>
        </p:sp>
        <p:sp>
          <p:nvSpPr>
            <p:cNvPr id="33" name="TextBox 33"/>
            <p:cNvSpPr txBox="1"/>
            <p:nvPr/>
          </p:nvSpPr>
          <p:spPr>
            <a:xfrm>
              <a:off x="1421511" y="4171950"/>
              <a:ext cx="1594816" cy="52635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en" sz="142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The auto-send</a:t>
              </a:r>
              <a:br>
                <a:rPr lang="en" sz="142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</a:br>
              <a:r>
                <a:rPr lang="en" sz="142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filter holds risk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470273" y="4140200"/>
              <a:ext cx="7108991" cy="66941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Messages send without approval only when the candidate turned auto-send on, the reply</a:t>
              </a:r>
              <a:b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was warm, neutral or redirecting, and the text is within 600 characters with no link, email</a:t>
              </a:r>
              <a:b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address, phone number, OTP, password or bank term.</a:t>
              </a:r>
            </a:p>
          </p:txBody>
        </p:sp>
      </p:grpSp>
      <p:grpSp>
        <p:nvGrpSpPr>
          <p:cNvPr id="40" name="layer-4"/>
          <p:cNvGrpSpPr/>
          <p:nvPr/>
        </p:nvGrpSpPr>
        <p:grpSpPr>
          <a:xfrm>
            <a:off x="1238250" y="5086350"/>
            <a:ext cx="10344150" cy="990600"/>
            <a:chOff x="1238250" y="5086350"/>
            <a:chExt cx="10344150" cy="990600"/>
          </a:xfrm>
        </p:grpSpPr>
        <p:sp>
          <p:nvSpPr>
            <p:cNvPr id="36" name="Rectangle 36"/>
            <p:cNvSpPr/>
            <p:nvPr/>
          </p:nvSpPr>
          <p:spPr>
            <a:xfrm>
              <a:off x="1238250" y="5086350"/>
              <a:ext cx="3048000" cy="9906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7" name="Rectangle 37"/>
            <p:cNvSpPr/>
            <p:nvPr/>
          </p:nvSpPr>
          <p:spPr>
            <a:xfrm>
              <a:off x="4286250" y="5086350"/>
              <a:ext cx="7296150" cy="990600"/>
            </a:xfrm>
            <a:prstGeom prst="rect">
              <a:avLst/>
            </a:prstGeom>
            <a:solidFill>
              <a:srgbClr val="FAFCFE"/>
            </a:solidFill>
            <a:ln w="19050">
              <a:solidFill>
                <a:srgbClr val="0E1F3A"/>
              </a:solidFill>
            </a:ln>
          </p:spPr>
          <p:txBody>
            <a:bodyPr/>
            <a:p/>
          </p:txBody>
        </p:sp>
        <p:sp>
          <p:nvSpPr>
            <p:cNvPr id="38" name="TextBox 38"/>
            <p:cNvSpPr txBox="1"/>
            <p:nvPr/>
          </p:nvSpPr>
          <p:spPr>
            <a:xfrm>
              <a:off x="1421511" y="5276850"/>
              <a:ext cx="2071721" cy="52635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en" sz="142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A person approves,</a:t>
              </a:r>
              <a:br>
                <a:rPr lang="en" sz="142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</a:br>
              <a:r>
                <a:rPr lang="en" sz="142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volume is capped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470273" y="5245100"/>
              <a:ext cx="7202283" cy="66941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Every opener is approved by a person before it can leave. Export to La Growth Machine is</a:t>
              </a:r>
              <a:b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capped per batch to the weekly invite budget, and the engine never logs into or scrapes</a:t>
              </a:r>
              <a:b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LinkedIn.</a:t>
              </a:r>
            </a:p>
          </p:txBody>
        </p:sp>
      </p:grpSp>
      <p:grpSp>
        <p:nvGrpSpPr>
          <p:cNvPr id="42" name="source"/>
          <p:cNvGrpSpPr/>
          <p:nvPr/>
        </p:nvGrpSpPr>
        <p:grpSpPr>
          <a:xfrm>
            <a:off x="604647" y="6559550"/>
            <a:ext cx="8323144" cy="191643"/>
            <a:chOff x="604647" y="6559550"/>
            <a:chExt cx="8323144" cy="191643"/>
          </a:xfrm>
        </p:grpSpPr>
        <p:sp>
          <p:nvSpPr>
            <p:cNvPr id="41" name="TextBox 41"/>
            <p:cNvSpPr txBox="1"/>
            <p:nvPr/>
          </p:nvSpPr>
          <p:spPr>
            <a:xfrm>
              <a:off x="604647" y="6559550"/>
              <a:ext cx="1015423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Source: engine/outreach/bridge.py (UNSAFE_FOR_AUTO_SEND), messages.py, prompts.py, cli.py (export-lgm), docs/LAUNCH_PLAN.md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596646" y="444500"/>
            <a:ext cx="8410773" cy="1101979"/>
            <a:chOff x="596646" y="444500"/>
            <a:chExt cx="8410773" cy="1101979"/>
          </a:xfrm>
        </p:grpSpPr>
        <p:sp>
          <p:nvSpPr>
            <p:cNvPr id="2" name="TextBox 2"/>
            <p:cNvSpPr txBox="1"/>
            <p:nvPr/>
          </p:nvSpPr>
          <p:spPr>
            <a:xfrm>
              <a:off x="604647" y="444500"/>
              <a:ext cx="158036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INFRASTRUCTURE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6646" y="666750"/>
              <a:ext cx="10261143" cy="87972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Small on purpose: one FastAPI function, one Postgres</a:t>
              </a:r>
              <a:b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</a:br>
              <a: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project and one scheduled job, all in Mumbai</a:t>
              </a:r>
            </a:p>
          </p:txBody>
        </p:sp>
      </p:grpSp>
      <p:grpSp>
        <p:nvGrpSpPr>
          <p:cNvPr id="8" name="page-stamp"/>
          <p:cNvGrpSpPr/>
          <p:nvPr/>
        </p:nvGrpSpPr>
        <p:grpSpPr>
          <a:xfrm>
            <a:off x="11163300" y="285750"/>
            <a:ext cx="495300" cy="609600"/>
            <a:chOff x="11163300" y="285750"/>
            <a:chExt cx="495300" cy="609600"/>
          </a:xfrm>
        </p:grpSpPr>
        <p:sp>
          <p:nvSpPr>
            <p:cNvPr id="5" name="Rectangle 5"/>
            <p:cNvSpPr/>
            <p:nvPr/>
          </p:nvSpPr>
          <p:spPr>
            <a:xfrm>
              <a:off x="11163300" y="285750"/>
              <a:ext cx="495300" cy="6096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8000"/>
                </a:srgbClr>
              </a:solidFill>
            </a:ln>
          </p:spPr>
          <p:txBody>
            <a:bodyPr/>
            <a:p/>
          </p:txBody>
        </p:sp>
        <p:sp>
          <p:nvSpPr>
            <p:cNvPr id="6" name="Rectangle 6"/>
            <p:cNvSpPr/>
            <p:nvPr/>
          </p:nvSpPr>
          <p:spPr>
            <a:xfrm>
              <a:off x="11220450" y="342900"/>
              <a:ext cx="381000" cy="495300"/>
            </a:xfrm>
            <a:prstGeom prst="rect">
              <a:avLst/>
            </a:prstGeom>
            <a:solidFill>
              <a:srgbClr val="B3301B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" name="TextBox 7"/>
            <p:cNvSpPr txBox="1"/>
            <p:nvPr/>
          </p:nvSpPr>
          <p:spPr>
            <a:xfrm>
              <a:off x="11164723" y="463550"/>
              <a:ext cx="4924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10</a:t>
              </a:r>
            </a:p>
          </p:txBody>
        </p:sp>
      </p:grpSp>
      <p:sp>
        <p:nvSpPr>
          <p:cNvPr id="9" name="Line 9"/>
          <p:cNvSpPr/>
          <p:nvPr/>
        </p:nvSpPr>
        <p:spPr>
          <a:xfrm>
            <a:off x="609600" y="15811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28575">
            <a:solidFill>
              <a:srgbClr val="97B9DD"/>
            </a:solidFill>
            <a:custDash>
              <a:ds d="66667" sp="233333"/>
            </a:custDash>
          </a:ln>
        </p:spPr>
        <p:txBody>
          <a:bodyPr/>
          <a:p/>
        </p:txBody>
      </p:sp>
      <p:grpSp>
        <p:nvGrpSpPr>
          <p:cNvPr id="29" name="vercel-box"/>
          <p:cNvGrpSpPr/>
          <p:nvPr/>
        </p:nvGrpSpPr>
        <p:grpSpPr>
          <a:xfrm>
            <a:off x="609600" y="1771650"/>
            <a:ext cx="5334000" cy="2933700"/>
            <a:chOff x="609600" y="1771650"/>
            <a:chExt cx="5334000" cy="2933700"/>
          </a:xfrm>
        </p:grpSpPr>
        <p:sp>
          <p:nvSpPr>
            <p:cNvPr id="10" name="Rectangle 10"/>
            <p:cNvSpPr/>
            <p:nvPr/>
          </p:nvSpPr>
          <p:spPr>
            <a:xfrm>
              <a:off x="609600" y="1771650"/>
              <a:ext cx="5334000" cy="2933700"/>
            </a:xfrm>
            <a:prstGeom prst="rect">
              <a:avLst/>
            </a:prstGeom>
            <a:solidFill>
              <a:srgbClr val="FAFCFE"/>
            </a:solidFill>
            <a:ln w="19050">
              <a:solidFill>
                <a:srgbClr val="0E1F3A"/>
              </a:solidFill>
            </a:ln>
          </p:spPr>
          <p:txBody>
            <a:bodyPr/>
            <a:p/>
          </p:txBody>
        </p:sp>
        <p:sp>
          <p:nvSpPr>
            <p:cNvPr id="11" name="Rectangle 11"/>
            <p:cNvSpPr/>
            <p:nvPr/>
          </p:nvSpPr>
          <p:spPr>
            <a:xfrm>
              <a:off x="609600" y="1771650"/>
              <a:ext cx="5334000" cy="4191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2" name="TextBox 12"/>
            <p:cNvSpPr txBox="1"/>
            <p:nvPr/>
          </p:nvSpPr>
          <p:spPr>
            <a:xfrm>
              <a:off x="755142" y="1882775"/>
              <a:ext cx="24621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35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Vercel, Mumbai (bom1)</a:t>
              </a:r>
            </a:p>
          </p:txBody>
        </p:sp>
        <p:grpSp>
          <p:nvGrpSpPr>
            <p:cNvPr id="17" name="Group 17"/>
            <p:cNvGrpSpPr/>
            <p:nvPr/>
          </p:nvGrpSpPr>
          <p:grpSpPr>
            <a:xfrm>
              <a:off x="762000" y="2324100"/>
              <a:ext cx="5029200" cy="2057400"/>
              <a:chOff x="762000" y="2324100"/>
              <a:chExt cx="5029200" cy="205740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762000" y="2324100"/>
                <a:ext cx="5029200" cy="457200"/>
              </a:xfrm>
              <a:prstGeom prst="rect">
                <a:avLst/>
              </a:prstGeom>
              <a:solidFill>
                <a:srgbClr val="C4D9EF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14" name="Rectangle 14"/>
              <p:cNvSpPr/>
              <p:nvPr/>
            </p:nvSpPr>
            <p:spPr>
              <a:xfrm>
                <a:off x="762000" y="2857500"/>
                <a:ext cx="5029200" cy="457200"/>
              </a:xfrm>
              <a:prstGeom prst="rect">
                <a:avLst/>
              </a:prstGeom>
              <a:solidFill>
                <a:srgbClr val="C4D9EF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15" name="Rectangle 15"/>
              <p:cNvSpPr/>
              <p:nvPr/>
            </p:nvSpPr>
            <p:spPr>
              <a:xfrm>
                <a:off x="762000" y="3390900"/>
                <a:ext cx="5029200" cy="457200"/>
              </a:xfrm>
              <a:prstGeom prst="rect">
                <a:avLst/>
              </a:prstGeom>
              <a:solidFill>
                <a:srgbClr val="C4D9EF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16" name="Rectangle 16"/>
              <p:cNvSpPr/>
              <p:nvPr/>
            </p:nvSpPr>
            <p:spPr>
              <a:xfrm>
                <a:off x="762000" y="3924300"/>
                <a:ext cx="5029200" cy="457200"/>
              </a:xfrm>
              <a:prstGeom prst="rect">
                <a:avLst/>
              </a:prstGeom>
              <a:solidFill>
                <a:srgbClr val="C4D9EF"/>
              </a:solidFill>
              <a:ln>
                <a:noFill/>
              </a:ln>
            </p:spPr>
            <p:txBody>
              <a:bodyPr/>
              <a:p/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889635" y="2374900"/>
              <a:ext cx="1393710" cy="1820228"/>
              <a:chOff x="889635" y="2374900"/>
              <a:chExt cx="1393710" cy="1820228"/>
            </a:xfrm>
          </p:grpSpPr>
          <p:sp>
            <p:nvSpPr>
              <p:cNvPr id="18" name="TextBox 18"/>
              <p:cNvSpPr txBox="1"/>
              <p:nvPr/>
            </p:nvSpPr>
            <p:spPr>
              <a:xfrm>
                <a:off x="889635" y="2374900"/>
                <a:ext cx="149073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en" sz="112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POST /api/intake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889635" y="2908300"/>
                <a:ext cx="91881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en" sz="112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/api/crm/*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889635" y="3441700"/>
                <a:ext cx="170032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en" sz="112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GET /api/cron/sync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889635" y="3975100"/>
                <a:ext cx="55852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en" sz="112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/crm</a:t>
                </a: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889635" y="2555875"/>
              <a:ext cx="3403974" cy="1820228"/>
              <a:chOff x="889635" y="2555875"/>
              <a:chExt cx="3403974" cy="1820228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889635" y="2555875"/>
                <a:ext cx="415284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en" sz="112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Public sign-up form, validated, with a honeypot field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889635" y="3089275"/>
                <a:ext cx="384057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en" sz="112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Knock Desk API, behind the operator password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89635" y="3622675"/>
                <a:ext cx="3358677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en" sz="112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Daily at 09:00 IST, behind a bearer secret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889635" y="4156075"/>
                <a:ext cx="3381907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en" sz="112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Knock Desk, a single page with seven tabs</a:t>
                </a:r>
              </a:p>
            </p:txBody>
          </p:sp>
        </p:grpSp>
        <p:sp>
          <p:nvSpPr>
            <p:cNvPr id="28" name="TextBox 28"/>
            <p:cNvSpPr txBox="1"/>
            <p:nvPr/>
          </p:nvSpPr>
          <p:spPr>
            <a:xfrm>
              <a:off x="756285" y="4432300"/>
              <a:ext cx="44078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120" i="1" dirty="0">
                  <a:solidFill>
                    <a:srgbClr val="4A5F80"/>
                  </a:solidFill>
                  <a:latin typeface="+mn-lt"/>
                  <a:ea typeface="+mn-ea"/>
                  <a:cs typeface="+mn-cs"/>
                </a:rPr>
                <a:t>One function, 60 second limit, engine copied in at build.</a:t>
              </a:r>
            </a:p>
          </p:txBody>
        </p:sp>
      </p:grpSp>
      <p:grpSp>
        <p:nvGrpSpPr>
          <p:cNvPr id="33" name="link-box"/>
          <p:cNvGrpSpPr/>
          <p:nvPr/>
        </p:nvGrpSpPr>
        <p:grpSpPr>
          <a:xfrm>
            <a:off x="6019800" y="2978150"/>
            <a:ext cx="571500" cy="515493"/>
            <a:chOff x="6019800" y="2978150"/>
            <a:chExt cx="571500" cy="515493"/>
          </a:xfrm>
        </p:grpSpPr>
        <p:sp>
          <p:nvSpPr>
            <p:cNvPr id="30" name="Line 30"/>
            <p:cNvSpPr/>
            <p:nvPr/>
          </p:nvSpPr>
          <p:spPr>
            <a:xfrm>
              <a:off x="6019800" y="3200400"/>
              <a:ext cx="571500" cy="1"/>
            </a:xfrm>
            <a:prstGeom prst="line">
              <a:avLst/>
            </a:prstGeom>
            <a:noFill/>
            <a:ln w="19050">
              <a:solidFill>
                <a:srgbClr val="0E1F3A"/>
              </a:solidFill>
              <a:headEnd type="triangle" w="lg" len="lg"/>
              <a:tailEnd type="triangle" w="lg" len="lg"/>
            </a:ln>
          </p:spPr>
          <p:txBody>
            <a:bodyPr/>
            <a:p/>
          </p:txBody>
        </p:sp>
        <p:sp>
          <p:nvSpPr>
            <p:cNvPr id="31" name="TextBox 31"/>
            <p:cNvSpPr txBox="1"/>
            <p:nvPr/>
          </p:nvSpPr>
          <p:spPr>
            <a:xfrm>
              <a:off x="6000414" y="2978150"/>
              <a:ext cx="61027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en" sz="980" dirty="0">
                  <a:solidFill>
                    <a:srgbClr val="2B4266"/>
                  </a:solidFill>
                  <a:latin typeface="+mj-lt"/>
                  <a:ea typeface="+mj-ea"/>
                  <a:cs typeface="+mj-cs"/>
                </a:rPr>
                <a:t>REST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024923" y="3302000"/>
              <a:ext cx="56125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en" sz="980" dirty="0">
                  <a:solidFill>
                    <a:srgbClr val="2B4266"/>
                  </a:solidFill>
                  <a:latin typeface="+mj-lt"/>
                  <a:ea typeface="+mj-ea"/>
                  <a:cs typeface="+mj-cs"/>
                </a:rPr>
                <a:t>token</a:t>
              </a:r>
            </a:p>
          </p:txBody>
        </p:sp>
      </p:grpSp>
      <p:grpSp>
        <p:nvGrpSpPr>
          <p:cNvPr id="48" name="supabase-box"/>
          <p:cNvGrpSpPr/>
          <p:nvPr/>
        </p:nvGrpSpPr>
        <p:grpSpPr>
          <a:xfrm>
            <a:off x="6667500" y="1771650"/>
            <a:ext cx="4914900" cy="2933700"/>
            <a:chOff x="6667500" y="1771650"/>
            <a:chExt cx="4914900" cy="2933700"/>
          </a:xfrm>
        </p:grpSpPr>
        <p:sp>
          <p:nvSpPr>
            <p:cNvPr id="34" name="Rectangle 34"/>
            <p:cNvSpPr/>
            <p:nvPr/>
          </p:nvSpPr>
          <p:spPr>
            <a:xfrm>
              <a:off x="6667500" y="1771650"/>
              <a:ext cx="4914900" cy="2933700"/>
            </a:xfrm>
            <a:prstGeom prst="rect">
              <a:avLst/>
            </a:prstGeom>
            <a:solidFill>
              <a:srgbClr val="FAFCFE"/>
            </a:solidFill>
            <a:ln w="19050">
              <a:solidFill>
                <a:srgbClr val="0E1F3A"/>
              </a:solidFill>
            </a:ln>
          </p:spPr>
          <p:txBody>
            <a:bodyPr/>
            <a:p/>
          </p:txBody>
        </p:sp>
        <p:sp>
          <p:nvSpPr>
            <p:cNvPr id="35" name="Rectangle 35"/>
            <p:cNvSpPr/>
            <p:nvPr/>
          </p:nvSpPr>
          <p:spPr>
            <a:xfrm>
              <a:off x="6667500" y="1771650"/>
              <a:ext cx="4914900" cy="41910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6" name="TextBox 36"/>
            <p:cNvSpPr txBox="1"/>
            <p:nvPr/>
          </p:nvSpPr>
          <p:spPr>
            <a:xfrm>
              <a:off x="6813042" y="1882775"/>
              <a:ext cx="33854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3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Supabase, Mumbai (ap-south-1)</a:t>
              </a:r>
            </a:p>
          </p:txBody>
        </p:sp>
        <p:grpSp>
          <p:nvGrpSpPr>
            <p:cNvPr id="47" name="Group 47"/>
            <p:cNvGrpSpPr/>
            <p:nvPr/>
          </p:nvGrpSpPr>
          <p:grpSpPr>
            <a:xfrm>
              <a:off x="6819900" y="2305050"/>
              <a:ext cx="3456698" cy="1911096"/>
              <a:chOff x="6819900" y="2305050"/>
              <a:chExt cx="3456698" cy="1911096"/>
            </a:xfrm>
          </p:grpSpPr>
          <p:sp>
            <p:nvSpPr>
              <p:cNvPr id="37" name="Rectangle 37"/>
              <p:cNvSpPr/>
              <p:nvPr/>
            </p:nvSpPr>
            <p:spPr>
              <a:xfrm>
                <a:off x="6819900" y="2381250"/>
                <a:ext cx="76200" cy="76200"/>
              </a:xfrm>
              <a:prstGeom prst="rect">
                <a:avLst/>
              </a:prstGeom>
              <a:solidFill>
                <a:srgbClr val="0E1F3A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6985254" y="2305050"/>
                <a:ext cx="4008863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Postgres with row-level security on every table.</a:t>
                </a:r>
              </a:p>
            </p:txBody>
          </p:sp>
          <p:sp>
            <p:nvSpPr>
              <p:cNvPr id="39" name="Rectangle 39"/>
              <p:cNvSpPr/>
              <p:nvPr/>
            </p:nvSpPr>
            <p:spPr>
              <a:xfrm>
                <a:off x="6819900" y="2705100"/>
                <a:ext cx="76200" cy="76200"/>
              </a:xfrm>
              <a:prstGeom prst="rect">
                <a:avLst/>
              </a:prstGeom>
              <a:solidFill>
                <a:srgbClr val="0E1F3A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6985254" y="2628900"/>
                <a:ext cx="3995220" cy="4347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>
                  <a:lnSpc>
                    <a:spcPts val="1575"/>
                  </a:lnSpc>
                </a:pPr>
                <a: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The engine uses the publishable key plus a secret</a:t>
                </a:r>
                <a:b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x-engine-token header, so no service-role key is kept.</a:t>
                </a:r>
              </a:p>
            </p:txBody>
          </p:sp>
          <p:sp>
            <p:nvSpPr>
              <p:cNvPr id="41" name="Rectangle 41"/>
              <p:cNvSpPr/>
              <p:nvPr/>
            </p:nvSpPr>
            <p:spPr>
              <a:xfrm>
                <a:off x="6819900" y="3219450"/>
                <a:ext cx="76200" cy="76200"/>
              </a:xfrm>
              <a:prstGeom prst="rect">
                <a:avLst/>
              </a:prstGeom>
              <a:solidFill>
                <a:srgbClr val="0E1F3A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6985254" y="3143250"/>
                <a:ext cx="3774152" cy="4347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>
                  <a:lnSpc>
                    <a:spcPts val="1575"/>
                  </a:lnSpc>
                </a:pPr>
                <a: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Only the SHA-256 hash of the token is stored, and</a:t>
                </a:r>
                <a:b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engine_authorized() checks it inside each policy.</a:t>
                </a:r>
              </a:p>
            </p:txBody>
          </p:sp>
          <p:sp>
            <p:nvSpPr>
              <p:cNvPr id="43" name="Rectangle 43"/>
              <p:cNvSpPr/>
              <p:nvPr/>
            </p:nvSpPr>
            <p:spPr>
              <a:xfrm>
                <a:off x="6819900" y="3733800"/>
                <a:ext cx="76200" cy="76200"/>
              </a:xfrm>
              <a:prstGeom prst="rect">
                <a:avLst/>
              </a:prstGeom>
              <a:solidFill>
                <a:srgbClr val="0E1F3A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6985254" y="3657600"/>
                <a:ext cx="401543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The public can insert sign-ups and nothing else.</a:t>
                </a:r>
              </a:p>
            </p:txBody>
          </p:sp>
          <p:sp>
            <p:nvSpPr>
              <p:cNvPr id="45" name="Rectangle 45"/>
              <p:cNvSpPr/>
              <p:nvPr/>
            </p:nvSpPr>
            <p:spPr>
              <a:xfrm>
                <a:off x="6819900" y="4057650"/>
                <a:ext cx="76200" cy="76200"/>
              </a:xfrm>
              <a:prstGeom prst="rect">
                <a:avLst/>
              </a:prstGeom>
              <a:solidFill>
                <a:srgbClr val="0E1F3A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6985254" y="3981450"/>
                <a:ext cx="377240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Same city as the function, so calls stay short.</a:t>
                </a:r>
              </a:p>
            </p:txBody>
          </p:sp>
        </p:grpSp>
      </p:grpSp>
      <p:grpSp>
        <p:nvGrpSpPr>
          <p:cNvPr id="65" name="settings-box"/>
          <p:cNvGrpSpPr/>
          <p:nvPr/>
        </p:nvGrpSpPr>
        <p:grpSpPr>
          <a:xfrm>
            <a:off x="609600" y="4819650"/>
            <a:ext cx="5334000" cy="1638300"/>
            <a:chOff x="609600" y="4819650"/>
            <a:chExt cx="5334000" cy="1638300"/>
          </a:xfrm>
        </p:grpSpPr>
        <p:sp>
          <p:nvSpPr>
            <p:cNvPr id="49" name="Rectangle 49"/>
            <p:cNvSpPr/>
            <p:nvPr/>
          </p:nvSpPr>
          <p:spPr>
            <a:xfrm>
              <a:off x="609600" y="4819650"/>
              <a:ext cx="5334000" cy="16383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  <p:txBody>
            <a:bodyPr/>
            <a:p/>
          </p:txBody>
        </p:sp>
        <p:sp>
          <p:nvSpPr>
            <p:cNvPr id="50" name="TextBox 50"/>
            <p:cNvSpPr txBox="1"/>
            <p:nvPr/>
          </p:nvSpPr>
          <p:spPr>
            <a:xfrm>
              <a:off x="755904" y="4905375"/>
              <a:ext cx="21680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Settings, by name only</a:t>
              </a:r>
            </a:p>
          </p:txBody>
        </p:sp>
        <p:grpSp>
          <p:nvGrpSpPr>
            <p:cNvPr id="57" name="Group 57"/>
            <p:cNvGrpSpPr/>
            <p:nvPr/>
          </p:nvGrpSpPr>
          <p:grpSpPr>
            <a:xfrm>
              <a:off x="756666" y="5226050"/>
              <a:ext cx="4192433" cy="1043559"/>
              <a:chOff x="756666" y="5226050"/>
              <a:chExt cx="4192433" cy="1043559"/>
            </a:xfrm>
          </p:grpSpPr>
          <p:sp>
            <p:nvSpPr>
              <p:cNvPr id="51" name="TextBox 51"/>
              <p:cNvSpPr txBox="1"/>
              <p:nvPr/>
            </p:nvSpPr>
            <p:spPr>
              <a:xfrm>
                <a:off x="756666" y="5226050"/>
                <a:ext cx="150133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en" sz="105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SUPABASE_URL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756666" y="5645150"/>
                <a:ext cx="150151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en" sz="105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SUPABASE_KEY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756666" y="6064250"/>
                <a:ext cx="145068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en" sz="105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ENGINE_TOKEN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3328416" y="5226050"/>
                <a:ext cx="160239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en" sz="105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CRM_PASSWORD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3328416" y="5645150"/>
                <a:ext cx="138993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en" sz="105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CRON_SECRET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3328416" y="6064250"/>
                <a:ext cx="197723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en" sz="105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ANTHROPIC_API_KEY</a:t>
                </a:r>
              </a:p>
            </p:txBody>
          </p:sp>
        </p:grpSp>
        <p:grpSp>
          <p:nvGrpSpPr>
            <p:cNvPr id="64" name="Group 64"/>
            <p:cNvGrpSpPr/>
            <p:nvPr/>
          </p:nvGrpSpPr>
          <p:grpSpPr>
            <a:xfrm>
              <a:off x="756285" y="5384800"/>
              <a:ext cx="3967343" cy="1058228"/>
              <a:chOff x="756285" y="5384800"/>
              <a:chExt cx="3967343" cy="1058228"/>
            </a:xfrm>
          </p:grpSpPr>
          <p:sp>
            <p:nvSpPr>
              <p:cNvPr id="58" name="TextBox 58"/>
              <p:cNvSpPr txBox="1"/>
              <p:nvPr/>
            </p:nvSpPr>
            <p:spPr>
              <a:xfrm>
                <a:off x="756285" y="5384800"/>
                <a:ext cx="122367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en" sz="112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Project address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756285" y="5803900"/>
                <a:ext cx="166361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en" sz="112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Publishable key only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756285" y="6223000"/>
                <a:ext cx="137269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en" sz="112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Gates row access</a:t>
                </a: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3328035" y="5384800"/>
                <a:ext cx="147153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en" sz="112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Knock Desk login</a:t>
                </a: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3328035" y="5803900"/>
                <a:ext cx="155521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en" sz="112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Authorises the cron</a:t>
                </a:r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3328035" y="6223000"/>
                <a:ext cx="1702623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en" sz="112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Needed for sync only</a:t>
                </a:r>
              </a:p>
            </p:txBody>
          </p:sp>
        </p:grpSp>
      </p:grpSp>
      <p:grpSp>
        <p:nvGrpSpPr>
          <p:cNvPr id="84" name="desk-box"/>
          <p:cNvGrpSpPr/>
          <p:nvPr/>
        </p:nvGrpSpPr>
        <p:grpSpPr>
          <a:xfrm>
            <a:off x="6667500" y="4819650"/>
            <a:ext cx="4914900" cy="1638300"/>
            <a:chOff x="6667500" y="4819650"/>
            <a:chExt cx="4914900" cy="1638300"/>
          </a:xfrm>
        </p:grpSpPr>
        <p:sp>
          <p:nvSpPr>
            <p:cNvPr id="66" name="Rectangle 66"/>
            <p:cNvSpPr/>
            <p:nvPr/>
          </p:nvSpPr>
          <p:spPr>
            <a:xfrm>
              <a:off x="6667500" y="4819650"/>
              <a:ext cx="4914900" cy="163830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  <p:txBody>
            <a:bodyPr/>
            <a:p/>
          </p:txBody>
        </p:sp>
        <p:sp>
          <p:nvSpPr>
            <p:cNvPr id="67" name="TextBox 67"/>
            <p:cNvSpPr txBox="1"/>
            <p:nvPr/>
          </p:nvSpPr>
          <p:spPr>
            <a:xfrm>
              <a:off x="6813804" y="4905375"/>
              <a:ext cx="16169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Knock Desk tabs</a:t>
              </a:r>
            </a:p>
          </p:txBody>
        </p:sp>
        <p:grpSp>
          <p:nvGrpSpPr>
            <p:cNvPr id="82" name="Group 82"/>
            <p:cNvGrpSpPr/>
            <p:nvPr/>
          </p:nvGrpSpPr>
          <p:grpSpPr>
            <a:xfrm>
              <a:off x="6819900" y="5219700"/>
              <a:ext cx="4191000" cy="685800"/>
              <a:chOff x="6819900" y="5219700"/>
              <a:chExt cx="4191000" cy="685800"/>
            </a:xfrm>
          </p:grpSpPr>
          <p:sp>
            <p:nvSpPr>
              <p:cNvPr id="68" name="Rectangle 68"/>
              <p:cNvSpPr/>
              <p:nvPr/>
            </p:nvSpPr>
            <p:spPr>
              <a:xfrm>
                <a:off x="6819900" y="5219700"/>
                <a:ext cx="914400" cy="285750"/>
              </a:xfrm>
              <a:prstGeom prst="roundRect">
                <a:avLst>
                  <a:gd name="adj" fmla="val 50000"/>
                </a:avLst>
              </a:prstGeom>
              <a:solidFill>
                <a:srgbClr val="FAFCFE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69" name="TextBox 69"/>
              <p:cNvSpPr txBox="1"/>
              <p:nvPr/>
            </p:nvSpPr>
            <p:spPr>
              <a:xfrm>
                <a:off x="6840920" y="5283200"/>
                <a:ext cx="87236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ctr"/>
                <a:r>
                  <a:rPr lang="en" sz="105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Overview</a:t>
                </a:r>
              </a:p>
            </p:txBody>
          </p:sp>
          <p:sp>
            <p:nvSpPr>
              <p:cNvPr id="70" name="Rectangle 70"/>
              <p:cNvSpPr/>
              <p:nvPr/>
            </p:nvSpPr>
            <p:spPr>
              <a:xfrm>
                <a:off x="7848600" y="5219700"/>
                <a:ext cx="1047750" cy="285750"/>
              </a:xfrm>
              <a:prstGeom prst="roundRect">
                <a:avLst>
                  <a:gd name="adj" fmla="val 50000"/>
                </a:avLst>
              </a:prstGeom>
              <a:solidFill>
                <a:srgbClr val="FAFCFE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71" name="TextBox 71"/>
              <p:cNvSpPr txBox="1"/>
              <p:nvPr/>
            </p:nvSpPr>
            <p:spPr>
              <a:xfrm>
                <a:off x="7869730" y="5283200"/>
                <a:ext cx="100549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ctr"/>
                <a:r>
                  <a:rPr lang="en" sz="105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Candidates</a:t>
                </a:r>
              </a:p>
            </p:txBody>
          </p:sp>
          <p:sp>
            <p:nvSpPr>
              <p:cNvPr id="72" name="Rectangle 72"/>
              <p:cNvSpPr/>
              <p:nvPr/>
            </p:nvSpPr>
            <p:spPr>
              <a:xfrm>
                <a:off x="9010650" y="5219700"/>
                <a:ext cx="1028700" cy="285750"/>
              </a:xfrm>
              <a:prstGeom prst="roundRect">
                <a:avLst>
                  <a:gd name="adj" fmla="val 50000"/>
                </a:avLst>
              </a:prstGeom>
              <a:solidFill>
                <a:srgbClr val="FAFCFE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73" name="TextBox 73"/>
              <p:cNvSpPr txBox="1"/>
              <p:nvPr/>
            </p:nvSpPr>
            <p:spPr>
              <a:xfrm>
                <a:off x="9002301" y="5283200"/>
                <a:ext cx="104539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ctr"/>
                <a:r>
                  <a:rPr lang="en" sz="105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Send queue</a:t>
                </a:r>
              </a:p>
            </p:txBody>
          </p:sp>
          <p:sp>
            <p:nvSpPr>
              <p:cNvPr id="74" name="Rectangle 74"/>
              <p:cNvSpPr/>
              <p:nvPr/>
            </p:nvSpPr>
            <p:spPr>
              <a:xfrm>
                <a:off x="10153650" y="5219700"/>
                <a:ext cx="857250" cy="285750"/>
              </a:xfrm>
              <a:prstGeom prst="roundRect">
                <a:avLst>
                  <a:gd name="adj" fmla="val 50000"/>
                </a:avLst>
              </a:prstGeom>
              <a:solidFill>
                <a:srgbClr val="FAFCFE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75" name="TextBox 75"/>
              <p:cNvSpPr txBox="1"/>
              <p:nvPr/>
            </p:nvSpPr>
            <p:spPr>
              <a:xfrm>
                <a:off x="10209201" y="5283200"/>
                <a:ext cx="74614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ctr"/>
                <a:r>
                  <a:rPr lang="en" sz="105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Replies</a:t>
                </a:r>
              </a:p>
            </p:txBody>
          </p:sp>
          <p:sp>
            <p:nvSpPr>
              <p:cNvPr id="76" name="Rectangle 76"/>
              <p:cNvSpPr/>
              <p:nvPr/>
            </p:nvSpPr>
            <p:spPr>
              <a:xfrm>
                <a:off x="6819900" y="5619750"/>
                <a:ext cx="933450" cy="285750"/>
              </a:xfrm>
              <a:prstGeom prst="roundRect">
                <a:avLst>
                  <a:gd name="adj" fmla="val 50000"/>
                </a:avLst>
              </a:prstGeom>
              <a:solidFill>
                <a:srgbClr val="FAFCFE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77" name="TextBox 77"/>
              <p:cNvSpPr txBox="1"/>
              <p:nvPr/>
            </p:nvSpPr>
            <p:spPr>
              <a:xfrm>
                <a:off x="6862253" y="5683250"/>
                <a:ext cx="84874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ctr"/>
                <a:r>
                  <a:rPr lang="en" sz="105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Sign-ups</a:t>
                </a:r>
              </a:p>
            </p:txBody>
          </p:sp>
          <p:sp>
            <p:nvSpPr>
              <p:cNvPr id="78" name="Rectangle 78"/>
              <p:cNvSpPr/>
              <p:nvPr/>
            </p:nvSpPr>
            <p:spPr>
              <a:xfrm>
                <a:off x="7867650" y="5619750"/>
                <a:ext cx="876300" cy="285750"/>
              </a:xfrm>
              <a:prstGeom prst="roundRect">
                <a:avLst>
                  <a:gd name="adj" fmla="val 50000"/>
                </a:avLst>
              </a:prstGeom>
              <a:solidFill>
                <a:srgbClr val="FAFCFE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79" name="TextBox 79"/>
              <p:cNvSpPr txBox="1"/>
              <p:nvPr/>
            </p:nvSpPr>
            <p:spPr>
              <a:xfrm>
                <a:off x="7885620" y="5683250"/>
                <a:ext cx="84036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ctr"/>
                <a:r>
                  <a:rPr lang="en" sz="105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Learning</a:t>
                </a:r>
              </a:p>
            </p:txBody>
          </p:sp>
          <p:sp>
            <p:nvSpPr>
              <p:cNvPr id="80" name="Rectangle 80"/>
              <p:cNvSpPr/>
              <p:nvPr/>
            </p:nvSpPr>
            <p:spPr>
              <a:xfrm>
                <a:off x="8858250" y="5619750"/>
                <a:ext cx="762000" cy="285750"/>
              </a:xfrm>
              <a:prstGeom prst="roundRect">
                <a:avLst>
                  <a:gd name="adj" fmla="val 50000"/>
                </a:avLst>
              </a:prstGeom>
              <a:solidFill>
                <a:srgbClr val="FAFCFE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81" name="TextBox 81"/>
              <p:cNvSpPr txBox="1"/>
              <p:nvPr/>
            </p:nvSpPr>
            <p:spPr>
              <a:xfrm>
                <a:off x="8901215" y="5683250"/>
                <a:ext cx="67607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ctr"/>
                <a:r>
                  <a:rPr lang="en" sz="105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Spend</a:t>
                </a:r>
              </a:p>
            </p:txBody>
          </p:sp>
        </p:grpSp>
        <p:sp>
          <p:nvSpPr>
            <p:cNvPr id="83" name="TextBox 83"/>
            <p:cNvSpPr txBox="1"/>
            <p:nvPr/>
          </p:nvSpPr>
          <p:spPr>
            <a:xfrm>
              <a:off x="6813804" y="6057900"/>
              <a:ext cx="47284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Tabs show a count when drafts or sign-ups wait for you.</a:t>
              </a:r>
            </a:p>
          </p:txBody>
        </p:sp>
      </p:grpSp>
      <p:grpSp>
        <p:nvGrpSpPr>
          <p:cNvPr id="86" name="source"/>
          <p:cNvGrpSpPr/>
          <p:nvPr/>
        </p:nvGrpSpPr>
        <p:grpSpPr>
          <a:xfrm>
            <a:off x="604647" y="6559550"/>
            <a:ext cx="7872684" cy="191643"/>
            <a:chOff x="604647" y="6559550"/>
            <a:chExt cx="7872684" cy="191643"/>
          </a:xfrm>
        </p:grpSpPr>
        <p:sp>
          <p:nvSpPr>
            <p:cNvPr id="85" name="TextBox 85"/>
            <p:cNvSpPr txBox="1"/>
            <p:nvPr/>
          </p:nvSpPr>
          <p:spPr>
            <a:xfrm>
              <a:off x="604647" y="6559550"/>
              <a:ext cx="960467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Source: deploy/vercel.json, deploy/api/index.py, deploy/public/crm/index.html, supabase/migrations/0003. Regions are project settings.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596646" y="444500"/>
            <a:ext cx="8105447" cy="1101979"/>
            <a:chOff x="596646" y="444500"/>
            <a:chExt cx="8105447" cy="1101979"/>
          </a:xfrm>
        </p:grpSpPr>
        <p:sp>
          <p:nvSpPr>
            <p:cNvPr id="2" name="TextBox 2"/>
            <p:cNvSpPr txBox="1"/>
            <p:nvPr/>
          </p:nvSpPr>
          <p:spPr>
            <a:xfrm>
              <a:off x="604647" y="444500"/>
              <a:ext cx="167508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QUALITY EVIDENCE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6646" y="666750"/>
              <a:ext cx="9888645" cy="87972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The design is tested twice: a blind comparison of</a:t>
              </a:r>
              <a:b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</a:br>
              <a: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writing approaches, and a suite that needs no model</a:t>
              </a:r>
            </a:p>
          </p:txBody>
        </p:sp>
      </p:grpSp>
      <p:grpSp>
        <p:nvGrpSpPr>
          <p:cNvPr id="8" name="page-stamp"/>
          <p:cNvGrpSpPr/>
          <p:nvPr/>
        </p:nvGrpSpPr>
        <p:grpSpPr>
          <a:xfrm>
            <a:off x="11163300" y="285750"/>
            <a:ext cx="495300" cy="609600"/>
            <a:chOff x="11163300" y="285750"/>
            <a:chExt cx="495300" cy="609600"/>
          </a:xfrm>
        </p:grpSpPr>
        <p:sp>
          <p:nvSpPr>
            <p:cNvPr id="5" name="Rectangle 5"/>
            <p:cNvSpPr/>
            <p:nvPr/>
          </p:nvSpPr>
          <p:spPr>
            <a:xfrm>
              <a:off x="11163300" y="285750"/>
              <a:ext cx="495300" cy="6096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8000"/>
                </a:srgbClr>
              </a:solidFill>
            </a:ln>
          </p:spPr>
          <p:txBody>
            <a:bodyPr/>
            <a:p/>
          </p:txBody>
        </p:sp>
        <p:sp>
          <p:nvSpPr>
            <p:cNvPr id="6" name="Rectangle 6"/>
            <p:cNvSpPr/>
            <p:nvPr/>
          </p:nvSpPr>
          <p:spPr>
            <a:xfrm>
              <a:off x="11220450" y="342900"/>
              <a:ext cx="381000" cy="495300"/>
            </a:xfrm>
            <a:prstGeom prst="rect">
              <a:avLst/>
            </a:prstGeom>
            <a:solidFill>
              <a:srgbClr val="B3301B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" name="TextBox 7"/>
            <p:cNvSpPr txBox="1"/>
            <p:nvPr/>
          </p:nvSpPr>
          <p:spPr>
            <a:xfrm>
              <a:off x="11164723" y="463550"/>
              <a:ext cx="4924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11</a:t>
              </a:r>
            </a:p>
          </p:txBody>
        </p:sp>
      </p:grpSp>
      <p:sp>
        <p:nvSpPr>
          <p:cNvPr id="9" name="Line 9"/>
          <p:cNvSpPr/>
          <p:nvPr/>
        </p:nvSpPr>
        <p:spPr>
          <a:xfrm>
            <a:off x="609600" y="15811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28575">
            <a:solidFill>
              <a:srgbClr val="97B9DD"/>
            </a:solidFill>
            <a:custDash>
              <a:ds d="66667" sp="233333"/>
            </a:custDash>
          </a:ln>
        </p:spPr>
        <p:txBody>
          <a:bodyPr/>
          <a:p/>
        </p:txBody>
      </p:sp>
      <p:grpSp>
        <p:nvGrpSpPr>
          <p:cNvPr id="11" name="blind-heading"/>
          <p:cNvGrpSpPr/>
          <p:nvPr/>
        </p:nvGrpSpPr>
        <p:grpSpPr>
          <a:xfrm>
            <a:off x="603123" y="1752600"/>
            <a:ext cx="4855173" cy="250317"/>
            <a:chOff x="603123" y="1752600"/>
            <a:chExt cx="4855173" cy="250317"/>
          </a:xfrm>
        </p:grpSpPr>
        <p:sp>
          <p:nvSpPr>
            <p:cNvPr id="10" name="TextBox 10"/>
            <p:cNvSpPr txBox="1"/>
            <p:nvPr/>
          </p:nvSpPr>
          <p:spPr>
            <a:xfrm>
              <a:off x="603123" y="1752600"/>
              <a:ext cx="5923311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28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Blind message test: seven approaches, the same test pairs</a:t>
              </a:r>
            </a:p>
          </p:txBody>
        </p:sp>
      </p:grpSp>
      <p:grpSp>
        <p:nvGrpSpPr>
          <p:cNvPr id="26" name="approach-chips"/>
          <p:cNvGrpSpPr/>
          <p:nvPr/>
        </p:nvGrpSpPr>
        <p:grpSpPr>
          <a:xfrm>
            <a:off x="609600" y="2057400"/>
            <a:ext cx="6019800" cy="1314450"/>
            <a:chOff x="609600" y="2057400"/>
            <a:chExt cx="6019800" cy="1314450"/>
          </a:xfrm>
        </p:grpSpPr>
        <p:sp>
          <p:nvSpPr>
            <p:cNvPr id="12" name="Rectangle 12"/>
            <p:cNvSpPr/>
            <p:nvPr/>
          </p:nvSpPr>
          <p:spPr>
            <a:xfrm>
              <a:off x="609600" y="2057400"/>
              <a:ext cx="2971800" cy="28575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3" name="TextBox 13"/>
            <p:cNvSpPr txBox="1"/>
            <p:nvPr/>
          </p:nvSpPr>
          <p:spPr>
            <a:xfrm>
              <a:off x="718566" y="2120900"/>
              <a:ext cx="29705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Knock engine: 3 writers and a judge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695700" y="2057400"/>
              <a:ext cx="2933700" cy="28575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5" name="TextBox 15"/>
            <p:cNvSpPr txBox="1"/>
            <p:nvPr/>
          </p:nvSpPr>
          <p:spPr>
            <a:xfrm>
              <a:off x="3804666" y="2120900"/>
              <a:ext cx="26245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Hybrid playbook with self-judge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09600" y="2400300"/>
              <a:ext cx="2971800" cy="28575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7" name="TextBox 17"/>
            <p:cNvSpPr txBox="1"/>
            <p:nvPr/>
          </p:nvSpPr>
          <p:spPr>
            <a:xfrm>
              <a:off x="718566" y="2463800"/>
              <a:ext cx="160006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Research playbook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695700" y="2400300"/>
              <a:ext cx="2933700" cy="28575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9" name="TextBox 19"/>
            <p:cNvSpPr txBox="1"/>
            <p:nvPr/>
          </p:nvSpPr>
          <p:spPr>
            <a:xfrm>
              <a:off x="3804666" y="2463800"/>
              <a:ext cx="16662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Single-writer engine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09600" y="2743200"/>
              <a:ext cx="2971800" cy="28575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1" name="TextBox 21"/>
            <p:cNvSpPr txBox="1"/>
            <p:nvPr/>
          </p:nvSpPr>
          <p:spPr>
            <a:xfrm>
              <a:off x="718566" y="2806700"/>
              <a:ext cx="14844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Sales copywriting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3695700" y="2743200"/>
              <a:ext cx="2933700" cy="28575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3" name="TextBox 23"/>
            <p:cNvSpPr txBox="1"/>
            <p:nvPr/>
          </p:nvSpPr>
          <p:spPr>
            <a:xfrm>
              <a:off x="3804666" y="2806700"/>
              <a:ext cx="24806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Five-point networking method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09600" y="3086100"/>
              <a:ext cx="2971800" cy="28575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5" name="TextBox 25"/>
            <p:cNvSpPr txBox="1"/>
            <p:nvPr/>
          </p:nvSpPr>
          <p:spPr>
            <a:xfrm>
              <a:off x="718566" y="3149600"/>
              <a:ext cx="11860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Plain baseline</a:t>
              </a:r>
            </a:p>
          </p:txBody>
        </p:sp>
      </p:grpSp>
      <p:grpSp>
        <p:nvGrpSpPr>
          <p:cNvPr id="28" name="judges-line"/>
          <p:cNvGrpSpPr/>
          <p:nvPr/>
        </p:nvGrpSpPr>
        <p:grpSpPr>
          <a:xfrm>
            <a:off x="603885" y="3517900"/>
            <a:ext cx="3763778" cy="410528"/>
            <a:chOff x="603885" y="3517900"/>
            <a:chExt cx="3763778" cy="410528"/>
          </a:xfrm>
        </p:grpSpPr>
        <p:sp>
          <p:nvSpPr>
            <p:cNvPr id="27" name="TextBox 27"/>
            <p:cNvSpPr txBox="1"/>
            <p:nvPr/>
          </p:nvSpPr>
          <p:spPr>
            <a:xfrm>
              <a:off x="603885" y="3517900"/>
              <a:ext cx="4591809" cy="4105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en" sz="11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Ten test pairs. Four blind judges: a recipient, a hiring manager, an</a:t>
              </a:r>
              <a:br>
                <a:rPr lang="en" sz="11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1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Indian recruiter and a rubric auditor.</a:t>
              </a:r>
            </a:p>
          </p:txBody>
        </p:sp>
      </p:grpSp>
      <p:grpSp>
        <p:nvGrpSpPr>
          <p:cNvPr id="31" name="result-band"/>
          <p:cNvGrpSpPr/>
          <p:nvPr/>
        </p:nvGrpSpPr>
        <p:grpSpPr>
          <a:xfrm>
            <a:off x="609600" y="4038600"/>
            <a:ext cx="6019800" cy="571500"/>
            <a:chOff x="609600" y="4038600"/>
            <a:chExt cx="6019800" cy="571500"/>
          </a:xfrm>
        </p:grpSpPr>
        <p:sp>
          <p:nvSpPr>
            <p:cNvPr id="29" name="Rectangle 29"/>
            <p:cNvSpPr/>
            <p:nvPr/>
          </p:nvSpPr>
          <p:spPr>
            <a:xfrm>
              <a:off x="609600" y="4038600"/>
              <a:ext cx="6019800" cy="5715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0" name="TextBox 30"/>
            <p:cNvSpPr txBox="1"/>
            <p:nvPr/>
          </p:nvSpPr>
          <p:spPr>
            <a:xfrm>
              <a:off x="790956" y="4171950"/>
              <a:ext cx="594608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80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Our engine beat the six other approaches.</a:t>
              </a:r>
            </a:p>
          </p:txBody>
        </p:sp>
      </p:grpSp>
      <p:grpSp>
        <p:nvGrpSpPr>
          <p:cNvPr id="39" name="lessons"/>
          <p:cNvGrpSpPr/>
          <p:nvPr/>
        </p:nvGrpSpPr>
        <p:grpSpPr>
          <a:xfrm>
            <a:off x="603885" y="4737100"/>
            <a:ext cx="3654361" cy="1591628"/>
            <a:chOff x="603885" y="4737100"/>
            <a:chExt cx="3654361" cy="1591628"/>
          </a:xfrm>
        </p:grpSpPr>
        <p:sp>
          <p:nvSpPr>
            <p:cNvPr id="32" name="TextBox 32"/>
            <p:cNvSpPr txBox="1"/>
            <p:nvPr/>
          </p:nvSpPr>
          <p:spPr>
            <a:xfrm>
              <a:off x="603885" y="4737100"/>
              <a:ext cx="32496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12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What the test changed in prompts.py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09600" y="5048250"/>
              <a:ext cx="76200" cy="762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4" name="TextBox 34"/>
            <p:cNvSpPr txBox="1"/>
            <p:nvPr/>
          </p:nvSpPr>
          <p:spPr>
            <a:xfrm>
              <a:off x="775335" y="5003800"/>
              <a:ext cx="4249151" cy="4105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en" sz="11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Openers: no self-introduction, concrete batch-year ties, and a</a:t>
              </a:r>
              <a:br>
                <a:rPr lang="en" sz="11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1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practitioner question only that person could answer.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09600" y="5505450"/>
              <a:ext cx="76200" cy="762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6" name="TextBox 36"/>
            <p:cNvSpPr txBox="1"/>
            <p:nvPr/>
          </p:nvSpPr>
          <p:spPr>
            <a:xfrm>
              <a:off x="775335" y="5461000"/>
              <a:ext cx="4129100" cy="4105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en" sz="11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Follow-ups: a second verified fact, an insider line, either/or</a:t>
              </a:r>
              <a:br>
                <a:rPr lang="en" sz="11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1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questions, an openly smaller ask, an easy out.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09600" y="5962650"/>
              <a:ext cx="76200" cy="762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8" name="TextBox 38"/>
            <p:cNvSpPr txBox="1"/>
            <p:nvPr/>
          </p:nvSpPr>
          <p:spPr>
            <a:xfrm>
              <a:off x="775335" y="5918200"/>
              <a:ext cx="3777211" cy="4105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en" sz="11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Three writers plus a judge stays the default. It beat the</a:t>
              </a:r>
              <a:br>
                <a:rPr lang="en" sz="11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1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single-writer version of the same engine.</a:t>
              </a:r>
            </a:p>
          </p:txBody>
        </p:sp>
      </p:grpSp>
      <p:grpSp>
        <p:nvGrpSpPr>
          <p:cNvPr id="41" name="tests-heading"/>
          <p:cNvGrpSpPr/>
          <p:nvPr/>
        </p:nvGrpSpPr>
        <p:grpSpPr>
          <a:xfrm>
            <a:off x="7042023" y="1752600"/>
            <a:ext cx="2881636" cy="250317"/>
            <a:chOff x="7042023" y="1752600"/>
            <a:chExt cx="2881636" cy="250317"/>
          </a:xfrm>
        </p:grpSpPr>
        <p:sp>
          <p:nvSpPr>
            <p:cNvPr id="40" name="TextBox 40"/>
            <p:cNvSpPr txBox="1"/>
            <p:nvPr/>
          </p:nvSpPr>
          <p:spPr>
            <a:xfrm>
              <a:off x="7042023" y="1752600"/>
              <a:ext cx="3515595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28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Automated tests, no model needed</a:t>
              </a:r>
            </a:p>
          </p:txBody>
        </p:sp>
      </p:grpSp>
      <p:grpSp>
        <p:nvGrpSpPr>
          <p:cNvPr id="45" name="tile-engine-tests"/>
          <p:cNvGrpSpPr/>
          <p:nvPr/>
        </p:nvGrpSpPr>
        <p:grpSpPr>
          <a:xfrm>
            <a:off x="7048500" y="2038350"/>
            <a:ext cx="2190750" cy="1238250"/>
            <a:chOff x="7048500" y="2038350"/>
            <a:chExt cx="2190750" cy="1238250"/>
          </a:xfrm>
        </p:grpSpPr>
        <p:sp>
          <p:nvSpPr>
            <p:cNvPr id="42" name="Rectangle 42"/>
            <p:cNvSpPr/>
            <p:nvPr/>
          </p:nvSpPr>
          <p:spPr>
            <a:xfrm>
              <a:off x="7048500" y="2038350"/>
              <a:ext cx="2190750" cy="1238250"/>
            </a:xfrm>
            <a:prstGeom prst="rect">
              <a:avLst/>
            </a:prstGeom>
            <a:solidFill>
              <a:srgbClr val="FAFCFE"/>
            </a:solidFill>
            <a:ln w="19050">
              <a:solidFill>
                <a:srgbClr val="0E1F3A"/>
              </a:solidFill>
            </a:ln>
          </p:spPr>
          <p:txBody>
            <a:bodyPr/>
            <a:p/>
          </p:txBody>
        </p:sp>
        <p:sp>
          <p:nvSpPr>
            <p:cNvPr id="43" name="TextBox 43"/>
            <p:cNvSpPr txBox="1"/>
            <p:nvPr/>
          </p:nvSpPr>
          <p:spPr>
            <a:xfrm>
              <a:off x="7181850" y="2089150"/>
              <a:ext cx="1030432" cy="990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51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36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194804" y="2876550"/>
              <a:ext cx="11834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2B4266"/>
                  </a:solidFill>
                  <a:latin typeface="+mj-lt"/>
                  <a:ea typeface="+mj-ea"/>
                  <a:cs typeface="+mj-cs"/>
                </a:rPr>
                <a:t>engine tests</a:t>
              </a:r>
            </a:p>
          </p:txBody>
        </p:sp>
      </p:grpSp>
      <p:grpSp>
        <p:nvGrpSpPr>
          <p:cNvPr id="49" name="tile-api-tests"/>
          <p:cNvGrpSpPr/>
          <p:nvPr/>
        </p:nvGrpSpPr>
        <p:grpSpPr>
          <a:xfrm>
            <a:off x="9391650" y="2038350"/>
            <a:ext cx="2190750" cy="1238250"/>
            <a:chOff x="9391650" y="2038350"/>
            <a:chExt cx="2190750" cy="1238250"/>
          </a:xfrm>
        </p:grpSpPr>
        <p:sp>
          <p:nvSpPr>
            <p:cNvPr id="46" name="Rectangle 46"/>
            <p:cNvSpPr/>
            <p:nvPr/>
          </p:nvSpPr>
          <p:spPr>
            <a:xfrm>
              <a:off x="9391650" y="2038350"/>
              <a:ext cx="2190750" cy="1238250"/>
            </a:xfrm>
            <a:prstGeom prst="rect">
              <a:avLst/>
            </a:prstGeom>
            <a:solidFill>
              <a:srgbClr val="FAFCFE"/>
            </a:solidFill>
            <a:ln w="19050">
              <a:solidFill>
                <a:srgbClr val="0E1F3A"/>
              </a:solidFill>
            </a:ln>
          </p:spPr>
          <p:txBody>
            <a:bodyPr/>
            <a:p/>
          </p:txBody>
        </p:sp>
        <p:sp>
          <p:nvSpPr>
            <p:cNvPr id="47" name="TextBox 47"/>
            <p:cNvSpPr txBox="1"/>
            <p:nvPr/>
          </p:nvSpPr>
          <p:spPr>
            <a:xfrm>
              <a:off x="9525000" y="2089150"/>
              <a:ext cx="648566" cy="990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51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7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537954" y="2876550"/>
              <a:ext cx="9467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2B4266"/>
                  </a:solidFill>
                  <a:latin typeface="+mj-lt"/>
                  <a:ea typeface="+mj-ea"/>
                  <a:cs typeface="+mj-cs"/>
                </a:rPr>
                <a:t>API tests</a:t>
              </a:r>
            </a:p>
          </p:txBody>
        </p:sp>
      </p:grpSp>
      <p:grpSp>
        <p:nvGrpSpPr>
          <p:cNvPr id="65" name="tests-covered"/>
          <p:cNvGrpSpPr/>
          <p:nvPr/>
        </p:nvGrpSpPr>
        <p:grpSpPr>
          <a:xfrm>
            <a:off x="7042404" y="3429000"/>
            <a:ext cx="3914242" cy="2615946"/>
            <a:chOff x="7042404" y="3429000"/>
            <a:chExt cx="3914242" cy="2615946"/>
          </a:xfrm>
        </p:grpSpPr>
        <p:sp>
          <p:nvSpPr>
            <p:cNvPr id="50" name="TextBox 50"/>
            <p:cNvSpPr txBox="1"/>
            <p:nvPr/>
          </p:nvSpPr>
          <p:spPr>
            <a:xfrm>
              <a:off x="7042404" y="3429000"/>
              <a:ext cx="412088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200" i="1" dirty="0">
                  <a:solidFill>
                    <a:srgbClr val="4A5F80"/>
                  </a:solidFill>
                  <a:latin typeface="+mn-lt"/>
                  <a:ea typeface="+mn-ea"/>
                  <a:cs typeface="+mn-cs"/>
                </a:rPr>
                <a:t>Both pass on the last run, offline, no model calls.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7048500" y="3762375"/>
              <a:ext cx="76200" cy="762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52" name="TextBox 52"/>
            <p:cNvSpPr txBox="1"/>
            <p:nvPr/>
          </p:nvSpPr>
          <p:spPr>
            <a:xfrm>
              <a:off x="7232904" y="3695700"/>
              <a:ext cx="43280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No citation, no hook: invented fact ids are dropped.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7048500" y="4048125"/>
              <a:ext cx="76200" cy="762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54" name="TextBox 54"/>
            <p:cNvSpPr txBox="1"/>
            <p:nvPr/>
          </p:nvSpPr>
          <p:spPr>
            <a:xfrm>
              <a:off x="7232904" y="3981450"/>
              <a:ext cx="4542965" cy="4347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Opener rules reject asks, spam phrases, dashes and a missing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name.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7048500" y="4533900"/>
              <a:ext cx="76200" cy="762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56" name="TextBox 56"/>
            <p:cNvSpPr txBox="1"/>
            <p:nvPr/>
          </p:nvSpPr>
          <p:spPr>
            <a:xfrm>
              <a:off x="7232904" y="4467225"/>
              <a:ext cx="42629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A reply that tries to inject a link is never auto-sent.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7048500" y="4819650"/>
              <a:ext cx="76200" cy="762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58" name="TextBox 58"/>
            <p:cNvSpPr txBox="1"/>
            <p:nvPr/>
          </p:nvSpPr>
          <p:spPr>
            <a:xfrm>
              <a:off x="7232904" y="4752975"/>
              <a:ext cx="4140802" cy="4347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Thompson sampling favours winners and still tries new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writers.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7048500" y="5305425"/>
              <a:ext cx="76200" cy="762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60" name="TextBox 60"/>
            <p:cNvSpPr txBox="1"/>
            <p:nvPr/>
          </p:nvSpPr>
          <p:spPr>
            <a:xfrm>
              <a:off x="7232904" y="5238750"/>
              <a:ext cx="391763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Weak writers retire and a new one is spawned.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7048500" y="5591175"/>
              <a:ext cx="76200" cy="762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62" name="TextBox 62"/>
            <p:cNvSpPr txBox="1"/>
            <p:nvPr/>
          </p:nvSpPr>
          <p:spPr>
            <a:xfrm>
              <a:off x="7232904" y="5524500"/>
              <a:ext cx="38302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Follow-ups draft once, then the thread closes.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7048500" y="5876925"/>
              <a:ext cx="76200" cy="762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64" name="TextBox 64"/>
            <p:cNvSpPr txBox="1"/>
            <p:nvPr/>
          </p:nvSpPr>
          <p:spPr>
            <a:xfrm>
              <a:off x="7232904" y="5810250"/>
              <a:ext cx="44269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The API demands the password and the cron secret.</a:t>
              </a:r>
            </a:p>
          </p:txBody>
        </p:sp>
      </p:grpSp>
      <p:grpSp>
        <p:nvGrpSpPr>
          <p:cNvPr id="67" name="source"/>
          <p:cNvGrpSpPr/>
          <p:nvPr/>
        </p:nvGrpSpPr>
        <p:grpSpPr>
          <a:xfrm>
            <a:off x="604647" y="6559550"/>
            <a:ext cx="4798888" cy="191643"/>
            <a:chOff x="604647" y="6559550"/>
            <a:chExt cx="4798888" cy="191643"/>
          </a:xfrm>
        </p:grpSpPr>
        <p:sp>
          <p:nvSpPr>
            <p:cNvPr id="66" name="TextBox 66"/>
            <p:cNvSpPr txBox="1"/>
            <p:nvPr/>
          </p:nvSpPr>
          <p:spPr>
            <a:xfrm>
              <a:off x="604647" y="6559550"/>
              <a:ext cx="585464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Source: competitions/messages-openers/REPORT.md, engine/tests, deploy/tests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596646" y="444500"/>
            <a:ext cx="8467771" cy="1101979"/>
            <a:chOff x="596646" y="444500"/>
            <a:chExt cx="8467771" cy="1101979"/>
          </a:xfrm>
        </p:grpSpPr>
        <p:sp>
          <p:nvSpPr>
            <p:cNvPr id="2" name="TextBox 2"/>
            <p:cNvSpPr txBox="1"/>
            <p:nvPr/>
          </p:nvSpPr>
          <p:spPr>
            <a:xfrm>
              <a:off x="604647" y="444500"/>
              <a:ext cx="194905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COST TRANSPARENCY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6646" y="666750"/>
              <a:ext cx="10330680" cy="87972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Every model call is metered, so spend is measured per</a:t>
              </a:r>
              <a:b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</a:br>
              <a: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command, candidate and prospect, never guessed</a:t>
              </a:r>
            </a:p>
          </p:txBody>
        </p:sp>
      </p:grpSp>
      <p:grpSp>
        <p:nvGrpSpPr>
          <p:cNvPr id="8" name="page-stamp"/>
          <p:cNvGrpSpPr/>
          <p:nvPr/>
        </p:nvGrpSpPr>
        <p:grpSpPr>
          <a:xfrm>
            <a:off x="11163300" y="285750"/>
            <a:ext cx="495300" cy="609600"/>
            <a:chOff x="11163300" y="285750"/>
            <a:chExt cx="495300" cy="609600"/>
          </a:xfrm>
        </p:grpSpPr>
        <p:sp>
          <p:nvSpPr>
            <p:cNvPr id="5" name="Rectangle 5"/>
            <p:cNvSpPr/>
            <p:nvPr/>
          </p:nvSpPr>
          <p:spPr>
            <a:xfrm>
              <a:off x="11163300" y="285750"/>
              <a:ext cx="495300" cy="6096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8000"/>
                </a:srgbClr>
              </a:solidFill>
            </a:ln>
          </p:spPr>
          <p:txBody>
            <a:bodyPr/>
            <a:p/>
          </p:txBody>
        </p:sp>
        <p:sp>
          <p:nvSpPr>
            <p:cNvPr id="6" name="Rectangle 6"/>
            <p:cNvSpPr/>
            <p:nvPr/>
          </p:nvSpPr>
          <p:spPr>
            <a:xfrm>
              <a:off x="11220450" y="342900"/>
              <a:ext cx="381000" cy="495300"/>
            </a:xfrm>
            <a:prstGeom prst="rect">
              <a:avLst/>
            </a:prstGeom>
            <a:solidFill>
              <a:srgbClr val="B3301B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" name="TextBox 7"/>
            <p:cNvSpPr txBox="1"/>
            <p:nvPr/>
          </p:nvSpPr>
          <p:spPr>
            <a:xfrm>
              <a:off x="11164723" y="463550"/>
              <a:ext cx="4924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12</a:t>
              </a:r>
            </a:p>
          </p:txBody>
        </p:sp>
      </p:grpSp>
      <p:sp>
        <p:nvSpPr>
          <p:cNvPr id="9" name="Line 9"/>
          <p:cNvSpPr/>
          <p:nvPr/>
        </p:nvSpPr>
        <p:spPr>
          <a:xfrm>
            <a:off x="609600" y="15811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28575">
            <a:solidFill>
              <a:srgbClr val="97B9DD"/>
            </a:solidFill>
            <a:custDash>
              <a:ds d="66667" sp="233333"/>
            </a:custDash>
          </a:ln>
        </p:spPr>
        <p:txBody>
          <a:bodyPr/>
          <a:p/>
        </p:txBody>
      </p:sp>
      <p:grpSp>
        <p:nvGrpSpPr>
          <p:cNvPr id="15" name="meter-1"/>
          <p:cNvGrpSpPr/>
          <p:nvPr/>
        </p:nvGrpSpPr>
        <p:grpSpPr>
          <a:xfrm>
            <a:off x="609600" y="1771650"/>
            <a:ext cx="2781300" cy="1333500"/>
            <a:chOff x="609600" y="1771650"/>
            <a:chExt cx="2781300" cy="1333500"/>
          </a:xfrm>
        </p:grpSpPr>
        <p:sp>
          <p:nvSpPr>
            <p:cNvPr id="10" name="Rectangle 10"/>
            <p:cNvSpPr/>
            <p:nvPr/>
          </p:nvSpPr>
          <p:spPr>
            <a:xfrm>
              <a:off x="609600" y="1771650"/>
              <a:ext cx="2571750" cy="13335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  <p:txBody>
            <a:bodyPr/>
            <a:p/>
          </p:txBody>
        </p:sp>
        <p:sp>
          <p:nvSpPr>
            <p:cNvPr id="11" name="Rectangle 11"/>
            <p:cNvSpPr/>
            <p:nvPr/>
          </p:nvSpPr>
          <p:spPr>
            <a:xfrm>
              <a:off x="609600" y="1771650"/>
              <a:ext cx="2571750" cy="38100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2" name="TextBox 12"/>
            <p:cNvSpPr txBox="1"/>
            <p:nvPr/>
          </p:nvSpPr>
          <p:spPr>
            <a:xfrm>
              <a:off x="755523" y="1866900"/>
              <a:ext cx="228972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28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1 Every call is counted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5904" y="2228850"/>
              <a:ext cx="2513857" cy="83477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After each response,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record_usage() adds input, output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and cached tokens, plus any web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searches.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3200400" y="2438400"/>
              <a:ext cx="190500" cy="1"/>
            </a:xfrm>
            <a:prstGeom prst="line">
              <a:avLst/>
            </a:prstGeom>
            <a:noFill/>
            <a:ln w="19050">
              <a:solidFill>
                <a:srgbClr val="0E1F3A"/>
              </a:solidFill>
              <a:tailEnd type="triangle" w="lg" len="lg"/>
            </a:ln>
          </p:spPr>
          <p:txBody>
            <a:bodyPr/>
            <a:p/>
          </p:txBody>
        </p:sp>
      </p:grpSp>
      <p:grpSp>
        <p:nvGrpSpPr>
          <p:cNvPr id="21" name="meter-2"/>
          <p:cNvGrpSpPr/>
          <p:nvPr/>
        </p:nvGrpSpPr>
        <p:grpSpPr>
          <a:xfrm>
            <a:off x="3409950" y="1771650"/>
            <a:ext cx="2781300" cy="1333500"/>
            <a:chOff x="3409950" y="1771650"/>
            <a:chExt cx="2781300" cy="1333500"/>
          </a:xfrm>
        </p:grpSpPr>
        <p:sp>
          <p:nvSpPr>
            <p:cNvPr id="16" name="Rectangle 16"/>
            <p:cNvSpPr/>
            <p:nvPr/>
          </p:nvSpPr>
          <p:spPr>
            <a:xfrm>
              <a:off x="3409950" y="1771650"/>
              <a:ext cx="2571750" cy="13335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  <p:txBody>
            <a:bodyPr/>
            <a:p/>
          </p:txBody>
        </p:sp>
        <p:sp>
          <p:nvSpPr>
            <p:cNvPr id="17" name="Rectangle 17"/>
            <p:cNvSpPr/>
            <p:nvPr/>
          </p:nvSpPr>
          <p:spPr>
            <a:xfrm>
              <a:off x="3409950" y="1771650"/>
              <a:ext cx="2571750" cy="38100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8" name="TextBox 18"/>
            <p:cNvSpPr txBox="1"/>
            <p:nvPr/>
          </p:nvSpPr>
          <p:spPr>
            <a:xfrm>
              <a:off x="3555873" y="1866900"/>
              <a:ext cx="2851341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28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2 Each command logs a row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556254" y="2228850"/>
              <a:ext cx="2384341" cy="83477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The command name, candidate,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token counts and cost are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appended to the shared usage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document.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6000750" y="2438400"/>
              <a:ext cx="190500" cy="1"/>
            </a:xfrm>
            <a:prstGeom prst="line">
              <a:avLst/>
            </a:prstGeom>
            <a:noFill/>
            <a:ln w="19050">
              <a:solidFill>
                <a:srgbClr val="0E1F3A"/>
              </a:solidFill>
              <a:tailEnd type="triangle" w="lg" len="lg"/>
            </a:ln>
          </p:spPr>
          <p:txBody>
            <a:bodyPr/>
            <a:p/>
          </p:txBody>
        </p:sp>
      </p:grpSp>
      <p:grpSp>
        <p:nvGrpSpPr>
          <p:cNvPr id="27" name="meter-3"/>
          <p:cNvGrpSpPr/>
          <p:nvPr/>
        </p:nvGrpSpPr>
        <p:grpSpPr>
          <a:xfrm>
            <a:off x="6210300" y="1771650"/>
            <a:ext cx="2781300" cy="1333500"/>
            <a:chOff x="6210300" y="1771650"/>
            <a:chExt cx="2781300" cy="1333500"/>
          </a:xfrm>
        </p:grpSpPr>
        <p:sp>
          <p:nvSpPr>
            <p:cNvPr id="22" name="Rectangle 22"/>
            <p:cNvSpPr/>
            <p:nvPr/>
          </p:nvSpPr>
          <p:spPr>
            <a:xfrm>
              <a:off x="6210300" y="1771650"/>
              <a:ext cx="2571750" cy="13335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  <p:txBody>
            <a:bodyPr/>
            <a:p/>
          </p:txBody>
        </p:sp>
        <p:sp>
          <p:nvSpPr>
            <p:cNvPr id="23" name="Rectangle 23"/>
            <p:cNvSpPr/>
            <p:nvPr/>
          </p:nvSpPr>
          <p:spPr>
            <a:xfrm>
              <a:off x="6210300" y="1771650"/>
              <a:ext cx="2571750" cy="38100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4" name="TextBox 24"/>
            <p:cNvSpPr txBox="1"/>
            <p:nvPr/>
          </p:nvSpPr>
          <p:spPr>
            <a:xfrm>
              <a:off x="6356223" y="1866900"/>
              <a:ext cx="211530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28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3 The cost command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356604" y="2228850"/>
              <a:ext cx="2090426" cy="63474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Reports totals overall or per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candidate, and per targeted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prospect.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8801100" y="2438400"/>
              <a:ext cx="190500" cy="1"/>
            </a:xfrm>
            <a:prstGeom prst="line">
              <a:avLst/>
            </a:prstGeom>
            <a:noFill/>
            <a:ln w="19050">
              <a:solidFill>
                <a:srgbClr val="0E1F3A"/>
              </a:solidFill>
              <a:tailEnd type="triangle" w="lg" len="lg"/>
            </a:ln>
          </p:spPr>
          <p:txBody>
            <a:bodyPr/>
            <a:p/>
          </p:txBody>
        </p:sp>
      </p:grpSp>
      <p:grpSp>
        <p:nvGrpSpPr>
          <p:cNvPr id="32" name="meter-4"/>
          <p:cNvGrpSpPr/>
          <p:nvPr/>
        </p:nvGrpSpPr>
        <p:grpSpPr>
          <a:xfrm>
            <a:off x="9010650" y="1771650"/>
            <a:ext cx="2571750" cy="1333500"/>
            <a:chOff x="9010650" y="1771650"/>
            <a:chExt cx="2571750" cy="1333500"/>
          </a:xfrm>
        </p:grpSpPr>
        <p:sp>
          <p:nvSpPr>
            <p:cNvPr id="28" name="Rectangle 28"/>
            <p:cNvSpPr/>
            <p:nvPr/>
          </p:nvSpPr>
          <p:spPr>
            <a:xfrm>
              <a:off x="9010650" y="1771650"/>
              <a:ext cx="2571750" cy="13335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9" name="Rectangle 29"/>
            <p:cNvSpPr/>
            <p:nvPr/>
          </p:nvSpPr>
          <p:spPr>
            <a:xfrm>
              <a:off x="9010650" y="1771650"/>
              <a:ext cx="2571750" cy="381000"/>
            </a:xfrm>
            <a:prstGeom prst="rect">
              <a:avLst/>
            </a:prstGeom>
            <a:solidFill>
              <a:srgbClr val="2B4266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0" name="TextBox 30"/>
            <p:cNvSpPr txBox="1"/>
            <p:nvPr/>
          </p:nvSpPr>
          <p:spPr>
            <a:xfrm>
              <a:off x="9156573" y="1866900"/>
              <a:ext cx="255259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28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4 Knock Desk, Spend tab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156954" y="2228850"/>
              <a:ext cx="2503631" cy="4347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FAFCFE"/>
                  </a:solidFill>
                  <a:latin typeface="+mn-lt"/>
                  <a:ea typeface="+mn-ea"/>
                  <a:cs typeface="+mn-cs"/>
                </a:rPr>
                <a:t>Shows the same usage rows, read</a:t>
              </a:r>
              <a:br>
                <a:rPr lang="en" sz="1200" dirty="0">
                  <a:solidFill>
                    <a:srgbClr val="FAFCFE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FAFCFE"/>
                  </a:solidFill>
                  <a:latin typeface="+mn-lt"/>
                  <a:ea typeface="+mn-ea"/>
                  <a:cs typeface="+mn-cs"/>
                </a:rPr>
                <a:t>through the API.</a:t>
              </a:r>
            </a:p>
          </p:txBody>
        </p:sp>
      </p:grpSp>
      <p:grpSp>
        <p:nvGrpSpPr>
          <p:cNvPr id="34" name="effort-heading"/>
          <p:cNvGrpSpPr/>
          <p:nvPr/>
        </p:nvGrpSpPr>
        <p:grpSpPr>
          <a:xfrm>
            <a:off x="603123" y="3238500"/>
            <a:ext cx="2335485" cy="250317"/>
            <a:chOff x="603123" y="3238500"/>
            <a:chExt cx="2335485" cy="250317"/>
          </a:xfrm>
        </p:grpSpPr>
        <p:sp>
          <p:nvSpPr>
            <p:cNvPr id="33" name="TextBox 33"/>
            <p:cNvSpPr txBox="1"/>
            <p:nvPr/>
          </p:nvSpPr>
          <p:spPr>
            <a:xfrm>
              <a:off x="603123" y="3238500"/>
              <a:ext cx="2849291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28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Effort is matched to the task</a:t>
              </a:r>
            </a:p>
          </p:txBody>
        </p:sp>
      </p:grpSp>
      <p:grpSp>
        <p:nvGrpSpPr>
          <p:cNvPr id="39" name="effort-low"/>
          <p:cNvGrpSpPr/>
          <p:nvPr/>
        </p:nvGrpSpPr>
        <p:grpSpPr>
          <a:xfrm>
            <a:off x="609600" y="3505200"/>
            <a:ext cx="3486150" cy="1238250"/>
            <a:chOff x="609600" y="3505200"/>
            <a:chExt cx="3486150" cy="1238250"/>
          </a:xfrm>
        </p:grpSpPr>
        <p:sp>
          <p:nvSpPr>
            <p:cNvPr id="35" name="Rectangle 35"/>
            <p:cNvSpPr/>
            <p:nvPr/>
          </p:nvSpPr>
          <p:spPr>
            <a:xfrm>
              <a:off x="609600" y="3505200"/>
              <a:ext cx="3486150" cy="123825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  <p:txBody>
            <a:bodyPr/>
            <a:p/>
          </p:txBody>
        </p:sp>
        <p:sp>
          <p:nvSpPr>
            <p:cNvPr id="36" name="Rectangle 36"/>
            <p:cNvSpPr/>
            <p:nvPr/>
          </p:nvSpPr>
          <p:spPr>
            <a:xfrm>
              <a:off x="609600" y="3505200"/>
              <a:ext cx="3486150" cy="32385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7" name="TextBox 37"/>
            <p:cNvSpPr txBox="1"/>
            <p:nvPr/>
          </p:nvSpPr>
          <p:spPr>
            <a:xfrm>
              <a:off x="756285" y="3584575"/>
              <a:ext cx="12985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12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LOW EFFORT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55523" y="3987800"/>
              <a:ext cx="3331133" cy="66941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Classifying a person into a bucket,</a:t>
              </a:r>
              <a:b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extracting facts from web results, running</a:t>
              </a:r>
              <a:b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a search.</a:t>
              </a:r>
            </a:p>
          </p:txBody>
        </p:sp>
      </p:grpSp>
      <p:grpSp>
        <p:nvGrpSpPr>
          <p:cNvPr id="44" name="effort-medium"/>
          <p:cNvGrpSpPr/>
          <p:nvPr/>
        </p:nvGrpSpPr>
        <p:grpSpPr>
          <a:xfrm>
            <a:off x="4352925" y="3505200"/>
            <a:ext cx="3486150" cy="1238250"/>
            <a:chOff x="4352925" y="3505200"/>
            <a:chExt cx="3486150" cy="1238250"/>
          </a:xfrm>
        </p:grpSpPr>
        <p:sp>
          <p:nvSpPr>
            <p:cNvPr id="40" name="Rectangle 40"/>
            <p:cNvSpPr/>
            <p:nvPr/>
          </p:nvSpPr>
          <p:spPr>
            <a:xfrm>
              <a:off x="4352925" y="3505200"/>
              <a:ext cx="3486150" cy="123825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  <p:txBody>
            <a:bodyPr/>
            <a:p/>
          </p:txBody>
        </p:sp>
        <p:sp>
          <p:nvSpPr>
            <p:cNvPr id="41" name="Rectangle 41"/>
            <p:cNvSpPr/>
            <p:nvPr/>
          </p:nvSpPr>
          <p:spPr>
            <a:xfrm>
              <a:off x="4352925" y="3505200"/>
              <a:ext cx="3486150" cy="323850"/>
            </a:xfrm>
            <a:prstGeom prst="rect">
              <a:avLst/>
            </a:prstGeom>
            <a:solidFill>
              <a:srgbClr val="97B9DD"/>
            </a:solidFill>
            <a:ln>
              <a:noFill/>
            </a:ln>
          </p:spPr>
          <p:txBody>
            <a:bodyPr/>
            <a:p/>
          </p:txBody>
        </p:sp>
        <p:sp>
          <p:nvSpPr>
            <p:cNvPr id="42" name="TextBox 42"/>
            <p:cNvSpPr txBox="1"/>
            <p:nvPr/>
          </p:nvSpPr>
          <p:spPr>
            <a:xfrm>
              <a:off x="4499610" y="3584575"/>
              <a:ext cx="30909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12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MEDIUM EFFORT, THE DEFAULT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498848" y="3987800"/>
              <a:ext cx="3143757" cy="66941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Reading a profile, the three writers,</a:t>
              </a:r>
              <a:b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follow-ups. The default for a structured</a:t>
              </a:r>
              <a:b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call.</a:t>
              </a:r>
            </a:p>
          </p:txBody>
        </p:sp>
      </p:grpSp>
      <p:grpSp>
        <p:nvGrpSpPr>
          <p:cNvPr id="49" name="effort-high"/>
          <p:cNvGrpSpPr/>
          <p:nvPr/>
        </p:nvGrpSpPr>
        <p:grpSpPr>
          <a:xfrm>
            <a:off x="8096250" y="3505200"/>
            <a:ext cx="3486150" cy="1238250"/>
            <a:chOff x="8096250" y="3505200"/>
            <a:chExt cx="3486150" cy="1238250"/>
          </a:xfrm>
        </p:grpSpPr>
        <p:sp>
          <p:nvSpPr>
            <p:cNvPr id="45" name="Rectangle 45"/>
            <p:cNvSpPr/>
            <p:nvPr/>
          </p:nvSpPr>
          <p:spPr>
            <a:xfrm>
              <a:off x="8096250" y="3505200"/>
              <a:ext cx="3486150" cy="123825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  <p:txBody>
            <a:bodyPr/>
            <a:p/>
          </p:txBody>
        </p:sp>
        <p:sp>
          <p:nvSpPr>
            <p:cNvPr id="46" name="Rectangle 46"/>
            <p:cNvSpPr/>
            <p:nvPr/>
          </p:nvSpPr>
          <p:spPr>
            <a:xfrm>
              <a:off x="8096250" y="3505200"/>
              <a:ext cx="3486150" cy="32385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47" name="TextBox 47"/>
            <p:cNvSpPr txBox="1"/>
            <p:nvPr/>
          </p:nvSpPr>
          <p:spPr>
            <a:xfrm>
              <a:off x="8242935" y="3584575"/>
              <a:ext cx="13311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12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HIGH EFFORT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242173" y="3987800"/>
              <a:ext cx="3183104" cy="45986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Finding hooks, the judge, reply analysis</a:t>
              </a:r>
              <a:b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and the learning steps.</a:t>
              </a:r>
            </a:p>
          </p:txBody>
        </p:sp>
      </p:grpSp>
      <p:grpSp>
        <p:nvGrpSpPr>
          <p:cNvPr id="53" name="note-prices"/>
          <p:cNvGrpSpPr/>
          <p:nvPr/>
        </p:nvGrpSpPr>
        <p:grpSpPr>
          <a:xfrm>
            <a:off x="609600" y="5143500"/>
            <a:ext cx="3486150" cy="1181100"/>
            <a:chOff x="609600" y="5143500"/>
            <a:chExt cx="3486150" cy="1181100"/>
          </a:xfrm>
        </p:grpSpPr>
        <p:sp>
          <p:nvSpPr>
            <p:cNvPr id="50" name="Rectangle 50"/>
            <p:cNvSpPr/>
            <p:nvPr/>
          </p:nvSpPr>
          <p:spPr>
            <a:xfrm>
              <a:off x="609600" y="5143500"/>
              <a:ext cx="3486150" cy="118110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  <p:txBody>
            <a:bodyPr/>
            <a:p/>
          </p:txBody>
        </p:sp>
        <p:sp>
          <p:nvSpPr>
            <p:cNvPr id="51" name="TextBox 51"/>
            <p:cNvSpPr txBox="1"/>
            <p:nvPr/>
          </p:nvSpPr>
          <p:spPr>
            <a:xfrm>
              <a:off x="755904" y="5257800"/>
              <a:ext cx="14449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One price table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55904" y="5486400"/>
              <a:ext cx="2973471" cy="63474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Prices for the model in use sit in one</a:t>
              </a:r>
              <a:br>
                <a:rPr lang="en" sz="12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constant, and cost is computed from the</a:t>
              </a:r>
              <a:br>
                <a:rPr lang="en" sz="12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counts.</a:t>
              </a:r>
            </a:p>
          </p:txBody>
        </p:sp>
      </p:grpSp>
      <p:grpSp>
        <p:nvGrpSpPr>
          <p:cNvPr id="57" name="note-fallback"/>
          <p:cNvGrpSpPr/>
          <p:nvPr/>
        </p:nvGrpSpPr>
        <p:grpSpPr>
          <a:xfrm>
            <a:off x="4352925" y="5143500"/>
            <a:ext cx="3486150" cy="1181100"/>
            <a:chOff x="4352925" y="5143500"/>
            <a:chExt cx="3486150" cy="1181100"/>
          </a:xfrm>
        </p:grpSpPr>
        <p:sp>
          <p:nvSpPr>
            <p:cNvPr id="54" name="Rectangle 54"/>
            <p:cNvSpPr/>
            <p:nvPr/>
          </p:nvSpPr>
          <p:spPr>
            <a:xfrm>
              <a:off x="4352925" y="5143500"/>
              <a:ext cx="3486150" cy="118110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  <p:txBody>
            <a:bodyPr/>
            <a:p/>
          </p:txBody>
        </p:sp>
        <p:sp>
          <p:nvSpPr>
            <p:cNvPr id="55" name="TextBox 55"/>
            <p:cNvSpPr txBox="1"/>
            <p:nvPr/>
          </p:nvSpPr>
          <p:spPr>
            <a:xfrm>
              <a:off x="4499229" y="5257800"/>
              <a:ext cx="1509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Fallback built in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4499229" y="5486400"/>
              <a:ext cx="3251695" cy="63474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If the primary model declines, a server-side</a:t>
              </a:r>
              <a:br>
                <a:rPr lang="en" sz="12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fallback answers. A refusal is raised, not</a:t>
              </a:r>
              <a:br>
                <a:rPr lang="en" sz="12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hidden.</a:t>
              </a:r>
            </a:p>
          </p:txBody>
        </p:sp>
      </p:grpSp>
      <p:grpSp>
        <p:nvGrpSpPr>
          <p:cNvPr id="61" name="note-isolated"/>
          <p:cNvGrpSpPr/>
          <p:nvPr/>
        </p:nvGrpSpPr>
        <p:grpSpPr>
          <a:xfrm>
            <a:off x="8096250" y="5143500"/>
            <a:ext cx="3486150" cy="1181100"/>
            <a:chOff x="8096250" y="5143500"/>
            <a:chExt cx="3486150" cy="1181100"/>
          </a:xfrm>
        </p:grpSpPr>
        <p:sp>
          <p:nvSpPr>
            <p:cNvPr id="58" name="Rectangle 58"/>
            <p:cNvSpPr/>
            <p:nvPr/>
          </p:nvSpPr>
          <p:spPr>
            <a:xfrm>
              <a:off x="8096250" y="5143500"/>
              <a:ext cx="3486150" cy="118110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  <p:txBody>
            <a:bodyPr/>
            <a:p/>
          </p:txBody>
        </p:sp>
        <p:sp>
          <p:nvSpPr>
            <p:cNvPr id="59" name="TextBox 59"/>
            <p:cNvSpPr txBox="1"/>
            <p:nvPr/>
          </p:nvSpPr>
          <p:spPr>
            <a:xfrm>
              <a:off x="8242554" y="5257800"/>
              <a:ext cx="19265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Failures are isolated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242554" y="5486400"/>
              <a:ext cx="3339675" cy="4347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If one prospect fails it stays enriched and the</a:t>
              </a:r>
              <a:br>
                <a:rPr lang="en" sz="12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batch continues. Rerun generate to retry.</a:t>
              </a:r>
            </a:p>
          </p:txBody>
        </p:sp>
      </p:grpSp>
      <p:grpSp>
        <p:nvGrpSpPr>
          <p:cNvPr id="63" name="source"/>
          <p:cNvGrpSpPr/>
          <p:nvPr/>
        </p:nvGrpSpPr>
        <p:grpSpPr>
          <a:xfrm>
            <a:off x="604647" y="6559550"/>
            <a:ext cx="5455347" cy="191643"/>
            <a:chOff x="604647" y="6559550"/>
            <a:chExt cx="5455347" cy="191643"/>
          </a:xfrm>
        </p:grpSpPr>
        <p:sp>
          <p:nvSpPr>
            <p:cNvPr id="62" name="TextBox 62"/>
            <p:cNvSpPr txBox="1"/>
            <p:nvPr/>
          </p:nvSpPr>
          <p:spPr>
            <a:xfrm>
              <a:off x="604647" y="6559550"/>
              <a:ext cx="66555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Source: engine/outreach/llm.py (record_usage, effort levels), cli.py (cost), deploy/api/index.py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596646" y="444500"/>
            <a:ext cx="8141524" cy="1101979"/>
            <a:chOff x="596646" y="444500"/>
            <a:chExt cx="8141524" cy="1101979"/>
          </a:xfrm>
        </p:grpSpPr>
        <p:sp>
          <p:nvSpPr>
            <p:cNvPr id="2" name="TextBox 2"/>
            <p:cNvSpPr txBox="1"/>
            <p:nvPr/>
          </p:nvSpPr>
          <p:spPr>
            <a:xfrm>
              <a:off x="604647" y="444500"/>
              <a:ext cx="251587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CURRENT STATUS AND GAPS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6646" y="666750"/>
              <a:ext cx="9932659" cy="87972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The engine and desk are built and tested; three open</a:t>
              </a:r>
              <a:b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</a:br>
              <a: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steps stand between today and a live end-to-end run</a:t>
              </a:r>
            </a:p>
          </p:txBody>
        </p:sp>
      </p:grpSp>
      <p:grpSp>
        <p:nvGrpSpPr>
          <p:cNvPr id="8" name="page-stamp"/>
          <p:cNvGrpSpPr/>
          <p:nvPr/>
        </p:nvGrpSpPr>
        <p:grpSpPr>
          <a:xfrm>
            <a:off x="11163300" y="285750"/>
            <a:ext cx="495300" cy="609600"/>
            <a:chOff x="11163300" y="285750"/>
            <a:chExt cx="495300" cy="609600"/>
          </a:xfrm>
        </p:grpSpPr>
        <p:sp>
          <p:nvSpPr>
            <p:cNvPr id="5" name="Rectangle 5"/>
            <p:cNvSpPr/>
            <p:nvPr/>
          </p:nvSpPr>
          <p:spPr>
            <a:xfrm>
              <a:off x="11163300" y="285750"/>
              <a:ext cx="495300" cy="6096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8000"/>
                </a:srgbClr>
              </a:solidFill>
            </a:ln>
          </p:spPr>
          <p:txBody>
            <a:bodyPr/>
            <a:p/>
          </p:txBody>
        </p:sp>
        <p:sp>
          <p:nvSpPr>
            <p:cNvPr id="6" name="Rectangle 6"/>
            <p:cNvSpPr/>
            <p:nvPr/>
          </p:nvSpPr>
          <p:spPr>
            <a:xfrm>
              <a:off x="11220450" y="342900"/>
              <a:ext cx="381000" cy="495300"/>
            </a:xfrm>
            <a:prstGeom prst="rect">
              <a:avLst/>
            </a:prstGeom>
            <a:solidFill>
              <a:srgbClr val="B3301B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" name="TextBox 7"/>
            <p:cNvSpPr txBox="1"/>
            <p:nvPr/>
          </p:nvSpPr>
          <p:spPr>
            <a:xfrm>
              <a:off x="11164723" y="463550"/>
              <a:ext cx="4924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13</a:t>
              </a:r>
            </a:p>
          </p:txBody>
        </p:sp>
      </p:grpSp>
      <p:sp>
        <p:nvSpPr>
          <p:cNvPr id="9" name="Line 9"/>
          <p:cNvSpPr/>
          <p:nvPr/>
        </p:nvSpPr>
        <p:spPr>
          <a:xfrm>
            <a:off x="609600" y="15811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28575">
            <a:solidFill>
              <a:srgbClr val="97B9DD"/>
            </a:solidFill>
            <a:custDash>
              <a:ds d="66667" sp="233333"/>
            </a:custDash>
          </a:ln>
        </p:spPr>
        <p:txBody>
          <a:bodyPr/>
          <a:p/>
        </p:txBody>
      </p:sp>
      <p:grpSp>
        <p:nvGrpSpPr>
          <p:cNvPr id="11" name="built-heading"/>
          <p:cNvGrpSpPr/>
          <p:nvPr/>
        </p:nvGrpSpPr>
        <p:grpSpPr>
          <a:xfrm>
            <a:off x="603123" y="1733550"/>
            <a:ext cx="1310600" cy="250317"/>
            <a:chOff x="603123" y="1733550"/>
            <a:chExt cx="1310600" cy="250317"/>
          </a:xfrm>
        </p:grpSpPr>
        <p:sp>
          <p:nvSpPr>
            <p:cNvPr id="10" name="TextBox 10"/>
            <p:cNvSpPr txBox="1"/>
            <p:nvPr/>
          </p:nvSpPr>
          <p:spPr>
            <a:xfrm>
              <a:off x="603123" y="1733550"/>
              <a:ext cx="159893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28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Built and tested</a:t>
              </a:r>
            </a:p>
          </p:txBody>
        </p:sp>
      </p:grpSp>
      <p:grpSp>
        <p:nvGrpSpPr>
          <p:cNvPr id="24" name="built-list"/>
          <p:cNvGrpSpPr/>
          <p:nvPr/>
        </p:nvGrpSpPr>
        <p:grpSpPr>
          <a:xfrm>
            <a:off x="676275" y="2101850"/>
            <a:ext cx="4136315" cy="3406267"/>
            <a:chOff x="676275" y="2101850"/>
            <a:chExt cx="4136315" cy="3406267"/>
          </a:xfrm>
        </p:grpSpPr>
        <p:sp>
          <p:nvSpPr>
            <p:cNvPr id="12" name="Ellipse 12"/>
            <p:cNvSpPr/>
            <p:nvPr/>
          </p:nvSpPr>
          <p:spPr>
            <a:xfrm>
              <a:off x="676275" y="2124075"/>
              <a:ext cx="171450" cy="171450"/>
            </a:xfrm>
            <a:prstGeom prst="ellipse">
              <a:avLst/>
            </a:prstGeom>
            <a:solidFill>
              <a:srgbClr val="0E1F3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3" name="TextBox 13"/>
            <p:cNvSpPr txBox="1"/>
            <p:nvPr/>
          </p:nvSpPr>
          <p:spPr>
            <a:xfrm>
              <a:off x="984123" y="2101850"/>
              <a:ext cx="4537414" cy="45986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Engine: discovery, hooks, writers, judge, reply agent and</a:t>
              </a:r>
              <a:b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learning.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676275" y="2752725"/>
              <a:ext cx="171450" cy="171450"/>
            </a:xfrm>
            <a:prstGeom prst="ellipse">
              <a:avLst/>
            </a:prstGeom>
            <a:solidFill>
              <a:srgbClr val="0E1F3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5" name="TextBox 15"/>
            <p:cNvSpPr txBox="1"/>
            <p:nvPr/>
          </p:nvSpPr>
          <p:spPr>
            <a:xfrm>
              <a:off x="984123" y="2743200"/>
              <a:ext cx="331584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36 engine tests and 7 API tests pass.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676275" y="3381375"/>
              <a:ext cx="171450" cy="171450"/>
            </a:xfrm>
            <a:prstGeom prst="ellipse">
              <a:avLst/>
            </a:prstGeom>
            <a:solidFill>
              <a:srgbClr val="0E1F3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7" name="TextBox 17"/>
            <p:cNvSpPr txBox="1"/>
            <p:nvPr/>
          </p:nvSpPr>
          <p:spPr>
            <a:xfrm>
              <a:off x="984123" y="3359150"/>
              <a:ext cx="4608652" cy="45986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Supabase schema applied, with row-level security and the</a:t>
              </a:r>
              <a:b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token gate.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676275" y="4010025"/>
              <a:ext cx="171450" cy="171450"/>
            </a:xfrm>
            <a:prstGeom prst="ellipse">
              <a:avLst/>
            </a:prstGeom>
            <a:solidFill>
              <a:srgbClr val="0E1F3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9" name="TextBox 19"/>
            <p:cNvSpPr txBox="1"/>
            <p:nvPr/>
          </p:nvSpPr>
          <p:spPr>
            <a:xfrm>
              <a:off x="984123" y="4000500"/>
              <a:ext cx="4670729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FastAPI and the Knock Desk are set up on Vercel.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676275" y="4638675"/>
              <a:ext cx="171450" cy="171450"/>
            </a:xfrm>
            <a:prstGeom prst="ellipse">
              <a:avLst/>
            </a:prstGeom>
            <a:solidFill>
              <a:srgbClr val="0E1F3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1" name="TextBox 21"/>
            <p:cNvSpPr txBox="1"/>
            <p:nvPr/>
          </p:nvSpPr>
          <p:spPr>
            <a:xfrm>
              <a:off x="984123" y="4616450"/>
              <a:ext cx="4394383" cy="45986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Website sign-ups land in intake_requests and import as</a:t>
              </a:r>
              <a:b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candidates.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676275" y="5267325"/>
              <a:ext cx="171450" cy="171450"/>
            </a:xfrm>
            <a:prstGeom prst="ellipse">
              <a:avLst/>
            </a:prstGeom>
            <a:solidFill>
              <a:srgbClr val="0E1F3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3" name="TextBox 23"/>
            <p:cNvSpPr txBox="1"/>
            <p:nvPr/>
          </p:nvSpPr>
          <p:spPr>
            <a:xfrm>
              <a:off x="984123" y="5257800"/>
              <a:ext cx="4474835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Cost metering and the cost command are in place.</a:t>
              </a:r>
            </a:p>
          </p:txBody>
        </p:sp>
      </p:grpSp>
      <p:grpSp>
        <p:nvGrpSpPr>
          <p:cNvPr id="26" name="open-heading"/>
          <p:cNvGrpSpPr/>
          <p:nvPr/>
        </p:nvGrpSpPr>
        <p:grpSpPr>
          <a:xfrm>
            <a:off x="6280023" y="1733550"/>
            <a:ext cx="4069071" cy="250317"/>
            <a:chOff x="6280023" y="1733550"/>
            <a:chExt cx="4069071" cy="250317"/>
          </a:xfrm>
        </p:grpSpPr>
        <p:sp>
          <p:nvSpPr>
            <p:cNvPr id="25" name="TextBox 25"/>
            <p:cNvSpPr txBox="1"/>
            <p:nvPr/>
          </p:nvSpPr>
          <p:spPr>
            <a:xfrm>
              <a:off x="6280023" y="1733550"/>
              <a:ext cx="4964266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28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Open before go-live (dashed means not yet done)</a:t>
              </a:r>
            </a:p>
          </p:txBody>
        </p:sp>
      </p:grpSp>
      <p:grpSp>
        <p:nvGrpSpPr>
          <p:cNvPr id="32" name="open-1"/>
          <p:cNvGrpSpPr/>
          <p:nvPr/>
        </p:nvGrpSpPr>
        <p:grpSpPr>
          <a:xfrm>
            <a:off x="6286500" y="2038350"/>
            <a:ext cx="5295900" cy="1162050"/>
            <a:chOff x="6286500" y="2038350"/>
            <a:chExt cx="5295900" cy="1162050"/>
          </a:xfrm>
        </p:grpSpPr>
        <p:sp>
          <p:nvSpPr>
            <p:cNvPr id="27" name="Rectangle 27"/>
            <p:cNvSpPr/>
            <p:nvPr/>
          </p:nvSpPr>
          <p:spPr>
            <a:xfrm>
              <a:off x="6286500" y="2038350"/>
              <a:ext cx="5295900" cy="1162050"/>
            </a:xfrm>
            <a:prstGeom prst="rect">
              <a:avLst/>
            </a:prstGeom>
            <a:solidFill>
              <a:srgbClr val="FAFCFE"/>
            </a:solidFill>
            <a:ln w="19050">
              <a:solidFill>
                <a:srgbClr val="0E1F3A"/>
              </a:solidFill>
              <a:custDash>
                <a:ds d="400000" sp="250000"/>
              </a:custDash>
            </a:ln>
          </p:spPr>
          <p:txBody>
            <a:bodyPr/>
            <a:p/>
          </p:txBody>
        </p:sp>
        <p:sp>
          <p:nvSpPr>
            <p:cNvPr id="28" name="Ellipse 28"/>
            <p:cNvSpPr/>
            <p:nvPr/>
          </p:nvSpPr>
          <p:spPr>
            <a:xfrm>
              <a:off x="6438900" y="2190750"/>
              <a:ext cx="304800" cy="304800"/>
            </a:xfrm>
            <a:prstGeom prst="ellipse">
              <a:avLst/>
            </a:prstGeom>
            <a:noFill/>
            <a:ln w="19050">
              <a:solidFill>
                <a:srgbClr val="0E1F3A"/>
              </a:solidFill>
            </a:ln>
          </p:spPr>
          <p:txBody>
            <a:bodyPr/>
            <a:p/>
          </p:txBody>
        </p:sp>
        <p:sp>
          <p:nvSpPr>
            <p:cNvPr id="29" name="TextBox 29"/>
            <p:cNvSpPr txBox="1"/>
            <p:nvPr/>
          </p:nvSpPr>
          <p:spPr>
            <a:xfrm>
              <a:off x="6425979" y="2247900"/>
              <a:ext cx="3306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en" sz="12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1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889242" y="2235200"/>
              <a:ext cx="40285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3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Add ANTHROPIC_API_KEY in Vercel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890004" y="2533650"/>
              <a:ext cx="4728855" cy="4347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Until it is set, sync and the daily cron answer with an error, and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no replies are drafted.</a:t>
              </a:r>
            </a:p>
          </p:txBody>
        </p:sp>
      </p:grpSp>
      <p:grpSp>
        <p:nvGrpSpPr>
          <p:cNvPr id="38" name="open-2"/>
          <p:cNvGrpSpPr/>
          <p:nvPr/>
        </p:nvGrpSpPr>
        <p:grpSpPr>
          <a:xfrm>
            <a:off x="6286500" y="3333750"/>
            <a:ext cx="5295900" cy="1162050"/>
            <a:chOff x="6286500" y="3333750"/>
            <a:chExt cx="5295900" cy="1162050"/>
          </a:xfrm>
        </p:grpSpPr>
        <p:sp>
          <p:nvSpPr>
            <p:cNvPr id="33" name="Rectangle 33"/>
            <p:cNvSpPr/>
            <p:nvPr/>
          </p:nvSpPr>
          <p:spPr>
            <a:xfrm>
              <a:off x="6286500" y="3333750"/>
              <a:ext cx="5295900" cy="1162050"/>
            </a:xfrm>
            <a:prstGeom prst="rect">
              <a:avLst/>
            </a:prstGeom>
            <a:solidFill>
              <a:srgbClr val="FAFCFE"/>
            </a:solidFill>
            <a:ln w="19050">
              <a:solidFill>
                <a:srgbClr val="0E1F3A"/>
              </a:solidFill>
              <a:custDash>
                <a:ds d="400000" sp="250000"/>
              </a:custDash>
            </a:ln>
          </p:spPr>
          <p:txBody>
            <a:bodyPr/>
            <a:p/>
          </p:txBody>
        </p:sp>
        <p:sp>
          <p:nvSpPr>
            <p:cNvPr id="34" name="Ellipse 34"/>
            <p:cNvSpPr/>
            <p:nvPr/>
          </p:nvSpPr>
          <p:spPr>
            <a:xfrm>
              <a:off x="6438900" y="3486150"/>
              <a:ext cx="304800" cy="304800"/>
            </a:xfrm>
            <a:prstGeom prst="ellipse">
              <a:avLst/>
            </a:prstGeom>
            <a:noFill/>
            <a:ln w="19050">
              <a:solidFill>
                <a:srgbClr val="0E1F3A"/>
              </a:solidFill>
            </a:ln>
          </p:spPr>
          <p:txBody>
            <a:bodyPr/>
            <a:p/>
          </p:txBody>
        </p:sp>
        <p:sp>
          <p:nvSpPr>
            <p:cNvPr id="35" name="TextBox 35"/>
            <p:cNvSpPr txBox="1"/>
            <p:nvPr/>
          </p:nvSpPr>
          <p:spPr>
            <a:xfrm>
              <a:off x="6425979" y="3543300"/>
              <a:ext cx="3306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en" sz="12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2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889242" y="3530600"/>
              <a:ext cx="36461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3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Run one real candidate end to end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890004" y="3829050"/>
              <a:ext cx="4677018" cy="4347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Every hook and message is reviewed by hand and every edit is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logged. The first real learning signal.</a:t>
              </a:r>
            </a:p>
          </p:txBody>
        </p:sp>
      </p:grpSp>
      <p:grpSp>
        <p:nvGrpSpPr>
          <p:cNvPr id="44" name="open-3"/>
          <p:cNvGrpSpPr/>
          <p:nvPr/>
        </p:nvGrpSpPr>
        <p:grpSpPr>
          <a:xfrm>
            <a:off x="6286500" y="4629150"/>
            <a:ext cx="5295900" cy="1162050"/>
            <a:chOff x="6286500" y="4629150"/>
            <a:chExt cx="5295900" cy="1162050"/>
          </a:xfrm>
        </p:grpSpPr>
        <p:sp>
          <p:nvSpPr>
            <p:cNvPr id="39" name="Rectangle 39"/>
            <p:cNvSpPr/>
            <p:nvPr/>
          </p:nvSpPr>
          <p:spPr>
            <a:xfrm>
              <a:off x="6286500" y="4629150"/>
              <a:ext cx="5295900" cy="1162050"/>
            </a:xfrm>
            <a:prstGeom prst="rect">
              <a:avLst/>
            </a:prstGeom>
            <a:solidFill>
              <a:srgbClr val="FAFCFE"/>
            </a:solidFill>
            <a:ln w="19050">
              <a:solidFill>
                <a:srgbClr val="0E1F3A"/>
              </a:solidFill>
              <a:custDash>
                <a:ds d="400000" sp="250000"/>
              </a:custDash>
            </a:ln>
          </p:spPr>
          <p:txBody>
            <a:bodyPr/>
            <a:p/>
          </p:txBody>
        </p:sp>
        <p:sp>
          <p:nvSpPr>
            <p:cNvPr id="40" name="Ellipse 40"/>
            <p:cNvSpPr/>
            <p:nvPr/>
          </p:nvSpPr>
          <p:spPr>
            <a:xfrm>
              <a:off x="6438900" y="4781550"/>
              <a:ext cx="304800" cy="304800"/>
            </a:xfrm>
            <a:prstGeom prst="ellipse">
              <a:avLst/>
            </a:prstGeom>
            <a:noFill/>
            <a:ln w="19050">
              <a:solidFill>
                <a:srgbClr val="0E1F3A"/>
              </a:solidFill>
            </a:ln>
          </p:spPr>
          <p:txBody>
            <a:bodyPr/>
            <a:p/>
          </p:txBody>
        </p:sp>
        <p:sp>
          <p:nvSpPr>
            <p:cNvPr id="41" name="TextBox 41"/>
            <p:cNvSpPr txBox="1"/>
            <p:nvPr/>
          </p:nvSpPr>
          <p:spPr>
            <a:xfrm>
              <a:off x="6425979" y="4838700"/>
              <a:ext cx="3306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en" sz="12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3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889242" y="4826000"/>
              <a:ext cx="32252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3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Schedule the LGM bridge task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890004" y="5124450"/>
              <a:ext cx="4445278" cy="4347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The Claude in Chrome task that sends due outbox rows and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copies replies back is written, not yet scheduled.</a:t>
              </a:r>
            </a:p>
          </p:txBody>
        </p:sp>
      </p:grpSp>
      <p:grpSp>
        <p:nvGrpSpPr>
          <p:cNvPr id="47" name="status-takeaway"/>
          <p:cNvGrpSpPr/>
          <p:nvPr/>
        </p:nvGrpSpPr>
        <p:grpSpPr>
          <a:xfrm>
            <a:off x="609600" y="5981700"/>
            <a:ext cx="10972800" cy="438150"/>
            <a:chOff x="609600" y="5981700"/>
            <a:chExt cx="10972800" cy="438150"/>
          </a:xfrm>
        </p:grpSpPr>
        <p:sp>
          <p:nvSpPr>
            <p:cNvPr id="45" name="Rectangle 45"/>
            <p:cNvSpPr/>
            <p:nvPr/>
          </p:nvSpPr>
          <p:spPr>
            <a:xfrm>
              <a:off x="609600" y="5981700"/>
              <a:ext cx="10972800" cy="43815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  <p:txBody>
            <a:bodyPr/>
            <a:p/>
          </p:txBody>
        </p:sp>
        <p:sp>
          <p:nvSpPr>
            <p:cNvPr id="46" name="TextBox 46"/>
            <p:cNvSpPr txBox="1"/>
            <p:nvPr/>
          </p:nvSpPr>
          <p:spPr>
            <a:xfrm>
              <a:off x="792480" y="6089650"/>
              <a:ext cx="525108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The open steps are a setting, a run and a schedule.</a:t>
              </a:r>
            </a:p>
          </p:txBody>
        </p:sp>
      </p:grpSp>
      <p:grpSp>
        <p:nvGrpSpPr>
          <p:cNvPr id="49" name="source"/>
          <p:cNvGrpSpPr/>
          <p:nvPr/>
        </p:nvGrpSpPr>
        <p:grpSpPr>
          <a:xfrm>
            <a:off x="604647" y="6559550"/>
            <a:ext cx="6241125" cy="191643"/>
            <a:chOff x="604647" y="6559550"/>
            <a:chExt cx="6241125" cy="191643"/>
          </a:xfrm>
        </p:grpSpPr>
        <p:sp>
          <p:nvSpPr>
            <p:cNvPr id="48" name="TextBox 48"/>
            <p:cNvSpPr txBox="1"/>
            <p:nvPr/>
          </p:nvSpPr>
          <p:spPr>
            <a:xfrm>
              <a:off x="604647" y="6559550"/>
              <a:ext cx="761417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Source: deploy/api/index.py (/api/health, sync guard), docs/AUTOMATION.md, docs/LAUNCH_PLAN.md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596646" y="444500"/>
            <a:ext cx="7997605" cy="1101979"/>
            <a:chOff x="596646" y="444500"/>
            <a:chExt cx="7997605" cy="1101979"/>
          </a:xfrm>
        </p:grpSpPr>
        <p:sp>
          <p:nvSpPr>
            <p:cNvPr id="2" name="TextBox 2"/>
            <p:cNvSpPr txBox="1"/>
            <p:nvPr/>
          </p:nvSpPr>
          <p:spPr>
            <a:xfrm>
              <a:off x="604647" y="444500"/>
              <a:ext cx="95870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ROADMAP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6646" y="666750"/>
              <a:ext cx="9757078" cy="87972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Next: close the loop on a real candidate, then widen</a:t>
              </a:r>
              <a:b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</a:br>
              <a: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the sender and the client view</a:t>
              </a:r>
            </a:p>
          </p:txBody>
        </p:sp>
      </p:grpSp>
      <p:grpSp>
        <p:nvGrpSpPr>
          <p:cNvPr id="8" name="page-stamp"/>
          <p:cNvGrpSpPr/>
          <p:nvPr/>
        </p:nvGrpSpPr>
        <p:grpSpPr>
          <a:xfrm>
            <a:off x="11163300" y="285750"/>
            <a:ext cx="495300" cy="609600"/>
            <a:chOff x="11163300" y="285750"/>
            <a:chExt cx="495300" cy="609600"/>
          </a:xfrm>
        </p:grpSpPr>
        <p:sp>
          <p:nvSpPr>
            <p:cNvPr id="5" name="Rectangle 5"/>
            <p:cNvSpPr/>
            <p:nvPr/>
          </p:nvSpPr>
          <p:spPr>
            <a:xfrm>
              <a:off x="11163300" y="285750"/>
              <a:ext cx="495300" cy="6096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8000"/>
                </a:srgbClr>
              </a:solidFill>
            </a:ln>
          </p:spPr>
          <p:txBody>
            <a:bodyPr/>
            <a:p/>
          </p:txBody>
        </p:sp>
        <p:sp>
          <p:nvSpPr>
            <p:cNvPr id="6" name="Rectangle 6"/>
            <p:cNvSpPr/>
            <p:nvPr/>
          </p:nvSpPr>
          <p:spPr>
            <a:xfrm>
              <a:off x="11220450" y="342900"/>
              <a:ext cx="381000" cy="495300"/>
            </a:xfrm>
            <a:prstGeom prst="rect">
              <a:avLst/>
            </a:prstGeom>
            <a:solidFill>
              <a:srgbClr val="B3301B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" name="TextBox 7"/>
            <p:cNvSpPr txBox="1"/>
            <p:nvPr/>
          </p:nvSpPr>
          <p:spPr>
            <a:xfrm>
              <a:off x="11164723" y="463550"/>
              <a:ext cx="4924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14</a:t>
              </a:r>
            </a:p>
          </p:txBody>
        </p:sp>
      </p:grpSp>
      <p:sp>
        <p:nvSpPr>
          <p:cNvPr id="9" name="Line 9"/>
          <p:cNvSpPr/>
          <p:nvPr/>
        </p:nvSpPr>
        <p:spPr>
          <a:xfrm>
            <a:off x="609600" y="15811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28575">
            <a:solidFill>
              <a:srgbClr val="97B9DD"/>
            </a:solidFill>
            <a:custDash>
              <a:ds d="66667" sp="233333"/>
            </a:custDash>
          </a:ln>
        </p:spPr>
        <p:txBody>
          <a:bodyPr/>
          <a:p/>
        </p:txBody>
      </p:sp>
      <p:grpSp>
        <p:nvGrpSpPr>
          <p:cNvPr id="17" name="phase-strip"/>
          <p:cNvGrpSpPr/>
          <p:nvPr/>
        </p:nvGrpSpPr>
        <p:grpSpPr>
          <a:xfrm>
            <a:off x="609600" y="1771650"/>
            <a:ext cx="10744200" cy="609600"/>
            <a:chOff x="609600" y="1771650"/>
            <a:chExt cx="10744200" cy="609600"/>
          </a:xfrm>
        </p:grpSpPr>
        <p:sp>
          <p:nvSpPr>
            <p:cNvPr id="10" name="Freeform 10"/>
            <p:cNvSpPr/>
            <p:nvPr/>
          </p:nvSpPr>
          <p:spPr>
            <a:xfrm>
              <a:off x="609600" y="1771650"/>
              <a:ext cx="3733800" cy="609600"/>
            </a:xfrm>
            <a:prstGeom prst="homePlate">
              <a:avLst/>
            </a:prstGeom>
            <a:solidFill>
              <a:srgbClr val="0E1F3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1" name="Freeform 11"/>
            <p:cNvSpPr/>
            <p:nvPr/>
          </p:nvSpPr>
          <p:spPr>
            <a:xfrm>
              <a:off x="4114800" y="1771650"/>
              <a:ext cx="3733800" cy="609600"/>
            </a:xfrm>
            <a:prstGeom prst="chevron">
              <a:avLst/>
            </a:prstGeom>
            <a:solidFill>
              <a:srgbClr val="A9C7E6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2" name="Freeform 12"/>
            <p:cNvSpPr/>
            <p:nvPr/>
          </p:nvSpPr>
          <p:spPr>
            <a:xfrm>
              <a:off x="7620000" y="1771650"/>
              <a:ext cx="3733800" cy="609600"/>
            </a:xfrm>
            <a:prstGeom prst="chevron">
              <a:avLst/>
            </a:prstGeom>
            <a:solidFill>
              <a:srgbClr val="C4D9EF"/>
            </a:solidFill>
            <a:ln>
              <a:noFill/>
            </a:ln>
          </p:spPr>
          <p:txBody>
            <a:bodyPr/>
            <a:p/>
          </p:txBody>
        </p:sp>
        <p:grpSp>
          <p:nvGrpSpPr>
            <p:cNvPr id="16" name="Group 16"/>
            <p:cNvGrpSpPr/>
            <p:nvPr/>
          </p:nvGrpSpPr>
          <p:grpSpPr>
            <a:xfrm>
              <a:off x="829056" y="1924050"/>
              <a:ext cx="7932756" cy="352044"/>
              <a:chOff x="829056" y="1924050"/>
              <a:chExt cx="7932756" cy="352044"/>
            </a:xfrm>
          </p:grpSpPr>
          <p:sp>
            <p:nvSpPr>
              <p:cNvPr id="13" name="TextBox 13"/>
              <p:cNvSpPr txBox="1"/>
              <p:nvPr/>
            </p:nvSpPr>
            <p:spPr>
              <a:xfrm>
                <a:off x="829056" y="1924050"/>
                <a:ext cx="76801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en" sz="1800" b="1" dirty="0">
                    <a:solidFill>
                      <a:srgbClr val="FAFCFE"/>
                    </a:solidFill>
                    <a:latin typeface="+mj-lt"/>
                    <a:ea typeface="+mj-ea"/>
                    <a:cs typeface="+mj-cs"/>
                  </a:rPr>
                  <a:t>Now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4639056" y="1924050"/>
                <a:ext cx="77956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en" sz="180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Next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8144256" y="1924050"/>
                <a:ext cx="84615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en" sz="180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Later</a:t>
                </a:r>
              </a:p>
            </p:txBody>
          </p:sp>
        </p:grpSp>
      </p:grpSp>
      <p:grpSp>
        <p:nvGrpSpPr>
          <p:cNvPr id="24" name="col-now"/>
          <p:cNvGrpSpPr/>
          <p:nvPr/>
        </p:nvGrpSpPr>
        <p:grpSpPr>
          <a:xfrm>
            <a:off x="666750" y="2597150"/>
            <a:ext cx="2539686" cy="1317117"/>
            <a:chOff x="666750" y="2597150"/>
            <a:chExt cx="2539686" cy="1317117"/>
          </a:xfrm>
        </p:grpSpPr>
        <p:sp>
          <p:nvSpPr>
            <p:cNvPr id="18" name="Rectangle 18"/>
            <p:cNvSpPr/>
            <p:nvPr/>
          </p:nvSpPr>
          <p:spPr>
            <a:xfrm>
              <a:off x="666750" y="2686050"/>
              <a:ext cx="76200" cy="762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9" name="TextBox 19"/>
            <p:cNvSpPr txBox="1"/>
            <p:nvPr/>
          </p:nvSpPr>
          <p:spPr>
            <a:xfrm>
              <a:off x="831723" y="2597150"/>
              <a:ext cx="2583097" cy="45986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Set ANTHROPIC_API_KEY in</a:t>
              </a:r>
              <a:b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Vercel.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66750" y="3219450"/>
              <a:ext cx="76200" cy="762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1" name="TextBox 21"/>
            <p:cNvSpPr txBox="1"/>
            <p:nvPr/>
          </p:nvSpPr>
          <p:spPr>
            <a:xfrm>
              <a:off x="831723" y="3143250"/>
              <a:ext cx="2897149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Schedule the LGM bridge task.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66750" y="3543300"/>
              <a:ext cx="76200" cy="762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3" name="TextBox 23"/>
            <p:cNvSpPr txBox="1"/>
            <p:nvPr/>
          </p:nvSpPr>
          <p:spPr>
            <a:xfrm>
              <a:off x="831723" y="3454400"/>
              <a:ext cx="2851904" cy="45986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Run one real candidate end to end,</a:t>
              </a:r>
              <a:b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reviewing every hook and message.</a:t>
              </a:r>
            </a:p>
          </p:txBody>
        </p:sp>
      </p:grpSp>
      <p:grpSp>
        <p:nvGrpSpPr>
          <p:cNvPr id="33" name="col-next"/>
          <p:cNvGrpSpPr/>
          <p:nvPr/>
        </p:nvGrpSpPr>
        <p:grpSpPr>
          <a:xfrm>
            <a:off x="4476750" y="2597150"/>
            <a:ext cx="2809838" cy="1850517"/>
            <a:chOff x="4476750" y="2597150"/>
            <a:chExt cx="2809838" cy="1850517"/>
          </a:xfrm>
        </p:grpSpPr>
        <p:sp>
          <p:nvSpPr>
            <p:cNvPr id="25" name="Rectangle 25"/>
            <p:cNvSpPr/>
            <p:nvPr/>
          </p:nvSpPr>
          <p:spPr>
            <a:xfrm>
              <a:off x="4476750" y="2686050"/>
              <a:ext cx="76200" cy="762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6" name="TextBox 26"/>
            <p:cNvSpPr txBox="1"/>
            <p:nvPr/>
          </p:nvSpPr>
          <p:spPr>
            <a:xfrm>
              <a:off x="4641723" y="2597150"/>
              <a:ext cx="3226735" cy="45986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Tune the prompts from the edits that run</a:t>
              </a:r>
              <a:b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produces.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4476750" y="3219450"/>
              <a:ext cx="76200" cy="762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8" name="TextBox 28"/>
            <p:cNvSpPr txBox="1"/>
            <p:nvPr/>
          </p:nvSpPr>
          <p:spPr>
            <a:xfrm>
              <a:off x="4641723" y="3130550"/>
              <a:ext cx="3203928" cy="45986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Let the first learning cycle run once five</a:t>
              </a:r>
              <a:b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signals exist.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476750" y="3752850"/>
              <a:ext cx="76200" cy="762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0" name="TextBox 30"/>
            <p:cNvSpPr txBox="1"/>
            <p:nvPr/>
          </p:nvSpPr>
          <p:spPr>
            <a:xfrm>
              <a:off x="4641723" y="3676650"/>
              <a:ext cx="318409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Set safe sending limits per account.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4476750" y="4076700"/>
              <a:ext cx="76200" cy="762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2" name="TextBox 32"/>
            <p:cNvSpPr txBox="1"/>
            <p:nvPr/>
          </p:nvSpPr>
          <p:spPr>
            <a:xfrm>
              <a:off x="4641723" y="3987800"/>
              <a:ext cx="3204682" cy="45986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Read funnel views by bucket, hook type</a:t>
              </a:r>
              <a:b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and company.</a:t>
              </a:r>
            </a:p>
          </p:txBody>
        </p:sp>
      </p:grpSp>
      <p:grpSp>
        <p:nvGrpSpPr>
          <p:cNvPr id="40" name="col-later"/>
          <p:cNvGrpSpPr/>
          <p:nvPr/>
        </p:nvGrpSpPr>
        <p:grpSpPr>
          <a:xfrm>
            <a:off x="7981950" y="2597150"/>
            <a:ext cx="2859029" cy="1526667"/>
            <a:chOff x="7981950" y="2597150"/>
            <a:chExt cx="2859029" cy="1526667"/>
          </a:xfrm>
        </p:grpSpPr>
        <p:sp>
          <p:nvSpPr>
            <p:cNvPr id="34" name="Rectangle 34"/>
            <p:cNvSpPr/>
            <p:nvPr/>
          </p:nvSpPr>
          <p:spPr>
            <a:xfrm>
              <a:off x="7981950" y="2686050"/>
              <a:ext cx="76200" cy="762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5" name="TextBox 35"/>
            <p:cNvSpPr txBox="1"/>
            <p:nvPr/>
          </p:nvSpPr>
          <p:spPr>
            <a:xfrm>
              <a:off x="8146923" y="2597150"/>
              <a:ext cx="3017584" cy="45986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Swap Chrome for the LGM API.</a:t>
              </a:r>
              <a:b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lgm.py is ready; it needs the Pro plan.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7981950" y="3219450"/>
              <a:ext cx="76200" cy="762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7" name="TextBox 37"/>
            <p:cNvSpPr txBox="1"/>
            <p:nvPr/>
          </p:nvSpPr>
          <p:spPr>
            <a:xfrm>
              <a:off x="8146923" y="3130550"/>
              <a:ext cx="2889784" cy="45986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Receive accepted and replied events</a:t>
              </a:r>
              <a:b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through a webhook.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7981950" y="3752850"/>
              <a:ext cx="76200" cy="762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9" name="TextBox 39"/>
            <p:cNvSpPr txBox="1"/>
            <p:nvPr/>
          </p:nvSpPr>
          <p:spPr>
            <a:xfrm>
              <a:off x="8146923" y="3663950"/>
              <a:ext cx="3286748" cy="45986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Open a client site with magic-link login,</a:t>
              </a:r>
              <a:b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on the row-level security already written.</a:t>
              </a:r>
            </a:p>
          </p:txBody>
        </p:sp>
      </p:grpSp>
      <p:grpSp>
        <p:nvGrpSpPr>
          <p:cNvPr id="53" name="principles"/>
          <p:cNvGrpSpPr/>
          <p:nvPr/>
        </p:nvGrpSpPr>
        <p:grpSpPr>
          <a:xfrm>
            <a:off x="609600" y="4762500"/>
            <a:ext cx="10972800" cy="1562100"/>
            <a:chOff x="609600" y="4762500"/>
            <a:chExt cx="10972800" cy="1562100"/>
          </a:xfrm>
        </p:grpSpPr>
        <p:sp>
          <p:nvSpPr>
            <p:cNvPr id="41" name="Rectangle 41"/>
            <p:cNvSpPr/>
            <p:nvPr/>
          </p:nvSpPr>
          <p:spPr>
            <a:xfrm>
              <a:off x="609600" y="4762500"/>
              <a:ext cx="10972800" cy="15621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42" name="TextBox 42"/>
            <p:cNvSpPr txBox="1"/>
            <p:nvPr/>
          </p:nvSpPr>
          <p:spPr>
            <a:xfrm>
              <a:off x="832866" y="4959350"/>
              <a:ext cx="40218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A9C7E6"/>
                  </a:solidFill>
                  <a:latin typeface="+mj-lt"/>
                  <a:ea typeface="+mj-ea"/>
                  <a:cs typeface="+mj-cs"/>
                </a:rPr>
                <a:t>THREE DESIGN PRINCIPLES TO HOLD ON TO</a:t>
              </a:r>
            </a:p>
          </p:txBody>
        </p:sp>
        <p:grpSp>
          <p:nvGrpSpPr>
            <p:cNvPr id="46" name="Group 46"/>
            <p:cNvGrpSpPr/>
            <p:nvPr/>
          </p:nvGrpSpPr>
          <p:grpSpPr>
            <a:xfrm>
              <a:off x="827532" y="5327650"/>
              <a:ext cx="8538720" cy="410718"/>
              <a:chOff x="827532" y="5327650"/>
              <a:chExt cx="8538720" cy="410718"/>
            </a:xfrm>
          </p:grpSpPr>
          <p:sp>
            <p:nvSpPr>
              <p:cNvPr id="43" name="TextBox 43"/>
              <p:cNvSpPr txBox="1"/>
              <p:nvPr/>
            </p:nvSpPr>
            <p:spPr>
              <a:xfrm>
                <a:off x="827532" y="5327650"/>
                <a:ext cx="964692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en" sz="2100" b="1" dirty="0">
                    <a:solidFill>
                      <a:srgbClr val="FAFCFE"/>
                    </a:solidFill>
                    <a:latin typeface="+mj-lt"/>
                    <a:ea typeface="+mj-ea"/>
                    <a:cs typeface="+mj-cs"/>
                  </a:rPr>
                  <a:t>Cited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4637532" y="5327650"/>
                <a:ext cx="1647050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en" sz="2100" b="1" dirty="0">
                    <a:solidFill>
                      <a:srgbClr val="FAFCFE"/>
                    </a:solidFill>
                    <a:latin typeface="+mj-lt"/>
                    <a:ea typeface="+mj-ea"/>
                    <a:cs typeface="+mj-cs"/>
                  </a:rPr>
                  <a:t>Approved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8142732" y="5327650"/>
                <a:ext cx="1492694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en" sz="2100" b="1" dirty="0">
                    <a:solidFill>
                      <a:srgbClr val="FAFCFE"/>
                    </a:solidFill>
                    <a:latin typeface="+mj-lt"/>
                    <a:ea typeface="+mj-ea"/>
                    <a:cs typeface="+mj-cs"/>
                  </a:rPr>
                  <a:t>Learning</a:t>
                </a:r>
              </a:p>
            </p:txBody>
          </p:sp>
        </p:grpSp>
        <p:grpSp>
          <p:nvGrpSpPr>
            <p:cNvPr id="50" name="Group 50"/>
            <p:cNvGrpSpPr/>
            <p:nvPr/>
          </p:nvGrpSpPr>
          <p:grpSpPr>
            <a:xfrm>
              <a:off x="831342" y="5727700"/>
              <a:ext cx="10196046" cy="492633"/>
              <a:chOff x="831342" y="5727700"/>
              <a:chExt cx="10196046" cy="492633"/>
            </a:xfrm>
          </p:grpSpPr>
          <p:sp>
            <p:nvSpPr>
              <p:cNvPr id="47" name="TextBox 47"/>
              <p:cNvSpPr txBox="1"/>
              <p:nvPr/>
            </p:nvSpPr>
            <p:spPr>
              <a:xfrm>
                <a:off x="831342" y="5740400"/>
                <a:ext cx="202780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en" sz="1350" dirty="0">
                    <a:solidFill>
                      <a:srgbClr val="C4D9EF"/>
                    </a:solidFill>
                    <a:latin typeface="+mn-lt"/>
                    <a:ea typeface="+mn-ea"/>
                    <a:cs typeface="+mn-cs"/>
                  </a:rPr>
                  <a:t>No citation, no hook.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4641342" y="5727700"/>
                <a:ext cx="2107796" cy="4926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>
                  <a:lnSpc>
                    <a:spcPts val="1800"/>
                  </a:lnSpc>
                </a:pPr>
                <a:r>
                  <a:rPr lang="en" sz="1350" dirty="0">
                    <a:solidFill>
                      <a:srgbClr val="C4D9EF"/>
                    </a:solidFill>
                    <a:latin typeface="+mn-lt"/>
                    <a:ea typeface="+mn-ea"/>
                    <a:cs typeface="+mn-cs"/>
                  </a:rPr>
                  <a:t>A person says yes before</a:t>
                </a:r>
                <a:br>
                  <a:rPr lang="en" sz="1350" dirty="0">
                    <a:solidFill>
                      <a:srgbClr val="C4D9EF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" sz="1350" dirty="0">
                    <a:solidFill>
                      <a:srgbClr val="C4D9EF"/>
                    </a:solidFill>
                    <a:latin typeface="+mn-lt"/>
                    <a:ea typeface="+mn-ea"/>
                    <a:cs typeface="+mn-cs"/>
                  </a:rPr>
                  <a:t>anything sends.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8146542" y="5740400"/>
                <a:ext cx="351463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en" sz="1350" dirty="0">
                    <a:solidFill>
                      <a:srgbClr val="C4D9EF"/>
                    </a:solidFill>
                    <a:latin typeface="+mn-lt"/>
                    <a:ea typeface="+mn-ea"/>
                    <a:cs typeface="+mn-cs"/>
                  </a:rPr>
                  <a:t>Edits and outcomes rewrite the rules.</a:t>
                </a:r>
              </a:p>
            </p:txBody>
          </p:sp>
        </p:grpSp>
        <p:sp>
          <p:nvSpPr>
            <p:cNvPr id="51" name="Line 51"/>
            <p:cNvSpPr/>
            <p:nvPr/>
          </p:nvSpPr>
          <p:spPr>
            <a:xfrm>
              <a:off x="4343400" y="5295900"/>
              <a:ext cx="9525" cy="838200"/>
            </a:xfrm>
            <a:custGeom>
              <a:avLst/>
              <a:gdLst/>
              <a:ahLst/>
              <a:cxnLst/>
              <a:rect l="l" t="t" r="r" b="b"/>
              <a:pathLst>
                <a:path w="9525" h="838200">
                  <a:moveTo>
                    <a:pt x="0" y="0"/>
                  </a:moveTo>
                  <a:lnTo>
                    <a:pt x="0" y="838200"/>
                  </a:lnTo>
                </a:path>
              </a:pathLst>
            </a:custGeom>
            <a:noFill/>
            <a:ln w="9525">
              <a:solidFill>
                <a:srgbClr val="A9C7E6">
                  <a:alpha val="50000"/>
                </a:srgbClr>
              </a:solidFill>
            </a:ln>
          </p:spPr>
          <p:txBody>
            <a:bodyPr/>
            <a:p/>
          </p:txBody>
        </p:sp>
        <p:sp>
          <p:nvSpPr>
            <p:cNvPr id="52" name="Line 52"/>
            <p:cNvSpPr/>
            <p:nvPr/>
          </p:nvSpPr>
          <p:spPr>
            <a:xfrm>
              <a:off x="7848600" y="5295900"/>
              <a:ext cx="9525" cy="838200"/>
            </a:xfrm>
            <a:custGeom>
              <a:avLst/>
              <a:gdLst/>
              <a:ahLst/>
              <a:cxnLst/>
              <a:rect l="l" t="t" r="r" b="b"/>
              <a:pathLst>
                <a:path w="9525" h="838200">
                  <a:moveTo>
                    <a:pt x="0" y="0"/>
                  </a:moveTo>
                  <a:lnTo>
                    <a:pt x="0" y="838200"/>
                  </a:lnTo>
                </a:path>
              </a:pathLst>
            </a:custGeom>
            <a:noFill/>
            <a:ln w="9525">
              <a:solidFill>
                <a:srgbClr val="A9C7E6">
                  <a:alpha val="50000"/>
                </a:srgbClr>
              </a:solidFill>
            </a:ln>
          </p:spPr>
          <p:txBody>
            <a:bodyPr/>
            <a:p/>
          </p:txBody>
        </p:sp>
      </p:grpSp>
      <p:grpSp>
        <p:nvGrpSpPr>
          <p:cNvPr id="55" name="source"/>
          <p:cNvGrpSpPr/>
          <p:nvPr/>
        </p:nvGrpSpPr>
        <p:grpSpPr>
          <a:xfrm>
            <a:off x="604647" y="6559550"/>
            <a:ext cx="6654411" cy="191643"/>
            <a:chOff x="604647" y="6559550"/>
            <a:chExt cx="6654411" cy="191643"/>
          </a:xfrm>
        </p:grpSpPr>
        <p:sp>
          <p:nvSpPr>
            <p:cNvPr id="54" name="TextBox 54"/>
            <p:cNvSpPr txBox="1"/>
            <p:nvPr/>
          </p:nvSpPr>
          <p:spPr>
            <a:xfrm>
              <a:off x="604647" y="6559550"/>
              <a:ext cx="811838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Source: docs/LAUNCH_PLAN.md, docs/AUTOMATION.md, engine/outreach/lgm.py, supabase/migrations/0001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knock-backend">
  <a:themeElements>
    <a:clrScheme name="knock-backen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nock-backend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SimSun"/>
        <a:cs typeface="Times New Roman"/>
        <a:font script="Jpan" typeface="SimSun"/>
        <a:font script="Hang" typeface="SimSun"/>
        <a:font script="Hans" typeface="SimSun"/>
        <a:font script="Hant" typeface="SimSun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nock-backen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en</dc:language>
  <cp:lastModifiedBy/>
  <cp:revision>1</cp:revision>
  <dcterms:created xsi:type="dcterms:W3CDTF">2026-10-05T00:51:33Z</dcterms:created>
  <dcterms:modified xsi:type="dcterms:W3CDTF">2026-10-05T00:51:33Z</dcterms:modified>
  <cp:category/>
  <cp:contentStatus/>
</cp:coreProperties>
</file>