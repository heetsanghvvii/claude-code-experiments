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the time. Knock helps students reach the right people at the companies they want, with personal first messages, and guides each conversation toward a referral or an interview. Today I want to propose a simple partnership with &lt;Club name&gt;: a free pilot for five of your students, and a founding price for every 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Off-campus and lateral searches mostly happen on portals. Students send a lot of applications and hear back from very few. Not because they are weak candidates, but because a CV in a pile has no one speaking for it. People hire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in this room knows this from their own batch. The offers that come through a referral or a conversation with someone inside the team move faster, because someone has already spoken for the candidate. I am not going to put a number on it; you have seen it yourselves.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does everyone not do this already? Because it is real work. Finding the right people, researching each one, writing something that is not a template, and handling replies well. Students are juggling coursework, prep and applications. This is the gap Knock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it works. The student tells us which companies and roles they want. We find the right people there. We write a short first message for each person, based on something they genuinely share. And we guide every reply until it becomes a referral or an interview. Nothing goes out without the student's approval, and it goes from their own LinkedIn.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 first message looks like. One line that shows we noticed something real about Rahul, one line of honesty about the student, and one easy question. No CV, no link, no ask. The referral comes later, once there is a real conversation. This example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Committees worry, rightly, about anything that looks like spam going out under their batch's name. Knock is deliberately small. Sixty people a week, chosen by hand. Every message is written for one person and sent from the student's own account, well under LinkedIn's limits. We start a conversation first and only ask for a referral once it is 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packages. Sprint is seven days and sixty people. Standard is fourteen days and a hundred and twenty. Full search is twenty-one days and a hundred and eighty. Done-for-you starts at fourteen thousand nine hundred and ninety-nine for students who want us to carry more of the search. Club members get the founding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offer. For the club: the founding price for every member, a free pilot for five students the club chooses, a results summary you can share with the batch, and a co-hosted session on outbound job search. From the club, we ask for two things: one announcement to the batch, and a feedback call after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measure one thing that matters: interviews per hundred people contacted. Each pilot student sees their own number and the conversations behind it, and the club gets the aggregate. We are not promising a number today. Knock is new, and the pilot is how we find out,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pilot is three weeks. In week zero the club picks five students, and each one sets targets with us. Weeks one and two are outreach: sixty people a week per student, with replies guided as they come in. In week three we review results with the club and agree whether to open it up to the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one decision we need from you is five students for the free pilot. We will run it over three weeks and report back honestly. You can reach me at hello@knock.careers. Happy to take questions or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NOCK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66706C"/>
                </a:solidFill>
                <a:latin typeface="Arial" pitchFamily="34" charset="0"/>
                <a:ea typeface="Arial" pitchFamily="34" charset="-122"/>
                <a:cs typeface="Arial" pitchFamily="34" charset="-120"/>
              </a:rPr>
              <a:t>Knock  ·  Partner proposal for &lt;Club name&gt;</a:t>
            </a:r>
            <a:endParaRPr lang="en-US" sz="1000" dirty="0"/>
          </a:p>
        </p:txBody>
      </p:sp>
      <p:sp>
        <p:nvSpPr>
          <p:cNvPr id="3" name="Text 1"/>
          <p:cNvSpPr/>
          <p:nvPr>
            <p:ph idx="101" type="body" hasCustomPrompt="1"/>
          </p:nvPr>
        </p:nvSpPr>
        <p:spPr>
          <a:xfrm>
            <a:off x="548640" y="384048"/>
            <a:ext cx="11094415" cy="274320"/>
          </a:xfrm>
          <a:prstGeom prst="rect">
            <a:avLst/>
          </a:prstGeom>
          <a:noFill/>
          <a:ln/>
        </p:spPr>
        <p:txBody>
          <a:bodyPr wrap="square" rtlCol="0"/>
          <a:lstStyle>
            <a:lvl1pPr indent="0" marL="0">
              <a:buNone/>
              <a:defRPr lang="en-US" sz="1100" b="1" spc="300" kern="0" dirty="0">
                <a:solidFill>
                  <a:srgbClr val="A9772F"/>
                </a:solidFill>
                <a:latin typeface="Arial" pitchFamily="34" charset="0"/>
                <a:ea typeface="Arial" pitchFamily="34" charset="-122"/>
                <a:cs typeface="Arial" pitchFamily="34" charset="-120"/>
              </a:defRPr>
            </a:lvl1pPr>
          </a:lstStyle>
          <a:p>
            <a:pPr indent="0" marL="0">
              <a:buNone/>
            </a:pPr>
            <a:endParaRPr lang="en-US" sz="1100" dirty="0"/>
          </a:p>
        </p:txBody>
      </p:sp>
      <p:sp>
        <p:nvSpPr>
          <p:cNvPr id="4" name="Text 1"/>
          <p:cNvSpPr/>
          <p:nvPr>
            <p:ph idx="102" type="title" hasCustomPrompt="1"/>
          </p:nvPr>
        </p:nvSpPr>
        <p:spPr>
          <a:xfrm>
            <a:off x="548640" y="658368"/>
            <a:ext cx="11094415" cy="960120"/>
          </a:xfrm>
          <a:prstGeom prst="rect">
            <a:avLst/>
          </a:prstGeom>
          <a:noFill/>
          <a:ln/>
        </p:spPr>
        <p:txBody>
          <a:bodyPr wrap="square" rtlCol="0"/>
          <a:lstStyle>
            <a:lvl1pPr algn="l" indent="0" marL="0">
              <a:buNone/>
              <a:defRPr lang="en-US" sz="2800" dirty="0">
                <a:solidFill>
                  <a:srgbClr val="14302A"/>
                </a:solidFill>
                <a:latin typeface="Georgia" pitchFamily="34" charset="0"/>
                <a:ea typeface="Georgia" pitchFamily="34" charset="-122"/>
                <a:cs typeface="Georg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6C"/>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NOCK_DARK">
    <p:bg>
      <p:bgPr>
        <a:solidFill>
          <a:srgbClr val="14302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6C"/>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51560"/>
            <a:ext cx="5486400" cy="365760"/>
          </a:xfrm>
          <a:prstGeom prst="rect">
            <a:avLst/>
          </a:prstGeom>
          <a:noFill/>
          <a:ln/>
        </p:spPr>
        <p:txBody>
          <a:bodyPr wrap="square" lIns="0" tIns="0" rIns="0" bIns="0" rtlCol="0" anchor="t"/>
          <a:lstStyle/>
          <a:p>
            <a:pPr indent="0" marL="0">
              <a:buNone/>
            </a:pPr>
            <a:r>
              <a:rPr lang="en-US" sz="1400" b="1" spc="800" kern="0" dirty="0">
                <a:solidFill>
                  <a:srgbClr val="E6D3B0"/>
                </a:solidFill>
                <a:latin typeface="Arial" pitchFamily="34" charset="0"/>
                <a:ea typeface="Arial" pitchFamily="34" charset="-122"/>
                <a:cs typeface="Arial" pitchFamily="34" charset="-120"/>
              </a:rPr>
              <a:t>KNOCK</a:t>
            </a:r>
            <a:endParaRPr lang="en-US" sz="1400" dirty="0"/>
          </a:p>
        </p:txBody>
      </p:sp>
      <p:sp>
        <p:nvSpPr>
          <p:cNvPr id="3" name="Text 1"/>
          <p:cNvSpPr txBox="1"/>
          <p:nvPr/>
        </p:nvSpPr>
        <p:spPr>
          <a:xfrm>
            <a:off x="731520" y="1554480"/>
            <a:ext cx="6766560" cy="1737360"/>
          </a:xfrm>
          <a:prstGeom prst="rect">
            <a:avLst/>
          </a:prstGeom>
          <a:noFill/>
          <a:ln/>
        </p:spPr>
        <p:txBody>
          <a:bodyPr wrap="square" lIns="0" tIns="0" rIns="0" bIns="0" rtlCol="0" anchor="t"/>
          <a:lstStyle/>
          <a:p>
            <a:pPr indent="0" marL="0">
              <a:buNone/>
            </a:pPr>
            <a:r>
              <a:rPr lang="en-US" sz="5400" b="1" dirty="0">
                <a:solidFill>
                  <a:srgbClr val="FFFFFF"/>
                </a:solidFill>
                <a:latin typeface="Georgia" pitchFamily="34" charset="0"/>
                <a:ea typeface="Georgia" pitchFamily="34" charset="-122"/>
                <a:cs typeface="Georgia" pitchFamily="34" charset="-120"/>
              </a:rPr>
              <a:t>Knock on the right door.</a:t>
            </a:r>
            <a:endParaRPr lang="en-US" sz="5400" dirty="0"/>
          </a:p>
        </p:txBody>
      </p:sp>
      <p:sp>
        <p:nvSpPr>
          <p:cNvPr id="4" name="Text 2"/>
          <p:cNvSpPr txBox="1"/>
          <p:nvPr/>
        </p:nvSpPr>
        <p:spPr>
          <a:xfrm>
            <a:off x="731520" y="3429000"/>
            <a:ext cx="6766560" cy="457200"/>
          </a:xfrm>
          <a:prstGeom prst="rect">
            <a:avLst/>
          </a:prstGeom>
          <a:noFill/>
          <a:ln/>
        </p:spPr>
        <p:txBody>
          <a:bodyPr wrap="square" lIns="0" tIns="0" rIns="0" bIns="0" rtlCol="0" anchor="t"/>
          <a:lstStyle/>
          <a:p>
            <a:pPr indent="0" marL="0">
              <a:buNone/>
            </a:pPr>
            <a:r>
              <a:rPr lang="en-US" sz="2400" dirty="0">
                <a:solidFill>
                  <a:srgbClr val="C9D6D0"/>
                </a:solidFill>
                <a:latin typeface="Arial" pitchFamily="34" charset="0"/>
                <a:ea typeface="Arial" pitchFamily="34" charset="-122"/>
                <a:cs typeface="Arial" pitchFamily="34" charset="-120"/>
              </a:rPr>
              <a:t>Partner proposal for &lt;Club name&gt;</a:t>
            </a:r>
            <a:endParaRPr lang="en-US" sz="2400" dirty="0"/>
          </a:p>
        </p:txBody>
      </p:sp>
      <p:sp>
        <p:nvSpPr>
          <p:cNvPr id="5" name="Text 3"/>
          <p:cNvSpPr txBox="1"/>
          <p:nvPr/>
        </p:nvSpPr>
        <p:spPr>
          <a:xfrm>
            <a:off x="731520" y="4023360"/>
            <a:ext cx="6035040" cy="731520"/>
          </a:xfrm>
          <a:prstGeom prst="rect">
            <a:avLst/>
          </a:prstGeom>
          <a:noFill/>
          <a:ln/>
        </p:spPr>
        <p:txBody>
          <a:bodyPr wrap="square" lIns="0" tIns="0" rIns="0" bIns="0" rtlCol="0" anchor="t"/>
          <a:lstStyle/>
          <a:p>
            <a:pPr indent="0" marL="0">
              <a:buNone/>
            </a:pPr>
            <a:r>
              <a:rPr lang="en-US" sz="1600" dirty="0">
                <a:solidFill>
                  <a:srgbClr val="C9D6D0"/>
                </a:solidFill>
                <a:latin typeface="Arial" pitchFamily="34" charset="0"/>
                <a:ea typeface="Arial" pitchFamily="34" charset="-122"/>
                <a:cs typeface="Arial" pitchFamily="34" charset="-120"/>
              </a:rPr>
              <a:t>A founding-member partnership that brings warm, personal outreach to your batch and alumni.</a:t>
            </a:r>
            <a:endParaRPr lang="en-US" sz="1600" dirty="0"/>
          </a:p>
        </p:txBody>
      </p:sp>
      <p:sp>
        <p:nvSpPr>
          <p:cNvPr id="6" name="Text 4"/>
          <p:cNvSpPr txBox="1"/>
          <p:nvPr/>
        </p:nvSpPr>
        <p:spPr>
          <a:xfrm>
            <a:off x="731520" y="5897880"/>
            <a:ext cx="7315200" cy="320040"/>
          </a:xfrm>
          <a:prstGeom prst="rect">
            <a:avLst/>
          </a:prstGeom>
          <a:noFill/>
          <a:ln/>
        </p:spPr>
        <p:txBody>
          <a:bodyPr wrap="square" lIns="0" tIns="0" rIns="0" bIns="0" rtlCol="0" anchor="t"/>
          <a:lstStyle/>
          <a:p>
            <a:pPr indent="0" marL="0">
              <a:buNone/>
            </a:pPr>
            <a:r>
              <a:rPr lang="en-US" sz="1200" dirty="0">
                <a:solidFill>
                  <a:srgbClr val="9FB3AB"/>
                </a:solidFill>
                <a:latin typeface="Arial" pitchFamily="34" charset="0"/>
                <a:ea typeface="Arial" pitchFamily="34" charset="-122"/>
                <a:cs typeface="Arial" pitchFamily="34" charset="-120"/>
              </a:rPr>
              <a:t>For the placement committee, club leads and faculty advisor  ·  October 2026</a:t>
            </a:r>
            <a:endParaRPr lang="en-US" sz="1200" dirty="0"/>
          </a:p>
        </p:txBody>
      </p:sp>
      <p:sp>
        <p:nvSpPr>
          <p:cNvPr id="7" name="Shape 5"/>
          <p:cNvSpPr/>
          <p:nvPr/>
        </p:nvSpPr>
        <p:spPr>
          <a:xfrm>
            <a:off x="10689336" y="914400"/>
            <a:ext cx="380390" cy="4754880"/>
          </a:xfrm>
          <a:prstGeom prst="rect">
            <a:avLst/>
          </a:prstGeom>
          <a:solidFill>
            <a:srgbClr val="E6D3B0"/>
          </a:solidFill>
          <a:ln w="12700">
            <a:solidFill>
              <a:srgbClr val="E6D3B0"/>
            </a:solidFill>
            <a:prstDash val="solid"/>
          </a:ln>
        </p:spPr>
      </p:sp>
      <p:sp>
        <p:nvSpPr>
          <p:cNvPr id="8" name="Shape 6"/>
          <p:cNvSpPr/>
          <p:nvPr/>
        </p:nvSpPr>
        <p:spPr>
          <a:xfrm>
            <a:off x="8549640" y="914400"/>
            <a:ext cx="2377440" cy="4754880"/>
          </a:xfrm>
          <a:prstGeom prst="roundRect">
            <a:avLst>
              <a:gd name="adj" fmla="val 2308"/>
            </a:avLst>
          </a:prstGeom>
          <a:solidFill>
            <a:srgbClr val="1D4038"/>
          </a:solidFill>
          <a:ln w="25400">
            <a:solidFill>
              <a:srgbClr val="A9772F"/>
            </a:solidFill>
            <a:prstDash val="solid"/>
          </a:ln>
        </p:spPr>
      </p:sp>
      <p:sp>
        <p:nvSpPr>
          <p:cNvPr id="9" name="Shape 7"/>
          <p:cNvSpPr/>
          <p:nvPr/>
        </p:nvSpPr>
        <p:spPr>
          <a:xfrm>
            <a:off x="8930030" y="1294790"/>
            <a:ext cx="1616659" cy="1806854"/>
          </a:xfrm>
          <a:prstGeom prst="rect">
            <a:avLst/>
          </a:prstGeom>
          <a:ln w="12700">
            <a:solidFill>
              <a:srgbClr val="3B5E55"/>
            </a:solidFill>
            <a:prstDash val="solid"/>
          </a:ln>
        </p:spPr>
      </p:sp>
      <p:sp>
        <p:nvSpPr>
          <p:cNvPr id="10" name="Shape 8"/>
          <p:cNvSpPr/>
          <p:nvPr/>
        </p:nvSpPr>
        <p:spPr>
          <a:xfrm>
            <a:off x="8930030" y="3434486"/>
            <a:ext cx="1616659" cy="1806854"/>
          </a:xfrm>
          <a:prstGeom prst="rect">
            <a:avLst/>
          </a:prstGeom>
          <a:ln w="12700">
            <a:solidFill>
              <a:srgbClr val="3B5E55"/>
            </a:solidFill>
            <a:prstDash val="solid"/>
          </a:ln>
        </p:spPr>
      </p:sp>
      <p:sp>
        <p:nvSpPr>
          <p:cNvPr id="11" name="Shape 9"/>
          <p:cNvSpPr/>
          <p:nvPr/>
        </p:nvSpPr>
        <p:spPr>
          <a:xfrm>
            <a:off x="10344607" y="3184855"/>
            <a:ext cx="213970" cy="213970"/>
          </a:xfrm>
          <a:prstGeom prst="ellipse">
            <a:avLst/>
          </a:prstGeom>
          <a:solidFill>
            <a:srgbClr val="A9772F"/>
          </a:solidFill>
          <a:ln w="12700">
            <a:solidFill>
              <a:srgbClr val="A9772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spc="300" kern="0" dirty="0">
                <a:solidFill>
                  <a:srgbClr val="A9772F"/>
                </a:solidFill>
                <a:latin typeface="Arial" pitchFamily="34" charset="0"/>
                <a:ea typeface="Arial" pitchFamily="34" charset="-122"/>
                <a:cs typeface="Arial" pitchFamily="34" charset="-120"/>
              </a:rPr>
              <a:t>THE PROBLEM</a:t>
            </a:r>
            <a:endParaRPr lang="en-US" sz="1100" dirty="0"/>
          </a:p>
        </p:txBody>
      </p:sp>
      <p:sp>
        <p:nvSpPr>
          <p:cNvPr id="3" name="Text 1"/>
          <p:cNvSpPr/>
          <p:nvPr>
            <p:ph idx="102" type="title" hasCustomPrompt="1"/>
          </p:nvPr>
        </p:nvSpPr>
        <p:spPr>
          <a:xfrm>
            <a:off x="548640" y="658368"/>
            <a:ext cx="11094415" cy="960120"/>
          </a:xfrm>
          <a:prstGeom prst="rect">
            <a:avLst/>
          </a:prstGeom>
          <a:noFill/>
          <a:ln/>
        </p:spPr>
        <p:txBody>
          <a:bodyPr wrap="square" lIns="0" tIns="0" rIns="0" bIns="0" rtlCol="0" anchor="t"/>
          <a:lstStyle/>
          <a:p>
            <a:pPr algn="l" indent="0" marL="0">
              <a:buNone/>
            </a:pPr>
            <a:r>
              <a:rPr lang="en-US" sz="2800" dirty="0">
                <a:solidFill>
                  <a:srgbClr val="14302A"/>
                </a:solidFill>
                <a:latin typeface="Georgia" pitchFamily="34" charset="0"/>
                <a:ea typeface="Georgia" pitchFamily="34" charset="-122"/>
                <a:cs typeface="Georgia" pitchFamily="34" charset="-120"/>
              </a:rPr>
              <a:t>Off-campus and lateral searches run through job portals, where most applications never get a reply</a:t>
            </a:r>
            <a:endParaRPr lang="en-US" sz="2800" dirty="0"/>
          </a:p>
        </p:txBody>
      </p:sp>
      <p:sp>
        <p:nvSpPr>
          <p:cNvPr id="5" name="Shape 2"/>
          <p:cNvSpPr/>
          <p:nvPr/>
        </p:nvSpPr>
        <p:spPr>
          <a:xfrm>
            <a:off x="548640" y="2057400"/>
            <a:ext cx="384048" cy="457200"/>
          </a:xfrm>
          <a:prstGeom prst="roundRect">
            <a:avLst>
              <a:gd name="adj" fmla="val 9524"/>
            </a:avLst>
          </a:prstGeom>
          <a:solidFill>
            <a:srgbClr val="EEF2EF"/>
          </a:solidFill>
          <a:ln w="9525">
            <a:solidFill>
              <a:srgbClr val="D3D9D6"/>
            </a:solidFill>
            <a:prstDash val="solid"/>
          </a:ln>
        </p:spPr>
      </p:sp>
      <p:sp>
        <p:nvSpPr>
          <p:cNvPr id="6" name="Shape 3"/>
          <p:cNvSpPr/>
          <p:nvPr/>
        </p:nvSpPr>
        <p:spPr>
          <a:xfrm>
            <a:off x="1024128" y="2057400"/>
            <a:ext cx="384048" cy="457200"/>
          </a:xfrm>
          <a:prstGeom prst="roundRect">
            <a:avLst>
              <a:gd name="adj" fmla="val 9524"/>
            </a:avLst>
          </a:prstGeom>
          <a:solidFill>
            <a:srgbClr val="EEF2EF"/>
          </a:solidFill>
          <a:ln w="9525">
            <a:solidFill>
              <a:srgbClr val="D3D9D6"/>
            </a:solidFill>
            <a:prstDash val="solid"/>
          </a:ln>
        </p:spPr>
      </p:sp>
      <p:sp>
        <p:nvSpPr>
          <p:cNvPr id="7" name="Shape 4"/>
          <p:cNvSpPr/>
          <p:nvPr/>
        </p:nvSpPr>
        <p:spPr>
          <a:xfrm>
            <a:off x="1499616" y="2057400"/>
            <a:ext cx="384048" cy="457200"/>
          </a:xfrm>
          <a:prstGeom prst="roundRect">
            <a:avLst>
              <a:gd name="adj" fmla="val 9524"/>
            </a:avLst>
          </a:prstGeom>
          <a:solidFill>
            <a:srgbClr val="EEF2EF"/>
          </a:solidFill>
          <a:ln w="9525">
            <a:solidFill>
              <a:srgbClr val="D3D9D6"/>
            </a:solidFill>
            <a:prstDash val="solid"/>
          </a:ln>
        </p:spPr>
      </p:sp>
      <p:sp>
        <p:nvSpPr>
          <p:cNvPr id="8" name="Shape 5"/>
          <p:cNvSpPr/>
          <p:nvPr/>
        </p:nvSpPr>
        <p:spPr>
          <a:xfrm>
            <a:off x="1975104" y="2057400"/>
            <a:ext cx="384048" cy="457200"/>
          </a:xfrm>
          <a:prstGeom prst="roundRect">
            <a:avLst>
              <a:gd name="adj" fmla="val 9524"/>
            </a:avLst>
          </a:prstGeom>
          <a:solidFill>
            <a:srgbClr val="EEF2EF"/>
          </a:solidFill>
          <a:ln w="9525">
            <a:solidFill>
              <a:srgbClr val="D3D9D6"/>
            </a:solidFill>
            <a:prstDash val="solid"/>
          </a:ln>
        </p:spPr>
      </p:sp>
      <p:sp>
        <p:nvSpPr>
          <p:cNvPr id="9" name="Shape 6"/>
          <p:cNvSpPr/>
          <p:nvPr/>
        </p:nvSpPr>
        <p:spPr>
          <a:xfrm>
            <a:off x="2450592" y="2057400"/>
            <a:ext cx="384048" cy="457200"/>
          </a:xfrm>
          <a:prstGeom prst="roundRect">
            <a:avLst>
              <a:gd name="adj" fmla="val 9524"/>
            </a:avLst>
          </a:prstGeom>
          <a:solidFill>
            <a:srgbClr val="EEF2EF"/>
          </a:solidFill>
          <a:ln w="9525">
            <a:solidFill>
              <a:srgbClr val="D3D9D6"/>
            </a:solidFill>
            <a:prstDash val="solid"/>
          </a:ln>
        </p:spPr>
      </p:sp>
      <p:sp>
        <p:nvSpPr>
          <p:cNvPr id="10" name="Shape 7"/>
          <p:cNvSpPr/>
          <p:nvPr/>
        </p:nvSpPr>
        <p:spPr>
          <a:xfrm>
            <a:off x="2926080" y="2057400"/>
            <a:ext cx="384048" cy="457200"/>
          </a:xfrm>
          <a:prstGeom prst="roundRect">
            <a:avLst>
              <a:gd name="adj" fmla="val 9524"/>
            </a:avLst>
          </a:prstGeom>
          <a:solidFill>
            <a:srgbClr val="EEF2EF"/>
          </a:solidFill>
          <a:ln w="9525">
            <a:solidFill>
              <a:srgbClr val="D3D9D6"/>
            </a:solidFill>
            <a:prstDash val="solid"/>
          </a:ln>
        </p:spPr>
      </p:sp>
      <p:sp>
        <p:nvSpPr>
          <p:cNvPr id="11" name="Shape 8"/>
          <p:cNvSpPr/>
          <p:nvPr/>
        </p:nvSpPr>
        <p:spPr>
          <a:xfrm>
            <a:off x="3401568" y="2057400"/>
            <a:ext cx="384048" cy="457200"/>
          </a:xfrm>
          <a:prstGeom prst="roundRect">
            <a:avLst>
              <a:gd name="adj" fmla="val 9524"/>
            </a:avLst>
          </a:prstGeom>
          <a:solidFill>
            <a:srgbClr val="EEF2EF"/>
          </a:solidFill>
          <a:ln w="9525">
            <a:solidFill>
              <a:srgbClr val="D3D9D6"/>
            </a:solidFill>
            <a:prstDash val="solid"/>
          </a:ln>
        </p:spPr>
      </p:sp>
      <p:sp>
        <p:nvSpPr>
          <p:cNvPr id="12" name="Shape 9"/>
          <p:cNvSpPr/>
          <p:nvPr/>
        </p:nvSpPr>
        <p:spPr>
          <a:xfrm>
            <a:off x="3877056" y="2057400"/>
            <a:ext cx="384048" cy="457200"/>
          </a:xfrm>
          <a:prstGeom prst="roundRect">
            <a:avLst>
              <a:gd name="adj" fmla="val 9524"/>
            </a:avLst>
          </a:prstGeom>
          <a:solidFill>
            <a:srgbClr val="EEF2EF"/>
          </a:solidFill>
          <a:ln w="9525">
            <a:solidFill>
              <a:srgbClr val="D3D9D6"/>
            </a:solidFill>
            <a:prstDash val="solid"/>
          </a:ln>
        </p:spPr>
      </p:sp>
      <p:sp>
        <p:nvSpPr>
          <p:cNvPr id="13" name="Shape 10"/>
          <p:cNvSpPr/>
          <p:nvPr/>
        </p:nvSpPr>
        <p:spPr>
          <a:xfrm>
            <a:off x="4352544" y="2057400"/>
            <a:ext cx="384048" cy="457200"/>
          </a:xfrm>
          <a:prstGeom prst="roundRect">
            <a:avLst>
              <a:gd name="adj" fmla="val 9524"/>
            </a:avLst>
          </a:prstGeom>
          <a:solidFill>
            <a:srgbClr val="EEF2EF"/>
          </a:solidFill>
          <a:ln w="9525">
            <a:solidFill>
              <a:srgbClr val="D3D9D6"/>
            </a:solidFill>
            <a:prstDash val="solid"/>
          </a:ln>
        </p:spPr>
      </p:sp>
      <p:sp>
        <p:nvSpPr>
          <p:cNvPr id="14" name="Shape 11"/>
          <p:cNvSpPr/>
          <p:nvPr/>
        </p:nvSpPr>
        <p:spPr>
          <a:xfrm>
            <a:off x="4828032" y="2057400"/>
            <a:ext cx="384048" cy="457200"/>
          </a:xfrm>
          <a:prstGeom prst="roundRect">
            <a:avLst>
              <a:gd name="adj" fmla="val 9524"/>
            </a:avLst>
          </a:prstGeom>
          <a:solidFill>
            <a:srgbClr val="EEF2EF"/>
          </a:solidFill>
          <a:ln w="9525">
            <a:solidFill>
              <a:srgbClr val="D3D9D6"/>
            </a:solidFill>
            <a:prstDash val="solid"/>
          </a:ln>
        </p:spPr>
      </p:sp>
      <p:sp>
        <p:nvSpPr>
          <p:cNvPr id="15" name="Shape 12"/>
          <p:cNvSpPr/>
          <p:nvPr/>
        </p:nvSpPr>
        <p:spPr>
          <a:xfrm>
            <a:off x="5303520" y="2057400"/>
            <a:ext cx="384048" cy="457200"/>
          </a:xfrm>
          <a:prstGeom prst="roundRect">
            <a:avLst>
              <a:gd name="adj" fmla="val 9524"/>
            </a:avLst>
          </a:prstGeom>
          <a:solidFill>
            <a:srgbClr val="EEF2EF"/>
          </a:solidFill>
          <a:ln w="9525">
            <a:solidFill>
              <a:srgbClr val="D3D9D6"/>
            </a:solidFill>
            <a:prstDash val="solid"/>
          </a:ln>
        </p:spPr>
      </p:sp>
      <p:sp>
        <p:nvSpPr>
          <p:cNvPr id="16" name="Shape 13"/>
          <p:cNvSpPr/>
          <p:nvPr/>
        </p:nvSpPr>
        <p:spPr>
          <a:xfrm>
            <a:off x="5779008" y="2057400"/>
            <a:ext cx="384048" cy="457200"/>
          </a:xfrm>
          <a:prstGeom prst="roundRect">
            <a:avLst>
              <a:gd name="adj" fmla="val 9524"/>
            </a:avLst>
          </a:prstGeom>
          <a:solidFill>
            <a:srgbClr val="EEF2EF"/>
          </a:solidFill>
          <a:ln w="9525">
            <a:solidFill>
              <a:srgbClr val="D3D9D6"/>
            </a:solidFill>
            <a:prstDash val="solid"/>
          </a:ln>
        </p:spPr>
      </p:sp>
      <p:sp>
        <p:nvSpPr>
          <p:cNvPr id="17" name="Shape 14"/>
          <p:cNvSpPr/>
          <p:nvPr/>
        </p:nvSpPr>
        <p:spPr>
          <a:xfrm>
            <a:off x="548640" y="2606040"/>
            <a:ext cx="384048" cy="457200"/>
          </a:xfrm>
          <a:prstGeom prst="roundRect">
            <a:avLst>
              <a:gd name="adj" fmla="val 9524"/>
            </a:avLst>
          </a:prstGeom>
          <a:solidFill>
            <a:srgbClr val="EEF2EF"/>
          </a:solidFill>
          <a:ln w="9525">
            <a:solidFill>
              <a:srgbClr val="D3D9D6"/>
            </a:solidFill>
            <a:prstDash val="solid"/>
          </a:ln>
        </p:spPr>
      </p:sp>
      <p:sp>
        <p:nvSpPr>
          <p:cNvPr id="18" name="Shape 15"/>
          <p:cNvSpPr/>
          <p:nvPr/>
        </p:nvSpPr>
        <p:spPr>
          <a:xfrm>
            <a:off x="1024128" y="2606040"/>
            <a:ext cx="384048" cy="457200"/>
          </a:xfrm>
          <a:prstGeom prst="roundRect">
            <a:avLst>
              <a:gd name="adj" fmla="val 9524"/>
            </a:avLst>
          </a:prstGeom>
          <a:solidFill>
            <a:srgbClr val="EEF2EF"/>
          </a:solidFill>
          <a:ln w="9525">
            <a:solidFill>
              <a:srgbClr val="D3D9D6"/>
            </a:solidFill>
            <a:prstDash val="solid"/>
          </a:ln>
        </p:spPr>
      </p:sp>
      <p:sp>
        <p:nvSpPr>
          <p:cNvPr id="19" name="Shape 16"/>
          <p:cNvSpPr/>
          <p:nvPr/>
        </p:nvSpPr>
        <p:spPr>
          <a:xfrm>
            <a:off x="1499616" y="2606040"/>
            <a:ext cx="384048" cy="457200"/>
          </a:xfrm>
          <a:prstGeom prst="roundRect">
            <a:avLst>
              <a:gd name="adj" fmla="val 9524"/>
            </a:avLst>
          </a:prstGeom>
          <a:solidFill>
            <a:srgbClr val="A9772F"/>
          </a:solidFill>
          <a:ln w="9525">
            <a:solidFill>
              <a:srgbClr val="A9772F"/>
            </a:solidFill>
            <a:prstDash val="solid"/>
          </a:ln>
        </p:spPr>
      </p:sp>
      <p:sp>
        <p:nvSpPr>
          <p:cNvPr id="20" name="Shape 17"/>
          <p:cNvSpPr/>
          <p:nvPr/>
        </p:nvSpPr>
        <p:spPr>
          <a:xfrm>
            <a:off x="1975104" y="2606040"/>
            <a:ext cx="384048" cy="457200"/>
          </a:xfrm>
          <a:prstGeom prst="roundRect">
            <a:avLst>
              <a:gd name="adj" fmla="val 9524"/>
            </a:avLst>
          </a:prstGeom>
          <a:solidFill>
            <a:srgbClr val="EEF2EF"/>
          </a:solidFill>
          <a:ln w="9525">
            <a:solidFill>
              <a:srgbClr val="D3D9D6"/>
            </a:solidFill>
            <a:prstDash val="solid"/>
          </a:ln>
        </p:spPr>
      </p:sp>
      <p:sp>
        <p:nvSpPr>
          <p:cNvPr id="21" name="Shape 18"/>
          <p:cNvSpPr/>
          <p:nvPr/>
        </p:nvSpPr>
        <p:spPr>
          <a:xfrm>
            <a:off x="2450592" y="2606040"/>
            <a:ext cx="384048" cy="457200"/>
          </a:xfrm>
          <a:prstGeom prst="roundRect">
            <a:avLst>
              <a:gd name="adj" fmla="val 9524"/>
            </a:avLst>
          </a:prstGeom>
          <a:solidFill>
            <a:srgbClr val="EEF2EF"/>
          </a:solidFill>
          <a:ln w="9525">
            <a:solidFill>
              <a:srgbClr val="D3D9D6"/>
            </a:solidFill>
            <a:prstDash val="solid"/>
          </a:ln>
        </p:spPr>
      </p:sp>
      <p:sp>
        <p:nvSpPr>
          <p:cNvPr id="22" name="Shape 19"/>
          <p:cNvSpPr/>
          <p:nvPr/>
        </p:nvSpPr>
        <p:spPr>
          <a:xfrm>
            <a:off x="2926080" y="2606040"/>
            <a:ext cx="384048" cy="457200"/>
          </a:xfrm>
          <a:prstGeom prst="roundRect">
            <a:avLst>
              <a:gd name="adj" fmla="val 9524"/>
            </a:avLst>
          </a:prstGeom>
          <a:solidFill>
            <a:srgbClr val="EEF2EF"/>
          </a:solidFill>
          <a:ln w="9525">
            <a:solidFill>
              <a:srgbClr val="D3D9D6"/>
            </a:solidFill>
            <a:prstDash val="solid"/>
          </a:ln>
        </p:spPr>
      </p:sp>
      <p:sp>
        <p:nvSpPr>
          <p:cNvPr id="23" name="Shape 20"/>
          <p:cNvSpPr/>
          <p:nvPr/>
        </p:nvSpPr>
        <p:spPr>
          <a:xfrm>
            <a:off x="3401568" y="2606040"/>
            <a:ext cx="384048" cy="457200"/>
          </a:xfrm>
          <a:prstGeom prst="roundRect">
            <a:avLst>
              <a:gd name="adj" fmla="val 9524"/>
            </a:avLst>
          </a:prstGeom>
          <a:solidFill>
            <a:srgbClr val="EEF2EF"/>
          </a:solidFill>
          <a:ln w="9525">
            <a:solidFill>
              <a:srgbClr val="D3D9D6"/>
            </a:solidFill>
            <a:prstDash val="solid"/>
          </a:ln>
        </p:spPr>
      </p:sp>
      <p:sp>
        <p:nvSpPr>
          <p:cNvPr id="24" name="Shape 21"/>
          <p:cNvSpPr/>
          <p:nvPr/>
        </p:nvSpPr>
        <p:spPr>
          <a:xfrm>
            <a:off x="3877056" y="2606040"/>
            <a:ext cx="384048" cy="457200"/>
          </a:xfrm>
          <a:prstGeom prst="roundRect">
            <a:avLst>
              <a:gd name="adj" fmla="val 9524"/>
            </a:avLst>
          </a:prstGeom>
          <a:solidFill>
            <a:srgbClr val="EEF2EF"/>
          </a:solidFill>
          <a:ln w="9525">
            <a:solidFill>
              <a:srgbClr val="D3D9D6"/>
            </a:solidFill>
            <a:prstDash val="solid"/>
          </a:ln>
        </p:spPr>
      </p:sp>
      <p:sp>
        <p:nvSpPr>
          <p:cNvPr id="25" name="Shape 22"/>
          <p:cNvSpPr/>
          <p:nvPr/>
        </p:nvSpPr>
        <p:spPr>
          <a:xfrm>
            <a:off x="4352544" y="2606040"/>
            <a:ext cx="384048" cy="457200"/>
          </a:xfrm>
          <a:prstGeom prst="roundRect">
            <a:avLst>
              <a:gd name="adj" fmla="val 9524"/>
            </a:avLst>
          </a:prstGeom>
          <a:solidFill>
            <a:srgbClr val="EEF2EF"/>
          </a:solidFill>
          <a:ln w="9525">
            <a:solidFill>
              <a:srgbClr val="D3D9D6"/>
            </a:solidFill>
            <a:prstDash val="solid"/>
          </a:ln>
        </p:spPr>
      </p:sp>
      <p:sp>
        <p:nvSpPr>
          <p:cNvPr id="26" name="Shape 23"/>
          <p:cNvSpPr/>
          <p:nvPr/>
        </p:nvSpPr>
        <p:spPr>
          <a:xfrm>
            <a:off x="4828032" y="2606040"/>
            <a:ext cx="384048" cy="457200"/>
          </a:xfrm>
          <a:prstGeom prst="roundRect">
            <a:avLst>
              <a:gd name="adj" fmla="val 9524"/>
            </a:avLst>
          </a:prstGeom>
          <a:solidFill>
            <a:srgbClr val="EEF2EF"/>
          </a:solidFill>
          <a:ln w="9525">
            <a:solidFill>
              <a:srgbClr val="D3D9D6"/>
            </a:solidFill>
            <a:prstDash val="solid"/>
          </a:ln>
        </p:spPr>
      </p:sp>
      <p:sp>
        <p:nvSpPr>
          <p:cNvPr id="27" name="Shape 24"/>
          <p:cNvSpPr/>
          <p:nvPr/>
        </p:nvSpPr>
        <p:spPr>
          <a:xfrm>
            <a:off x="5303520" y="2606040"/>
            <a:ext cx="384048" cy="457200"/>
          </a:xfrm>
          <a:prstGeom prst="roundRect">
            <a:avLst>
              <a:gd name="adj" fmla="val 9524"/>
            </a:avLst>
          </a:prstGeom>
          <a:solidFill>
            <a:srgbClr val="EEF2EF"/>
          </a:solidFill>
          <a:ln w="9525">
            <a:solidFill>
              <a:srgbClr val="D3D9D6"/>
            </a:solidFill>
            <a:prstDash val="solid"/>
          </a:ln>
        </p:spPr>
      </p:sp>
      <p:sp>
        <p:nvSpPr>
          <p:cNvPr id="28" name="Shape 25"/>
          <p:cNvSpPr/>
          <p:nvPr/>
        </p:nvSpPr>
        <p:spPr>
          <a:xfrm>
            <a:off x="5779008" y="2606040"/>
            <a:ext cx="384048" cy="457200"/>
          </a:xfrm>
          <a:prstGeom prst="roundRect">
            <a:avLst>
              <a:gd name="adj" fmla="val 9524"/>
            </a:avLst>
          </a:prstGeom>
          <a:solidFill>
            <a:srgbClr val="EEF2EF"/>
          </a:solidFill>
          <a:ln w="9525">
            <a:solidFill>
              <a:srgbClr val="D3D9D6"/>
            </a:solidFill>
            <a:prstDash val="solid"/>
          </a:ln>
        </p:spPr>
      </p:sp>
      <p:sp>
        <p:nvSpPr>
          <p:cNvPr id="29" name="Shape 26"/>
          <p:cNvSpPr/>
          <p:nvPr/>
        </p:nvSpPr>
        <p:spPr>
          <a:xfrm>
            <a:off x="548640" y="3154680"/>
            <a:ext cx="384048" cy="457200"/>
          </a:xfrm>
          <a:prstGeom prst="roundRect">
            <a:avLst>
              <a:gd name="adj" fmla="val 9524"/>
            </a:avLst>
          </a:prstGeom>
          <a:solidFill>
            <a:srgbClr val="EEF2EF"/>
          </a:solidFill>
          <a:ln w="9525">
            <a:solidFill>
              <a:srgbClr val="D3D9D6"/>
            </a:solidFill>
            <a:prstDash val="solid"/>
          </a:ln>
        </p:spPr>
      </p:sp>
      <p:sp>
        <p:nvSpPr>
          <p:cNvPr id="30" name="Shape 27"/>
          <p:cNvSpPr/>
          <p:nvPr/>
        </p:nvSpPr>
        <p:spPr>
          <a:xfrm>
            <a:off x="1024128" y="3154680"/>
            <a:ext cx="384048" cy="457200"/>
          </a:xfrm>
          <a:prstGeom prst="roundRect">
            <a:avLst>
              <a:gd name="adj" fmla="val 9524"/>
            </a:avLst>
          </a:prstGeom>
          <a:solidFill>
            <a:srgbClr val="EEF2EF"/>
          </a:solidFill>
          <a:ln w="9525">
            <a:solidFill>
              <a:srgbClr val="D3D9D6"/>
            </a:solidFill>
            <a:prstDash val="solid"/>
          </a:ln>
        </p:spPr>
      </p:sp>
      <p:sp>
        <p:nvSpPr>
          <p:cNvPr id="31" name="Shape 28"/>
          <p:cNvSpPr/>
          <p:nvPr/>
        </p:nvSpPr>
        <p:spPr>
          <a:xfrm>
            <a:off x="1499616" y="3154680"/>
            <a:ext cx="384048" cy="457200"/>
          </a:xfrm>
          <a:prstGeom prst="roundRect">
            <a:avLst>
              <a:gd name="adj" fmla="val 9524"/>
            </a:avLst>
          </a:prstGeom>
          <a:solidFill>
            <a:srgbClr val="EEF2EF"/>
          </a:solidFill>
          <a:ln w="9525">
            <a:solidFill>
              <a:srgbClr val="D3D9D6"/>
            </a:solidFill>
            <a:prstDash val="solid"/>
          </a:ln>
        </p:spPr>
      </p:sp>
      <p:sp>
        <p:nvSpPr>
          <p:cNvPr id="32" name="Shape 29"/>
          <p:cNvSpPr/>
          <p:nvPr/>
        </p:nvSpPr>
        <p:spPr>
          <a:xfrm>
            <a:off x="1975104" y="3154680"/>
            <a:ext cx="384048" cy="457200"/>
          </a:xfrm>
          <a:prstGeom prst="roundRect">
            <a:avLst>
              <a:gd name="adj" fmla="val 9524"/>
            </a:avLst>
          </a:prstGeom>
          <a:solidFill>
            <a:srgbClr val="EEF2EF"/>
          </a:solidFill>
          <a:ln w="9525">
            <a:solidFill>
              <a:srgbClr val="D3D9D6"/>
            </a:solidFill>
            <a:prstDash val="solid"/>
          </a:ln>
        </p:spPr>
      </p:sp>
      <p:sp>
        <p:nvSpPr>
          <p:cNvPr id="33" name="Shape 30"/>
          <p:cNvSpPr/>
          <p:nvPr/>
        </p:nvSpPr>
        <p:spPr>
          <a:xfrm>
            <a:off x="2450592" y="3154680"/>
            <a:ext cx="384048" cy="457200"/>
          </a:xfrm>
          <a:prstGeom prst="roundRect">
            <a:avLst>
              <a:gd name="adj" fmla="val 9524"/>
            </a:avLst>
          </a:prstGeom>
          <a:solidFill>
            <a:srgbClr val="EEF2EF"/>
          </a:solidFill>
          <a:ln w="9525">
            <a:solidFill>
              <a:srgbClr val="D3D9D6"/>
            </a:solidFill>
            <a:prstDash val="solid"/>
          </a:ln>
        </p:spPr>
      </p:sp>
      <p:sp>
        <p:nvSpPr>
          <p:cNvPr id="34" name="Shape 31"/>
          <p:cNvSpPr/>
          <p:nvPr/>
        </p:nvSpPr>
        <p:spPr>
          <a:xfrm>
            <a:off x="2926080" y="3154680"/>
            <a:ext cx="384048" cy="457200"/>
          </a:xfrm>
          <a:prstGeom prst="roundRect">
            <a:avLst>
              <a:gd name="adj" fmla="val 9524"/>
            </a:avLst>
          </a:prstGeom>
          <a:solidFill>
            <a:srgbClr val="EEF2EF"/>
          </a:solidFill>
          <a:ln w="9525">
            <a:solidFill>
              <a:srgbClr val="D3D9D6"/>
            </a:solidFill>
            <a:prstDash val="solid"/>
          </a:ln>
        </p:spPr>
      </p:sp>
      <p:sp>
        <p:nvSpPr>
          <p:cNvPr id="35" name="Shape 32"/>
          <p:cNvSpPr/>
          <p:nvPr/>
        </p:nvSpPr>
        <p:spPr>
          <a:xfrm>
            <a:off x="3401568" y="3154680"/>
            <a:ext cx="384048" cy="457200"/>
          </a:xfrm>
          <a:prstGeom prst="roundRect">
            <a:avLst>
              <a:gd name="adj" fmla="val 9524"/>
            </a:avLst>
          </a:prstGeom>
          <a:solidFill>
            <a:srgbClr val="EEF2EF"/>
          </a:solidFill>
          <a:ln w="9525">
            <a:solidFill>
              <a:srgbClr val="D3D9D6"/>
            </a:solidFill>
            <a:prstDash val="solid"/>
          </a:ln>
        </p:spPr>
      </p:sp>
      <p:sp>
        <p:nvSpPr>
          <p:cNvPr id="36" name="Shape 33"/>
          <p:cNvSpPr/>
          <p:nvPr/>
        </p:nvSpPr>
        <p:spPr>
          <a:xfrm>
            <a:off x="3877056" y="3154680"/>
            <a:ext cx="384048" cy="457200"/>
          </a:xfrm>
          <a:prstGeom prst="roundRect">
            <a:avLst>
              <a:gd name="adj" fmla="val 9524"/>
            </a:avLst>
          </a:prstGeom>
          <a:solidFill>
            <a:srgbClr val="EEF2EF"/>
          </a:solidFill>
          <a:ln w="9525">
            <a:solidFill>
              <a:srgbClr val="D3D9D6"/>
            </a:solidFill>
            <a:prstDash val="solid"/>
          </a:ln>
        </p:spPr>
      </p:sp>
      <p:sp>
        <p:nvSpPr>
          <p:cNvPr id="37" name="Shape 34"/>
          <p:cNvSpPr/>
          <p:nvPr/>
        </p:nvSpPr>
        <p:spPr>
          <a:xfrm>
            <a:off x="4352544" y="3154680"/>
            <a:ext cx="384048" cy="457200"/>
          </a:xfrm>
          <a:prstGeom prst="roundRect">
            <a:avLst>
              <a:gd name="adj" fmla="val 9524"/>
            </a:avLst>
          </a:prstGeom>
          <a:solidFill>
            <a:srgbClr val="EEF2EF"/>
          </a:solidFill>
          <a:ln w="9525">
            <a:solidFill>
              <a:srgbClr val="D3D9D6"/>
            </a:solidFill>
            <a:prstDash val="solid"/>
          </a:ln>
        </p:spPr>
      </p:sp>
      <p:sp>
        <p:nvSpPr>
          <p:cNvPr id="38" name="Shape 35"/>
          <p:cNvSpPr/>
          <p:nvPr/>
        </p:nvSpPr>
        <p:spPr>
          <a:xfrm>
            <a:off x="4828032" y="3154680"/>
            <a:ext cx="384048" cy="457200"/>
          </a:xfrm>
          <a:prstGeom prst="roundRect">
            <a:avLst>
              <a:gd name="adj" fmla="val 9524"/>
            </a:avLst>
          </a:prstGeom>
          <a:solidFill>
            <a:srgbClr val="EEF2EF"/>
          </a:solidFill>
          <a:ln w="9525">
            <a:solidFill>
              <a:srgbClr val="D3D9D6"/>
            </a:solidFill>
            <a:prstDash val="solid"/>
          </a:ln>
        </p:spPr>
      </p:sp>
      <p:sp>
        <p:nvSpPr>
          <p:cNvPr id="39" name="Shape 36"/>
          <p:cNvSpPr/>
          <p:nvPr/>
        </p:nvSpPr>
        <p:spPr>
          <a:xfrm>
            <a:off x="5303520" y="3154680"/>
            <a:ext cx="384048" cy="457200"/>
          </a:xfrm>
          <a:prstGeom prst="roundRect">
            <a:avLst>
              <a:gd name="adj" fmla="val 9524"/>
            </a:avLst>
          </a:prstGeom>
          <a:solidFill>
            <a:srgbClr val="EEF2EF"/>
          </a:solidFill>
          <a:ln w="9525">
            <a:solidFill>
              <a:srgbClr val="D3D9D6"/>
            </a:solidFill>
            <a:prstDash val="solid"/>
          </a:ln>
        </p:spPr>
      </p:sp>
      <p:sp>
        <p:nvSpPr>
          <p:cNvPr id="40" name="Shape 37"/>
          <p:cNvSpPr/>
          <p:nvPr/>
        </p:nvSpPr>
        <p:spPr>
          <a:xfrm>
            <a:off x="5779008" y="3154680"/>
            <a:ext cx="384048" cy="457200"/>
          </a:xfrm>
          <a:prstGeom prst="roundRect">
            <a:avLst>
              <a:gd name="adj" fmla="val 9524"/>
            </a:avLst>
          </a:prstGeom>
          <a:solidFill>
            <a:srgbClr val="EEF2EF"/>
          </a:solidFill>
          <a:ln w="9525">
            <a:solidFill>
              <a:srgbClr val="D3D9D6"/>
            </a:solidFill>
            <a:prstDash val="solid"/>
          </a:ln>
        </p:spPr>
      </p:sp>
      <p:sp>
        <p:nvSpPr>
          <p:cNvPr id="41" name="Shape 38"/>
          <p:cNvSpPr/>
          <p:nvPr/>
        </p:nvSpPr>
        <p:spPr>
          <a:xfrm>
            <a:off x="548640" y="3703320"/>
            <a:ext cx="384048" cy="457200"/>
          </a:xfrm>
          <a:prstGeom prst="roundRect">
            <a:avLst>
              <a:gd name="adj" fmla="val 9524"/>
            </a:avLst>
          </a:prstGeom>
          <a:solidFill>
            <a:srgbClr val="EEF2EF"/>
          </a:solidFill>
          <a:ln w="9525">
            <a:solidFill>
              <a:srgbClr val="D3D9D6"/>
            </a:solidFill>
            <a:prstDash val="solid"/>
          </a:ln>
        </p:spPr>
      </p:sp>
      <p:sp>
        <p:nvSpPr>
          <p:cNvPr id="42" name="Shape 39"/>
          <p:cNvSpPr/>
          <p:nvPr/>
        </p:nvSpPr>
        <p:spPr>
          <a:xfrm>
            <a:off x="1024128" y="3703320"/>
            <a:ext cx="384048" cy="457200"/>
          </a:xfrm>
          <a:prstGeom prst="roundRect">
            <a:avLst>
              <a:gd name="adj" fmla="val 9524"/>
            </a:avLst>
          </a:prstGeom>
          <a:solidFill>
            <a:srgbClr val="EEF2EF"/>
          </a:solidFill>
          <a:ln w="9525">
            <a:solidFill>
              <a:srgbClr val="D3D9D6"/>
            </a:solidFill>
            <a:prstDash val="solid"/>
          </a:ln>
        </p:spPr>
      </p:sp>
      <p:sp>
        <p:nvSpPr>
          <p:cNvPr id="43" name="Shape 40"/>
          <p:cNvSpPr/>
          <p:nvPr/>
        </p:nvSpPr>
        <p:spPr>
          <a:xfrm>
            <a:off x="1499616" y="3703320"/>
            <a:ext cx="384048" cy="457200"/>
          </a:xfrm>
          <a:prstGeom prst="roundRect">
            <a:avLst>
              <a:gd name="adj" fmla="val 9524"/>
            </a:avLst>
          </a:prstGeom>
          <a:solidFill>
            <a:srgbClr val="EEF2EF"/>
          </a:solidFill>
          <a:ln w="9525">
            <a:solidFill>
              <a:srgbClr val="D3D9D6"/>
            </a:solidFill>
            <a:prstDash val="solid"/>
          </a:ln>
        </p:spPr>
      </p:sp>
      <p:sp>
        <p:nvSpPr>
          <p:cNvPr id="44" name="Shape 41"/>
          <p:cNvSpPr/>
          <p:nvPr/>
        </p:nvSpPr>
        <p:spPr>
          <a:xfrm>
            <a:off x="1975104" y="3703320"/>
            <a:ext cx="384048" cy="457200"/>
          </a:xfrm>
          <a:prstGeom prst="roundRect">
            <a:avLst>
              <a:gd name="adj" fmla="val 9524"/>
            </a:avLst>
          </a:prstGeom>
          <a:solidFill>
            <a:srgbClr val="EEF2EF"/>
          </a:solidFill>
          <a:ln w="9525">
            <a:solidFill>
              <a:srgbClr val="D3D9D6"/>
            </a:solidFill>
            <a:prstDash val="solid"/>
          </a:ln>
        </p:spPr>
      </p:sp>
      <p:sp>
        <p:nvSpPr>
          <p:cNvPr id="45" name="Shape 42"/>
          <p:cNvSpPr/>
          <p:nvPr/>
        </p:nvSpPr>
        <p:spPr>
          <a:xfrm>
            <a:off x="2450592" y="3703320"/>
            <a:ext cx="384048" cy="457200"/>
          </a:xfrm>
          <a:prstGeom prst="roundRect">
            <a:avLst>
              <a:gd name="adj" fmla="val 9524"/>
            </a:avLst>
          </a:prstGeom>
          <a:solidFill>
            <a:srgbClr val="EEF2EF"/>
          </a:solidFill>
          <a:ln w="9525">
            <a:solidFill>
              <a:srgbClr val="D3D9D6"/>
            </a:solidFill>
            <a:prstDash val="solid"/>
          </a:ln>
        </p:spPr>
      </p:sp>
      <p:sp>
        <p:nvSpPr>
          <p:cNvPr id="46" name="Shape 43"/>
          <p:cNvSpPr/>
          <p:nvPr/>
        </p:nvSpPr>
        <p:spPr>
          <a:xfrm>
            <a:off x="2926080" y="3703320"/>
            <a:ext cx="384048" cy="457200"/>
          </a:xfrm>
          <a:prstGeom prst="roundRect">
            <a:avLst>
              <a:gd name="adj" fmla="val 9524"/>
            </a:avLst>
          </a:prstGeom>
          <a:solidFill>
            <a:srgbClr val="A9772F"/>
          </a:solidFill>
          <a:ln w="9525">
            <a:solidFill>
              <a:srgbClr val="A9772F"/>
            </a:solidFill>
            <a:prstDash val="solid"/>
          </a:ln>
        </p:spPr>
      </p:sp>
      <p:sp>
        <p:nvSpPr>
          <p:cNvPr id="47" name="Shape 44"/>
          <p:cNvSpPr/>
          <p:nvPr/>
        </p:nvSpPr>
        <p:spPr>
          <a:xfrm>
            <a:off x="3401568" y="3703320"/>
            <a:ext cx="384048" cy="457200"/>
          </a:xfrm>
          <a:prstGeom prst="roundRect">
            <a:avLst>
              <a:gd name="adj" fmla="val 9524"/>
            </a:avLst>
          </a:prstGeom>
          <a:solidFill>
            <a:srgbClr val="EEF2EF"/>
          </a:solidFill>
          <a:ln w="9525">
            <a:solidFill>
              <a:srgbClr val="D3D9D6"/>
            </a:solidFill>
            <a:prstDash val="solid"/>
          </a:ln>
        </p:spPr>
      </p:sp>
      <p:sp>
        <p:nvSpPr>
          <p:cNvPr id="48" name="Shape 45"/>
          <p:cNvSpPr/>
          <p:nvPr/>
        </p:nvSpPr>
        <p:spPr>
          <a:xfrm>
            <a:off x="3877056" y="3703320"/>
            <a:ext cx="384048" cy="457200"/>
          </a:xfrm>
          <a:prstGeom prst="roundRect">
            <a:avLst>
              <a:gd name="adj" fmla="val 9524"/>
            </a:avLst>
          </a:prstGeom>
          <a:solidFill>
            <a:srgbClr val="EEF2EF"/>
          </a:solidFill>
          <a:ln w="9525">
            <a:solidFill>
              <a:srgbClr val="D3D9D6"/>
            </a:solidFill>
            <a:prstDash val="solid"/>
          </a:ln>
        </p:spPr>
      </p:sp>
      <p:sp>
        <p:nvSpPr>
          <p:cNvPr id="49" name="Shape 46"/>
          <p:cNvSpPr/>
          <p:nvPr/>
        </p:nvSpPr>
        <p:spPr>
          <a:xfrm>
            <a:off x="4352544" y="3703320"/>
            <a:ext cx="384048" cy="457200"/>
          </a:xfrm>
          <a:prstGeom prst="roundRect">
            <a:avLst>
              <a:gd name="adj" fmla="val 9524"/>
            </a:avLst>
          </a:prstGeom>
          <a:solidFill>
            <a:srgbClr val="EEF2EF"/>
          </a:solidFill>
          <a:ln w="9525">
            <a:solidFill>
              <a:srgbClr val="D3D9D6"/>
            </a:solidFill>
            <a:prstDash val="solid"/>
          </a:ln>
        </p:spPr>
      </p:sp>
      <p:sp>
        <p:nvSpPr>
          <p:cNvPr id="50" name="Shape 47"/>
          <p:cNvSpPr/>
          <p:nvPr/>
        </p:nvSpPr>
        <p:spPr>
          <a:xfrm>
            <a:off x="4828032" y="3703320"/>
            <a:ext cx="384048" cy="457200"/>
          </a:xfrm>
          <a:prstGeom prst="roundRect">
            <a:avLst>
              <a:gd name="adj" fmla="val 9524"/>
            </a:avLst>
          </a:prstGeom>
          <a:solidFill>
            <a:srgbClr val="EEF2EF"/>
          </a:solidFill>
          <a:ln w="9525">
            <a:solidFill>
              <a:srgbClr val="D3D9D6"/>
            </a:solidFill>
            <a:prstDash val="solid"/>
          </a:ln>
        </p:spPr>
      </p:sp>
      <p:sp>
        <p:nvSpPr>
          <p:cNvPr id="51" name="Shape 48"/>
          <p:cNvSpPr/>
          <p:nvPr/>
        </p:nvSpPr>
        <p:spPr>
          <a:xfrm>
            <a:off x="5303520" y="3703320"/>
            <a:ext cx="384048" cy="457200"/>
          </a:xfrm>
          <a:prstGeom prst="roundRect">
            <a:avLst>
              <a:gd name="adj" fmla="val 9524"/>
            </a:avLst>
          </a:prstGeom>
          <a:solidFill>
            <a:srgbClr val="EEF2EF"/>
          </a:solidFill>
          <a:ln w="9525">
            <a:solidFill>
              <a:srgbClr val="D3D9D6"/>
            </a:solidFill>
            <a:prstDash val="solid"/>
          </a:ln>
        </p:spPr>
      </p:sp>
      <p:sp>
        <p:nvSpPr>
          <p:cNvPr id="52" name="Shape 49"/>
          <p:cNvSpPr/>
          <p:nvPr/>
        </p:nvSpPr>
        <p:spPr>
          <a:xfrm>
            <a:off x="5779008" y="3703320"/>
            <a:ext cx="384048" cy="457200"/>
          </a:xfrm>
          <a:prstGeom prst="roundRect">
            <a:avLst>
              <a:gd name="adj" fmla="val 9524"/>
            </a:avLst>
          </a:prstGeom>
          <a:solidFill>
            <a:srgbClr val="EEF2EF"/>
          </a:solidFill>
          <a:ln w="9525">
            <a:solidFill>
              <a:srgbClr val="D3D9D6"/>
            </a:solidFill>
            <a:prstDash val="solid"/>
          </a:ln>
        </p:spPr>
      </p:sp>
      <p:sp>
        <p:nvSpPr>
          <p:cNvPr id="53" name="Shape 50"/>
          <p:cNvSpPr/>
          <p:nvPr/>
        </p:nvSpPr>
        <p:spPr>
          <a:xfrm>
            <a:off x="548640" y="4251960"/>
            <a:ext cx="384048" cy="457200"/>
          </a:xfrm>
          <a:prstGeom prst="roundRect">
            <a:avLst>
              <a:gd name="adj" fmla="val 9524"/>
            </a:avLst>
          </a:prstGeom>
          <a:solidFill>
            <a:srgbClr val="EEF2EF"/>
          </a:solidFill>
          <a:ln w="9525">
            <a:solidFill>
              <a:srgbClr val="D3D9D6"/>
            </a:solidFill>
            <a:prstDash val="solid"/>
          </a:ln>
        </p:spPr>
      </p:sp>
      <p:sp>
        <p:nvSpPr>
          <p:cNvPr id="54" name="Shape 51"/>
          <p:cNvSpPr/>
          <p:nvPr/>
        </p:nvSpPr>
        <p:spPr>
          <a:xfrm>
            <a:off x="1024128" y="4251960"/>
            <a:ext cx="384048" cy="457200"/>
          </a:xfrm>
          <a:prstGeom prst="roundRect">
            <a:avLst>
              <a:gd name="adj" fmla="val 9524"/>
            </a:avLst>
          </a:prstGeom>
          <a:solidFill>
            <a:srgbClr val="EEF2EF"/>
          </a:solidFill>
          <a:ln w="9525">
            <a:solidFill>
              <a:srgbClr val="D3D9D6"/>
            </a:solidFill>
            <a:prstDash val="solid"/>
          </a:ln>
        </p:spPr>
      </p:sp>
      <p:sp>
        <p:nvSpPr>
          <p:cNvPr id="55" name="Shape 52"/>
          <p:cNvSpPr/>
          <p:nvPr/>
        </p:nvSpPr>
        <p:spPr>
          <a:xfrm>
            <a:off x="1499616" y="4251960"/>
            <a:ext cx="384048" cy="457200"/>
          </a:xfrm>
          <a:prstGeom prst="roundRect">
            <a:avLst>
              <a:gd name="adj" fmla="val 9524"/>
            </a:avLst>
          </a:prstGeom>
          <a:solidFill>
            <a:srgbClr val="EEF2EF"/>
          </a:solidFill>
          <a:ln w="9525">
            <a:solidFill>
              <a:srgbClr val="D3D9D6"/>
            </a:solidFill>
            <a:prstDash val="solid"/>
          </a:ln>
        </p:spPr>
      </p:sp>
      <p:sp>
        <p:nvSpPr>
          <p:cNvPr id="56" name="Shape 53"/>
          <p:cNvSpPr/>
          <p:nvPr/>
        </p:nvSpPr>
        <p:spPr>
          <a:xfrm>
            <a:off x="1975104" y="4251960"/>
            <a:ext cx="384048" cy="457200"/>
          </a:xfrm>
          <a:prstGeom prst="roundRect">
            <a:avLst>
              <a:gd name="adj" fmla="val 9524"/>
            </a:avLst>
          </a:prstGeom>
          <a:solidFill>
            <a:srgbClr val="EEF2EF"/>
          </a:solidFill>
          <a:ln w="9525">
            <a:solidFill>
              <a:srgbClr val="D3D9D6"/>
            </a:solidFill>
            <a:prstDash val="solid"/>
          </a:ln>
        </p:spPr>
      </p:sp>
      <p:sp>
        <p:nvSpPr>
          <p:cNvPr id="57" name="Shape 54"/>
          <p:cNvSpPr/>
          <p:nvPr/>
        </p:nvSpPr>
        <p:spPr>
          <a:xfrm>
            <a:off x="2450592" y="4251960"/>
            <a:ext cx="384048" cy="457200"/>
          </a:xfrm>
          <a:prstGeom prst="roundRect">
            <a:avLst>
              <a:gd name="adj" fmla="val 9524"/>
            </a:avLst>
          </a:prstGeom>
          <a:solidFill>
            <a:srgbClr val="EEF2EF"/>
          </a:solidFill>
          <a:ln w="9525">
            <a:solidFill>
              <a:srgbClr val="D3D9D6"/>
            </a:solidFill>
            <a:prstDash val="solid"/>
          </a:ln>
        </p:spPr>
      </p:sp>
      <p:sp>
        <p:nvSpPr>
          <p:cNvPr id="58" name="Shape 55"/>
          <p:cNvSpPr/>
          <p:nvPr/>
        </p:nvSpPr>
        <p:spPr>
          <a:xfrm>
            <a:off x="2926080" y="4251960"/>
            <a:ext cx="384048" cy="457200"/>
          </a:xfrm>
          <a:prstGeom prst="roundRect">
            <a:avLst>
              <a:gd name="adj" fmla="val 9524"/>
            </a:avLst>
          </a:prstGeom>
          <a:solidFill>
            <a:srgbClr val="EEF2EF"/>
          </a:solidFill>
          <a:ln w="9525">
            <a:solidFill>
              <a:srgbClr val="D3D9D6"/>
            </a:solidFill>
            <a:prstDash val="solid"/>
          </a:ln>
        </p:spPr>
      </p:sp>
      <p:sp>
        <p:nvSpPr>
          <p:cNvPr id="59" name="Shape 56"/>
          <p:cNvSpPr/>
          <p:nvPr/>
        </p:nvSpPr>
        <p:spPr>
          <a:xfrm>
            <a:off x="3401568" y="4251960"/>
            <a:ext cx="384048" cy="457200"/>
          </a:xfrm>
          <a:prstGeom prst="roundRect">
            <a:avLst>
              <a:gd name="adj" fmla="val 9524"/>
            </a:avLst>
          </a:prstGeom>
          <a:solidFill>
            <a:srgbClr val="EEF2EF"/>
          </a:solidFill>
          <a:ln w="9525">
            <a:solidFill>
              <a:srgbClr val="D3D9D6"/>
            </a:solidFill>
            <a:prstDash val="solid"/>
          </a:ln>
        </p:spPr>
      </p:sp>
      <p:sp>
        <p:nvSpPr>
          <p:cNvPr id="60" name="Shape 57"/>
          <p:cNvSpPr/>
          <p:nvPr/>
        </p:nvSpPr>
        <p:spPr>
          <a:xfrm>
            <a:off x="3877056" y="4251960"/>
            <a:ext cx="384048" cy="457200"/>
          </a:xfrm>
          <a:prstGeom prst="roundRect">
            <a:avLst>
              <a:gd name="adj" fmla="val 9524"/>
            </a:avLst>
          </a:prstGeom>
          <a:solidFill>
            <a:srgbClr val="EEF2EF"/>
          </a:solidFill>
          <a:ln w="9525">
            <a:solidFill>
              <a:srgbClr val="D3D9D6"/>
            </a:solidFill>
            <a:prstDash val="solid"/>
          </a:ln>
        </p:spPr>
      </p:sp>
      <p:sp>
        <p:nvSpPr>
          <p:cNvPr id="61" name="Shape 58"/>
          <p:cNvSpPr/>
          <p:nvPr/>
        </p:nvSpPr>
        <p:spPr>
          <a:xfrm>
            <a:off x="4352544" y="4251960"/>
            <a:ext cx="384048" cy="457200"/>
          </a:xfrm>
          <a:prstGeom prst="roundRect">
            <a:avLst>
              <a:gd name="adj" fmla="val 9524"/>
            </a:avLst>
          </a:prstGeom>
          <a:solidFill>
            <a:srgbClr val="EEF2EF"/>
          </a:solidFill>
          <a:ln w="9525">
            <a:solidFill>
              <a:srgbClr val="D3D9D6"/>
            </a:solidFill>
            <a:prstDash val="solid"/>
          </a:ln>
        </p:spPr>
      </p:sp>
      <p:sp>
        <p:nvSpPr>
          <p:cNvPr id="62" name="Shape 59"/>
          <p:cNvSpPr/>
          <p:nvPr/>
        </p:nvSpPr>
        <p:spPr>
          <a:xfrm>
            <a:off x="4828032" y="4251960"/>
            <a:ext cx="384048" cy="457200"/>
          </a:xfrm>
          <a:prstGeom prst="roundRect">
            <a:avLst>
              <a:gd name="adj" fmla="val 9524"/>
            </a:avLst>
          </a:prstGeom>
          <a:solidFill>
            <a:srgbClr val="EEF2EF"/>
          </a:solidFill>
          <a:ln w="9525">
            <a:solidFill>
              <a:srgbClr val="D3D9D6"/>
            </a:solidFill>
            <a:prstDash val="solid"/>
          </a:ln>
        </p:spPr>
      </p:sp>
      <p:sp>
        <p:nvSpPr>
          <p:cNvPr id="63" name="Shape 60"/>
          <p:cNvSpPr/>
          <p:nvPr/>
        </p:nvSpPr>
        <p:spPr>
          <a:xfrm>
            <a:off x="5303520" y="4251960"/>
            <a:ext cx="384048" cy="457200"/>
          </a:xfrm>
          <a:prstGeom prst="roundRect">
            <a:avLst>
              <a:gd name="adj" fmla="val 9524"/>
            </a:avLst>
          </a:prstGeom>
          <a:solidFill>
            <a:srgbClr val="EEF2EF"/>
          </a:solidFill>
          <a:ln w="9525">
            <a:solidFill>
              <a:srgbClr val="D3D9D6"/>
            </a:solidFill>
            <a:prstDash val="solid"/>
          </a:ln>
        </p:spPr>
      </p:sp>
      <p:sp>
        <p:nvSpPr>
          <p:cNvPr id="64" name="Shape 61"/>
          <p:cNvSpPr/>
          <p:nvPr/>
        </p:nvSpPr>
        <p:spPr>
          <a:xfrm>
            <a:off x="5779008" y="4251960"/>
            <a:ext cx="384048" cy="457200"/>
          </a:xfrm>
          <a:prstGeom prst="roundRect">
            <a:avLst>
              <a:gd name="adj" fmla="val 9524"/>
            </a:avLst>
          </a:prstGeom>
          <a:solidFill>
            <a:srgbClr val="EEF2EF"/>
          </a:solidFill>
          <a:ln w="9525">
            <a:solidFill>
              <a:srgbClr val="D3D9D6"/>
            </a:solidFill>
            <a:prstDash val="solid"/>
          </a:ln>
        </p:spPr>
      </p:sp>
      <p:sp>
        <p:nvSpPr>
          <p:cNvPr id="65" name="Shape 62"/>
          <p:cNvSpPr/>
          <p:nvPr/>
        </p:nvSpPr>
        <p:spPr>
          <a:xfrm>
            <a:off x="548640" y="4800600"/>
            <a:ext cx="384048" cy="457200"/>
          </a:xfrm>
          <a:prstGeom prst="roundRect">
            <a:avLst>
              <a:gd name="adj" fmla="val 9524"/>
            </a:avLst>
          </a:prstGeom>
          <a:solidFill>
            <a:srgbClr val="EEF2EF"/>
          </a:solidFill>
          <a:ln w="9525">
            <a:solidFill>
              <a:srgbClr val="D3D9D6"/>
            </a:solidFill>
            <a:prstDash val="solid"/>
          </a:ln>
        </p:spPr>
      </p:sp>
      <p:sp>
        <p:nvSpPr>
          <p:cNvPr id="66" name="Shape 63"/>
          <p:cNvSpPr/>
          <p:nvPr/>
        </p:nvSpPr>
        <p:spPr>
          <a:xfrm>
            <a:off x="1024128" y="4800600"/>
            <a:ext cx="384048" cy="457200"/>
          </a:xfrm>
          <a:prstGeom prst="roundRect">
            <a:avLst>
              <a:gd name="adj" fmla="val 9524"/>
            </a:avLst>
          </a:prstGeom>
          <a:solidFill>
            <a:srgbClr val="EEF2EF"/>
          </a:solidFill>
          <a:ln w="9525">
            <a:solidFill>
              <a:srgbClr val="D3D9D6"/>
            </a:solidFill>
            <a:prstDash val="solid"/>
          </a:ln>
        </p:spPr>
      </p:sp>
      <p:sp>
        <p:nvSpPr>
          <p:cNvPr id="67" name="Shape 64"/>
          <p:cNvSpPr/>
          <p:nvPr/>
        </p:nvSpPr>
        <p:spPr>
          <a:xfrm>
            <a:off x="1499616" y="4800600"/>
            <a:ext cx="384048" cy="457200"/>
          </a:xfrm>
          <a:prstGeom prst="roundRect">
            <a:avLst>
              <a:gd name="adj" fmla="val 9524"/>
            </a:avLst>
          </a:prstGeom>
          <a:solidFill>
            <a:srgbClr val="EEF2EF"/>
          </a:solidFill>
          <a:ln w="9525">
            <a:solidFill>
              <a:srgbClr val="D3D9D6"/>
            </a:solidFill>
            <a:prstDash val="solid"/>
          </a:ln>
        </p:spPr>
      </p:sp>
      <p:sp>
        <p:nvSpPr>
          <p:cNvPr id="68" name="Shape 65"/>
          <p:cNvSpPr/>
          <p:nvPr/>
        </p:nvSpPr>
        <p:spPr>
          <a:xfrm>
            <a:off x="1975104" y="4800600"/>
            <a:ext cx="384048" cy="457200"/>
          </a:xfrm>
          <a:prstGeom prst="roundRect">
            <a:avLst>
              <a:gd name="adj" fmla="val 9524"/>
            </a:avLst>
          </a:prstGeom>
          <a:solidFill>
            <a:srgbClr val="A9772F"/>
          </a:solidFill>
          <a:ln w="9525">
            <a:solidFill>
              <a:srgbClr val="A9772F"/>
            </a:solidFill>
            <a:prstDash val="solid"/>
          </a:ln>
        </p:spPr>
      </p:sp>
      <p:sp>
        <p:nvSpPr>
          <p:cNvPr id="69" name="Shape 66"/>
          <p:cNvSpPr/>
          <p:nvPr/>
        </p:nvSpPr>
        <p:spPr>
          <a:xfrm>
            <a:off x="2450592" y="4800600"/>
            <a:ext cx="384048" cy="457200"/>
          </a:xfrm>
          <a:prstGeom prst="roundRect">
            <a:avLst>
              <a:gd name="adj" fmla="val 9524"/>
            </a:avLst>
          </a:prstGeom>
          <a:solidFill>
            <a:srgbClr val="EEF2EF"/>
          </a:solidFill>
          <a:ln w="9525">
            <a:solidFill>
              <a:srgbClr val="D3D9D6"/>
            </a:solidFill>
            <a:prstDash val="solid"/>
          </a:ln>
        </p:spPr>
      </p:sp>
      <p:sp>
        <p:nvSpPr>
          <p:cNvPr id="70" name="Shape 67"/>
          <p:cNvSpPr/>
          <p:nvPr/>
        </p:nvSpPr>
        <p:spPr>
          <a:xfrm>
            <a:off x="2926080" y="4800600"/>
            <a:ext cx="384048" cy="457200"/>
          </a:xfrm>
          <a:prstGeom prst="roundRect">
            <a:avLst>
              <a:gd name="adj" fmla="val 9524"/>
            </a:avLst>
          </a:prstGeom>
          <a:solidFill>
            <a:srgbClr val="EEF2EF"/>
          </a:solidFill>
          <a:ln w="9525">
            <a:solidFill>
              <a:srgbClr val="D3D9D6"/>
            </a:solidFill>
            <a:prstDash val="solid"/>
          </a:ln>
        </p:spPr>
      </p:sp>
      <p:sp>
        <p:nvSpPr>
          <p:cNvPr id="71" name="Shape 68"/>
          <p:cNvSpPr/>
          <p:nvPr/>
        </p:nvSpPr>
        <p:spPr>
          <a:xfrm>
            <a:off x="3401568" y="4800600"/>
            <a:ext cx="384048" cy="457200"/>
          </a:xfrm>
          <a:prstGeom prst="roundRect">
            <a:avLst>
              <a:gd name="adj" fmla="val 9524"/>
            </a:avLst>
          </a:prstGeom>
          <a:solidFill>
            <a:srgbClr val="EEF2EF"/>
          </a:solidFill>
          <a:ln w="9525">
            <a:solidFill>
              <a:srgbClr val="D3D9D6"/>
            </a:solidFill>
            <a:prstDash val="solid"/>
          </a:ln>
        </p:spPr>
      </p:sp>
      <p:sp>
        <p:nvSpPr>
          <p:cNvPr id="72" name="Shape 69"/>
          <p:cNvSpPr/>
          <p:nvPr/>
        </p:nvSpPr>
        <p:spPr>
          <a:xfrm>
            <a:off x="3877056" y="4800600"/>
            <a:ext cx="384048" cy="457200"/>
          </a:xfrm>
          <a:prstGeom prst="roundRect">
            <a:avLst>
              <a:gd name="adj" fmla="val 9524"/>
            </a:avLst>
          </a:prstGeom>
          <a:solidFill>
            <a:srgbClr val="EEF2EF"/>
          </a:solidFill>
          <a:ln w="9525">
            <a:solidFill>
              <a:srgbClr val="D3D9D6"/>
            </a:solidFill>
            <a:prstDash val="solid"/>
          </a:ln>
        </p:spPr>
      </p:sp>
      <p:sp>
        <p:nvSpPr>
          <p:cNvPr id="73" name="Shape 70"/>
          <p:cNvSpPr/>
          <p:nvPr/>
        </p:nvSpPr>
        <p:spPr>
          <a:xfrm>
            <a:off x="4352544" y="4800600"/>
            <a:ext cx="384048" cy="457200"/>
          </a:xfrm>
          <a:prstGeom prst="roundRect">
            <a:avLst>
              <a:gd name="adj" fmla="val 9524"/>
            </a:avLst>
          </a:prstGeom>
          <a:solidFill>
            <a:srgbClr val="EEF2EF"/>
          </a:solidFill>
          <a:ln w="9525">
            <a:solidFill>
              <a:srgbClr val="D3D9D6"/>
            </a:solidFill>
            <a:prstDash val="solid"/>
          </a:ln>
        </p:spPr>
      </p:sp>
      <p:sp>
        <p:nvSpPr>
          <p:cNvPr id="74" name="Shape 71"/>
          <p:cNvSpPr/>
          <p:nvPr/>
        </p:nvSpPr>
        <p:spPr>
          <a:xfrm>
            <a:off x="4828032" y="4800600"/>
            <a:ext cx="384048" cy="457200"/>
          </a:xfrm>
          <a:prstGeom prst="roundRect">
            <a:avLst>
              <a:gd name="adj" fmla="val 9524"/>
            </a:avLst>
          </a:prstGeom>
          <a:solidFill>
            <a:srgbClr val="EEF2EF"/>
          </a:solidFill>
          <a:ln w="9525">
            <a:solidFill>
              <a:srgbClr val="D3D9D6"/>
            </a:solidFill>
            <a:prstDash val="solid"/>
          </a:ln>
        </p:spPr>
      </p:sp>
      <p:sp>
        <p:nvSpPr>
          <p:cNvPr id="75" name="Shape 72"/>
          <p:cNvSpPr/>
          <p:nvPr/>
        </p:nvSpPr>
        <p:spPr>
          <a:xfrm>
            <a:off x="5303520" y="4800600"/>
            <a:ext cx="384048" cy="457200"/>
          </a:xfrm>
          <a:prstGeom prst="roundRect">
            <a:avLst>
              <a:gd name="adj" fmla="val 9524"/>
            </a:avLst>
          </a:prstGeom>
          <a:solidFill>
            <a:srgbClr val="EEF2EF"/>
          </a:solidFill>
          <a:ln w="9525">
            <a:solidFill>
              <a:srgbClr val="D3D9D6"/>
            </a:solidFill>
            <a:prstDash val="solid"/>
          </a:ln>
        </p:spPr>
      </p:sp>
      <p:sp>
        <p:nvSpPr>
          <p:cNvPr id="76" name="Shape 73"/>
          <p:cNvSpPr/>
          <p:nvPr/>
        </p:nvSpPr>
        <p:spPr>
          <a:xfrm>
            <a:off x="5779008" y="4800600"/>
            <a:ext cx="384048" cy="457200"/>
          </a:xfrm>
          <a:prstGeom prst="roundRect">
            <a:avLst>
              <a:gd name="adj" fmla="val 9524"/>
            </a:avLst>
          </a:prstGeom>
          <a:solidFill>
            <a:srgbClr val="EEF2EF"/>
          </a:solidFill>
          <a:ln w="9525">
            <a:solidFill>
              <a:srgbClr val="D3D9D6"/>
            </a:solidFill>
            <a:prstDash val="solid"/>
          </a:ln>
        </p:spPr>
      </p:sp>
      <p:sp>
        <p:nvSpPr>
          <p:cNvPr id="77" name="Text 74"/>
          <p:cNvSpPr txBox="1"/>
          <p:nvPr/>
        </p:nvSpPr>
        <p:spPr>
          <a:xfrm>
            <a:off x="548640" y="5440680"/>
            <a:ext cx="5614416" cy="320040"/>
          </a:xfrm>
          <a:prstGeom prst="rect">
            <a:avLst/>
          </a:prstGeom>
          <a:noFill/>
          <a:ln/>
        </p:spPr>
        <p:txBody>
          <a:bodyPr wrap="square" lIns="0" tIns="0" rIns="0" bIns="0" rtlCol="0" anchor="t"/>
          <a:lstStyle/>
          <a:p>
            <a:pPr indent="0" marL="0">
              <a:buNone/>
            </a:pPr>
            <a:r>
              <a:rPr lang="en-US" sz="1600" dirty="0">
                <a:solidFill>
                  <a:srgbClr val="66706C"/>
                </a:solidFill>
                <a:latin typeface="Arial" pitchFamily="34" charset="0"/>
                <a:ea typeface="Arial" pitchFamily="34" charset="-122"/>
                <a:cs typeface="Arial" pitchFamily="34" charset="-120"/>
              </a:rPr>
              <a:t>Many applications, </a:t>
            </a:r>
            <a:pPr indent="0" marL="0">
              <a:buNone/>
            </a:pPr>
            <a:r>
              <a:rPr lang="en-US" sz="1600" b="1" dirty="0">
                <a:solidFill>
                  <a:srgbClr val="A9772F"/>
                </a:solidFill>
                <a:latin typeface="Arial" pitchFamily="34" charset="0"/>
                <a:ea typeface="Arial" pitchFamily="34" charset="-122"/>
                <a:cs typeface="Arial" pitchFamily="34" charset="-120"/>
              </a:rPr>
              <a:t>a handful of replies</a:t>
            </a:r>
            <a:endParaRPr lang="en-US" sz="1600" dirty="0"/>
          </a:p>
        </p:txBody>
      </p:sp>
      <p:sp>
        <p:nvSpPr>
          <p:cNvPr id="78" name="Text 75"/>
          <p:cNvSpPr txBox="1"/>
          <p:nvPr/>
        </p:nvSpPr>
        <p:spPr>
          <a:xfrm>
            <a:off x="548640" y="5760720"/>
            <a:ext cx="5614416" cy="274320"/>
          </a:xfrm>
          <a:prstGeom prst="rect">
            <a:avLst/>
          </a:prstGeom>
          <a:noFill/>
          <a:ln/>
        </p:spPr>
        <p:txBody>
          <a:bodyPr wrap="square" lIns="0" tIns="0" rIns="0" bIns="0" rtlCol="0" anchor="t"/>
          <a:lstStyle/>
          <a:p>
            <a:pPr indent="0" marL="0">
              <a:buNone/>
            </a:pPr>
            <a:r>
              <a:rPr lang="en-US" sz="1100" i="1" dirty="0">
                <a:solidFill>
                  <a:srgbClr val="66706C"/>
                </a:solidFill>
                <a:latin typeface="Arial" pitchFamily="34" charset="0"/>
                <a:ea typeface="Arial" pitchFamily="34" charset="-122"/>
                <a:cs typeface="Arial" pitchFamily="34" charset="-120"/>
              </a:rPr>
              <a:t>Illustration, not data</a:t>
            </a:r>
            <a:endParaRPr lang="en-US" sz="1100" dirty="0"/>
          </a:p>
        </p:txBody>
      </p:sp>
      <p:sp>
        <p:nvSpPr>
          <p:cNvPr id="79" name="Text 76"/>
          <p:cNvSpPr txBox="1"/>
          <p:nvPr/>
        </p:nvSpPr>
        <p:spPr>
          <a:xfrm>
            <a:off x="7315200" y="2057400"/>
            <a:ext cx="4327855" cy="320040"/>
          </a:xfrm>
          <a:prstGeom prst="rect">
            <a:avLst/>
          </a:prstGeom>
          <a:noFill/>
          <a:ln/>
        </p:spPr>
        <p:txBody>
          <a:bodyPr wrap="square" lIns="0" tIns="0" rIns="0" bIns="0" rtlCol="0" anchor="t"/>
          <a:lstStyle/>
          <a:p>
            <a:pPr indent="0" marL="0">
              <a:buNone/>
            </a:pPr>
            <a:r>
              <a:rPr lang="en-US" sz="1800" b="1" dirty="0">
                <a:solidFill>
                  <a:srgbClr val="14302A"/>
                </a:solidFill>
                <a:latin typeface="Arial" pitchFamily="34" charset="0"/>
                <a:ea typeface="Arial" pitchFamily="34" charset="-122"/>
                <a:cs typeface="Arial" pitchFamily="34" charset="-120"/>
              </a:rPr>
              <a:t>Filtered by keywords</a:t>
            </a:r>
            <a:endParaRPr lang="en-US" sz="1800" dirty="0"/>
          </a:p>
        </p:txBody>
      </p:sp>
      <p:sp>
        <p:nvSpPr>
          <p:cNvPr id="80" name="Text 77"/>
          <p:cNvSpPr txBox="1"/>
          <p:nvPr/>
        </p:nvSpPr>
        <p:spPr>
          <a:xfrm>
            <a:off x="7315200" y="2395728"/>
            <a:ext cx="4327855" cy="457200"/>
          </a:xfrm>
          <a:prstGeom prst="rect">
            <a:avLst/>
          </a:prstGeom>
          <a:noFill/>
          <a:ln/>
        </p:spPr>
        <p:txBody>
          <a:bodyPr wrap="square" lIns="0" tIns="0" rIns="0" bIns="0" rtlCol="0" anchor="t"/>
          <a:lstStyle/>
          <a:p>
            <a:pPr indent="0" marL="0">
              <a:buNone/>
            </a:pPr>
            <a:r>
              <a:rPr lang="en-US" sz="1600" dirty="0">
                <a:solidFill>
                  <a:srgbClr val="1E2422"/>
                </a:solidFill>
                <a:latin typeface="Arial" pitchFamily="34" charset="0"/>
                <a:ea typeface="Arial" pitchFamily="34" charset="-122"/>
                <a:cs typeface="Arial" pitchFamily="34" charset="-120"/>
              </a:rPr>
              <a:t>Portals sort CVs before a person ever reads one.</a:t>
            </a:r>
            <a:endParaRPr lang="en-US" sz="1600" dirty="0"/>
          </a:p>
        </p:txBody>
      </p:sp>
      <p:sp>
        <p:nvSpPr>
          <p:cNvPr id="81" name="Text 78"/>
          <p:cNvSpPr txBox="1"/>
          <p:nvPr/>
        </p:nvSpPr>
        <p:spPr>
          <a:xfrm>
            <a:off x="7315200" y="2971800"/>
            <a:ext cx="4327855" cy="320040"/>
          </a:xfrm>
          <a:prstGeom prst="rect">
            <a:avLst/>
          </a:prstGeom>
          <a:noFill/>
          <a:ln/>
        </p:spPr>
        <p:txBody>
          <a:bodyPr wrap="square" lIns="0" tIns="0" rIns="0" bIns="0" rtlCol="0" anchor="t"/>
          <a:lstStyle/>
          <a:p>
            <a:pPr indent="0" marL="0">
              <a:buNone/>
            </a:pPr>
            <a:r>
              <a:rPr lang="en-US" sz="1800" b="1" dirty="0">
                <a:solidFill>
                  <a:srgbClr val="14302A"/>
                </a:solidFill>
                <a:latin typeface="Arial" pitchFamily="34" charset="0"/>
                <a:ea typeface="Arial" pitchFamily="34" charset="-122"/>
                <a:cs typeface="Arial" pitchFamily="34" charset="-120"/>
              </a:rPr>
              <a:t>Lost in a crowd</a:t>
            </a:r>
            <a:endParaRPr lang="en-US" sz="1800" dirty="0"/>
          </a:p>
        </p:txBody>
      </p:sp>
      <p:sp>
        <p:nvSpPr>
          <p:cNvPr id="82" name="Text 79"/>
          <p:cNvSpPr txBox="1"/>
          <p:nvPr/>
        </p:nvSpPr>
        <p:spPr>
          <a:xfrm>
            <a:off x="7315200" y="3310128"/>
            <a:ext cx="4327855" cy="457200"/>
          </a:xfrm>
          <a:prstGeom prst="rect">
            <a:avLst/>
          </a:prstGeom>
          <a:noFill/>
          <a:ln/>
        </p:spPr>
        <p:txBody>
          <a:bodyPr wrap="square" lIns="0" tIns="0" rIns="0" bIns="0" rtlCol="0" anchor="t"/>
          <a:lstStyle/>
          <a:p>
            <a:pPr indent="0" marL="0">
              <a:buNone/>
            </a:pPr>
            <a:r>
              <a:rPr lang="en-US" sz="1600" dirty="0">
                <a:solidFill>
                  <a:srgbClr val="1E2422"/>
                </a:solidFill>
                <a:latin typeface="Arial" pitchFamily="34" charset="0"/>
                <a:ea typeface="Arial" pitchFamily="34" charset="-122"/>
                <a:cs typeface="Arial" pitchFamily="34" charset="-120"/>
              </a:rPr>
              <a:t>Recruiters see hundreds of near-identical profiles.</a:t>
            </a:r>
            <a:endParaRPr lang="en-US" sz="1600" dirty="0"/>
          </a:p>
        </p:txBody>
      </p:sp>
      <p:sp>
        <p:nvSpPr>
          <p:cNvPr id="83" name="Text 80"/>
          <p:cNvSpPr txBox="1"/>
          <p:nvPr/>
        </p:nvSpPr>
        <p:spPr>
          <a:xfrm>
            <a:off x="7315200" y="3886200"/>
            <a:ext cx="4327855" cy="320040"/>
          </a:xfrm>
          <a:prstGeom prst="rect">
            <a:avLst/>
          </a:prstGeom>
          <a:noFill/>
          <a:ln/>
        </p:spPr>
        <p:txBody>
          <a:bodyPr wrap="square" lIns="0" tIns="0" rIns="0" bIns="0" rtlCol="0" anchor="t"/>
          <a:lstStyle/>
          <a:p>
            <a:pPr indent="0" marL="0">
              <a:buNone/>
            </a:pPr>
            <a:r>
              <a:rPr lang="en-US" sz="1800" b="1" dirty="0">
                <a:solidFill>
                  <a:srgbClr val="14302A"/>
                </a:solidFill>
                <a:latin typeface="Arial" pitchFamily="34" charset="0"/>
                <a:ea typeface="Arial" pitchFamily="34" charset="-122"/>
                <a:cs typeface="Arial" pitchFamily="34" charset="-120"/>
              </a:rPr>
              <a:t>Silence teaches nothing</a:t>
            </a:r>
            <a:endParaRPr lang="en-US" sz="1800" dirty="0"/>
          </a:p>
        </p:txBody>
      </p:sp>
      <p:sp>
        <p:nvSpPr>
          <p:cNvPr id="84" name="Text 81"/>
          <p:cNvSpPr txBox="1"/>
          <p:nvPr/>
        </p:nvSpPr>
        <p:spPr>
          <a:xfrm>
            <a:off x="7315200" y="4224528"/>
            <a:ext cx="4327855" cy="457200"/>
          </a:xfrm>
          <a:prstGeom prst="rect">
            <a:avLst/>
          </a:prstGeom>
          <a:noFill/>
          <a:ln/>
        </p:spPr>
        <p:txBody>
          <a:bodyPr wrap="square" lIns="0" tIns="0" rIns="0" bIns="0" rtlCol="0" anchor="t"/>
          <a:lstStyle/>
          <a:p>
            <a:pPr indent="0" marL="0">
              <a:buNone/>
            </a:pPr>
            <a:r>
              <a:rPr lang="en-US" sz="1600" dirty="0">
                <a:solidFill>
                  <a:srgbClr val="1E2422"/>
                </a:solidFill>
                <a:latin typeface="Arial" pitchFamily="34" charset="0"/>
                <a:ea typeface="Arial" pitchFamily="34" charset="-122"/>
                <a:cs typeface="Arial" pitchFamily="34" charset="-120"/>
              </a:rPr>
              <a:t>No reply means no signal on what to change.</a:t>
            </a:r>
            <a:endParaRPr lang="en-US" sz="1600" dirty="0"/>
          </a:p>
        </p:txBody>
      </p:sp>
      <p:sp>
        <p:nvSpPr>
          <p:cNvPr id="85" name="Shape 82"/>
          <p:cNvSpPr/>
          <p:nvPr/>
        </p:nvSpPr>
        <p:spPr>
          <a:xfrm>
            <a:off x="7315200" y="4892040"/>
            <a:ext cx="4327855" cy="822960"/>
          </a:xfrm>
          <a:prstGeom prst="roundRect">
            <a:avLst>
              <a:gd name="adj" fmla="val 8889"/>
            </a:avLst>
          </a:prstGeom>
          <a:solidFill>
            <a:srgbClr val="14302A"/>
          </a:solidFill>
          <a:ln w="12700">
            <a:solidFill>
              <a:srgbClr val="14302A"/>
            </a:solidFill>
            <a:prstDash val="solid"/>
          </a:ln>
        </p:spPr>
      </p:sp>
      <p:sp>
        <p:nvSpPr>
          <p:cNvPr id="86" name="Text 83"/>
          <p:cNvSpPr txBox="1"/>
          <p:nvPr/>
        </p:nvSpPr>
        <p:spPr>
          <a:xfrm>
            <a:off x="7589520" y="4892040"/>
            <a:ext cx="3779215" cy="822960"/>
          </a:xfrm>
          <a:prstGeom prst="rect">
            <a:avLst/>
          </a:prstGeom>
          <a:noFill/>
          <a:ln/>
        </p:spPr>
        <p:txBody>
          <a:bodyPr wrap="square" lIns="0" tIns="0" rIns="0" bIns="0" rtlCol="0" anchor="ctr"/>
          <a:lstStyle/>
          <a:p>
            <a:pPr indent="0" marL="0">
              <a:buNone/>
            </a:pPr>
            <a:r>
              <a:rPr lang="en-US" sz="2400" b="1" i="1" dirty="0">
                <a:solidFill>
                  <a:srgbClr val="FFFFFF"/>
                </a:solidFill>
                <a:latin typeface="Georgia" pitchFamily="34" charset="0"/>
                <a:ea typeface="Georgia" pitchFamily="34" charset="-122"/>
                <a:cs typeface="Georgia" pitchFamily="34" charset="-120"/>
              </a:rPr>
              <a:t>People hire people.</a:t>
            </a:r>
            <a:endParaRPr lang="en-US" sz="24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6C"/>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spc="300" kern="0" dirty="0">
                <a:solidFill>
                  <a:srgbClr val="A9772F"/>
                </a:solidFill>
                <a:latin typeface="Arial" pitchFamily="34" charset="0"/>
                <a:ea typeface="Arial" pitchFamily="34" charset="-122"/>
                <a:cs typeface="Arial" pitchFamily="34" charset="-120"/>
              </a:rPr>
              <a:t>WHAT ALREADY WORKS</a:t>
            </a:r>
            <a:endParaRPr lang="en-US" sz="1100" dirty="0"/>
          </a:p>
        </p:txBody>
      </p:sp>
      <p:sp>
        <p:nvSpPr>
          <p:cNvPr id="3" name="Text 1"/>
          <p:cNvSpPr/>
          <p:nvPr>
            <p:ph idx="102" type="title" hasCustomPrompt="1"/>
          </p:nvPr>
        </p:nvSpPr>
        <p:spPr>
          <a:xfrm>
            <a:off x="548640" y="658368"/>
            <a:ext cx="11094415" cy="960120"/>
          </a:xfrm>
          <a:prstGeom prst="rect">
            <a:avLst/>
          </a:prstGeom>
          <a:noFill/>
          <a:ln/>
        </p:spPr>
        <p:txBody>
          <a:bodyPr wrap="square" lIns="0" tIns="0" rIns="0" bIns="0" rtlCol="0" anchor="t"/>
          <a:lstStyle/>
          <a:p>
            <a:pPr algn="l" indent="0" marL="0">
              <a:buNone/>
            </a:pPr>
            <a:r>
              <a:rPr lang="en-US" sz="2800" dirty="0">
                <a:solidFill>
                  <a:srgbClr val="14302A"/>
                </a:solidFill>
                <a:latin typeface="Georgia" pitchFamily="34" charset="0"/>
                <a:ea typeface="Georgia" pitchFamily="34" charset="-122"/>
                <a:cs typeface="Georgia" pitchFamily="34" charset="-120"/>
              </a:rPr>
              <a:t>Referrals and warm conversations beat cold applications because a real person vouches for you</a:t>
            </a:r>
            <a:endParaRPr lang="en-US" sz="2800" dirty="0"/>
          </a:p>
        </p:txBody>
      </p:sp>
      <p:sp>
        <p:nvSpPr>
          <p:cNvPr id="5" name="Shape 2"/>
          <p:cNvSpPr/>
          <p:nvPr/>
        </p:nvSpPr>
        <p:spPr>
          <a:xfrm>
            <a:off x="3657600" y="2011680"/>
            <a:ext cx="3901288" cy="640080"/>
          </a:xfrm>
          <a:prstGeom prst="roundRect">
            <a:avLst>
              <a:gd name="adj" fmla="val 8571"/>
            </a:avLst>
          </a:prstGeom>
          <a:solidFill>
            <a:srgbClr val="EEF2EF"/>
          </a:solidFill>
          <a:ln w="9525">
            <a:solidFill>
              <a:srgbClr val="D3D9D6"/>
            </a:solidFill>
            <a:prstDash val="solid"/>
          </a:ln>
        </p:spPr>
      </p:sp>
      <p:sp>
        <p:nvSpPr>
          <p:cNvPr id="6" name="Text 3"/>
          <p:cNvSpPr txBox="1"/>
          <p:nvPr/>
        </p:nvSpPr>
        <p:spPr>
          <a:xfrm>
            <a:off x="3931920" y="2011680"/>
            <a:ext cx="3352648" cy="640080"/>
          </a:xfrm>
          <a:prstGeom prst="rect">
            <a:avLst/>
          </a:prstGeom>
          <a:noFill/>
          <a:ln/>
        </p:spPr>
        <p:txBody>
          <a:bodyPr wrap="square" lIns="0" tIns="0" rIns="0" bIns="0" rtlCol="0" anchor="ctr"/>
          <a:lstStyle/>
          <a:p>
            <a:pPr indent="0" marL="0">
              <a:buNone/>
            </a:pPr>
            <a:r>
              <a:rPr lang="en-US" sz="2000" b="1" dirty="0">
                <a:solidFill>
                  <a:srgbClr val="66706C"/>
                </a:solidFill>
                <a:latin typeface="Georgia" pitchFamily="34" charset="0"/>
                <a:ea typeface="Georgia" pitchFamily="34" charset="-122"/>
                <a:cs typeface="Georgia" pitchFamily="34" charset="-120"/>
              </a:rPr>
              <a:t>Cold application</a:t>
            </a:r>
            <a:endParaRPr lang="en-US" sz="2000" dirty="0"/>
          </a:p>
        </p:txBody>
      </p:sp>
      <p:sp>
        <p:nvSpPr>
          <p:cNvPr id="7" name="Shape 4"/>
          <p:cNvSpPr/>
          <p:nvPr/>
        </p:nvSpPr>
        <p:spPr>
          <a:xfrm>
            <a:off x="7741768" y="2011680"/>
            <a:ext cx="3901288" cy="3794760"/>
          </a:xfrm>
          <a:prstGeom prst="roundRect">
            <a:avLst>
              <a:gd name="adj" fmla="val 1928"/>
            </a:avLst>
          </a:prstGeom>
          <a:solidFill>
            <a:srgbClr val="14302A"/>
          </a:solidFill>
          <a:ln w="12700">
            <a:solidFill>
              <a:srgbClr val="14302A"/>
            </a:solidFill>
            <a:prstDash val="solid"/>
          </a:ln>
        </p:spPr>
      </p:sp>
      <p:sp>
        <p:nvSpPr>
          <p:cNvPr id="8" name="Text 5"/>
          <p:cNvSpPr txBox="1"/>
          <p:nvPr/>
        </p:nvSpPr>
        <p:spPr>
          <a:xfrm>
            <a:off x="8016088" y="2011680"/>
            <a:ext cx="3352648" cy="64008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Warm conversation</a:t>
            </a:r>
            <a:endParaRPr lang="en-US" sz="2000" dirty="0"/>
          </a:p>
        </p:txBody>
      </p:sp>
      <p:sp>
        <p:nvSpPr>
          <p:cNvPr id="9" name="Text 6"/>
          <p:cNvSpPr txBox="1"/>
          <p:nvPr/>
        </p:nvSpPr>
        <p:spPr>
          <a:xfrm>
            <a:off x="548640" y="2880360"/>
            <a:ext cx="2926080" cy="822960"/>
          </a:xfrm>
          <a:prstGeom prst="rect">
            <a:avLst/>
          </a:prstGeom>
          <a:noFill/>
          <a:ln/>
        </p:spPr>
        <p:txBody>
          <a:bodyPr wrap="square" lIns="0" tIns="0" rIns="0" bIns="0" rtlCol="0" anchor="ctr"/>
          <a:lstStyle/>
          <a:p>
            <a:pPr indent="0" marL="0">
              <a:buNone/>
            </a:pPr>
            <a:r>
              <a:rPr lang="en-US" sz="1700" b="1" dirty="0">
                <a:solidFill>
                  <a:srgbClr val="14302A"/>
                </a:solidFill>
                <a:latin typeface="Arial" pitchFamily="34" charset="0"/>
                <a:ea typeface="Arial" pitchFamily="34" charset="-122"/>
                <a:cs typeface="Arial" pitchFamily="34" charset="-120"/>
              </a:rPr>
              <a:t>Who sees it first</a:t>
            </a:r>
            <a:endParaRPr lang="en-US" sz="1700" dirty="0"/>
          </a:p>
        </p:txBody>
      </p:sp>
      <p:sp>
        <p:nvSpPr>
          <p:cNvPr id="10" name="Text 7"/>
          <p:cNvSpPr txBox="1"/>
          <p:nvPr/>
        </p:nvSpPr>
        <p:spPr>
          <a:xfrm>
            <a:off x="3931920" y="2880360"/>
            <a:ext cx="3352648" cy="822960"/>
          </a:xfrm>
          <a:prstGeom prst="rect">
            <a:avLst/>
          </a:prstGeom>
          <a:noFill/>
          <a:ln/>
        </p:spPr>
        <p:txBody>
          <a:bodyPr wrap="square" lIns="0" tIns="0" rIns="0" bIns="0" rtlCol="0" anchor="ctr"/>
          <a:lstStyle/>
          <a:p>
            <a:pPr indent="0" marL="0">
              <a:buNone/>
            </a:pPr>
            <a:r>
              <a:rPr lang="en-US" sz="1800" dirty="0">
                <a:solidFill>
                  <a:srgbClr val="66706C"/>
                </a:solidFill>
                <a:latin typeface="Arial" pitchFamily="34" charset="0"/>
                <a:ea typeface="Arial" pitchFamily="34" charset="-122"/>
                <a:cs typeface="Arial" pitchFamily="34" charset="-120"/>
              </a:rPr>
              <a:t>A filter, then a busy recruiter</a:t>
            </a:r>
            <a:endParaRPr lang="en-US" sz="1800" dirty="0"/>
          </a:p>
        </p:txBody>
      </p:sp>
      <p:sp>
        <p:nvSpPr>
          <p:cNvPr id="11" name="Text 8"/>
          <p:cNvSpPr txBox="1"/>
          <p:nvPr/>
        </p:nvSpPr>
        <p:spPr>
          <a:xfrm>
            <a:off x="8016088" y="2880360"/>
            <a:ext cx="3352648" cy="82296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A person who chose to reply</a:t>
            </a:r>
            <a:endParaRPr lang="en-US" sz="1800" dirty="0"/>
          </a:p>
        </p:txBody>
      </p:sp>
      <p:sp>
        <p:nvSpPr>
          <p:cNvPr id="12" name="Shape 9"/>
          <p:cNvSpPr/>
          <p:nvPr/>
        </p:nvSpPr>
        <p:spPr>
          <a:xfrm>
            <a:off x="548640" y="3776472"/>
            <a:ext cx="7010248" cy="0"/>
          </a:xfrm>
          <a:prstGeom prst="line">
            <a:avLst/>
          </a:prstGeom>
          <a:noFill/>
          <a:ln w="9525">
            <a:solidFill>
              <a:srgbClr val="D3D9D6"/>
            </a:solidFill>
            <a:prstDash val="solid"/>
          </a:ln>
        </p:spPr>
      </p:sp>
      <p:sp>
        <p:nvSpPr>
          <p:cNvPr id="13" name="Text 10"/>
          <p:cNvSpPr txBox="1"/>
          <p:nvPr/>
        </p:nvSpPr>
        <p:spPr>
          <a:xfrm>
            <a:off x="548640" y="3867912"/>
            <a:ext cx="2926080" cy="822960"/>
          </a:xfrm>
          <a:prstGeom prst="rect">
            <a:avLst/>
          </a:prstGeom>
          <a:noFill/>
          <a:ln/>
        </p:spPr>
        <p:txBody>
          <a:bodyPr wrap="square" lIns="0" tIns="0" rIns="0" bIns="0" rtlCol="0" anchor="ctr"/>
          <a:lstStyle/>
          <a:p>
            <a:pPr indent="0" marL="0">
              <a:buNone/>
            </a:pPr>
            <a:r>
              <a:rPr lang="en-US" sz="1700" b="1" dirty="0">
                <a:solidFill>
                  <a:srgbClr val="14302A"/>
                </a:solidFill>
                <a:latin typeface="Arial" pitchFamily="34" charset="0"/>
                <a:ea typeface="Arial" pitchFamily="34" charset="-122"/>
                <a:cs typeface="Arial" pitchFamily="34" charset="-120"/>
              </a:rPr>
              <a:t>What they know about you</a:t>
            </a:r>
            <a:endParaRPr lang="en-US" sz="1700" dirty="0"/>
          </a:p>
        </p:txBody>
      </p:sp>
      <p:sp>
        <p:nvSpPr>
          <p:cNvPr id="14" name="Text 11"/>
          <p:cNvSpPr txBox="1"/>
          <p:nvPr/>
        </p:nvSpPr>
        <p:spPr>
          <a:xfrm>
            <a:off x="3931920" y="3867912"/>
            <a:ext cx="3352648" cy="822960"/>
          </a:xfrm>
          <a:prstGeom prst="rect">
            <a:avLst/>
          </a:prstGeom>
          <a:noFill/>
          <a:ln/>
        </p:spPr>
        <p:txBody>
          <a:bodyPr wrap="square" lIns="0" tIns="0" rIns="0" bIns="0" rtlCol="0" anchor="ctr"/>
          <a:lstStyle/>
          <a:p>
            <a:pPr indent="0" marL="0">
              <a:buNone/>
            </a:pPr>
            <a:r>
              <a:rPr lang="en-US" sz="1800" dirty="0">
                <a:solidFill>
                  <a:srgbClr val="66706C"/>
                </a:solidFill>
                <a:latin typeface="Arial" pitchFamily="34" charset="0"/>
                <a:ea typeface="Arial" pitchFamily="34" charset="-122"/>
                <a:cs typeface="Arial" pitchFamily="34" charset="-120"/>
              </a:rPr>
              <a:t>One CV among hundreds</a:t>
            </a:r>
            <a:endParaRPr lang="en-US" sz="1800" dirty="0"/>
          </a:p>
        </p:txBody>
      </p:sp>
      <p:sp>
        <p:nvSpPr>
          <p:cNvPr id="15" name="Text 12"/>
          <p:cNvSpPr txBox="1"/>
          <p:nvPr/>
        </p:nvSpPr>
        <p:spPr>
          <a:xfrm>
            <a:off x="8016088" y="3867912"/>
            <a:ext cx="3352648" cy="82296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Your story, in your own words</a:t>
            </a:r>
            <a:endParaRPr lang="en-US" sz="1800" dirty="0"/>
          </a:p>
        </p:txBody>
      </p:sp>
      <p:sp>
        <p:nvSpPr>
          <p:cNvPr id="16" name="Shape 13"/>
          <p:cNvSpPr/>
          <p:nvPr/>
        </p:nvSpPr>
        <p:spPr>
          <a:xfrm>
            <a:off x="548640" y="4764024"/>
            <a:ext cx="7010248" cy="0"/>
          </a:xfrm>
          <a:prstGeom prst="line">
            <a:avLst/>
          </a:prstGeom>
          <a:noFill/>
          <a:ln w="9525">
            <a:solidFill>
              <a:srgbClr val="D3D9D6"/>
            </a:solidFill>
            <a:prstDash val="solid"/>
          </a:ln>
        </p:spPr>
      </p:sp>
      <p:sp>
        <p:nvSpPr>
          <p:cNvPr id="17" name="Text 14"/>
          <p:cNvSpPr txBox="1"/>
          <p:nvPr/>
        </p:nvSpPr>
        <p:spPr>
          <a:xfrm>
            <a:off x="548640" y="4855464"/>
            <a:ext cx="2926080" cy="822960"/>
          </a:xfrm>
          <a:prstGeom prst="rect">
            <a:avLst/>
          </a:prstGeom>
          <a:noFill/>
          <a:ln/>
        </p:spPr>
        <p:txBody>
          <a:bodyPr wrap="square" lIns="0" tIns="0" rIns="0" bIns="0" rtlCol="0" anchor="ctr"/>
          <a:lstStyle/>
          <a:p>
            <a:pPr indent="0" marL="0">
              <a:buNone/>
            </a:pPr>
            <a:r>
              <a:rPr lang="en-US" sz="1700" b="1" dirty="0">
                <a:solidFill>
                  <a:srgbClr val="14302A"/>
                </a:solidFill>
                <a:latin typeface="Arial" pitchFamily="34" charset="0"/>
                <a:ea typeface="Arial" pitchFamily="34" charset="-122"/>
                <a:cs typeface="Arial" pitchFamily="34" charset="-120"/>
              </a:rPr>
              <a:t>What happens next</a:t>
            </a:r>
            <a:endParaRPr lang="en-US" sz="1700" dirty="0"/>
          </a:p>
        </p:txBody>
      </p:sp>
      <p:sp>
        <p:nvSpPr>
          <p:cNvPr id="18" name="Text 15"/>
          <p:cNvSpPr txBox="1"/>
          <p:nvPr/>
        </p:nvSpPr>
        <p:spPr>
          <a:xfrm>
            <a:off x="3931920" y="4855464"/>
            <a:ext cx="3352648" cy="822960"/>
          </a:xfrm>
          <a:prstGeom prst="rect">
            <a:avLst/>
          </a:prstGeom>
          <a:noFill/>
          <a:ln/>
        </p:spPr>
        <p:txBody>
          <a:bodyPr wrap="square" lIns="0" tIns="0" rIns="0" bIns="0" rtlCol="0" anchor="ctr"/>
          <a:lstStyle/>
          <a:p>
            <a:pPr indent="0" marL="0">
              <a:buNone/>
            </a:pPr>
            <a:r>
              <a:rPr lang="en-US" sz="1800" dirty="0">
                <a:solidFill>
                  <a:srgbClr val="66706C"/>
                </a:solidFill>
                <a:latin typeface="Arial" pitchFamily="34" charset="0"/>
                <a:ea typeface="Arial" pitchFamily="34" charset="-122"/>
                <a:cs typeface="Arial" pitchFamily="34" charset="-120"/>
              </a:rPr>
              <a:t>Usually nothing</a:t>
            </a:r>
            <a:endParaRPr lang="en-US" sz="1800" dirty="0"/>
          </a:p>
        </p:txBody>
      </p:sp>
      <p:sp>
        <p:nvSpPr>
          <p:cNvPr id="19" name="Text 16"/>
          <p:cNvSpPr txBox="1"/>
          <p:nvPr/>
        </p:nvSpPr>
        <p:spPr>
          <a:xfrm>
            <a:off x="8016088" y="4855464"/>
            <a:ext cx="3352648" cy="8229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An introduction, a referral or an interview</a:t>
            </a:r>
            <a:endParaRPr lang="en-US" sz="1800" dirty="0"/>
          </a:p>
        </p:txBody>
      </p:sp>
      <p:sp>
        <p:nvSpPr>
          <p:cNvPr id="20" name="Text 17"/>
          <p:cNvSpPr txBox="1"/>
          <p:nvPr/>
        </p:nvSpPr>
        <p:spPr>
          <a:xfrm>
            <a:off x="548640" y="5943600"/>
            <a:ext cx="11094415" cy="320040"/>
          </a:xfrm>
          <a:prstGeom prst="rect">
            <a:avLst/>
          </a:prstGeom>
          <a:noFill/>
          <a:ln/>
        </p:spPr>
        <p:txBody>
          <a:bodyPr wrap="square" lIns="0" tIns="0" rIns="0" bIns="0" rtlCol="0" anchor="t"/>
          <a:lstStyle/>
          <a:p>
            <a:pPr indent="0" marL="0">
              <a:buNone/>
            </a:pPr>
            <a:r>
              <a:rPr lang="en-US" sz="1400" i="1" dirty="0">
                <a:solidFill>
                  <a:srgbClr val="66706C"/>
                </a:solidFill>
                <a:latin typeface="Arial" pitchFamily="34" charset="0"/>
                <a:ea typeface="Arial" pitchFamily="34" charset="-122"/>
                <a:cs typeface="Arial" pitchFamily="34" charset="-120"/>
              </a:rPr>
              <a:t>Your committee already knows this. It is why alumni networks matter so much.</a:t>
            </a:r>
            <a:endParaRPr lang="en-US" sz="14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6C"/>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spc="300" kern="0" dirty="0">
                <a:solidFill>
                  <a:srgbClr val="A9772F"/>
                </a:solidFill>
                <a:latin typeface="Arial" pitchFamily="34" charset="0"/>
                <a:ea typeface="Arial" pitchFamily="34" charset="-122"/>
                <a:cs typeface="Arial" pitchFamily="34" charset="-120"/>
              </a:rPr>
              <a:t>WHY STUDENTS DO NOT DO IT</a:t>
            </a:r>
            <a:endParaRPr lang="en-US" sz="1100" dirty="0"/>
          </a:p>
        </p:txBody>
      </p:sp>
      <p:sp>
        <p:nvSpPr>
          <p:cNvPr id="3" name="Text 1"/>
          <p:cNvSpPr/>
          <p:nvPr>
            <p:ph idx="102" type="title" hasCustomPrompt="1"/>
          </p:nvPr>
        </p:nvSpPr>
        <p:spPr>
          <a:xfrm>
            <a:off x="548640" y="658368"/>
            <a:ext cx="11094415" cy="960120"/>
          </a:xfrm>
          <a:prstGeom prst="rect">
            <a:avLst/>
          </a:prstGeom>
          <a:noFill/>
          <a:ln/>
        </p:spPr>
        <p:txBody>
          <a:bodyPr wrap="square" lIns="0" tIns="0" rIns="0" bIns="0" rtlCol="0" anchor="t"/>
          <a:lstStyle/>
          <a:p>
            <a:pPr algn="l" indent="0" marL="0">
              <a:buNone/>
            </a:pPr>
            <a:r>
              <a:rPr lang="en-US" sz="2800" dirty="0">
                <a:solidFill>
                  <a:srgbClr val="14302A"/>
                </a:solidFill>
                <a:latin typeface="Georgia" pitchFamily="34" charset="0"/>
                <a:ea typeface="Georgia" pitchFamily="34" charset="-122"/>
                <a:cs typeface="Georgia" pitchFamily="34" charset="-120"/>
              </a:rPr>
              <a:t>Students know warm outreach works, but doing it well takes time most do not have</a:t>
            </a:r>
            <a:endParaRPr lang="en-US" sz="2800" dirty="0"/>
          </a:p>
        </p:txBody>
      </p:sp>
      <p:sp>
        <p:nvSpPr>
          <p:cNvPr id="5" name="Shape 2"/>
          <p:cNvSpPr/>
          <p:nvPr/>
        </p:nvSpPr>
        <p:spPr>
          <a:xfrm>
            <a:off x="548640" y="2103120"/>
            <a:ext cx="2567864" cy="3017520"/>
          </a:xfrm>
          <a:prstGeom prst="roundRect">
            <a:avLst>
              <a:gd name="adj" fmla="val 2849"/>
            </a:avLst>
          </a:prstGeom>
          <a:solidFill>
            <a:srgbClr val="FFFFFF"/>
          </a:solidFill>
          <a:ln w="12700">
            <a:solidFill>
              <a:srgbClr val="D3D9D6"/>
            </a:solidFill>
            <a:prstDash val="solid"/>
          </a:ln>
        </p:spPr>
      </p:sp>
      <p:sp>
        <p:nvSpPr>
          <p:cNvPr id="6" name="Text 3"/>
          <p:cNvSpPr txBox="1"/>
          <p:nvPr/>
        </p:nvSpPr>
        <p:spPr>
          <a:xfrm>
            <a:off x="822960" y="2377440"/>
            <a:ext cx="914400" cy="548640"/>
          </a:xfrm>
          <a:prstGeom prst="rect">
            <a:avLst/>
          </a:prstGeom>
          <a:noFill/>
          <a:ln/>
        </p:spPr>
        <p:txBody>
          <a:bodyPr wrap="square" lIns="0" tIns="0" rIns="0" bIns="0" rtlCol="0" anchor="t"/>
          <a:lstStyle/>
          <a:p>
            <a:pPr indent="0" marL="0">
              <a:buNone/>
            </a:pPr>
            <a:r>
              <a:rPr lang="en-US" sz="3000" b="1" dirty="0">
                <a:solidFill>
                  <a:srgbClr val="A9772F"/>
                </a:solidFill>
                <a:latin typeface="Georgia" pitchFamily="34" charset="0"/>
                <a:ea typeface="Georgia" pitchFamily="34" charset="-122"/>
                <a:cs typeface="Georgia" pitchFamily="34" charset="-120"/>
              </a:rPr>
              <a:t>01</a:t>
            </a:r>
            <a:endParaRPr lang="en-US" sz="3000" dirty="0"/>
          </a:p>
        </p:txBody>
      </p:sp>
      <p:sp>
        <p:nvSpPr>
          <p:cNvPr id="7" name="Text 4"/>
          <p:cNvSpPr txBox="1"/>
          <p:nvPr/>
        </p:nvSpPr>
        <p:spPr>
          <a:xfrm>
            <a:off x="822960" y="3017520"/>
            <a:ext cx="2019224" cy="731520"/>
          </a:xfrm>
          <a:prstGeom prst="rect">
            <a:avLst/>
          </a:prstGeom>
          <a:noFill/>
          <a:ln/>
        </p:spPr>
        <p:txBody>
          <a:bodyPr wrap="square" lIns="0" tIns="0" rIns="0" bIns="0" rtlCol="0" anchor="t"/>
          <a:lstStyle/>
          <a:p>
            <a:pPr indent="0" marL="0">
              <a:buNone/>
            </a:pPr>
            <a:r>
              <a:rPr lang="en-US" sz="1900" b="1" dirty="0">
                <a:solidFill>
                  <a:srgbClr val="14302A"/>
                </a:solidFill>
                <a:latin typeface="Arial" pitchFamily="34" charset="0"/>
                <a:ea typeface="Arial" pitchFamily="34" charset="-122"/>
                <a:cs typeface="Arial" pitchFamily="34" charset="-120"/>
              </a:rPr>
              <a:t>Finding the right people</a:t>
            </a:r>
            <a:endParaRPr lang="en-US" sz="1900" dirty="0"/>
          </a:p>
        </p:txBody>
      </p:sp>
      <p:sp>
        <p:nvSpPr>
          <p:cNvPr id="8" name="Text 5"/>
          <p:cNvSpPr txBox="1"/>
          <p:nvPr/>
        </p:nvSpPr>
        <p:spPr>
          <a:xfrm>
            <a:off x="822960" y="3749040"/>
            <a:ext cx="2019224" cy="1188720"/>
          </a:xfrm>
          <a:prstGeom prst="rect">
            <a:avLst/>
          </a:prstGeom>
          <a:noFill/>
          <a:ln/>
        </p:spPr>
        <p:txBody>
          <a:bodyPr wrap="square" lIns="0" tIns="0" rIns="0" bIns="0" rtlCol="0" anchor="t"/>
          <a:lstStyle/>
          <a:p>
            <a:pPr indent="0" marL="0">
              <a:buNone/>
            </a:pPr>
            <a:r>
              <a:rPr lang="en-US" sz="1500" dirty="0">
                <a:solidFill>
                  <a:srgbClr val="1E2422"/>
                </a:solidFill>
                <a:latin typeface="Arial" pitchFamily="34" charset="0"/>
                <a:ea typeface="Arial" pitchFamily="34" charset="-122"/>
                <a:cs typeface="Arial" pitchFamily="34" charset="-120"/>
              </a:rPr>
              <a:t>Not just recruiters: hiring managers, team members and alumni who can introduce.</a:t>
            </a:r>
            <a:endParaRPr lang="en-US" sz="1500" dirty="0"/>
          </a:p>
        </p:txBody>
      </p:sp>
      <p:sp>
        <p:nvSpPr>
          <p:cNvPr id="9" name="Shape 6"/>
          <p:cNvSpPr/>
          <p:nvPr/>
        </p:nvSpPr>
        <p:spPr>
          <a:xfrm>
            <a:off x="3390824" y="2103120"/>
            <a:ext cx="2567864" cy="3017520"/>
          </a:xfrm>
          <a:prstGeom prst="roundRect">
            <a:avLst>
              <a:gd name="adj" fmla="val 2849"/>
            </a:avLst>
          </a:prstGeom>
          <a:solidFill>
            <a:srgbClr val="FFFFFF"/>
          </a:solidFill>
          <a:ln w="12700">
            <a:solidFill>
              <a:srgbClr val="D3D9D6"/>
            </a:solidFill>
            <a:prstDash val="solid"/>
          </a:ln>
        </p:spPr>
      </p:sp>
      <p:sp>
        <p:nvSpPr>
          <p:cNvPr id="10" name="Text 7"/>
          <p:cNvSpPr txBox="1"/>
          <p:nvPr/>
        </p:nvSpPr>
        <p:spPr>
          <a:xfrm>
            <a:off x="3665144" y="2377440"/>
            <a:ext cx="914400" cy="548640"/>
          </a:xfrm>
          <a:prstGeom prst="rect">
            <a:avLst/>
          </a:prstGeom>
          <a:noFill/>
          <a:ln/>
        </p:spPr>
        <p:txBody>
          <a:bodyPr wrap="square" lIns="0" tIns="0" rIns="0" bIns="0" rtlCol="0" anchor="t"/>
          <a:lstStyle/>
          <a:p>
            <a:pPr indent="0" marL="0">
              <a:buNone/>
            </a:pPr>
            <a:r>
              <a:rPr lang="en-US" sz="3000" b="1" dirty="0">
                <a:solidFill>
                  <a:srgbClr val="A9772F"/>
                </a:solidFill>
                <a:latin typeface="Georgia" pitchFamily="34" charset="0"/>
                <a:ea typeface="Georgia" pitchFamily="34" charset="-122"/>
                <a:cs typeface="Georgia" pitchFamily="34" charset="-120"/>
              </a:rPr>
              <a:t>02</a:t>
            </a:r>
            <a:endParaRPr lang="en-US" sz="3000" dirty="0"/>
          </a:p>
        </p:txBody>
      </p:sp>
      <p:sp>
        <p:nvSpPr>
          <p:cNvPr id="11" name="Text 8"/>
          <p:cNvSpPr txBox="1"/>
          <p:nvPr/>
        </p:nvSpPr>
        <p:spPr>
          <a:xfrm>
            <a:off x="3665144" y="3017520"/>
            <a:ext cx="2019224" cy="731520"/>
          </a:xfrm>
          <a:prstGeom prst="rect">
            <a:avLst/>
          </a:prstGeom>
          <a:noFill/>
          <a:ln/>
        </p:spPr>
        <p:txBody>
          <a:bodyPr wrap="square" lIns="0" tIns="0" rIns="0" bIns="0" rtlCol="0" anchor="t"/>
          <a:lstStyle/>
          <a:p>
            <a:pPr indent="0" marL="0">
              <a:buNone/>
            </a:pPr>
            <a:r>
              <a:rPr lang="en-US" sz="1900" b="1" dirty="0">
                <a:solidFill>
                  <a:srgbClr val="14302A"/>
                </a:solidFill>
                <a:latin typeface="Arial" pitchFamily="34" charset="0"/>
                <a:ea typeface="Arial" pitchFamily="34" charset="-122"/>
                <a:cs typeface="Arial" pitchFamily="34" charset="-120"/>
              </a:rPr>
              <a:t>Researching each one</a:t>
            </a:r>
            <a:endParaRPr lang="en-US" sz="1900" dirty="0"/>
          </a:p>
        </p:txBody>
      </p:sp>
      <p:sp>
        <p:nvSpPr>
          <p:cNvPr id="12" name="Text 9"/>
          <p:cNvSpPr txBox="1"/>
          <p:nvPr/>
        </p:nvSpPr>
        <p:spPr>
          <a:xfrm>
            <a:off x="3665144" y="3749040"/>
            <a:ext cx="2019224" cy="1188720"/>
          </a:xfrm>
          <a:prstGeom prst="rect">
            <a:avLst/>
          </a:prstGeom>
          <a:noFill/>
          <a:ln/>
        </p:spPr>
        <p:txBody>
          <a:bodyPr wrap="square" lIns="0" tIns="0" rIns="0" bIns="0" rtlCol="0" anchor="t"/>
          <a:lstStyle/>
          <a:p>
            <a:pPr indent="0" marL="0">
              <a:buNone/>
            </a:pPr>
            <a:r>
              <a:rPr lang="en-US" sz="1500" dirty="0">
                <a:solidFill>
                  <a:srgbClr val="1E2422"/>
                </a:solidFill>
                <a:latin typeface="Arial" pitchFamily="34" charset="0"/>
                <a:ea typeface="Arial" pitchFamily="34" charset="-122"/>
                <a:cs typeface="Arial" pitchFamily="34" charset="-120"/>
              </a:rPr>
              <a:t>Reading profiles, posts and career moves to find a real reason to talk.</a:t>
            </a:r>
            <a:endParaRPr lang="en-US" sz="1500" dirty="0"/>
          </a:p>
        </p:txBody>
      </p:sp>
      <p:sp>
        <p:nvSpPr>
          <p:cNvPr id="13" name="Shape 10"/>
          <p:cNvSpPr/>
          <p:nvPr/>
        </p:nvSpPr>
        <p:spPr>
          <a:xfrm>
            <a:off x="6233008" y="2103120"/>
            <a:ext cx="2567864" cy="3017520"/>
          </a:xfrm>
          <a:prstGeom prst="roundRect">
            <a:avLst>
              <a:gd name="adj" fmla="val 2849"/>
            </a:avLst>
          </a:prstGeom>
          <a:solidFill>
            <a:srgbClr val="FFFFFF"/>
          </a:solidFill>
          <a:ln w="12700">
            <a:solidFill>
              <a:srgbClr val="D3D9D6"/>
            </a:solidFill>
            <a:prstDash val="solid"/>
          </a:ln>
        </p:spPr>
      </p:sp>
      <p:sp>
        <p:nvSpPr>
          <p:cNvPr id="14" name="Text 11"/>
          <p:cNvSpPr txBox="1"/>
          <p:nvPr/>
        </p:nvSpPr>
        <p:spPr>
          <a:xfrm>
            <a:off x="6507328" y="2377440"/>
            <a:ext cx="914400" cy="548640"/>
          </a:xfrm>
          <a:prstGeom prst="rect">
            <a:avLst/>
          </a:prstGeom>
          <a:noFill/>
          <a:ln/>
        </p:spPr>
        <p:txBody>
          <a:bodyPr wrap="square" lIns="0" tIns="0" rIns="0" bIns="0" rtlCol="0" anchor="t"/>
          <a:lstStyle/>
          <a:p>
            <a:pPr indent="0" marL="0">
              <a:buNone/>
            </a:pPr>
            <a:r>
              <a:rPr lang="en-US" sz="3000" b="1" dirty="0">
                <a:solidFill>
                  <a:srgbClr val="A9772F"/>
                </a:solidFill>
                <a:latin typeface="Georgia" pitchFamily="34" charset="0"/>
                <a:ea typeface="Georgia" pitchFamily="34" charset="-122"/>
                <a:cs typeface="Georgia" pitchFamily="34" charset="-120"/>
              </a:rPr>
              <a:t>03</a:t>
            </a:r>
            <a:endParaRPr lang="en-US" sz="3000" dirty="0"/>
          </a:p>
        </p:txBody>
      </p:sp>
      <p:sp>
        <p:nvSpPr>
          <p:cNvPr id="15" name="Text 12"/>
          <p:cNvSpPr txBox="1"/>
          <p:nvPr/>
        </p:nvSpPr>
        <p:spPr>
          <a:xfrm>
            <a:off x="6507328" y="3017520"/>
            <a:ext cx="2019224" cy="731520"/>
          </a:xfrm>
          <a:prstGeom prst="rect">
            <a:avLst/>
          </a:prstGeom>
          <a:noFill/>
          <a:ln/>
        </p:spPr>
        <p:txBody>
          <a:bodyPr wrap="square" lIns="0" tIns="0" rIns="0" bIns="0" rtlCol="0" anchor="t"/>
          <a:lstStyle/>
          <a:p>
            <a:pPr indent="0" marL="0">
              <a:buNone/>
            </a:pPr>
            <a:r>
              <a:rPr lang="en-US" sz="1900" b="1" dirty="0">
                <a:solidFill>
                  <a:srgbClr val="14302A"/>
                </a:solidFill>
                <a:latin typeface="Arial" pitchFamily="34" charset="0"/>
                <a:ea typeface="Arial" pitchFamily="34" charset="-122"/>
                <a:cs typeface="Arial" pitchFamily="34" charset="-120"/>
              </a:rPr>
              <a:t>Writing the first message</a:t>
            </a:r>
            <a:endParaRPr lang="en-US" sz="1900" dirty="0"/>
          </a:p>
        </p:txBody>
      </p:sp>
      <p:sp>
        <p:nvSpPr>
          <p:cNvPr id="16" name="Text 13"/>
          <p:cNvSpPr txBox="1"/>
          <p:nvPr/>
        </p:nvSpPr>
        <p:spPr>
          <a:xfrm>
            <a:off x="6507328" y="3749040"/>
            <a:ext cx="2019224" cy="1188720"/>
          </a:xfrm>
          <a:prstGeom prst="rect">
            <a:avLst/>
          </a:prstGeom>
          <a:noFill/>
          <a:ln/>
        </p:spPr>
        <p:txBody>
          <a:bodyPr wrap="square" lIns="0" tIns="0" rIns="0" bIns="0" rtlCol="0" anchor="t"/>
          <a:lstStyle/>
          <a:p>
            <a:pPr indent="0" marL="0">
              <a:buNone/>
            </a:pPr>
            <a:r>
              <a:rPr lang="en-US" sz="1500" dirty="0">
                <a:solidFill>
                  <a:srgbClr val="1E2422"/>
                </a:solidFill>
                <a:latin typeface="Arial" pitchFamily="34" charset="0"/>
                <a:ea typeface="Arial" pitchFamily="34" charset="-122"/>
                <a:cs typeface="Arial" pitchFamily="34" charset="-120"/>
              </a:rPr>
              <a:t>Short, personal, never a template. Hard to do well sixty times a week.</a:t>
            </a:r>
            <a:endParaRPr lang="en-US" sz="1500" dirty="0"/>
          </a:p>
        </p:txBody>
      </p:sp>
      <p:sp>
        <p:nvSpPr>
          <p:cNvPr id="17" name="Shape 14"/>
          <p:cNvSpPr/>
          <p:nvPr/>
        </p:nvSpPr>
        <p:spPr>
          <a:xfrm>
            <a:off x="9075191" y="2103120"/>
            <a:ext cx="2567864" cy="3017520"/>
          </a:xfrm>
          <a:prstGeom prst="roundRect">
            <a:avLst>
              <a:gd name="adj" fmla="val 2849"/>
            </a:avLst>
          </a:prstGeom>
          <a:solidFill>
            <a:srgbClr val="FFFFFF"/>
          </a:solidFill>
          <a:ln w="12700">
            <a:solidFill>
              <a:srgbClr val="D3D9D6"/>
            </a:solidFill>
            <a:prstDash val="solid"/>
          </a:ln>
        </p:spPr>
      </p:sp>
      <p:sp>
        <p:nvSpPr>
          <p:cNvPr id="18" name="Text 15"/>
          <p:cNvSpPr txBox="1"/>
          <p:nvPr/>
        </p:nvSpPr>
        <p:spPr>
          <a:xfrm>
            <a:off x="9349511" y="2377440"/>
            <a:ext cx="914400" cy="548640"/>
          </a:xfrm>
          <a:prstGeom prst="rect">
            <a:avLst/>
          </a:prstGeom>
          <a:noFill/>
          <a:ln/>
        </p:spPr>
        <p:txBody>
          <a:bodyPr wrap="square" lIns="0" tIns="0" rIns="0" bIns="0" rtlCol="0" anchor="t"/>
          <a:lstStyle/>
          <a:p>
            <a:pPr indent="0" marL="0">
              <a:buNone/>
            </a:pPr>
            <a:r>
              <a:rPr lang="en-US" sz="3000" b="1" dirty="0">
                <a:solidFill>
                  <a:srgbClr val="A9772F"/>
                </a:solidFill>
                <a:latin typeface="Georgia" pitchFamily="34" charset="0"/>
                <a:ea typeface="Georgia" pitchFamily="34" charset="-122"/>
                <a:cs typeface="Georgia" pitchFamily="34" charset="-120"/>
              </a:rPr>
              <a:t>04</a:t>
            </a:r>
            <a:endParaRPr lang="en-US" sz="3000" dirty="0"/>
          </a:p>
        </p:txBody>
      </p:sp>
      <p:sp>
        <p:nvSpPr>
          <p:cNvPr id="19" name="Text 16"/>
          <p:cNvSpPr txBox="1"/>
          <p:nvPr/>
        </p:nvSpPr>
        <p:spPr>
          <a:xfrm>
            <a:off x="9349511" y="3017520"/>
            <a:ext cx="2019224" cy="731520"/>
          </a:xfrm>
          <a:prstGeom prst="rect">
            <a:avLst/>
          </a:prstGeom>
          <a:noFill/>
          <a:ln/>
        </p:spPr>
        <p:txBody>
          <a:bodyPr wrap="square" lIns="0" tIns="0" rIns="0" bIns="0" rtlCol="0" anchor="t"/>
          <a:lstStyle/>
          <a:p>
            <a:pPr indent="0" marL="0">
              <a:buNone/>
            </a:pPr>
            <a:r>
              <a:rPr lang="en-US" sz="1900" b="1" dirty="0">
                <a:solidFill>
                  <a:srgbClr val="14302A"/>
                </a:solidFill>
                <a:latin typeface="Arial" pitchFamily="34" charset="0"/>
                <a:ea typeface="Arial" pitchFamily="34" charset="-122"/>
                <a:cs typeface="Arial" pitchFamily="34" charset="-120"/>
              </a:rPr>
              <a:t>Handling every reply</a:t>
            </a:r>
            <a:endParaRPr lang="en-US" sz="1900" dirty="0"/>
          </a:p>
        </p:txBody>
      </p:sp>
      <p:sp>
        <p:nvSpPr>
          <p:cNvPr id="20" name="Text 17"/>
          <p:cNvSpPr txBox="1"/>
          <p:nvPr/>
        </p:nvSpPr>
        <p:spPr>
          <a:xfrm>
            <a:off x="9349511" y="3749040"/>
            <a:ext cx="2019224" cy="1188720"/>
          </a:xfrm>
          <a:prstGeom prst="rect">
            <a:avLst/>
          </a:prstGeom>
          <a:noFill/>
          <a:ln/>
        </p:spPr>
        <p:txBody>
          <a:bodyPr wrap="square" lIns="0" tIns="0" rIns="0" bIns="0" rtlCol="0" anchor="t"/>
          <a:lstStyle/>
          <a:p>
            <a:pPr indent="0" marL="0">
              <a:buNone/>
            </a:pPr>
            <a:r>
              <a:rPr lang="en-US" sz="1500" dirty="0">
                <a:solidFill>
                  <a:srgbClr val="1E2422"/>
                </a:solidFill>
                <a:latin typeface="Arial" pitchFamily="34" charset="0"/>
                <a:ea typeface="Arial" pitchFamily="34" charset="-122"/>
                <a:cs typeface="Arial" pitchFamily="34" charset="-120"/>
              </a:rPr>
              <a:t>Knowing what to say next, and when it is right to ask for a referral.</a:t>
            </a:r>
            <a:endParaRPr lang="en-US" sz="1500" dirty="0"/>
          </a:p>
        </p:txBody>
      </p:sp>
      <p:sp>
        <p:nvSpPr>
          <p:cNvPr id="21" name="Shape 18"/>
          <p:cNvSpPr/>
          <p:nvPr/>
        </p:nvSpPr>
        <p:spPr>
          <a:xfrm>
            <a:off x="548640" y="5394960"/>
            <a:ext cx="11094415" cy="685800"/>
          </a:xfrm>
          <a:prstGeom prst="roundRect">
            <a:avLst>
              <a:gd name="adj" fmla="val 10667"/>
            </a:avLst>
          </a:prstGeom>
          <a:solidFill>
            <a:srgbClr val="EEF2EF"/>
          </a:solidFill>
          <a:ln w="12700">
            <a:solidFill>
              <a:srgbClr val="EEF2EF"/>
            </a:solidFill>
            <a:prstDash val="solid"/>
          </a:ln>
        </p:spPr>
      </p:sp>
      <p:sp>
        <p:nvSpPr>
          <p:cNvPr id="22" name="Shape 19"/>
          <p:cNvSpPr/>
          <p:nvPr/>
        </p:nvSpPr>
        <p:spPr>
          <a:xfrm>
            <a:off x="822960" y="5468112"/>
            <a:ext cx="274320" cy="548640"/>
          </a:xfrm>
          <a:prstGeom prst="roundRect">
            <a:avLst>
              <a:gd name="adj" fmla="val 6000"/>
            </a:avLst>
          </a:prstGeom>
          <a:solidFill>
            <a:srgbClr val="14302A"/>
          </a:solidFill>
          <a:ln w="12700">
            <a:solidFill>
              <a:srgbClr val="14302A"/>
            </a:solidFill>
            <a:prstDash val="solid"/>
          </a:ln>
        </p:spPr>
      </p:sp>
      <p:sp>
        <p:nvSpPr>
          <p:cNvPr id="23" name="Shape 20"/>
          <p:cNvSpPr/>
          <p:nvPr/>
        </p:nvSpPr>
        <p:spPr>
          <a:xfrm>
            <a:off x="866851" y="5512003"/>
            <a:ext cx="186538" cy="208483"/>
          </a:xfrm>
          <a:prstGeom prst="rect">
            <a:avLst/>
          </a:prstGeom>
          <a:ln w="6350">
            <a:solidFill>
              <a:srgbClr val="A9772F"/>
            </a:solidFill>
            <a:prstDash val="solid"/>
          </a:ln>
        </p:spPr>
      </p:sp>
      <p:sp>
        <p:nvSpPr>
          <p:cNvPr id="24" name="Shape 21"/>
          <p:cNvSpPr/>
          <p:nvPr/>
        </p:nvSpPr>
        <p:spPr>
          <a:xfrm>
            <a:off x="866851" y="5758891"/>
            <a:ext cx="186538" cy="208483"/>
          </a:xfrm>
          <a:prstGeom prst="rect">
            <a:avLst/>
          </a:prstGeom>
          <a:ln w="6350">
            <a:solidFill>
              <a:srgbClr val="A9772F"/>
            </a:solidFill>
            <a:prstDash val="solid"/>
          </a:ln>
        </p:spPr>
      </p:sp>
      <p:sp>
        <p:nvSpPr>
          <p:cNvPr id="25" name="Shape 22"/>
          <p:cNvSpPr/>
          <p:nvPr/>
        </p:nvSpPr>
        <p:spPr>
          <a:xfrm>
            <a:off x="1019556" y="5719572"/>
            <a:ext cx="45720" cy="45720"/>
          </a:xfrm>
          <a:prstGeom prst="ellipse">
            <a:avLst/>
          </a:prstGeom>
          <a:solidFill>
            <a:srgbClr val="A9772F"/>
          </a:solidFill>
          <a:ln w="12700">
            <a:solidFill>
              <a:srgbClr val="A9772F"/>
            </a:solidFill>
            <a:prstDash val="solid"/>
          </a:ln>
        </p:spPr>
      </p:sp>
      <p:sp>
        <p:nvSpPr>
          <p:cNvPr id="26" name="Text 23"/>
          <p:cNvSpPr txBox="1"/>
          <p:nvPr/>
        </p:nvSpPr>
        <p:spPr>
          <a:xfrm>
            <a:off x="1325880" y="5394960"/>
            <a:ext cx="9997135" cy="685800"/>
          </a:xfrm>
          <a:prstGeom prst="rect">
            <a:avLst/>
          </a:prstGeom>
          <a:noFill/>
          <a:ln/>
        </p:spPr>
        <p:txBody>
          <a:bodyPr wrap="square" lIns="0" tIns="0" rIns="0" bIns="0" rtlCol="0" anchor="ctr"/>
          <a:lstStyle/>
          <a:p>
            <a:pPr indent="0" marL="0">
              <a:buNone/>
            </a:pPr>
            <a:r>
              <a:rPr lang="en-US" sz="1800" b="1" dirty="0">
                <a:solidFill>
                  <a:srgbClr val="14302A"/>
                </a:solidFill>
                <a:latin typeface="Arial" pitchFamily="34" charset="0"/>
                <a:ea typeface="Arial" pitchFamily="34" charset="-122"/>
                <a:cs typeface="Arial" pitchFamily="34" charset="-120"/>
              </a:rPr>
              <a:t>This is exactly the work Knock does alongside the student.</a:t>
            </a:r>
            <a:endParaRPr lang="en-US" sz="18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6C"/>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spc="300" kern="0" dirty="0">
                <a:solidFill>
                  <a:srgbClr val="A9772F"/>
                </a:solidFill>
                <a:latin typeface="Arial" pitchFamily="34" charset="0"/>
                <a:ea typeface="Arial" pitchFamily="34" charset="-122"/>
                <a:cs typeface="Arial" pitchFamily="34" charset="-120"/>
              </a:rPr>
              <a:t>WHAT KNOCK DOES</a:t>
            </a:r>
            <a:endParaRPr lang="en-US" sz="1100" dirty="0"/>
          </a:p>
        </p:txBody>
      </p:sp>
      <p:sp>
        <p:nvSpPr>
          <p:cNvPr id="3" name="Text 1"/>
          <p:cNvSpPr/>
          <p:nvPr>
            <p:ph idx="102" type="title" hasCustomPrompt="1"/>
          </p:nvPr>
        </p:nvSpPr>
        <p:spPr>
          <a:xfrm>
            <a:off x="548640" y="658368"/>
            <a:ext cx="11094415" cy="960120"/>
          </a:xfrm>
          <a:prstGeom prst="rect">
            <a:avLst/>
          </a:prstGeom>
          <a:noFill/>
          <a:ln/>
        </p:spPr>
        <p:txBody>
          <a:bodyPr wrap="square" lIns="0" tIns="0" rIns="0" bIns="0" rtlCol="0" anchor="t"/>
          <a:lstStyle/>
          <a:p>
            <a:pPr algn="l" indent="0" marL="0">
              <a:buNone/>
            </a:pPr>
            <a:r>
              <a:rPr lang="en-US" sz="2800" dirty="0">
                <a:solidFill>
                  <a:srgbClr val="14302A"/>
                </a:solidFill>
                <a:latin typeface="Georgia" pitchFamily="34" charset="0"/>
                <a:ea typeface="Georgia" pitchFamily="34" charset="-122"/>
                <a:cs typeface="Georgia" pitchFamily="34" charset="-120"/>
              </a:rPr>
              <a:t>Knock runs the outreach in four steps, and the student approves every message</a:t>
            </a:r>
            <a:endParaRPr lang="en-US" sz="2800" dirty="0"/>
          </a:p>
        </p:txBody>
      </p:sp>
      <p:sp>
        <p:nvSpPr>
          <p:cNvPr id="5" name="Shape 2"/>
          <p:cNvSpPr/>
          <p:nvPr/>
        </p:nvSpPr>
        <p:spPr>
          <a:xfrm>
            <a:off x="1935442" y="2674620"/>
            <a:ext cx="8320811" cy="0"/>
          </a:xfrm>
          <a:prstGeom prst="line">
            <a:avLst/>
          </a:prstGeom>
          <a:noFill/>
          <a:ln w="25400">
            <a:solidFill>
              <a:srgbClr val="C9D6D0"/>
            </a:solidFill>
            <a:prstDash val="solid"/>
          </a:ln>
        </p:spPr>
      </p:sp>
      <p:sp>
        <p:nvSpPr>
          <p:cNvPr id="6" name="Shape 3"/>
          <p:cNvSpPr/>
          <p:nvPr/>
        </p:nvSpPr>
        <p:spPr>
          <a:xfrm>
            <a:off x="1592542" y="2331720"/>
            <a:ext cx="685800" cy="685800"/>
          </a:xfrm>
          <a:prstGeom prst="ellipse">
            <a:avLst/>
          </a:prstGeom>
          <a:solidFill>
            <a:srgbClr val="A9772F"/>
          </a:solidFill>
          <a:ln w="12700">
            <a:solidFill>
              <a:srgbClr val="A9772F"/>
            </a:solidFill>
            <a:prstDash val="solid"/>
          </a:ln>
        </p:spPr>
      </p:sp>
      <p:sp>
        <p:nvSpPr>
          <p:cNvPr id="7" name="Text 4"/>
          <p:cNvSpPr txBox="1"/>
          <p:nvPr/>
        </p:nvSpPr>
        <p:spPr>
          <a:xfrm>
            <a:off x="1592542" y="233172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8" name="Text 5"/>
          <p:cNvSpPr txBox="1"/>
          <p:nvPr/>
        </p:nvSpPr>
        <p:spPr>
          <a:xfrm>
            <a:off x="731520" y="3291840"/>
            <a:ext cx="2407844" cy="685800"/>
          </a:xfrm>
          <a:prstGeom prst="rect">
            <a:avLst/>
          </a:prstGeom>
          <a:noFill/>
          <a:ln/>
        </p:spPr>
        <p:txBody>
          <a:bodyPr wrap="square" lIns="0" tIns="0" rIns="0" bIns="0" rtlCol="0" anchor="t"/>
          <a:lstStyle/>
          <a:p>
            <a:pPr algn="ctr" indent="0" marL="0">
              <a:buNone/>
            </a:pPr>
            <a:r>
              <a:rPr lang="en-US" sz="1900" b="1" dirty="0">
                <a:solidFill>
                  <a:srgbClr val="14302A"/>
                </a:solidFill>
                <a:latin typeface="Arial" pitchFamily="34" charset="0"/>
                <a:ea typeface="Arial" pitchFamily="34" charset="-122"/>
                <a:cs typeface="Arial" pitchFamily="34" charset="-120"/>
              </a:rPr>
              <a:t>You pick the targets</a:t>
            </a:r>
            <a:endParaRPr lang="en-US" sz="1900" dirty="0"/>
          </a:p>
        </p:txBody>
      </p:sp>
      <p:sp>
        <p:nvSpPr>
          <p:cNvPr id="9" name="Text 6"/>
          <p:cNvSpPr txBox="1"/>
          <p:nvPr/>
        </p:nvSpPr>
        <p:spPr>
          <a:xfrm>
            <a:off x="777240" y="3977640"/>
            <a:ext cx="2316404" cy="1005840"/>
          </a:xfrm>
          <a:prstGeom prst="rect">
            <a:avLst/>
          </a:prstGeom>
          <a:noFill/>
          <a:ln/>
        </p:spPr>
        <p:txBody>
          <a:bodyPr wrap="square" lIns="0" tIns="0" rIns="0" bIns="0" rtlCol="0" anchor="t"/>
          <a:lstStyle/>
          <a:p>
            <a:pPr algn="ctr" indent="0" marL="0">
              <a:buNone/>
            </a:pPr>
            <a:r>
              <a:rPr lang="en-US" sz="1500" dirty="0">
                <a:solidFill>
                  <a:srgbClr val="1E2422"/>
                </a:solidFill>
                <a:latin typeface="Arial" pitchFamily="34" charset="0"/>
                <a:ea typeface="Arial" pitchFamily="34" charset="-122"/>
                <a:cs typeface="Arial" pitchFamily="34" charset="-120"/>
              </a:rPr>
              <a:t>The companies and roles you actually want.</a:t>
            </a:r>
            <a:endParaRPr lang="en-US" sz="1500" dirty="0"/>
          </a:p>
        </p:txBody>
      </p:sp>
      <p:sp>
        <p:nvSpPr>
          <p:cNvPr id="10" name="Shape 7"/>
          <p:cNvSpPr/>
          <p:nvPr/>
        </p:nvSpPr>
        <p:spPr>
          <a:xfrm>
            <a:off x="4366146" y="2331720"/>
            <a:ext cx="685800" cy="685800"/>
          </a:xfrm>
          <a:prstGeom prst="ellipse">
            <a:avLst/>
          </a:prstGeom>
          <a:solidFill>
            <a:srgbClr val="14302A"/>
          </a:solidFill>
          <a:ln w="12700">
            <a:solidFill>
              <a:srgbClr val="14302A"/>
            </a:solidFill>
            <a:prstDash val="solid"/>
          </a:ln>
        </p:spPr>
      </p:sp>
      <p:sp>
        <p:nvSpPr>
          <p:cNvPr id="11" name="Text 8"/>
          <p:cNvSpPr txBox="1"/>
          <p:nvPr/>
        </p:nvSpPr>
        <p:spPr>
          <a:xfrm>
            <a:off x="4366146" y="233172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2" name="Text 9"/>
          <p:cNvSpPr txBox="1"/>
          <p:nvPr/>
        </p:nvSpPr>
        <p:spPr>
          <a:xfrm>
            <a:off x="3505124" y="3291840"/>
            <a:ext cx="2407844" cy="685800"/>
          </a:xfrm>
          <a:prstGeom prst="rect">
            <a:avLst/>
          </a:prstGeom>
          <a:noFill/>
          <a:ln/>
        </p:spPr>
        <p:txBody>
          <a:bodyPr wrap="square" lIns="0" tIns="0" rIns="0" bIns="0" rtlCol="0" anchor="t"/>
          <a:lstStyle/>
          <a:p>
            <a:pPr algn="ctr" indent="0" marL="0">
              <a:buNone/>
            </a:pPr>
            <a:r>
              <a:rPr lang="en-US" sz="1900" b="1" dirty="0">
                <a:solidFill>
                  <a:srgbClr val="14302A"/>
                </a:solidFill>
                <a:latin typeface="Arial" pitchFamily="34" charset="0"/>
                <a:ea typeface="Arial" pitchFamily="34" charset="-122"/>
                <a:cs typeface="Arial" pitchFamily="34" charset="-120"/>
              </a:rPr>
              <a:t>We find the right people</a:t>
            </a:r>
            <a:endParaRPr lang="en-US" sz="1900" dirty="0"/>
          </a:p>
        </p:txBody>
      </p:sp>
      <p:sp>
        <p:nvSpPr>
          <p:cNvPr id="13" name="Text 10"/>
          <p:cNvSpPr txBox="1"/>
          <p:nvPr/>
        </p:nvSpPr>
        <p:spPr>
          <a:xfrm>
            <a:off x="3550844" y="3977640"/>
            <a:ext cx="2316404" cy="1005840"/>
          </a:xfrm>
          <a:prstGeom prst="rect">
            <a:avLst/>
          </a:prstGeom>
          <a:noFill/>
          <a:ln/>
        </p:spPr>
        <p:txBody>
          <a:bodyPr wrap="square" lIns="0" tIns="0" rIns="0" bIns="0" rtlCol="0" anchor="t"/>
          <a:lstStyle/>
          <a:p>
            <a:pPr algn="ctr" indent="0" marL="0">
              <a:buNone/>
            </a:pPr>
            <a:r>
              <a:rPr lang="en-US" sz="1500" dirty="0">
                <a:solidFill>
                  <a:srgbClr val="1E2422"/>
                </a:solidFill>
                <a:latin typeface="Arial" pitchFamily="34" charset="0"/>
                <a:ea typeface="Arial" pitchFamily="34" charset="-122"/>
                <a:cs typeface="Arial" pitchFamily="34" charset="-120"/>
              </a:rPr>
              <a:t>Hiring managers, team members, alumni and senior people who can introduce.</a:t>
            </a:r>
            <a:endParaRPr lang="en-US" sz="1500" dirty="0"/>
          </a:p>
        </p:txBody>
      </p:sp>
      <p:sp>
        <p:nvSpPr>
          <p:cNvPr id="14" name="Shape 11"/>
          <p:cNvSpPr/>
          <p:nvPr/>
        </p:nvSpPr>
        <p:spPr>
          <a:xfrm>
            <a:off x="7139750" y="2331720"/>
            <a:ext cx="685800" cy="685800"/>
          </a:xfrm>
          <a:prstGeom prst="ellipse">
            <a:avLst/>
          </a:prstGeom>
          <a:solidFill>
            <a:srgbClr val="14302A"/>
          </a:solidFill>
          <a:ln w="12700">
            <a:solidFill>
              <a:srgbClr val="14302A"/>
            </a:solidFill>
            <a:prstDash val="solid"/>
          </a:ln>
        </p:spPr>
      </p:sp>
      <p:sp>
        <p:nvSpPr>
          <p:cNvPr id="15" name="Text 12"/>
          <p:cNvSpPr txBox="1"/>
          <p:nvPr/>
        </p:nvSpPr>
        <p:spPr>
          <a:xfrm>
            <a:off x="7139750" y="233172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6" name="Text 13"/>
          <p:cNvSpPr txBox="1"/>
          <p:nvPr/>
        </p:nvSpPr>
        <p:spPr>
          <a:xfrm>
            <a:off x="6278728" y="3291840"/>
            <a:ext cx="2407844" cy="685800"/>
          </a:xfrm>
          <a:prstGeom prst="rect">
            <a:avLst/>
          </a:prstGeom>
          <a:noFill/>
          <a:ln/>
        </p:spPr>
        <p:txBody>
          <a:bodyPr wrap="square" lIns="0" tIns="0" rIns="0" bIns="0" rtlCol="0" anchor="t"/>
          <a:lstStyle/>
          <a:p>
            <a:pPr algn="ctr" indent="0" marL="0">
              <a:buNone/>
            </a:pPr>
            <a:r>
              <a:rPr lang="en-US" sz="1900" b="1" dirty="0">
                <a:solidFill>
                  <a:srgbClr val="14302A"/>
                </a:solidFill>
                <a:latin typeface="Arial" pitchFamily="34" charset="0"/>
                <a:ea typeface="Arial" pitchFamily="34" charset="-122"/>
                <a:cs typeface="Arial" pitchFamily="34" charset="-120"/>
              </a:rPr>
              <a:t>We write each first message</a:t>
            </a:r>
            <a:endParaRPr lang="en-US" sz="1900" dirty="0"/>
          </a:p>
        </p:txBody>
      </p:sp>
      <p:sp>
        <p:nvSpPr>
          <p:cNvPr id="17" name="Text 14"/>
          <p:cNvSpPr txBox="1"/>
          <p:nvPr/>
        </p:nvSpPr>
        <p:spPr>
          <a:xfrm>
            <a:off x="6324448" y="3977640"/>
            <a:ext cx="2316404" cy="1005840"/>
          </a:xfrm>
          <a:prstGeom prst="rect">
            <a:avLst/>
          </a:prstGeom>
          <a:noFill/>
          <a:ln/>
        </p:spPr>
        <p:txBody>
          <a:bodyPr wrap="square" lIns="0" tIns="0" rIns="0" bIns="0" rtlCol="0" anchor="t"/>
          <a:lstStyle/>
          <a:p>
            <a:pPr algn="ctr" indent="0" marL="0">
              <a:buNone/>
            </a:pPr>
            <a:r>
              <a:rPr lang="en-US" sz="1500" dirty="0">
                <a:solidFill>
                  <a:srgbClr val="1E2422"/>
                </a:solidFill>
                <a:latin typeface="Arial" pitchFamily="34" charset="0"/>
                <a:ea typeface="Arial" pitchFamily="34" charset="-122"/>
                <a:cs typeface="Arial" pitchFamily="34" charset="-120"/>
              </a:rPr>
              <a:t>Short and personal, built on something you genuinely share.</a:t>
            </a:r>
            <a:endParaRPr lang="en-US" sz="1500" dirty="0"/>
          </a:p>
        </p:txBody>
      </p:sp>
      <p:sp>
        <p:nvSpPr>
          <p:cNvPr id="18" name="Shape 15"/>
          <p:cNvSpPr/>
          <p:nvPr/>
        </p:nvSpPr>
        <p:spPr>
          <a:xfrm>
            <a:off x="9913353" y="2331720"/>
            <a:ext cx="685800" cy="685800"/>
          </a:xfrm>
          <a:prstGeom prst="ellipse">
            <a:avLst/>
          </a:prstGeom>
          <a:solidFill>
            <a:srgbClr val="14302A"/>
          </a:solidFill>
          <a:ln w="12700">
            <a:solidFill>
              <a:srgbClr val="14302A"/>
            </a:solidFill>
            <a:prstDash val="solid"/>
          </a:ln>
        </p:spPr>
      </p:sp>
      <p:sp>
        <p:nvSpPr>
          <p:cNvPr id="19" name="Text 16"/>
          <p:cNvSpPr txBox="1"/>
          <p:nvPr/>
        </p:nvSpPr>
        <p:spPr>
          <a:xfrm>
            <a:off x="9913353" y="233172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0" name="Text 17"/>
          <p:cNvSpPr txBox="1"/>
          <p:nvPr/>
        </p:nvSpPr>
        <p:spPr>
          <a:xfrm>
            <a:off x="9052331" y="3291840"/>
            <a:ext cx="2407844" cy="685800"/>
          </a:xfrm>
          <a:prstGeom prst="rect">
            <a:avLst/>
          </a:prstGeom>
          <a:noFill/>
          <a:ln/>
        </p:spPr>
        <p:txBody>
          <a:bodyPr wrap="square" lIns="0" tIns="0" rIns="0" bIns="0" rtlCol="0" anchor="t"/>
          <a:lstStyle/>
          <a:p>
            <a:pPr algn="ctr" indent="0" marL="0">
              <a:buNone/>
            </a:pPr>
            <a:r>
              <a:rPr lang="en-US" sz="1900" b="1" dirty="0">
                <a:solidFill>
                  <a:srgbClr val="14302A"/>
                </a:solidFill>
                <a:latin typeface="Arial" pitchFamily="34" charset="0"/>
                <a:ea typeface="Arial" pitchFamily="34" charset="-122"/>
                <a:cs typeface="Arial" pitchFamily="34" charset="-120"/>
              </a:rPr>
              <a:t>We guide every reply</a:t>
            </a:r>
            <a:endParaRPr lang="en-US" sz="1900" dirty="0"/>
          </a:p>
        </p:txBody>
      </p:sp>
      <p:sp>
        <p:nvSpPr>
          <p:cNvPr id="21" name="Text 18"/>
          <p:cNvSpPr txBox="1"/>
          <p:nvPr/>
        </p:nvSpPr>
        <p:spPr>
          <a:xfrm>
            <a:off x="9098051" y="3977640"/>
            <a:ext cx="2316404" cy="1005840"/>
          </a:xfrm>
          <a:prstGeom prst="rect">
            <a:avLst/>
          </a:prstGeom>
          <a:noFill/>
          <a:ln/>
        </p:spPr>
        <p:txBody>
          <a:bodyPr wrap="square" lIns="0" tIns="0" rIns="0" bIns="0" rtlCol="0" anchor="t"/>
          <a:lstStyle/>
          <a:p>
            <a:pPr algn="ctr" indent="0" marL="0">
              <a:buNone/>
            </a:pPr>
            <a:r>
              <a:rPr lang="en-US" sz="1500" dirty="0">
                <a:solidFill>
                  <a:srgbClr val="1E2422"/>
                </a:solidFill>
                <a:latin typeface="Arial" pitchFamily="34" charset="0"/>
                <a:ea typeface="Arial" pitchFamily="34" charset="-122"/>
                <a:cs typeface="Arial" pitchFamily="34" charset="-120"/>
              </a:rPr>
              <a:t>Through the conversation, to a referral or an interview.</a:t>
            </a:r>
            <a:endParaRPr lang="en-US" sz="1500" dirty="0"/>
          </a:p>
        </p:txBody>
      </p:sp>
      <p:sp>
        <p:nvSpPr>
          <p:cNvPr id="22" name="Text 19"/>
          <p:cNvSpPr txBox="1"/>
          <p:nvPr/>
        </p:nvSpPr>
        <p:spPr>
          <a:xfrm>
            <a:off x="731520" y="1920240"/>
            <a:ext cx="2407844" cy="274320"/>
          </a:xfrm>
          <a:prstGeom prst="rect">
            <a:avLst/>
          </a:prstGeom>
          <a:noFill/>
          <a:ln/>
        </p:spPr>
        <p:txBody>
          <a:bodyPr wrap="square" lIns="0" tIns="0" rIns="0" bIns="0" rtlCol="0" anchor="t"/>
          <a:lstStyle/>
          <a:p>
            <a:pPr algn="ctr" indent="0" marL="0">
              <a:buNone/>
            </a:pPr>
            <a:r>
              <a:rPr lang="en-US" sz="1100" b="1" spc="300" kern="0" dirty="0">
                <a:solidFill>
                  <a:srgbClr val="A9772F"/>
                </a:solidFill>
                <a:latin typeface="Arial" pitchFamily="34" charset="0"/>
                <a:ea typeface="Arial" pitchFamily="34" charset="-122"/>
                <a:cs typeface="Arial" pitchFamily="34" charset="-120"/>
              </a:rPr>
              <a:t>YOU</a:t>
            </a:r>
            <a:endParaRPr lang="en-US" sz="1100" dirty="0"/>
          </a:p>
        </p:txBody>
      </p:sp>
      <p:sp>
        <p:nvSpPr>
          <p:cNvPr id="23" name="Text 20"/>
          <p:cNvSpPr txBox="1"/>
          <p:nvPr/>
        </p:nvSpPr>
        <p:spPr>
          <a:xfrm>
            <a:off x="3322244" y="1920240"/>
            <a:ext cx="8320811" cy="274320"/>
          </a:xfrm>
          <a:prstGeom prst="rect">
            <a:avLst/>
          </a:prstGeom>
          <a:noFill/>
          <a:ln/>
        </p:spPr>
        <p:txBody>
          <a:bodyPr wrap="square" lIns="0" tIns="0" rIns="0" bIns="0" rtlCol="0" anchor="t"/>
          <a:lstStyle/>
          <a:p>
            <a:pPr algn="ctr" indent="0" marL="0">
              <a:buNone/>
            </a:pPr>
            <a:r>
              <a:rPr lang="en-US" sz="1100" b="1" spc="300" kern="0" dirty="0">
                <a:solidFill>
                  <a:srgbClr val="14302A"/>
                </a:solidFill>
                <a:latin typeface="Arial" pitchFamily="34" charset="0"/>
                <a:ea typeface="Arial" pitchFamily="34" charset="-122"/>
                <a:cs typeface="Arial" pitchFamily="34" charset="-120"/>
              </a:rPr>
              <a:t>KNOCK, WITH YOU</a:t>
            </a:r>
            <a:endParaRPr lang="en-US" sz="1100" dirty="0"/>
          </a:p>
        </p:txBody>
      </p:sp>
      <p:sp>
        <p:nvSpPr>
          <p:cNvPr id="24" name="Shape 21"/>
          <p:cNvSpPr/>
          <p:nvPr/>
        </p:nvSpPr>
        <p:spPr>
          <a:xfrm>
            <a:off x="548640" y="5166360"/>
            <a:ext cx="11094415" cy="868680"/>
          </a:xfrm>
          <a:prstGeom prst="roundRect">
            <a:avLst>
              <a:gd name="adj" fmla="val 8421"/>
            </a:avLst>
          </a:prstGeom>
          <a:solidFill>
            <a:srgbClr val="14302A"/>
          </a:solidFill>
          <a:ln w="12700">
            <a:solidFill>
              <a:srgbClr val="14302A"/>
            </a:solidFill>
            <a:prstDash val="solid"/>
          </a:ln>
        </p:spPr>
      </p:sp>
      <p:sp>
        <p:nvSpPr>
          <p:cNvPr id="25" name="Shape 22"/>
          <p:cNvSpPr/>
          <p:nvPr/>
        </p:nvSpPr>
        <p:spPr>
          <a:xfrm>
            <a:off x="1177290" y="5257800"/>
            <a:ext cx="54864" cy="685800"/>
          </a:xfrm>
          <a:prstGeom prst="rect">
            <a:avLst/>
          </a:prstGeom>
          <a:solidFill>
            <a:srgbClr val="E6D3B0"/>
          </a:solidFill>
          <a:ln w="12700">
            <a:solidFill>
              <a:srgbClr val="E6D3B0"/>
            </a:solidFill>
            <a:prstDash val="solid"/>
          </a:ln>
        </p:spPr>
      </p:sp>
      <p:sp>
        <p:nvSpPr>
          <p:cNvPr id="26" name="Shape 23"/>
          <p:cNvSpPr/>
          <p:nvPr/>
        </p:nvSpPr>
        <p:spPr>
          <a:xfrm>
            <a:off x="868680" y="5257800"/>
            <a:ext cx="342900" cy="685800"/>
          </a:xfrm>
          <a:prstGeom prst="roundRect">
            <a:avLst>
              <a:gd name="adj" fmla="val 6000"/>
            </a:avLst>
          </a:prstGeom>
          <a:solidFill>
            <a:srgbClr val="1D4038"/>
          </a:solidFill>
          <a:ln w="12700">
            <a:solidFill>
              <a:srgbClr val="E6D3B0"/>
            </a:solidFill>
            <a:prstDash val="solid"/>
          </a:ln>
        </p:spPr>
      </p:sp>
      <p:sp>
        <p:nvSpPr>
          <p:cNvPr id="27" name="Shape 24"/>
          <p:cNvSpPr/>
          <p:nvPr/>
        </p:nvSpPr>
        <p:spPr>
          <a:xfrm>
            <a:off x="923544" y="5312664"/>
            <a:ext cx="233172" cy="260604"/>
          </a:xfrm>
          <a:prstGeom prst="rect">
            <a:avLst/>
          </a:prstGeom>
          <a:ln w="6350">
            <a:solidFill>
              <a:srgbClr val="A9772F"/>
            </a:solidFill>
            <a:prstDash val="solid"/>
          </a:ln>
        </p:spPr>
      </p:sp>
      <p:sp>
        <p:nvSpPr>
          <p:cNvPr id="28" name="Shape 25"/>
          <p:cNvSpPr/>
          <p:nvPr/>
        </p:nvSpPr>
        <p:spPr>
          <a:xfrm>
            <a:off x="923544" y="5621274"/>
            <a:ext cx="233172" cy="260604"/>
          </a:xfrm>
          <a:prstGeom prst="rect">
            <a:avLst/>
          </a:prstGeom>
          <a:ln w="6350">
            <a:solidFill>
              <a:srgbClr val="A9772F"/>
            </a:solidFill>
            <a:prstDash val="solid"/>
          </a:ln>
        </p:spPr>
      </p:sp>
      <p:sp>
        <p:nvSpPr>
          <p:cNvPr id="29" name="Shape 26"/>
          <p:cNvSpPr/>
          <p:nvPr/>
        </p:nvSpPr>
        <p:spPr>
          <a:xfrm>
            <a:off x="1120140" y="5577840"/>
            <a:ext cx="45720" cy="45720"/>
          </a:xfrm>
          <a:prstGeom prst="ellipse">
            <a:avLst/>
          </a:prstGeom>
          <a:solidFill>
            <a:srgbClr val="A9772F"/>
          </a:solidFill>
          <a:ln w="12700">
            <a:solidFill>
              <a:srgbClr val="A9772F"/>
            </a:solidFill>
            <a:prstDash val="solid"/>
          </a:ln>
        </p:spPr>
      </p:sp>
      <p:sp>
        <p:nvSpPr>
          <p:cNvPr id="30" name="Text 27"/>
          <p:cNvSpPr txBox="1"/>
          <p:nvPr/>
        </p:nvSpPr>
        <p:spPr>
          <a:xfrm>
            <a:off x="1463040" y="5166360"/>
            <a:ext cx="9905695" cy="8686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You approve every message. </a:t>
            </a:r>
            <a:pPr indent="0" marL="0">
              <a:buNone/>
            </a:pPr>
            <a:r>
              <a:rPr lang="en-US" sz="2000" dirty="0">
                <a:solidFill>
                  <a:srgbClr val="C9D6D0"/>
                </a:solidFill>
                <a:latin typeface="Arial" pitchFamily="34" charset="0"/>
                <a:ea typeface="Arial" pitchFamily="34" charset="-122"/>
                <a:cs typeface="Arial" pitchFamily="34" charset="-120"/>
              </a:rPr>
              <a:t>It goes out from your own LinkedIn.</a:t>
            </a:r>
            <a:endParaRPr lang="en-US" sz="20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6C"/>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spc="300" kern="0" dirty="0">
                <a:solidFill>
                  <a:srgbClr val="A9772F"/>
                </a:solidFill>
                <a:latin typeface="Arial" pitchFamily="34" charset="0"/>
                <a:ea typeface="Arial" pitchFamily="34" charset="-122"/>
                <a:cs typeface="Arial" pitchFamily="34" charset="-120"/>
              </a:rPr>
              <a:t>AN EXAMPLE FIRST MESSAGE</a:t>
            </a:r>
            <a:endParaRPr lang="en-US" sz="1100" dirty="0"/>
          </a:p>
        </p:txBody>
      </p:sp>
      <p:sp>
        <p:nvSpPr>
          <p:cNvPr id="3" name="Text 1"/>
          <p:cNvSpPr/>
          <p:nvPr>
            <p:ph idx="102" type="title" hasCustomPrompt="1"/>
          </p:nvPr>
        </p:nvSpPr>
        <p:spPr>
          <a:xfrm>
            <a:off x="548640" y="658368"/>
            <a:ext cx="11094415" cy="960120"/>
          </a:xfrm>
          <a:prstGeom prst="rect">
            <a:avLst/>
          </a:prstGeom>
          <a:noFill/>
          <a:ln/>
        </p:spPr>
        <p:txBody>
          <a:bodyPr wrap="square" lIns="0" tIns="0" rIns="0" bIns="0" rtlCol="0" anchor="t"/>
          <a:lstStyle/>
          <a:p>
            <a:pPr algn="l" indent="0" marL="0">
              <a:buNone/>
            </a:pPr>
            <a:r>
              <a:rPr lang="en-US" sz="2800" dirty="0">
                <a:solidFill>
                  <a:srgbClr val="14302A"/>
                </a:solidFill>
                <a:latin typeface="Georgia" pitchFamily="34" charset="0"/>
                <a:ea typeface="Georgia" pitchFamily="34" charset="-122"/>
                <a:cs typeface="Georgia" pitchFamily="34" charset="-120"/>
              </a:rPr>
              <a:t>A good first message is short, specific and asks for a conversation, not a job</a:t>
            </a:r>
            <a:endParaRPr lang="en-US" sz="2800" dirty="0"/>
          </a:p>
        </p:txBody>
      </p:sp>
      <p:sp>
        <p:nvSpPr>
          <p:cNvPr id="5" name="Shape 2"/>
          <p:cNvSpPr/>
          <p:nvPr/>
        </p:nvSpPr>
        <p:spPr>
          <a:xfrm>
            <a:off x="548640" y="2011680"/>
            <a:ext cx="6309360" cy="3931920"/>
          </a:xfrm>
          <a:prstGeom prst="roundRect">
            <a:avLst>
              <a:gd name="adj" fmla="val 2326"/>
            </a:avLst>
          </a:prstGeom>
          <a:solidFill>
            <a:srgbClr val="FFFFFF"/>
          </a:solidFill>
          <a:ln w="12700">
            <a:solidFill>
              <a:srgbClr val="D3D9D6"/>
            </a:solidFill>
            <a:prstDash val="solid"/>
          </a:ln>
          <a:effectLst>
            <a:outerShdw sx="100000" sy="100000" kx="0" ky="0" algn="bl" rotWithShape="0" blurRad="101600" dist="38100" dir="5400000">
              <a:srgbClr val="000000">
                <a:alpha val="12000"/>
              </a:srgbClr>
            </a:outerShdw>
          </a:effectLst>
        </p:spPr>
      </p:sp>
      <p:sp>
        <p:nvSpPr>
          <p:cNvPr id="6" name="Shape 3"/>
          <p:cNvSpPr/>
          <p:nvPr/>
        </p:nvSpPr>
        <p:spPr>
          <a:xfrm>
            <a:off x="868680" y="2286000"/>
            <a:ext cx="548640" cy="548640"/>
          </a:xfrm>
          <a:prstGeom prst="ellipse">
            <a:avLst/>
          </a:prstGeom>
          <a:solidFill>
            <a:srgbClr val="EEF2EF"/>
          </a:solidFill>
          <a:ln w="9525">
            <a:solidFill>
              <a:srgbClr val="D3D9D6"/>
            </a:solidFill>
            <a:prstDash val="solid"/>
          </a:ln>
        </p:spPr>
      </p:sp>
      <p:sp>
        <p:nvSpPr>
          <p:cNvPr id="7" name="Text 4"/>
          <p:cNvSpPr txBox="1"/>
          <p:nvPr/>
        </p:nvSpPr>
        <p:spPr>
          <a:xfrm>
            <a:off x="868680" y="2286000"/>
            <a:ext cx="548640" cy="548640"/>
          </a:xfrm>
          <a:prstGeom prst="rect">
            <a:avLst/>
          </a:prstGeom>
          <a:noFill/>
          <a:ln/>
        </p:spPr>
        <p:txBody>
          <a:bodyPr wrap="square" lIns="0" tIns="0" rIns="0" bIns="0" rtlCol="0" anchor="ctr"/>
          <a:lstStyle/>
          <a:p>
            <a:pPr algn="ctr" indent="0" marL="0">
              <a:buNone/>
            </a:pPr>
            <a:r>
              <a:rPr lang="en-US" sz="2000" b="1" dirty="0">
                <a:solidFill>
                  <a:srgbClr val="14302A"/>
                </a:solidFill>
                <a:latin typeface="Georgia" pitchFamily="34" charset="0"/>
                <a:ea typeface="Georgia" pitchFamily="34" charset="-122"/>
                <a:cs typeface="Georgia" pitchFamily="34" charset="-120"/>
              </a:rPr>
              <a:t>R</a:t>
            </a:r>
            <a:endParaRPr lang="en-US" sz="2000" dirty="0"/>
          </a:p>
        </p:txBody>
      </p:sp>
      <p:sp>
        <p:nvSpPr>
          <p:cNvPr id="8" name="Text 5"/>
          <p:cNvSpPr txBox="1"/>
          <p:nvPr/>
        </p:nvSpPr>
        <p:spPr>
          <a:xfrm>
            <a:off x="1554480" y="2286000"/>
            <a:ext cx="3657600" cy="292608"/>
          </a:xfrm>
          <a:prstGeom prst="rect">
            <a:avLst/>
          </a:prstGeom>
          <a:noFill/>
          <a:ln/>
        </p:spPr>
        <p:txBody>
          <a:bodyPr wrap="square" lIns="0" tIns="0" rIns="0" bIns="0" rtlCol="0" anchor="t"/>
          <a:lstStyle/>
          <a:p>
            <a:pPr indent="0" marL="0">
              <a:buNone/>
            </a:pPr>
            <a:r>
              <a:rPr lang="en-US" sz="1600" b="1" dirty="0">
                <a:solidFill>
                  <a:srgbClr val="14302A"/>
                </a:solidFill>
                <a:latin typeface="Arial" pitchFamily="34" charset="0"/>
                <a:ea typeface="Arial" pitchFamily="34" charset="-122"/>
                <a:cs typeface="Arial" pitchFamily="34" charset="-120"/>
              </a:rPr>
              <a:t>To: Rahul</a:t>
            </a:r>
            <a:endParaRPr lang="en-US" sz="1600" dirty="0"/>
          </a:p>
        </p:txBody>
      </p:sp>
      <p:sp>
        <p:nvSpPr>
          <p:cNvPr id="9" name="Text 6"/>
          <p:cNvSpPr txBox="1"/>
          <p:nvPr/>
        </p:nvSpPr>
        <p:spPr>
          <a:xfrm>
            <a:off x="1554480" y="2578608"/>
            <a:ext cx="4572000" cy="274320"/>
          </a:xfrm>
          <a:prstGeom prst="rect">
            <a:avLst/>
          </a:prstGeom>
          <a:noFill/>
          <a:ln/>
        </p:spPr>
        <p:txBody>
          <a:bodyPr wrap="square" lIns="0" tIns="0" rIns="0" bIns="0" rtlCol="0" anchor="t"/>
          <a:lstStyle/>
          <a:p>
            <a:pPr indent="0" marL="0">
              <a:buNone/>
            </a:pPr>
            <a:r>
              <a:rPr lang="en-US" sz="1300" dirty="0">
                <a:solidFill>
                  <a:srgbClr val="66706C"/>
                </a:solidFill>
                <a:latin typeface="Arial" pitchFamily="34" charset="0"/>
                <a:ea typeface="Arial" pitchFamily="34" charset="-122"/>
                <a:cs typeface="Arial" pitchFamily="34" charset="-120"/>
              </a:rPr>
              <a:t>Product, Zepto  ·  previously Flipkart</a:t>
            </a:r>
            <a:endParaRPr lang="en-US" sz="1300" dirty="0"/>
          </a:p>
        </p:txBody>
      </p:sp>
      <p:sp>
        <p:nvSpPr>
          <p:cNvPr id="10" name="Shape 7"/>
          <p:cNvSpPr/>
          <p:nvPr/>
        </p:nvSpPr>
        <p:spPr>
          <a:xfrm>
            <a:off x="868680" y="3063240"/>
            <a:ext cx="5669280" cy="0"/>
          </a:xfrm>
          <a:prstGeom prst="line">
            <a:avLst/>
          </a:prstGeom>
          <a:noFill/>
          <a:ln w="9525">
            <a:solidFill>
              <a:srgbClr val="D3D9D6"/>
            </a:solidFill>
            <a:prstDash val="solid"/>
          </a:ln>
        </p:spPr>
      </p:sp>
      <p:sp>
        <p:nvSpPr>
          <p:cNvPr id="11" name="Shape 8"/>
          <p:cNvSpPr/>
          <p:nvPr/>
        </p:nvSpPr>
        <p:spPr>
          <a:xfrm>
            <a:off x="868680" y="3291840"/>
            <a:ext cx="5669280" cy="1965960"/>
          </a:xfrm>
          <a:prstGeom prst="roundRect">
            <a:avLst>
              <a:gd name="adj" fmla="val 5581"/>
            </a:avLst>
          </a:prstGeom>
          <a:solidFill>
            <a:srgbClr val="EEF2EF"/>
          </a:solidFill>
          <a:ln w="12700">
            <a:solidFill>
              <a:srgbClr val="EEF2EF"/>
            </a:solidFill>
            <a:prstDash val="solid"/>
          </a:ln>
        </p:spPr>
      </p:sp>
      <p:sp>
        <p:nvSpPr>
          <p:cNvPr id="12" name="Text 9"/>
          <p:cNvSpPr txBox="1"/>
          <p:nvPr/>
        </p:nvSpPr>
        <p:spPr>
          <a:xfrm>
            <a:off x="1143000" y="3474720"/>
            <a:ext cx="4846320" cy="1600200"/>
          </a:xfrm>
          <a:prstGeom prst="rect">
            <a:avLst/>
          </a:prstGeom>
          <a:noFill/>
          <a:ln/>
        </p:spPr>
        <p:txBody>
          <a:bodyPr wrap="square" lIns="0" tIns="0" rIns="0" bIns="0" rtlCol="0" anchor="ctr"/>
          <a:lstStyle/>
          <a:p>
            <a:pPr indent="0" marL="0">
              <a:lnSpc>
                <a:spcPct val="110000"/>
              </a:lnSpc>
              <a:buNone/>
            </a:pPr>
            <a:r>
              <a:rPr lang="en-US" sz="1900" dirty="0">
                <a:solidFill>
                  <a:srgbClr val="1E2422"/>
                </a:solidFill>
                <a:latin typeface="Arial" pitchFamily="34" charset="0"/>
                <a:ea typeface="Arial" pitchFamily="34" charset="-122"/>
                <a:cs typeface="Arial" pitchFamily="34" charset="-120"/>
              </a:rPr>
              <a:t>Hey Rahul, saw you moved from Flipkart into product at Zepto. I'm making a similar jump from brand management. Curious, what was the biggest adjustment for you?</a:t>
            </a:r>
            <a:endParaRPr lang="en-US" sz="1900" dirty="0"/>
          </a:p>
        </p:txBody>
      </p:sp>
      <p:sp>
        <p:nvSpPr>
          <p:cNvPr id="13" name="Shape 10"/>
          <p:cNvSpPr/>
          <p:nvPr/>
        </p:nvSpPr>
        <p:spPr>
          <a:xfrm>
            <a:off x="6126480" y="3584448"/>
            <a:ext cx="292608" cy="292608"/>
          </a:xfrm>
          <a:prstGeom prst="ellipse">
            <a:avLst/>
          </a:prstGeom>
          <a:solidFill>
            <a:srgbClr val="A9772F"/>
          </a:solidFill>
          <a:ln w="12700">
            <a:solidFill>
              <a:srgbClr val="A9772F"/>
            </a:solidFill>
            <a:prstDash val="solid"/>
          </a:ln>
        </p:spPr>
      </p:sp>
      <p:sp>
        <p:nvSpPr>
          <p:cNvPr id="14" name="Text 11"/>
          <p:cNvSpPr txBox="1"/>
          <p:nvPr/>
        </p:nvSpPr>
        <p:spPr>
          <a:xfrm>
            <a:off x="6126480" y="358444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a:t>
            </a:r>
            <a:endParaRPr lang="en-US" sz="1200" dirty="0"/>
          </a:p>
        </p:txBody>
      </p:sp>
      <p:sp>
        <p:nvSpPr>
          <p:cNvPr id="15" name="Shape 12"/>
          <p:cNvSpPr/>
          <p:nvPr/>
        </p:nvSpPr>
        <p:spPr>
          <a:xfrm>
            <a:off x="6126480" y="4160520"/>
            <a:ext cx="292608" cy="292608"/>
          </a:xfrm>
          <a:prstGeom prst="ellipse">
            <a:avLst/>
          </a:prstGeom>
          <a:solidFill>
            <a:srgbClr val="A9772F"/>
          </a:solidFill>
          <a:ln w="12700">
            <a:solidFill>
              <a:srgbClr val="A9772F"/>
            </a:solidFill>
            <a:prstDash val="solid"/>
          </a:ln>
        </p:spPr>
      </p:sp>
      <p:sp>
        <p:nvSpPr>
          <p:cNvPr id="16" name="Text 13"/>
          <p:cNvSpPr txBox="1"/>
          <p:nvPr/>
        </p:nvSpPr>
        <p:spPr>
          <a:xfrm>
            <a:off x="6126480" y="416052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2</a:t>
            </a:r>
            <a:endParaRPr lang="en-US" sz="1200" dirty="0"/>
          </a:p>
        </p:txBody>
      </p:sp>
      <p:sp>
        <p:nvSpPr>
          <p:cNvPr id="17" name="Shape 14"/>
          <p:cNvSpPr/>
          <p:nvPr/>
        </p:nvSpPr>
        <p:spPr>
          <a:xfrm>
            <a:off x="6126480" y="4709160"/>
            <a:ext cx="292608" cy="292608"/>
          </a:xfrm>
          <a:prstGeom prst="ellipse">
            <a:avLst/>
          </a:prstGeom>
          <a:solidFill>
            <a:srgbClr val="A9772F"/>
          </a:solidFill>
          <a:ln w="12700">
            <a:solidFill>
              <a:srgbClr val="A9772F"/>
            </a:solidFill>
            <a:prstDash val="solid"/>
          </a:ln>
        </p:spPr>
      </p:sp>
      <p:sp>
        <p:nvSpPr>
          <p:cNvPr id="18" name="Text 15"/>
          <p:cNvSpPr txBox="1"/>
          <p:nvPr/>
        </p:nvSpPr>
        <p:spPr>
          <a:xfrm>
            <a:off x="6126480" y="47091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3</a:t>
            </a:r>
            <a:endParaRPr lang="en-US" sz="1200" dirty="0"/>
          </a:p>
        </p:txBody>
      </p:sp>
      <p:sp>
        <p:nvSpPr>
          <p:cNvPr id="19" name="Text 16"/>
          <p:cNvSpPr txBox="1"/>
          <p:nvPr/>
        </p:nvSpPr>
        <p:spPr>
          <a:xfrm>
            <a:off x="868680" y="5440680"/>
            <a:ext cx="5669280" cy="274320"/>
          </a:xfrm>
          <a:prstGeom prst="rect">
            <a:avLst/>
          </a:prstGeom>
          <a:noFill/>
          <a:ln/>
        </p:spPr>
        <p:txBody>
          <a:bodyPr wrap="square" lIns="0" tIns="0" rIns="0" bIns="0" rtlCol="0" anchor="t"/>
          <a:lstStyle/>
          <a:p>
            <a:pPr indent="0" marL="0">
              <a:buNone/>
            </a:pPr>
            <a:r>
              <a:rPr lang="en-US" sz="1200" i="1" dirty="0">
                <a:solidFill>
                  <a:srgbClr val="66706C"/>
                </a:solidFill>
                <a:latin typeface="Arial" pitchFamily="34" charset="0"/>
                <a:ea typeface="Arial" pitchFamily="34" charset="-122"/>
                <a:cs typeface="Arial" pitchFamily="34" charset="-120"/>
              </a:rPr>
              <a:t>Approved by the student  ·  sent from their own LinkedIn</a:t>
            </a:r>
            <a:endParaRPr lang="en-US" sz="1200" dirty="0"/>
          </a:p>
        </p:txBody>
      </p:sp>
      <p:sp>
        <p:nvSpPr>
          <p:cNvPr id="20" name="Shape 17"/>
          <p:cNvSpPr/>
          <p:nvPr/>
        </p:nvSpPr>
        <p:spPr>
          <a:xfrm>
            <a:off x="7406640" y="2103120"/>
            <a:ext cx="384048" cy="384048"/>
          </a:xfrm>
          <a:prstGeom prst="ellipse">
            <a:avLst/>
          </a:prstGeom>
          <a:solidFill>
            <a:srgbClr val="A9772F"/>
          </a:solidFill>
          <a:ln w="12700">
            <a:solidFill>
              <a:srgbClr val="A9772F"/>
            </a:solidFill>
            <a:prstDash val="solid"/>
          </a:ln>
        </p:spPr>
      </p:sp>
      <p:sp>
        <p:nvSpPr>
          <p:cNvPr id="21" name="Text 18"/>
          <p:cNvSpPr txBox="1"/>
          <p:nvPr/>
        </p:nvSpPr>
        <p:spPr>
          <a:xfrm>
            <a:off x="7406640" y="21031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a:t>
            </a:r>
            <a:endParaRPr lang="en-US" sz="1200" dirty="0"/>
          </a:p>
        </p:txBody>
      </p:sp>
      <p:sp>
        <p:nvSpPr>
          <p:cNvPr id="22" name="Text 19"/>
          <p:cNvSpPr txBox="1"/>
          <p:nvPr/>
        </p:nvSpPr>
        <p:spPr>
          <a:xfrm>
            <a:off x="7955280" y="2121408"/>
            <a:ext cx="3687775" cy="365760"/>
          </a:xfrm>
          <a:prstGeom prst="rect">
            <a:avLst/>
          </a:prstGeom>
          <a:noFill/>
          <a:ln/>
        </p:spPr>
        <p:txBody>
          <a:bodyPr wrap="square" lIns="0" tIns="0" rIns="0" bIns="0" rtlCol="0" anchor="t"/>
          <a:lstStyle/>
          <a:p>
            <a:pPr indent="0" marL="0">
              <a:buNone/>
            </a:pPr>
            <a:r>
              <a:rPr lang="en-US" sz="1900" b="1" dirty="0">
                <a:solidFill>
                  <a:srgbClr val="14302A"/>
                </a:solidFill>
                <a:latin typeface="Arial" pitchFamily="34" charset="0"/>
                <a:ea typeface="Arial" pitchFamily="34" charset="-122"/>
                <a:cs typeface="Arial" pitchFamily="34" charset="-120"/>
              </a:rPr>
              <a:t>A real shared point</a:t>
            </a:r>
            <a:endParaRPr lang="en-US" sz="1900" dirty="0"/>
          </a:p>
        </p:txBody>
      </p:sp>
      <p:sp>
        <p:nvSpPr>
          <p:cNvPr id="23" name="Text 20"/>
          <p:cNvSpPr txBox="1"/>
          <p:nvPr/>
        </p:nvSpPr>
        <p:spPr>
          <a:xfrm>
            <a:off x="7955280" y="2514600"/>
            <a:ext cx="3687775" cy="731520"/>
          </a:xfrm>
          <a:prstGeom prst="rect">
            <a:avLst/>
          </a:prstGeom>
          <a:noFill/>
          <a:ln/>
        </p:spPr>
        <p:txBody>
          <a:bodyPr wrap="square" lIns="0" tIns="0" rIns="0" bIns="0" rtlCol="0" anchor="t"/>
          <a:lstStyle/>
          <a:p>
            <a:pPr indent="0" marL="0">
              <a:buNone/>
            </a:pPr>
            <a:r>
              <a:rPr lang="en-US" sz="1600" dirty="0">
                <a:solidFill>
                  <a:srgbClr val="1E2422"/>
                </a:solidFill>
                <a:latin typeface="Arial" pitchFamily="34" charset="0"/>
                <a:ea typeface="Arial" pitchFamily="34" charset="-122"/>
                <a:cs typeface="Arial" pitchFamily="34" charset="-120"/>
              </a:rPr>
              <a:t>His move from Flipkart to Zepto mirrors the student's own switch.</a:t>
            </a:r>
            <a:endParaRPr lang="en-US" sz="1600" dirty="0"/>
          </a:p>
        </p:txBody>
      </p:sp>
      <p:sp>
        <p:nvSpPr>
          <p:cNvPr id="24" name="Shape 21"/>
          <p:cNvSpPr/>
          <p:nvPr/>
        </p:nvSpPr>
        <p:spPr>
          <a:xfrm>
            <a:off x="7406640" y="3383280"/>
            <a:ext cx="384048" cy="384048"/>
          </a:xfrm>
          <a:prstGeom prst="ellipse">
            <a:avLst/>
          </a:prstGeom>
          <a:solidFill>
            <a:srgbClr val="A9772F"/>
          </a:solidFill>
          <a:ln w="12700">
            <a:solidFill>
              <a:srgbClr val="A9772F"/>
            </a:solidFill>
            <a:prstDash val="solid"/>
          </a:ln>
        </p:spPr>
      </p:sp>
      <p:sp>
        <p:nvSpPr>
          <p:cNvPr id="25" name="Text 22"/>
          <p:cNvSpPr txBox="1"/>
          <p:nvPr/>
        </p:nvSpPr>
        <p:spPr>
          <a:xfrm>
            <a:off x="7406640" y="33832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2</a:t>
            </a:r>
            <a:endParaRPr lang="en-US" sz="1200" dirty="0"/>
          </a:p>
        </p:txBody>
      </p:sp>
      <p:sp>
        <p:nvSpPr>
          <p:cNvPr id="26" name="Text 23"/>
          <p:cNvSpPr txBox="1"/>
          <p:nvPr/>
        </p:nvSpPr>
        <p:spPr>
          <a:xfrm>
            <a:off x="7955280" y="3401568"/>
            <a:ext cx="3687775" cy="365760"/>
          </a:xfrm>
          <a:prstGeom prst="rect">
            <a:avLst/>
          </a:prstGeom>
          <a:noFill/>
          <a:ln/>
        </p:spPr>
        <p:txBody>
          <a:bodyPr wrap="square" lIns="0" tIns="0" rIns="0" bIns="0" rtlCol="0" anchor="t"/>
          <a:lstStyle/>
          <a:p>
            <a:pPr indent="0" marL="0">
              <a:buNone/>
            </a:pPr>
            <a:r>
              <a:rPr lang="en-US" sz="1900" b="1" dirty="0">
                <a:solidFill>
                  <a:srgbClr val="14302A"/>
                </a:solidFill>
                <a:latin typeface="Arial" pitchFamily="34" charset="0"/>
                <a:ea typeface="Arial" pitchFamily="34" charset="-122"/>
                <a:cs typeface="Arial" pitchFamily="34" charset="-120"/>
              </a:rPr>
              <a:t>Honest about intent</a:t>
            </a:r>
            <a:endParaRPr lang="en-US" sz="1900" dirty="0"/>
          </a:p>
        </p:txBody>
      </p:sp>
      <p:sp>
        <p:nvSpPr>
          <p:cNvPr id="27" name="Text 24"/>
          <p:cNvSpPr txBox="1"/>
          <p:nvPr/>
        </p:nvSpPr>
        <p:spPr>
          <a:xfrm>
            <a:off x="7955280" y="3794760"/>
            <a:ext cx="3687775" cy="731520"/>
          </a:xfrm>
          <a:prstGeom prst="rect">
            <a:avLst/>
          </a:prstGeom>
          <a:noFill/>
          <a:ln/>
        </p:spPr>
        <p:txBody>
          <a:bodyPr wrap="square" lIns="0" tIns="0" rIns="0" bIns="0" rtlCol="0" anchor="t"/>
          <a:lstStyle/>
          <a:p>
            <a:pPr indent="0" marL="0">
              <a:buNone/>
            </a:pPr>
            <a:r>
              <a:rPr lang="en-US" sz="1600" dirty="0">
                <a:solidFill>
                  <a:srgbClr val="1E2422"/>
                </a:solidFill>
                <a:latin typeface="Arial" pitchFamily="34" charset="0"/>
                <a:ea typeface="Arial" pitchFamily="34" charset="-122"/>
                <a:cs typeface="Arial" pitchFamily="34" charset="-120"/>
              </a:rPr>
              <a:t>One plain line on who the student is and where they are going.</a:t>
            </a:r>
            <a:endParaRPr lang="en-US" sz="1600" dirty="0"/>
          </a:p>
        </p:txBody>
      </p:sp>
      <p:sp>
        <p:nvSpPr>
          <p:cNvPr id="28" name="Shape 25"/>
          <p:cNvSpPr/>
          <p:nvPr/>
        </p:nvSpPr>
        <p:spPr>
          <a:xfrm>
            <a:off x="7406640" y="4663440"/>
            <a:ext cx="384048" cy="384048"/>
          </a:xfrm>
          <a:prstGeom prst="ellipse">
            <a:avLst/>
          </a:prstGeom>
          <a:solidFill>
            <a:srgbClr val="A9772F"/>
          </a:solidFill>
          <a:ln w="12700">
            <a:solidFill>
              <a:srgbClr val="A9772F"/>
            </a:solidFill>
            <a:prstDash val="solid"/>
          </a:ln>
        </p:spPr>
      </p:sp>
      <p:sp>
        <p:nvSpPr>
          <p:cNvPr id="29" name="Text 26"/>
          <p:cNvSpPr txBox="1"/>
          <p:nvPr/>
        </p:nvSpPr>
        <p:spPr>
          <a:xfrm>
            <a:off x="7406640" y="46634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3</a:t>
            </a:r>
            <a:endParaRPr lang="en-US" sz="1200" dirty="0"/>
          </a:p>
        </p:txBody>
      </p:sp>
      <p:sp>
        <p:nvSpPr>
          <p:cNvPr id="30" name="Text 27"/>
          <p:cNvSpPr txBox="1"/>
          <p:nvPr/>
        </p:nvSpPr>
        <p:spPr>
          <a:xfrm>
            <a:off x="7955280" y="4681728"/>
            <a:ext cx="3687775" cy="365760"/>
          </a:xfrm>
          <a:prstGeom prst="rect">
            <a:avLst/>
          </a:prstGeom>
          <a:noFill/>
          <a:ln/>
        </p:spPr>
        <p:txBody>
          <a:bodyPr wrap="square" lIns="0" tIns="0" rIns="0" bIns="0" rtlCol="0" anchor="t"/>
          <a:lstStyle/>
          <a:p>
            <a:pPr indent="0" marL="0">
              <a:buNone/>
            </a:pPr>
            <a:r>
              <a:rPr lang="en-US" sz="1900" b="1" dirty="0">
                <a:solidFill>
                  <a:srgbClr val="14302A"/>
                </a:solidFill>
                <a:latin typeface="Arial" pitchFamily="34" charset="0"/>
                <a:ea typeface="Arial" pitchFamily="34" charset="-122"/>
                <a:cs typeface="Arial" pitchFamily="34" charset="-120"/>
              </a:rPr>
              <a:t>Easy to answer</a:t>
            </a:r>
            <a:endParaRPr lang="en-US" sz="1900" dirty="0"/>
          </a:p>
        </p:txBody>
      </p:sp>
      <p:sp>
        <p:nvSpPr>
          <p:cNvPr id="31" name="Text 28"/>
          <p:cNvSpPr txBox="1"/>
          <p:nvPr/>
        </p:nvSpPr>
        <p:spPr>
          <a:xfrm>
            <a:off x="7955280" y="5074920"/>
            <a:ext cx="3687775" cy="731520"/>
          </a:xfrm>
          <a:prstGeom prst="rect">
            <a:avLst/>
          </a:prstGeom>
          <a:noFill/>
          <a:ln/>
        </p:spPr>
        <p:txBody>
          <a:bodyPr wrap="square" lIns="0" tIns="0" rIns="0" bIns="0" rtlCol="0" anchor="t"/>
          <a:lstStyle/>
          <a:p>
            <a:pPr indent="0" marL="0">
              <a:buNone/>
            </a:pPr>
            <a:r>
              <a:rPr lang="en-US" sz="1600" dirty="0">
                <a:solidFill>
                  <a:srgbClr val="1E2422"/>
                </a:solidFill>
                <a:latin typeface="Arial" pitchFamily="34" charset="0"/>
                <a:ea typeface="Arial" pitchFamily="34" charset="-122"/>
                <a:cs typeface="Arial" pitchFamily="34" charset="-120"/>
              </a:rPr>
              <a:t>One genuine question. No CV, no link, no ask for a job.</a:t>
            </a:r>
            <a:endParaRPr lang="en-US" sz="16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6C"/>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spc="300" kern="0" dirty="0">
                <a:solidFill>
                  <a:srgbClr val="A9772F"/>
                </a:solidFill>
                <a:latin typeface="Arial" pitchFamily="34" charset="0"/>
                <a:ea typeface="Arial" pitchFamily="34" charset="-122"/>
                <a:cs typeface="Arial" pitchFamily="34" charset="-120"/>
              </a:rPr>
              <a:t>WHY IT IS NOT SPAM</a:t>
            </a:r>
            <a:endParaRPr lang="en-US" sz="1100" dirty="0"/>
          </a:p>
        </p:txBody>
      </p:sp>
      <p:sp>
        <p:nvSpPr>
          <p:cNvPr id="3" name="Text 1"/>
          <p:cNvSpPr/>
          <p:nvPr>
            <p:ph idx="102" type="title" hasCustomPrompt="1"/>
          </p:nvPr>
        </p:nvSpPr>
        <p:spPr>
          <a:xfrm>
            <a:off x="548640" y="658368"/>
            <a:ext cx="11094415" cy="960120"/>
          </a:xfrm>
          <a:prstGeom prst="rect">
            <a:avLst/>
          </a:prstGeom>
          <a:noFill/>
          <a:ln/>
        </p:spPr>
        <p:txBody>
          <a:bodyPr wrap="square" lIns="0" tIns="0" rIns="0" bIns="0" rtlCol="0" anchor="t"/>
          <a:lstStyle/>
          <a:p>
            <a:pPr algn="l" indent="0" marL="0">
              <a:buNone/>
            </a:pPr>
            <a:r>
              <a:rPr lang="en-US" sz="2800" dirty="0">
                <a:solidFill>
                  <a:srgbClr val="14302A"/>
                </a:solidFill>
                <a:latin typeface="Georgia" pitchFamily="34" charset="0"/>
                <a:ea typeface="Georgia" pitchFamily="34" charset="-122"/>
                <a:cs typeface="Georgia" pitchFamily="34" charset="-120"/>
              </a:rPr>
              <a:t>Sixty hand-picked people a week keeps every message personal and every account safe</a:t>
            </a:r>
            <a:endParaRPr lang="en-US" sz="2800" dirty="0"/>
          </a:p>
        </p:txBody>
      </p:sp>
      <p:sp>
        <p:nvSpPr>
          <p:cNvPr id="5" name="Shape 2"/>
          <p:cNvSpPr/>
          <p:nvPr/>
        </p:nvSpPr>
        <p:spPr>
          <a:xfrm>
            <a:off x="548640" y="2011680"/>
            <a:ext cx="3840480" cy="3931920"/>
          </a:xfrm>
          <a:prstGeom prst="roundRect">
            <a:avLst>
              <a:gd name="adj" fmla="val 2381"/>
            </a:avLst>
          </a:prstGeom>
          <a:solidFill>
            <a:srgbClr val="14302A"/>
          </a:solidFill>
          <a:ln w="12700">
            <a:solidFill>
              <a:srgbClr val="14302A"/>
            </a:solidFill>
            <a:prstDash val="solid"/>
          </a:ln>
        </p:spPr>
      </p:sp>
      <p:sp>
        <p:nvSpPr>
          <p:cNvPr id="6" name="Text 3"/>
          <p:cNvSpPr txBox="1"/>
          <p:nvPr/>
        </p:nvSpPr>
        <p:spPr>
          <a:xfrm>
            <a:off x="914400" y="2286000"/>
            <a:ext cx="3108960" cy="1737360"/>
          </a:xfrm>
          <a:prstGeom prst="rect">
            <a:avLst/>
          </a:prstGeom>
          <a:noFill/>
          <a:ln/>
        </p:spPr>
        <p:txBody>
          <a:bodyPr wrap="square" lIns="0" tIns="0" rIns="0" bIns="0" rtlCol="0" anchor="t"/>
          <a:lstStyle/>
          <a:p>
            <a:pPr indent="0" marL="0">
              <a:buNone/>
            </a:pPr>
            <a:r>
              <a:rPr lang="en-US" sz="12000" b="1" dirty="0">
                <a:solidFill>
                  <a:srgbClr val="E6D3B0"/>
                </a:solidFill>
                <a:latin typeface="Georgia" pitchFamily="34" charset="0"/>
                <a:ea typeface="Georgia" pitchFamily="34" charset="-122"/>
                <a:cs typeface="Georgia" pitchFamily="34" charset="-120"/>
              </a:rPr>
              <a:t>60</a:t>
            </a:r>
            <a:endParaRPr lang="en-US" sz="12000" dirty="0"/>
          </a:p>
        </p:txBody>
      </p:sp>
      <p:sp>
        <p:nvSpPr>
          <p:cNvPr id="7" name="Text 4"/>
          <p:cNvSpPr txBox="1"/>
          <p:nvPr/>
        </p:nvSpPr>
        <p:spPr>
          <a:xfrm>
            <a:off x="914400" y="4069080"/>
            <a:ext cx="3108960" cy="8229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people a week, each one chosen by hand</a:t>
            </a:r>
            <a:endParaRPr lang="en-US" sz="2000" dirty="0"/>
          </a:p>
        </p:txBody>
      </p:sp>
      <p:sp>
        <p:nvSpPr>
          <p:cNvPr id="8" name="Text 5"/>
          <p:cNvSpPr txBox="1"/>
          <p:nvPr/>
        </p:nvSpPr>
        <p:spPr>
          <a:xfrm>
            <a:off x="914400" y="4937760"/>
            <a:ext cx="3108960" cy="731520"/>
          </a:xfrm>
          <a:prstGeom prst="rect">
            <a:avLst/>
          </a:prstGeom>
          <a:noFill/>
          <a:ln/>
        </p:spPr>
        <p:txBody>
          <a:bodyPr wrap="square" lIns="0" tIns="0" rIns="0" bIns="0" rtlCol="0" anchor="t"/>
          <a:lstStyle/>
          <a:p>
            <a:pPr indent="0" marL="0">
              <a:buNone/>
            </a:pPr>
            <a:r>
              <a:rPr lang="en-US" sz="1500" dirty="0">
                <a:solidFill>
                  <a:srgbClr val="C9D6D0"/>
                </a:solidFill>
                <a:latin typeface="Arial" pitchFamily="34" charset="0"/>
                <a:ea typeface="Arial" pitchFamily="34" charset="-122"/>
                <a:cs typeface="Arial" pitchFamily="34" charset="-120"/>
              </a:rPr>
              <a:t>Small on purpose, so every message can be personal.</a:t>
            </a:r>
            <a:endParaRPr lang="en-US" sz="1500" dirty="0"/>
          </a:p>
        </p:txBody>
      </p:sp>
      <p:sp>
        <p:nvSpPr>
          <p:cNvPr id="9" name="Shape 6"/>
          <p:cNvSpPr/>
          <p:nvPr/>
        </p:nvSpPr>
        <p:spPr>
          <a:xfrm>
            <a:off x="4754880" y="2057400"/>
            <a:ext cx="320040" cy="640080"/>
          </a:xfrm>
          <a:prstGeom prst="roundRect">
            <a:avLst>
              <a:gd name="adj" fmla="val 6000"/>
            </a:avLst>
          </a:prstGeom>
          <a:solidFill>
            <a:srgbClr val="FFFFFF"/>
          </a:solidFill>
          <a:ln w="12700">
            <a:solidFill>
              <a:srgbClr val="14302A"/>
            </a:solidFill>
            <a:prstDash val="solid"/>
          </a:ln>
        </p:spPr>
      </p:sp>
      <p:sp>
        <p:nvSpPr>
          <p:cNvPr id="10" name="Shape 7"/>
          <p:cNvSpPr/>
          <p:nvPr/>
        </p:nvSpPr>
        <p:spPr>
          <a:xfrm>
            <a:off x="4806086" y="2108606"/>
            <a:ext cx="217627" cy="243230"/>
          </a:xfrm>
          <a:prstGeom prst="rect">
            <a:avLst/>
          </a:prstGeom>
          <a:ln w="6350">
            <a:solidFill>
              <a:srgbClr val="C9D6D0"/>
            </a:solidFill>
            <a:prstDash val="solid"/>
          </a:ln>
        </p:spPr>
      </p:sp>
      <p:sp>
        <p:nvSpPr>
          <p:cNvPr id="11" name="Shape 8"/>
          <p:cNvSpPr/>
          <p:nvPr/>
        </p:nvSpPr>
        <p:spPr>
          <a:xfrm>
            <a:off x="4806086" y="2396642"/>
            <a:ext cx="217627" cy="243230"/>
          </a:xfrm>
          <a:prstGeom prst="rect">
            <a:avLst/>
          </a:prstGeom>
          <a:ln w="6350">
            <a:solidFill>
              <a:srgbClr val="C9D6D0"/>
            </a:solidFill>
            <a:prstDash val="solid"/>
          </a:ln>
        </p:spPr>
      </p:sp>
      <p:sp>
        <p:nvSpPr>
          <p:cNvPr id="12" name="Shape 9"/>
          <p:cNvSpPr/>
          <p:nvPr/>
        </p:nvSpPr>
        <p:spPr>
          <a:xfrm>
            <a:off x="4988052" y="2354580"/>
            <a:ext cx="45720" cy="45720"/>
          </a:xfrm>
          <a:prstGeom prst="ellipse">
            <a:avLst/>
          </a:prstGeom>
          <a:solidFill>
            <a:srgbClr val="A9772F"/>
          </a:solidFill>
          <a:ln w="12700">
            <a:solidFill>
              <a:srgbClr val="A9772F"/>
            </a:solidFill>
            <a:prstDash val="solid"/>
          </a:ln>
        </p:spPr>
      </p:sp>
      <p:sp>
        <p:nvSpPr>
          <p:cNvPr id="13" name="Text 10"/>
          <p:cNvSpPr txBox="1"/>
          <p:nvPr/>
        </p:nvSpPr>
        <p:spPr>
          <a:xfrm>
            <a:off x="5349240" y="2029968"/>
            <a:ext cx="6293815" cy="365760"/>
          </a:xfrm>
          <a:prstGeom prst="rect">
            <a:avLst/>
          </a:prstGeom>
          <a:noFill/>
          <a:ln/>
        </p:spPr>
        <p:txBody>
          <a:bodyPr wrap="square" lIns="0" tIns="0" rIns="0" bIns="0" rtlCol="0" anchor="t"/>
          <a:lstStyle/>
          <a:p>
            <a:pPr indent="0" marL="0">
              <a:buNone/>
            </a:pPr>
            <a:r>
              <a:rPr lang="en-US" sz="1900" b="1" dirty="0">
                <a:solidFill>
                  <a:srgbClr val="14302A"/>
                </a:solidFill>
                <a:latin typeface="Arial" pitchFamily="34" charset="0"/>
                <a:ea typeface="Arial" pitchFamily="34" charset="-122"/>
                <a:cs typeface="Arial" pitchFamily="34" charset="-120"/>
              </a:rPr>
              <a:t>Every message is personal</a:t>
            </a:r>
            <a:endParaRPr lang="en-US" sz="1900" dirty="0"/>
          </a:p>
        </p:txBody>
      </p:sp>
      <p:sp>
        <p:nvSpPr>
          <p:cNvPr id="14" name="Text 11"/>
          <p:cNvSpPr txBox="1"/>
          <p:nvPr/>
        </p:nvSpPr>
        <p:spPr>
          <a:xfrm>
            <a:off x="5349240" y="2423160"/>
            <a:ext cx="6293815" cy="365760"/>
          </a:xfrm>
          <a:prstGeom prst="rect">
            <a:avLst/>
          </a:prstGeom>
          <a:noFill/>
          <a:ln/>
        </p:spPr>
        <p:txBody>
          <a:bodyPr wrap="square" lIns="0" tIns="0" rIns="0" bIns="0" rtlCol="0" anchor="t"/>
          <a:lstStyle/>
          <a:p>
            <a:pPr indent="0" marL="0">
              <a:buNone/>
            </a:pPr>
            <a:r>
              <a:rPr lang="en-US" sz="1600" dirty="0">
                <a:solidFill>
                  <a:srgbClr val="1E2422"/>
                </a:solidFill>
                <a:latin typeface="Arial" pitchFamily="34" charset="0"/>
                <a:ea typeface="Arial" pitchFamily="34" charset="-122"/>
                <a:cs typeface="Arial" pitchFamily="34" charset="-120"/>
              </a:rPr>
              <a:t>Written for one person. No templates, no mass sends.</a:t>
            </a:r>
            <a:endParaRPr lang="en-US" sz="1600" dirty="0"/>
          </a:p>
        </p:txBody>
      </p:sp>
      <p:sp>
        <p:nvSpPr>
          <p:cNvPr id="15" name="Shape 12"/>
          <p:cNvSpPr/>
          <p:nvPr/>
        </p:nvSpPr>
        <p:spPr>
          <a:xfrm>
            <a:off x="4754880" y="2907792"/>
            <a:ext cx="6888175" cy="0"/>
          </a:xfrm>
          <a:prstGeom prst="line">
            <a:avLst/>
          </a:prstGeom>
          <a:noFill/>
          <a:ln w="9525">
            <a:solidFill>
              <a:srgbClr val="D3D9D6"/>
            </a:solidFill>
            <a:prstDash val="solid"/>
          </a:ln>
        </p:spPr>
      </p:sp>
      <p:sp>
        <p:nvSpPr>
          <p:cNvPr id="16" name="Shape 13"/>
          <p:cNvSpPr/>
          <p:nvPr/>
        </p:nvSpPr>
        <p:spPr>
          <a:xfrm>
            <a:off x="4754880" y="3063240"/>
            <a:ext cx="320040" cy="640080"/>
          </a:xfrm>
          <a:prstGeom prst="roundRect">
            <a:avLst>
              <a:gd name="adj" fmla="val 6000"/>
            </a:avLst>
          </a:prstGeom>
          <a:solidFill>
            <a:srgbClr val="FFFFFF"/>
          </a:solidFill>
          <a:ln w="12700">
            <a:solidFill>
              <a:srgbClr val="14302A"/>
            </a:solidFill>
            <a:prstDash val="solid"/>
          </a:ln>
        </p:spPr>
      </p:sp>
      <p:sp>
        <p:nvSpPr>
          <p:cNvPr id="17" name="Shape 14"/>
          <p:cNvSpPr/>
          <p:nvPr/>
        </p:nvSpPr>
        <p:spPr>
          <a:xfrm>
            <a:off x="4806086" y="3114446"/>
            <a:ext cx="217627" cy="243230"/>
          </a:xfrm>
          <a:prstGeom prst="rect">
            <a:avLst/>
          </a:prstGeom>
          <a:ln w="6350">
            <a:solidFill>
              <a:srgbClr val="C9D6D0"/>
            </a:solidFill>
            <a:prstDash val="solid"/>
          </a:ln>
        </p:spPr>
      </p:sp>
      <p:sp>
        <p:nvSpPr>
          <p:cNvPr id="18" name="Shape 15"/>
          <p:cNvSpPr/>
          <p:nvPr/>
        </p:nvSpPr>
        <p:spPr>
          <a:xfrm>
            <a:off x="4806086" y="3402482"/>
            <a:ext cx="217627" cy="243230"/>
          </a:xfrm>
          <a:prstGeom prst="rect">
            <a:avLst/>
          </a:prstGeom>
          <a:ln w="6350">
            <a:solidFill>
              <a:srgbClr val="C9D6D0"/>
            </a:solidFill>
            <a:prstDash val="solid"/>
          </a:ln>
        </p:spPr>
      </p:sp>
      <p:sp>
        <p:nvSpPr>
          <p:cNvPr id="19" name="Shape 16"/>
          <p:cNvSpPr/>
          <p:nvPr/>
        </p:nvSpPr>
        <p:spPr>
          <a:xfrm>
            <a:off x="4988052" y="3360420"/>
            <a:ext cx="45720" cy="45720"/>
          </a:xfrm>
          <a:prstGeom prst="ellipse">
            <a:avLst/>
          </a:prstGeom>
          <a:solidFill>
            <a:srgbClr val="A9772F"/>
          </a:solidFill>
          <a:ln w="12700">
            <a:solidFill>
              <a:srgbClr val="A9772F"/>
            </a:solidFill>
            <a:prstDash val="solid"/>
          </a:ln>
        </p:spPr>
      </p:sp>
      <p:sp>
        <p:nvSpPr>
          <p:cNvPr id="20" name="Text 17"/>
          <p:cNvSpPr txBox="1"/>
          <p:nvPr/>
        </p:nvSpPr>
        <p:spPr>
          <a:xfrm>
            <a:off x="5349240" y="3035808"/>
            <a:ext cx="6293815" cy="365760"/>
          </a:xfrm>
          <a:prstGeom prst="rect">
            <a:avLst/>
          </a:prstGeom>
          <a:noFill/>
          <a:ln/>
        </p:spPr>
        <p:txBody>
          <a:bodyPr wrap="square" lIns="0" tIns="0" rIns="0" bIns="0" rtlCol="0" anchor="t"/>
          <a:lstStyle/>
          <a:p>
            <a:pPr indent="0" marL="0">
              <a:buNone/>
            </a:pPr>
            <a:r>
              <a:rPr lang="en-US" sz="1900" b="1" dirty="0">
                <a:solidFill>
                  <a:srgbClr val="14302A"/>
                </a:solidFill>
                <a:latin typeface="Arial" pitchFamily="34" charset="0"/>
                <a:ea typeface="Arial" pitchFamily="34" charset="-122"/>
                <a:cs typeface="Arial" pitchFamily="34" charset="-120"/>
              </a:rPr>
              <a:t>Sent from the student's own account</a:t>
            </a:r>
            <a:endParaRPr lang="en-US" sz="1900" dirty="0"/>
          </a:p>
        </p:txBody>
      </p:sp>
      <p:sp>
        <p:nvSpPr>
          <p:cNvPr id="21" name="Text 18"/>
          <p:cNvSpPr txBox="1"/>
          <p:nvPr/>
        </p:nvSpPr>
        <p:spPr>
          <a:xfrm>
            <a:off x="5349240" y="3429000"/>
            <a:ext cx="6293815" cy="365760"/>
          </a:xfrm>
          <a:prstGeom prst="rect">
            <a:avLst/>
          </a:prstGeom>
          <a:noFill/>
          <a:ln/>
        </p:spPr>
        <p:txBody>
          <a:bodyPr wrap="square" lIns="0" tIns="0" rIns="0" bIns="0" rtlCol="0" anchor="t"/>
          <a:lstStyle/>
          <a:p>
            <a:pPr indent="0" marL="0">
              <a:buNone/>
            </a:pPr>
            <a:r>
              <a:rPr lang="en-US" sz="1600" dirty="0">
                <a:solidFill>
                  <a:srgbClr val="1E2422"/>
                </a:solidFill>
                <a:latin typeface="Arial" pitchFamily="34" charset="0"/>
                <a:ea typeface="Arial" pitchFamily="34" charset="-122"/>
                <a:cs typeface="Arial" pitchFamily="34" charset="-120"/>
              </a:rPr>
              <a:t>Their name, their voice, their approval on every message.</a:t>
            </a:r>
            <a:endParaRPr lang="en-US" sz="1600" dirty="0"/>
          </a:p>
        </p:txBody>
      </p:sp>
      <p:sp>
        <p:nvSpPr>
          <p:cNvPr id="22" name="Shape 19"/>
          <p:cNvSpPr/>
          <p:nvPr/>
        </p:nvSpPr>
        <p:spPr>
          <a:xfrm>
            <a:off x="4754880" y="3913632"/>
            <a:ext cx="6888175" cy="0"/>
          </a:xfrm>
          <a:prstGeom prst="line">
            <a:avLst/>
          </a:prstGeom>
          <a:noFill/>
          <a:ln w="9525">
            <a:solidFill>
              <a:srgbClr val="D3D9D6"/>
            </a:solidFill>
            <a:prstDash val="solid"/>
          </a:ln>
        </p:spPr>
      </p:sp>
      <p:sp>
        <p:nvSpPr>
          <p:cNvPr id="23" name="Shape 20"/>
          <p:cNvSpPr/>
          <p:nvPr/>
        </p:nvSpPr>
        <p:spPr>
          <a:xfrm>
            <a:off x="4754880" y="4069080"/>
            <a:ext cx="320040" cy="640080"/>
          </a:xfrm>
          <a:prstGeom prst="roundRect">
            <a:avLst>
              <a:gd name="adj" fmla="val 6000"/>
            </a:avLst>
          </a:prstGeom>
          <a:solidFill>
            <a:srgbClr val="FFFFFF"/>
          </a:solidFill>
          <a:ln w="12700">
            <a:solidFill>
              <a:srgbClr val="14302A"/>
            </a:solidFill>
            <a:prstDash val="solid"/>
          </a:ln>
        </p:spPr>
      </p:sp>
      <p:sp>
        <p:nvSpPr>
          <p:cNvPr id="24" name="Shape 21"/>
          <p:cNvSpPr/>
          <p:nvPr/>
        </p:nvSpPr>
        <p:spPr>
          <a:xfrm>
            <a:off x="4806086" y="4120286"/>
            <a:ext cx="217627" cy="243230"/>
          </a:xfrm>
          <a:prstGeom prst="rect">
            <a:avLst/>
          </a:prstGeom>
          <a:ln w="6350">
            <a:solidFill>
              <a:srgbClr val="C9D6D0"/>
            </a:solidFill>
            <a:prstDash val="solid"/>
          </a:ln>
        </p:spPr>
      </p:sp>
      <p:sp>
        <p:nvSpPr>
          <p:cNvPr id="25" name="Shape 22"/>
          <p:cNvSpPr/>
          <p:nvPr/>
        </p:nvSpPr>
        <p:spPr>
          <a:xfrm>
            <a:off x="4806086" y="4408322"/>
            <a:ext cx="217627" cy="243230"/>
          </a:xfrm>
          <a:prstGeom prst="rect">
            <a:avLst/>
          </a:prstGeom>
          <a:ln w="6350">
            <a:solidFill>
              <a:srgbClr val="C9D6D0"/>
            </a:solidFill>
            <a:prstDash val="solid"/>
          </a:ln>
        </p:spPr>
      </p:sp>
      <p:sp>
        <p:nvSpPr>
          <p:cNvPr id="26" name="Shape 23"/>
          <p:cNvSpPr/>
          <p:nvPr/>
        </p:nvSpPr>
        <p:spPr>
          <a:xfrm>
            <a:off x="4988052" y="4366260"/>
            <a:ext cx="45720" cy="45720"/>
          </a:xfrm>
          <a:prstGeom prst="ellipse">
            <a:avLst/>
          </a:prstGeom>
          <a:solidFill>
            <a:srgbClr val="A9772F"/>
          </a:solidFill>
          <a:ln w="12700">
            <a:solidFill>
              <a:srgbClr val="A9772F"/>
            </a:solidFill>
            <a:prstDash val="solid"/>
          </a:ln>
        </p:spPr>
      </p:sp>
      <p:sp>
        <p:nvSpPr>
          <p:cNvPr id="27" name="Text 24"/>
          <p:cNvSpPr txBox="1"/>
          <p:nvPr/>
        </p:nvSpPr>
        <p:spPr>
          <a:xfrm>
            <a:off x="5349240" y="4041648"/>
            <a:ext cx="6293815" cy="365760"/>
          </a:xfrm>
          <a:prstGeom prst="rect">
            <a:avLst/>
          </a:prstGeom>
          <a:noFill/>
          <a:ln/>
        </p:spPr>
        <p:txBody>
          <a:bodyPr wrap="square" lIns="0" tIns="0" rIns="0" bIns="0" rtlCol="0" anchor="t"/>
          <a:lstStyle/>
          <a:p>
            <a:pPr indent="0" marL="0">
              <a:buNone/>
            </a:pPr>
            <a:r>
              <a:rPr lang="en-US" sz="1900" b="1" dirty="0">
                <a:solidFill>
                  <a:srgbClr val="14302A"/>
                </a:solidFill>
                <a:latin typeface="Arial" pitchFamily="34" charset="0"/>
                <a:ea typeface="Arial" pitchFamily="34" charset="-122"/>
                <a:cs typeface="Arial" pitchFamily="34" charset="-120"/>
              </a:rPr>
              <a:t>Well under LinkedIn's limits</a:t>
            </a:r>
            <a:endParaRPr lang="en-US" sz="1900" dirty="0"/>
          </a:p>
        </p:txBody>
      </p:sp>
      <p:sp>
        <p:nvSpPr>
          <p:cNvPr id="28" name="Text 25"/>
          <p:cNvSpPr txBox="1"/>
          <p:nvPr/>
        </p:nvSpPr>
        <p:spPr>
          <a:xfrm>
            <a:off x="5349240" y="4434840"/>
            <a:ext cx="6293815" cy="365760"/>
          </a:xfrm>
          <a:prstGeom prst="rect">
            <a:avLst/>
          </a:prstGeom>
          <a:noFill/>
          <a:ln/>
        </p:spPr>
        <p:txBody>
          <a:bodyPr wrap="square" lIns="0" tIns="0" rIns="0" bIns="0" rtlCol="0" anchor="t"/>
          <a:lstStyle/>
          <a:p>
            <a:pPr indent="0" marL="0">
              <a:buNone/>
            </a:pPr>
            <a:r>
              <a:rPr lang="en-US" sz="1600" dirty="0">
                <a:solidFill>
                  <a:srgbClr val="1E2422"/>
                </a:solidFill>
                <a:latin typeface="Arial" pitchFamily="34" charset="0"/>
                <a:ea typeface="Arial" pitchFamily="34" charset="-122"/>
                <a:cs typeface="Arial" pitchFamily="34" charset="-120"/>
              </a:rPr>
              <a:t>A human pace, because a human is behind every message.</a:t>
            </a:r>
            <a:endParaRPr lang="en-US" sz="1600" dirty="0"/>
          </a:p>
        </p:txBody>
      </p:sp>
      <p:sp>
        <p:nvSpPr>
          <p:cNvPr id="29" name="Shape 26"/>
          <p:cNvSpPr/>
          <p:nvPr/>
        </p:nvSpPr>
        <p:spPr>
          <a:xfrm>
            <a:off x="4754880" y="4919472"/>
            <a:ext cx="6888175" cy="0"/>
          </a:xfrm>
          <a:prstGeom prst="line">
            <a:avLst/>
          </a:prstGeom>
          <a:noFill/>
          <a:ln w="9525">
            <a:solidFill>
              <a:srgbClr val="D3D9D6"/>
            </a:solidFill>
            <a:prstDash val="solid"/>
          </a:ln>
        </p:spPr>
      </p:sp>
      <p:sp>
        <p:nvSpPr>
          <p:cNvPr id="30" name="Shape 27"/>
          <p:cNvSpPr/>
          <p:nvPr/>
        </p:nvSpPr>
        <p:spPr>
          <a:xfrm>
            <a:off x="4754880" y="5074920"/>
            <a:ext cx="320040" cy="640080"/>
          </a:xfrm>
          <a:prstGeom prst="roundRect">
            <a:avLst>
              <a:gd name="adj" fmla="val 6000"/>
            </a:avLst>
          </a:prstGeom>
          <a:solidFill>
            <a:srgbClr val="FFFFFF"/>
          </a:solidFill>
          <a:ln w="12700">
            <a:solidFill>
              <a:srgbClr val="14302A"/>
            </a:solidFill>
            <a:prstDash val="solid"/>
          </a:ln>
        </p:spPr>
      </p:sp>
      <p:sp>
        <p:nvSpPr>
          <p:cNvPr id="31" name="Shape 28"/>
          <p:cNvSpPr/>
          <p:nvPr/>
        </p:nvSpPr>
        <p:spPr>
          <a:xfrm>
            <a:off x="4806086" y="5126126"/>
            <a:ext cx="217627" cy="243230"/>
          </a:xfrm>
          <a:prstGeom prst="rect">
            <a:avLst/>
          </a:prstGeom>
          <a:ln w="6350">
            <a:solidFill>
              <a:srgbClr val="C9D6D0"/>
            </a:solidFill>
            <a:prstDash val="solid"/>
          </a:ln>
        </p:spPr>
      </p:sp>
      <p:sp>
        <p:nvSpPr>
          <p:cNvPr id="32" name="Shape 29"/>
          <p:cNvSpPr/>
          <p:nvPr/>
        </p:nvSpPr>
        <p:spPr>
          <a:xfrm>
            <a:off x="4806086" y="5414162"/>
            <a:ext cx="217627" cy="243230"/>
          </a:xfrm>
          <a:prstGeom prst="rect">
            <a:avLst/>
          </a:prstGeom>
          <a:ln w="6350">
            <a:solidFill>
              <a:srgbClr val="C9D6D0"/>
            </a:solidFill>
            <a:prstDash val="solid"/>
          </a:ln>
        </p:spPr>
      </p:sp>
      <p:sp>
        <p:nvSpPr>
          <p:cNvPr id="33" name="Shape 30"/>
          <p:cNvSpPr/>
          <p:nvPr/>
        </p:nvSpPr>
        <p:spPr>
          <a:xfrm>
            <a:off x="4988052" y="5372100"/>
            <a:ext cx="45720" cy="45720"/>
          </a:xfrm>
          <a:prstGeom prst="ellipse">
            <a:avLst/>
          </a:prstGeom>
          <a:solidFill>
            <a:srgbClr val="A9772F"/>
          </a:solidFill>
          <a:ln w="12700">
            <a:solidFill>
              <a:srgbClr val="A9772F"/>
            </a:solidFill>
            <a:prstDash val="solid"/>
          </a:ln>
        </p:spPr>
      </p:sp>
      <p:sp>
        <p:nvSpPr>
          <p:cNvPr id="34" name="Text 31"/>
          <p:cNvSpPr txBox="1"/>
          <p:nvPr/>
        </p:nvSpPr>
        <p:spPr>
          <a:xfrm>
            <a:off x="5349240" y="5047488"/>
            <a:ext cx="6293815" cy="365760"/>
          </a:xfrm>
          <a:prstGeom prst="rect">
            <a:avLst/>
          </a:prstGeom>
          <a:noFill/>
          <a:ln/>
        </p:spPr>
        <p:txBody>
          <a:bodyPr wrap="square" lIns="0" tIns="0" rIns="0" bIns="0" rtlCol="0" anchor="t"/>
          <a:lstStyle/>
          <a:p>
            <a:pPr indent="0" marL="0">
              <a:buNone/>
            </a:pPr>
            <a:r>
              <a:rPr lang="en-US" sz="1900" b="1" dirty="0">
                <a:solidFill>
                  <a:srgbClr val="14302A"/>
                </a:solidFill>
                <a:latin typeface="Arial" pitchFamily="34" charset="0"/>
                <a:ea typeface="Arial" pitchFamily="34" charset="-122"/>
                <a:cs typeface="Arial" pitchFamily="34" charset="-120"/>
              </a:rPr>
              <a:t>Conversation first, ask later</a:t>
            </a:r>
            <a:endParaRPr lang="en-US" sz="1900" dirty="0"/>
          </a:p>
        </p:txBody>
      </p:sp>
      <p:sp>
        <p:nvSpPr>
          <p:cNvPr id="35" name="Text 32"/>
          <p:cNvSpPr txBox="1"/>
          <p:nvPr/>
        </p:nvSpPr>
        <p:spPr>
          <a:xfrm>
            <a:off x="5349240" y="5440680"/>
            <a:ext cx="6293815" cy="365760"/>
          </a:xfrm>
          <a:prstGeom prst="rect">
            <a:avLst/>
          </a:prstGeom>
          <a:noFill/>
          <a:ln/>
        </p:spPr>
        <p:txBody>
          <a:bodyPr wrap="square" lIns="0" tIns="0" rIns="0" bIns="0" rtlCol="0" anchor="t"/>
          <a:lstStyle/>
          <a:p>
            <a:pPr indent="0" marL="0">
              <a:buNone/>
            </a:pPr>
            <a:r>
              <a:rPr lang="en-US" sz="1600" dirty="0">
                <a:solidFill>
                  <a:srgbClr val="1E2422"/>
                </a:solidFill>
                <a:latin typeface="Arial" pitchFamily="34" charset="0"/>
                <a:ea typeface="Arial" pitchFamily="34" charset="-122"/>
                <a:cs typeface="Arial" pitchFamily="34" charset="-120"/>
              </a:rPr>
              <a:t>The referral request comes only after a real exchange.</a:t>
            </a:r>
            <a:endParaRPr lang="en-US" sz="16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6C"/>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spc="300" kern="0" dirty="0">
                <a:solidFill>
                  <a:srgbClr val="A9772F"/>
                </a:solidFill>
                <a:latin typeface="Arial" pitchFamily="34" charset="0"/>
                <a:ea typeface="Arial" pitchFamily="34" charset="-122"/>
                <a:cs typeface="Arial" pitchFamily="34" charset="-120"/>
              </a:rPr>
              <a:t>PACKAGES</a:t>
            </a:r>
            <a:endParaRPr lang="en-US" sz="1100" dirty="0"/>
          </a:p>
        </p:txBody>
      </p:sp>
      <p:sp>
        <p:nvSpPr>
          <p:cNvPr id="3" name="Text 1"/>
          <p:cNvSpPr/>
          <p:nvPr>
            <p:ph idx="102" type="title" hasCustomPrompt="1"/>
          </p:nvPr>
        </p:nvSpPr>
        <p:spPr>
          <a:xfrm>
            <a:off x="548640" y="658368"/>
            <a:ext cx="11094415" cy="960120"/>
          </a:xfrm>
          <a:prstGeom prst="rect">
            <a:avLst/>
          </a:prstGeom>
          <a:noFill/>
          <a:ln/>
        </p:spPr>
        <p:txBody>
          <a:bodyPr wrap="square" lIns="0" tIns="0" rIns="0" bIns="0" rtlCol="0" anchor="t"/>
          <a:lstStyle/>
          <a:p>
            <a:pPr algn="l" indent="0" marL="0">
              <a:buNone/>
            </a:pPr>
            <a:r>
              <a:rPr lang="en-US" sz="2800" dirty="0">
                <a:solidFill>
                  <a:srgbClr val="14302A"/>
                </a:solidFill>
                <a:latin typeface="Georgia" pitchFamily="34" charset="0"/>
                <a:ea typeface="Georgia" pitchFamily="34" charset="-122"/>
                <a:cs typeface="Georgia" pitchFamily="34" charset="-120"/>
              </a:rPr>
              <a:t>Four packages at founding-member prices, from a one-week sprint to a done-for-you search</a:t>
            </a:r>
            <a:endParaRPr lang="en-US" sz="2800" dirty="0"/>
          </a:p>
        </p:txBody>
      </p:sp>
      <p:sp>
        <p:nvSpPr>
          <p:cNvPr id="5" name="Shape 2"/>
          <p:cNvSpPr/>
          <p:nvPr/>
        </p:nvSpPr>
        <p:spPr>
          <a:xfrm>
            <a:off x="548640" y="2011680"/>
            <a:ext cx="2567864" cy="3566160"/>
          </a:xfrm>
          <a:prstGeom prst="roundRect">
            <a:avLst>
              <a:gd name="adj" fmla="val 2849"/>
            </a:avLst>
          </a:prstGeom>
          <a:solidFill>
            <a:srgbClr val="FFFFFF"/>
          </a:solidFill>
          <a:ln w="12700">
            <a:solidFill>
              <a:srgbClr val="D3D9D6"/>
            </a:solidFill>
            <a:prstDash val="solid"/>
          </a:ln>
        </p:spPr>
      </p:sp>
      <p:sp>
        <p:nvSpPr>
          <p:cNvPr id="6" name="Text 3"/>
          <p:cNvSpPr txBox="1"/>
          <p:nvPr/>
        </p:nvSpPr>
        <p:spPr>
          <a:xfrm>
            <a:off x="822960" y="2286000"/>
            <a:ext cx="2019224" cy="411480"/>
          </a:xfrm>
          <a:prstGeom prst="rect">
            <a:avLst/>
          </a:prstGeom>
          <a:noFill/>
          <a:ln/>
        </p:spPr>
        <p:txBody>
          <a:bodyPr wrap="square" lIns="0" tIns="0" rIns="0" bIns="0" rtlCol="0" anchor="t"/>
          <a:lstStyle/>
          <a:p>
            <a:pPr indent="0" marL="0">
              <a:buNone/>
            </a:pPr>
            <a:r>
              <a:rPr lang="en-US" sz="2100" b="1" dirty="0">
                <a:solidFill>
                  <a:srgbClr val="14302A"/>
                </a:solidFill>
                <a:latin typeface="Georgia" pitchFamily="34" charset="0"/>
                <a:ea typeface="Georgia" pitchFamily="34" charset="-122"/>
                <a:cs typeface="Georgia" pitchFamily="34" charset="-120"/>
              </a:rPr>
              <a:t>Sprint</a:t>
            </a:r>
            <a:endParaRPr lang="en-US" sz="2100" dirty="0"/>
          </a:p>
        </p:txBody>
      </p:sp>
      <p:sp>
        <p:nvSpPr>
          <p:cNvPr id="7" name="Text 4"/>
          <p:cNvSpPr txBox="1"/>
          <p:nvPr/>
        </p:nvSpPr>
        <p:spPr>
          <a:xfrm>
            <a:off x="822960" y="2788920"/>
            <a:ext cx="2019224" cy="594360"/>
          </a:xfrm>
          <a:prstGeom prst="rect">
            <a:avLst/>
          </a:prstGeom>
          <a:noFill/>
          <a:ln/>
        </p:spPr>
        <p:txBody>
          <a:bodyPr wrap="square" lIns="0" tIns="0" rIns="0" bIns="0" rtlCol="0" anchor="b"/>
          <a:lstStyle/>
          <a:p>
            <a:pPr indent="0" marL="0">
              <a:buNone/>
            </a:pPr>
            <a:r>
              <a:rPr lang="en-US" sz="3000" b="1" dirty="0">
                <a:solidFill>
                  <a:srgbClr val="A9772F"/>
                </a:solidFill>
                <a:latin typeface="Georgia" pitchFamily="34" charset="0"/>
                <a:ea typeface="Georgia" pitchFamily="34" charset="-122"/>
                <a:cs typeface="Georgia" pitchFamily="34" charset="-120"/>
              </a:rPr>
              <a:t>Rs 2,499</a:t>
            </a:r>
            <a:endParaRPr lang="en-US" sz="3000" dirty="0"/>
          </a:p>
        </p:txBody>
      </p:sp>
      <p:sp>
        <p:nvSpPr>
          <p:cNvPr id="8" name="Shape 5"/>
          <p:cNvSpPr/>
          <p:nvPr/>
        </p:nvSpPr>
        <p:spPr>
          <a:xfrm>
            <a:off x="822960" y="3611880"/>
            <a:ext cx="2019224" cy="0"/>
          </a:xfrm>
          <a:prstGeom prst="line">
            <a:avLst/>
          </a:prstGeom>
          <a:noFill/>
          <a:ln w="9525">
            <a:solidFill>
              <a:srgbClr val="D3D9D6"/>
            </a:solidFill>
            <a:prstDash val="solid"/>
          </a:ln>
        </p:spPr>
      </p:sp>
      <p:sp>
        <p:nvSpPr>
          <p:cNvPr id="9" name="Text 6"/>
          <p:cNvSpPr txBox="1"/>
          <p:nvPr/>
        </p:nvSpPr>
        <p:spPr>
          <a:xfrm>
            <a:off x="822960" y="3794760"/>
            <a:ext cx="2019224" cy="685800"/>
          </a:xfrm>
          <a:prstGeom prst="rect">
            <a:avLst/>
          </a:prstGeom>
          <a:noFill/>
          <a:ln/>
        </p:spPr>
        <p:txBody>
          <a:bodyPr wrap="square" lIns="0" tIns="0" rIns="0" bIns="0" rtlCol="0" anchor="t"/>
          <a:lstStyle/>
          <a:p>
            <a:pPr indent="0" marL="0">
              <a:spcAft>
                <a:spcPts val="200"/>
              </a:spcAft>
              <a:buNone/>
            </a:pPr>
            <a:r>
              <a:rPr lang="en-US" sz="1700" b="1" dirty="0">
                <a:solidFill>
                  <a:srgbClr val="14302A"/>
                </a:solidFill>
                <a:latin typeface="Arial" pitchFamily="34" charset="0"/>
                <a:ea typeface="Arial" pitchFamily="34" charset="-122"/>
                <a:cs typeface="Arial" pitchFamily="34" charset="-120"/>
              </a:rPr>
              <a:t>7 days</a:t>
            </a:r>
            <a:endParaRPr lang="en-US" sz="1700" dirty="0"/>
          </a:p>
          <a:p>
            <a:pPr indent="0" marL="0">
              <a:spcAft>
                <a:spcPts val="200"/>
              </a:spcAft>
              <a:buNone/>
            </a:pPr>
            <a:r>
              <a:rPr lang="en-US" sz="1700" b="1" dirty="0">
                <a:solidFill>
                  <a:srgbClr val="14302A"/>
                </a:solidFill>
                <a:latin typeface="Arial" pitchFamily="34" charset="0"/>
                <a:ea typeface="Arial" pitchFamily="34" charset="-122"/>
                <a:cs typeface="Arial" pitchFamily="34" charset="-120"/>
              </a:rPr>
              <a:t>60 people</a:t>
            </a:r>
            <a:endParaRPr lang="en-US" sz="1700" dirty="0"/>
          </a:p>
        </p:txBody>
      </p:sp>
      <p:sp>
        <p:nvSpPr>
          <p:cNvPr id="10" name="Text 7"/>
          <p:cNvSpPr txBox="1"/>
          <p:nvPr/>
        </p:nvSpPr>
        <p:spPr>
          <a:xfrm>
            <a:off x="822960" y="4572000"/>
            <a:ext cx="2019224" cy="822960"/>
          </a:xfrm>
          <a:prstGeom prst="rect">
            <a:avLst/>
          </a:prstGeom>
          <a:noFill/>
          <a:ln/>
        </p:spPr>
        <p:txBody>
          <a:bodyPr wrap="square" lIns="0" tIns="0" rIns="0" bIns="0" rtlCol="0" anchor="t"/>
          <a:lstStyle/>
          <a:p>
            <a:pPr indent="0" marL="0">
              <a:buNone/>
            </a:pPr>
            <a:r>
              <a:rPr lang="en-US" sz="1500" dirty="0">
                <a:solidFill>
                  <a:srgbClr val="1E2422"/>
                </a:solidFill>
                <a:latin typeface="Arial" pitchFamily="34" charset="0"/>
                <a:ea typeface="Arial" pitchFamily="34" charset="-122"/>
                <a:cs typeface="Arial" pitchFamily="34" charset="-120"/>
              </a:rPr>
              <a:t>A focused first push on a short list of companies.</a:t>
            </a:r>
            <a:endParaRPr lang="en-US" sz="1500" dirty="0"/>
          </a:p>
        </p:txBody>
      </p:sp>
      <p:sp>
        <p:nvSpPr>
          <p:cNvPr id="11" name="Shape 8"/>
          <p:cNvSpPr/>
          <p:nvPr/>
        </p:nvSpPr>
        <p:spPr>
          <a:xfrm>
            <a:off x="3390824" y="2011680"/>
            <a:ext cx="2567864" cy="3566160"/>
          </a:xfrm>
          <a:prstGeom prst="roundRect">
            <a:avLst>
              <a:gd name="adj" fmla="val 2849"/>
            </a:avLst>
          </a:prstGeom>
          <a:solidFill>
            <a:srgbClr val="FFFFFF"/>
          </a:solidFill>
          <a:ln w="12700">
            <a:solidFill>
              <a:srgbClr val="D3D9D6"/>
            </a:solidFill>
            <a:prstDash val="solid"/>
          </a:ln>
        </p:spPr>
      </p:sp>
      <p:sp>
        <p:nvSpPr>
          <p:cNvPr id="12" name="Text 9"/>
          <p:cNvSpPr txBox="1"/>
          <p:nvPr/>
        </p:nvSpPr>
        <p:spPr>
          <a:xfrm>
            <a:off x="3665144" y="2286000"/>
            <a:ext cx="2019224" cy="411480"/>
          </a:xfrm>
          <a:prstGeom prst="rect">
            <a:avLst/>
          </a:prstGeom>
          <a:noFill/>
          <a:ln/>
        </p:spPr>
        <p:txBody>
          <a:bodyPr wrap="square" lIns="0" tIns="0" rIns="0" bIns="0" rtlCol="0" anchor="t"/>
          <a:lstStyle/>
          <a:p>
            <a:pPr indent="0" marL="0">
              <a:buNone/>
            </a:pPr>
            <a:r>
              <a:rPr lang="en-US" sz="2100" b="1" dirty="0">
                <a:solidFill>
                  <a:srgbClr val="14302A"/>
                </a:solidFill>
                <a:latin typeface="Georgia" pitchFamily="34" charset="0"/>
                <a:ea typeface="Georgia" pitchFamily="34" charset="-122"/>
                <a:cs typeface="Georgia" pitchFamily="34" charset="-120"/>
              </a:rPr>
              <a:t>Standard</a:t>
            </a:r>
            <a:endParaRPr lang="en-US" sz="2100" dirty="0"/>
          </a:p>
        </p:txBody>
      </p:sp>
      <p:sp>
        <p:nvSpPr>
          <p:cNvPr id="13" name="Text 10"/>
          <p:cNvSpPr txBox="1"/>
          <p:nvPr/>
        </p:nvSpPr>
        <p:spPr>
          <a:xfrm>
            <a:off x="3665144" y="2788920"/>
            <a:ext cx="2019224" cy="594360"/>
          </a:xfrm>
          <a:prstGeom prst="rect">
            <a:avLst/>
          </a:prstGeom>
          <a:noFill/>
          <a:ln/>
        </p:spPr>
        <p:txBody>
          <a:bodyPr wrap="square" lIns="0" tIns="0" rIns="0" bIns="0" rtlCol="0" anchor="b"/>
          <a:lstStyle/>
          <a:p>
            <a:pPr indent="0" marL="0">
              <a:buNone/>
            </a:pPr>
            <a:r>
              <a:rPr lang="en-US" sz="3000" b="1" dirty="0">
                <a:solidFill>
                  <a:srgbClr val="A9772F"/>
                </a:solidFill>
                <a:latin typeface="Georgia" pitchFamily="34" charset="0"/>
                <a:ea typeface="Georgia" pitchFamily="34" charset="-122"/>
                <a:cs typeface="Georgia" pitchFamily="34" charset="-120"/>
              </a:rPr>
              <a:t>Rs 3,999</a:t>
            </a:r>
            <a:endParaRPr lang="en-US" sz="3000" dirty="0"/>
          </a:p>
        </p:txBody>
      </p:sp>
      <p:sp>
        <p:nvSpPr>
          <p:cNvPr id="14" name="Shape 11"/>
          <p:cNvSpPr/>
          <p:nvPr/>
        </p:nvSpPr>
        <p:spPr>
          <a:xfrm>
            <a:off x="3665144" y="3611880"/>
            <a:ext cx="2019224" cy="0"/>
          </a:xfrm>
          <a:prstGeom prst="line">
            <a:avLst/>
          </a:prstGeom>
          <a:noFill/>
          <a:ln w="9525">
            <a:solidFill>
              <a:srgbClr val="D3D9D6"/>
            </a:solidFill>
            <a:prstDash val="solid"/>
          </a:ln>
        </p:spPr>
      </p:sp>
      <p:sp>
        <p:nvSpPr>
          <p:cNvPr id="15" name="Text 12"/>
          <p:cNvSpPr txBox="1"/>
          <p:nvPr/>
        </p:nvSpPr>
        <p:spPr>
          <a:xfrm>
            <a:off x="3665144" y="3794760"/>
            <a:ext cx="2019224" cy="685800"/>
          </a:xfrm>
          <a:prstGeom prst="rect">
            <a:avLst/>
          </a:prstGeom>
          <a:noFill/>
          <a:ln/>
        </p:spPr>
        <p:txBody>
          <a:bodyPr wrap="square" lIns="0" tIns="0" rIns="0" bIns="0" rtlCol="0" anchor="t"/>
          <a:lstStyle/>
          <a:p>
            <a:pPr indent="0" marL="0">
              <a:spcAft>
                <a:spcPts val="200"/>
              </a:spcAft>
              <a:buNone/>
            </a:pPr>
            <a:r>
              <a:rPr lang="en-US" sz="1700" b="1" dirty="0">
                <a:solidFill>
                  <a:srgbClr val="14302A"/>
                </a:solidFill>
                <a:latin typeface="Arial" pitchFamily="34" charset="0"/>
                <a:ea typeface="Arial" pitchFamily="34" charset="-122"/>
                <a:cs typeface="Arial" pitchFamily="34" charset="-120"/>
              </a:rPr>
              <a:t>14 days</a:t>
            </a:r>
            <a:endParaRPr lang="en-US" sz="1700" dirty="0"/>
          </a:p>
          <a:p>
            <a:pPr indent="0" marL="0">
              <a:spcAft>
                <a:spcPts val="200"/>
              </a:spcAft>
              <a:buNone/>
            </a:pPr>
            <a:r>
              <a:rPr lang="en-US" sz="1700" b="1" dirty="0">
                <a:solidFill>
                  <a:srgbClr val="14302A"/>
                </a:solidFill>
                <a:latin typeface="Arial" pitchFamily="34" charset="0"/>
                <a:ea typeface="Arial" pitchFamily="34" charset="-122"/>
                <a:cs typeface="Arial" pitchFamily="34" charset="-120"/>
              </a:rPr>
              <a:t>120 people</a:t>
            </a:r>
            <a:endParaRPr lang="en-US" sz="1700" dirty="0"/>
          </a:p>
        </p:txBody>
      </p:sp>
      <p:sp>
        <p:nvSpPr>
          <p:cNvPr id="16" name="Text 13"/>
          <p:cNvSpPr txBox="1"/>
          <p:nvPr/>
        </p:nvSpPr>
        <p:spPr>
          <a:xfrm>
            <a:off x="3665144" y="4572000"/>
            <a:ext cx="2019224" cy="822960"/>
          </a:xfrm>
          <a:prstGeom prst="rect">
            <a:avLst/>
          </a:prstGeom>
          <a:noFill/>
          <a:ln/>
        </p:spPr>
        <p:txBody>
          <a:bodyPr wrap="square" lIns="0" tIns="0" rIns="0" bIns="0" rtlCol="0" anchor="t"/>
          <a:lstStyle/>
          <a:p>
            <a:pPr indent="0" marL="0">
              <a:buNone/>
            </a:pPr>
            <a:r>
              <a:rPr lang="en-US" sz="1500" dirty="0">
                <a:solidFill>
                  <a:srgbClr val="1E2422"/>
                </a:solidFill>
                <a:latin typeface="Arial" pitchFamily="34" charset="0"/>
                <a:ea typeface="Arial" pitchFamily="34" charset="-122"/>
                <a:cs typeface="Arial" pitchFamily="34" charset="-120"/>
              </a:rPr>
              <a:t>Two full weeks of outreach and reply guidance.</a:t>
            </a:r>
            <a:endParaRPr lang="en-US" sz="1500" dirty="0"/>
          </a:p>
        </p:txBody>
      </p:sp>
      <p:sp>
        <p:nvSpPr>
          <p:cNvPr id="17" name="Shape 14"/>
          <p:cNvSpPr/>
          <p:nvPr/>
        </p:nvSpPr>
        <p:spPr>
          <a:xfrm>
            <a:off x="6233008" y="2011680"/>
            <a:ext cx="2567864" cy="3566160"/>
          </a:xfrm>
          <a:prstGeom prst="roundRect">
            <a:avLst>
              <a:gd name="adj" fmla="val 2849"/>
            </a:avLst>
          </a:prstGeom>
          <a:solidFill>
            <a:srgbClr val="FFFFFF"/>
          </a:solidFill>
          <a:ln w="12700">
            <a:solidFill>
              <a:srgbClr val="D3D9D6"/>
            </a:solidFill>
            <a:prstDash val="solid"/>
          </a:ln>
        </p:spPr>
      </p:sp>
      <p:sp>
        <p:nvSpPr>
          <p:cNvPr id="18" name="Text 15"/>
          <p:cNvSpPr txBox="1"/>
          <p:nvPr/>
        </p:nvSpPr>
        <p:spPr>
          <a:xfrm>
            <a:off x="6507328" y="2286000"/>
            <a:ext cx="2019224" cy="411480"/>
          </a:xfrm>
          <a:prstGeom prst="rect">
            <a:avLst/>
          </a:prstGeom>
          <a:noFill/>
          <a:ln/>
        </p:spPr>
        <p:txBody>
          <a:bodyPr wrap="square" lIns="0" tIns="0" rIns="0" bIns="0" rtlCol="0" anchor="t"/>
          <a:lstStyle/>
          <a:p>
            <a:pPr indent="0" marL="0">
              <a:buNone/>
            </a:pPr>
            <a:r>
              <a:rPr lang="en-US" sz="2100" b="1" dirty="0">
                <a:solidFill>
                  <a:srgbClr val="14302A"/>
                </a:solidFill>
                <a:latin typeface="Georgia" pitchFamily="34" charset="0"/>
                <a:ea typeface="Georgia" pitchFamily="34" charset="-122"/>
                <a:cs typeface="Georgia" pitchFamily="34" charset="-120"/>
              </a:rPr>
              <a:t>Full search</a:t>
            </a:r>
            <a:endParaRPr lang="en-US" sz="2100" dirty="0"/>
          </a:p>
        </p:txBody>
      </p:sp>
      <p:sp>
        <p:nvSpPr>
          <p:cNvPr id="19" name="Text 16"/>
          <p:cNvSpPr txBox="1"/>
          <p:nvPr/>
        </p:nvSpPr>
        <p:spPr>
          <a:xfrm>
            <a:off x="6507328" y="2788920"/>
            <a:ext cx="2019224" cy="594360"/>
          </a:xfrm>
          <a:prstGeom prst="rect">
            <a:avLst/>
          </a:prstGeom>
          <a:noFill/>
          <a:ln/>
        </p:spPr>
        <p:txBody>
          <a:bodyPr wrap="square" lIns="0" tIns="0" rIns="0" bIns="0" rtlCol="0" anchor="b"/>
          <a:lstStyle/>
          <a:p>
            <a:pPr indent="0" marL="0">
              <a:buNone/>
            </a:pPr>
            <a:r>
              <a:rPr lang="en-US" sz="3000" b="1" dirty="0">
                <a:solidFill>
                  <a:srgbClr val="A9772F"/>
                </a:solidFill>
                <a:latin typeface="Georgia" pitchFamily="34" charset="0"/>
                <a:ea typeface="Georgia" pitchFamily="34" charset="-122"/>
                <a:cs typeface="Georgia" pitchFamily="34" charset="-120"/>
              </a:rPr>
              <a:t>Rs 5,499</a:t>
            </a:r>
            <a:endParaRPr lang="en-US" sz="3000" dirty="0"/>
          </a:p>
        </p:txBody>
      </p:sp>
      <p:sp>
        <p:nvSpPr>
          <p:cNvPr id="20" name="Shape 17"/>
          <p:cNvSpPr/>
          <p:nvPr/>
        </p:nvSpPr>
        <p:spPr>
          <a:xfrm>
            <a:off x="6507328" y="3611880"/>
            <a:ext cx="2019224" cy="0"/>
          </a:xfrm>
          <a:prstGeom prst="line">
            <a:avLst/>
          </a:prstGeom>
          <a:noFill/>
          <a:ln w="9525">
            <a:solidFill>
              <a:srgbClr val="D3D9D6"/>
            </a:solidFill>
            <a:prstDash val="solid"/>
          </a:ln>
        </p:spPr>
      </p:sp>
      <p:sp>
        <p:nvSpPr>
          <p:cNvPr id="21" name="Text 18"/>
          <p:cNvSpPr txBox="1"/>
          <p:nvPr/>
        </p:nvSpPr>
        <p:spPr>
          <a:xfrm>
            <a:off x="6507328" y="3794760"/>
            <a:ext cx="2019224" cy="685800"/>
          </a:xfrm>
          <a:prstGeom prst="rect">
            <a:avLst/>
          </a:prstGeom>
          <a:noFill/>
          <a:ln/>
        </p:spPr>
        <p:txBody>
          <a:bodyPr wrap="square" lIns="0" tIns="0" rIns="0" bIns="0" rtlCol="0" anchor="t"/>
          <a:lstStyle/>
          <a:p>
            <a:pPr indent="0" marL="0">
              <a:spcAft>
                <a:spcPts val="200"/>
              </a:spcAft>
              <a:buNone/>
            </a:pPr>
            <a:r>
              <a:rPr lang="en-US" sz="1700" b="1" dirty="0">
                <a:solidFill>
                  <a:srgbClr val="14302A"/>
                </a:solidFill>
                <a:latin typeface="Arial" pitchFamily="34" charset="0"/>
                <a:ea typeface="Arial" pitchFamily="34" charset="-122"/>
                <a:cs typeface="Arial" pitchFamily="34" charset="-120"/>
              </a:rPr>
              <a:t>21 days</a:t>
            </a:r>
            <a:endParaRPr lang="en-US" sz="1700" dirty="0"/>
          </a:p>
          <a:p>
            <a:pPr indent="0" marL="0">
              <a:spcAft>
                <a:spcPts val="200"/>
              </a:spcAft>
              <a:buNone/>
            </a:pPr>
            <a:r>
              <a:rPr lang="en-US" sz="1700" b="1" dirty="0">
                <a:solidFill>
                  <a:srgbClr val="14302A"/>
                </a:solidFill>
                <a:latin typeface="Arial" pitchFamily="34" charset="0"/>
                <a:ea typeface="Arial" pitchFamily="34" charset="-122"/>
                <a:cs typeface="Arial" pitchFamily="34" charset="-120"/>
              </a:rPr>
              <a:t>180 people</a:t>
            </a:r>
            <a:endParaRPr lang="en-US" sz="1700" dirty="0"/>
          </a:p>
        </p:txBody>
      </p:sp>
      <p:sp>
        <p:nvSpPr>
          <p:cNvPr id="22" name="Text 19"/>
          <p:cNvSpPr txBox="1"/>
          <p:nvPr/>
        </p:nvSpPr>
        <p:spPr>
          <a:xfrm>
            <a:off x="6507328" y="4572000"/>
            <a:ext cx="2019224" cy="822960"/>
          </a:xfrm>
          <a:prstGeom prst="rect">
            <a:avLst/>
          </a:prstGeom>
          <a:noFill/>
          <a:ln/>
        </p:spPr>
        <p:txBody>
          <a:bodyPr wrap="square" lIns="0" tIns="0" rIns="0" bIns="0" rtlCol="0" anchor="t"/>
          <a:lstStyle/>
          <a:p>
            <a:pPr indent="0" marL="0">
              <a:buNone/>
            </a:pPr>
            <a:r>
              <a:rPr lang="en-US" sz="1500" dirty="0">
                <a:solidFill>
                  <a:srgbClr val="1E2422"/>
                </a:solidFill>
                <a:latin typeface="Arial" pitchFamily="34" charset="0"/>
                <a:ea typeface="Arial" pitchFamily="34" charset="-122"/>
                <a:cs typeface="Arial" pitchFamily="34" charset="-120"/>
              </a:rPr>
              <a:t>Three weeks across a wider set of target companies.</a:t>
            </a:r>
            <a:endParaRPr lang="en-US" sz="1500" dirty="0"/>
          </a:p>
        </p:txBody>
      </p:sp>
      <p:sp>
        <p:nvSpPr>
          <p:cNvPr id="23" name="Shape 20"/>
          <p:cNvSpPr/>
          <p:nvPr/>
        </p:nvSpPr>
        <p:spPr>
          <a:xfrm>
            <a:off x="9075191" y="2011680"/>
            <a:ext cx="2567864" cy="3566160"/>
          </a:xfrm>
          <a:prstGeom prst="roundRect">
            <a:avLst>
              <a:gd name="adj" fmla="val 2849"/>
            </a:avLst>
          </a:prstGeom>
          <a:solidFill>
            <a:srgbClr val="14302A"/>
          </a:solidFill>
          <a:ln w="12700">
            <a:solidFill>
              <a:srgbClr val="14302A"/>
            </a:solidFill>
            <a:prstDash val="solid"/>
          </a:ln>
        </p:spPr>
      </p:sp>
      <p:sp>
        <p:nvSpPr>
          <p:cNvPr id="24" name="Text 21"/>
          <p:cNvSpPr txBox="1"/>
          <p:nvPr/>
        </p:nvSpPr>
        <p:spPr>
          <a:xfrm>
            <a:off x="9349511" y="2286000"/>
            <a:ext cx="2019224" cy="411480"/>
          </a:xfrm>
          <a:prstGeom prst="rect">
            <a:avLst/>
          </a:prstGeom>
          <a:noFill/>
          <a:ln/>
        </p:spPr>
        <p:txBody>
          <a:bodyPr wrap="square" lIns="0" tIns="0" rIns="0" bIns="0" rtlCol="0" anchor="t"/>
          <a:lstStyle/>
          <a:p>
            <a:pPr indent="0" marL="0">
              <a:buNone/>
            </a:pPr>
            <a:r>
              <a:rPr lang="en-US" sz="2100" b="1" dirty="0">
                <a:solidFill>
                  <a:srgbClr val="FFFFFF"/>
                </a:solidFill>
                <a:latin typeface="Georgia" pitchFamily="34" charset="0"/>
                <a:ea typeface="Georgia" pitchFamily="34" charset="-122"/>
                <a:cs typeface="Georgia" pitchFamily="34" charset="-120"/>
              </a:rPr>
              <a:t>Done-for-you</a:t>
            </a:r>
            <a:endParaRPr lang="en-US" sz="2100" dirty="0"/>
          </a:p>
        </p:txBody>
      </p:sp>
      <p:sp>
        <p:nvSpPr>
          <p:cNvPr id="25" name="Text 22"/>
          <p:cNvSpPr txBox="1"/>
          <p:nvPr/>
        </p:nvSpPr>
        <p:spPr>
          <a:xfrm>
            <a:off x="9349511" y="2788920"/>
            <a:ext cx="2019224" cy="594360"/>
          </a:xfrm>
          <a:prstGeom prst="rect">
            <a:avLst/>
          </a:prstGeom>
          <a:noFill/>
          <a:ln/>
        </p:spPr>
        <p:txBody>
          <a:bodyPr wrap="square" lIns="0" tIns="0" rIns="0" bIns="0" rtlCol="0" anchor="b"/>
          <a:lstStyle/>
          <a:p>
            <a:pPr indent="0" marL="0">
              <a:buNone/>
            </a:pPr>
            <a:r>
              <a:rPr lang="en-US" sz="2600" b="1" dirty="0">
                <a:solidFill>
                  <a:srgbClr val="E6D3B0"/>
                </a:solidFill>
                <a:latin typeface="Georgia" pitchFamily="34" charset="0"/>
                <a:ea typeface="Georgia" pitchFamily="34" charset="-122"/>
                <a:cs typeface="Georgia" pitchFamily="34" charset="-120"/>
              </a:rPr>
              <a:t>Rs 14,999</a:t>
            </a:r>
            <a:endParaRPr lang="en-US" sz="2600" dirty="0"/>
          </a:p>
        </p:txBody>
      </p:sp>
      <p:sp>
        <p:nvSpPr>
          <p:cNvPr id="26" name="Shape 23"/>
          <p:cNvSpPr/>
          <p:nvPr/>
        </p:nvSpPr>
        <p:spPr>
          <a:xfrm>
            <a:off x="9349511" y="3611880"/>
            <a:ext cx="2019224" cy="0"/>
          </a:xfrm>
          <a:prstGeom prst="line">
            <a:avLst/>
          </a:prstGeom>
          <a:noFill/>
          <a:ln w="9525">
            <a:solidFill>
              <a:srgbClr val="3B5E55"/>
            </a:solidFill>
            <a:prstDash val="solid"/>
          </a:ln>
        </p:spPr>
      </p:sp>
      <p:sp>
        <p:nvSpPr>
          <p:cNvPr id="27" name="Text 24"/>
          <p:cNvSpPr txBox="1"/>
          <p:nvPr/>
        </p:nvSpPr>
        <p:spPr>
          <a:xfrm>
            <a:off x="9349511" y="3794760"/>
            <a:ext cx="2019224" cy="685800"/>
          </a:xfrm>
          <a:prstGeom prst="rect">
            <a:avLst/>
          </a:prstGeom>
          <a:noFill/>
          <a:ln/>
        </p:spPr>
        <p:txBody>
          <a:bodyPr wrap="square" lIns="0" tIns="0" rIns="0" bIns="0" rtlCol="0" anchor="t"/>
          <a:lstStyle/>
          <a:p>
            <a:pPr indent="0" marL="0">
              <a:spcAft>
                <a:spcPts val="200"/>
              </a:spcAft>
              <a:buNone/>
            </a:pPr>
            <a:r>
              <a:rPr lang="en-US" sz="1700" b="1" dirty="0">
                <a:solidFill>
                  <a:srgbClr val="FFFFFF"/>
                </a:solidFill>
                <a:latin typeface="Arial" pitchFamily="34" charset="0"/>
                <a:ea typeface="Arial" pitchFamily="34" charset="-122"/>
                <a:cs typeface="Arial" pitchFamily="34" charset="-120"/>
              </a:rPr>
              <a:t>Starting price</a:t>
            </a:r>
            <a:endParaRPr lang="en-US" sz="1700" dirty="0"/>
          </a:p>
          <a:p>
            <a:pPr indent="0" marL="0">
              <a:spcAft>
                <a:spcPts val="200"/>
              </a:spcAft>
              <a:buNone/>
            </a:pPr>
            <a:r>
              <a:rPr lang="en-US" sz="1700" b="1" dirty="0">
                <a:solidFill>
                  <a:srgbClr val="FFFFFF"/>
                </a:solidFill>
                <a:latin typeface="Arial" pitchFamily="34" charset="0"/>
                <a:ea typeface="Arial" pitchFamily="34" charset="-122"/>
                <a:cs typeface="Arial" pitchFamily="34" charset="-120"/>
              </a:rPr>
              <a:t>Scope agreed</a:t>
            </a:r>
            <a:endParaRPr lang="en-US" sz="1700" dirty="0"/>
          </a:p>
        </p:txBody>
      </p:sp>
      <p:sp>
        <p:nvSpPr>
          <p:cNvPr id="28" name="Text 25"/>
          <p:cNvSpPr txBox="1"/>
          <p:nvPr/>
        </p:nvSpPr>
        <p:spPr>
          <a:xfrm>
            <a:off x="9349511" y="4572000"/>
            <a:ext cx="2019224" cy="822960"/>
          </a:xfrm>
          <a:prstGeom prst="rect">
            <a:avLst/>
          </a:prstGeom>
          <a:noFill/>
          <a:ln/>
        </p:spPr>
        <p:txBody>
          <a:bodyPr wrap="square" lIns="0" tIns="0" rIns="0" bIns="0" rtlCol="0" anchor="t"/>
          <a:lstStyle/>
          <a:p>
            <a:pPr indent="0" marL="0">
              <a:buNone/>
            </a:pPr>
            <a:r>
              <a:rPr lang="en-US" sz="1500" dirty="0">
                <a:solidFill>
                  <a:srgbClr val="C9D6D0"/>
                </a:solidFill>
                <a:latin typeface="Arial" pitchFamily="34" charset="0"/>
                <a:ea typeface="Arial" pitchFamily="34" charset="-122"/>
                <a:cs typeface="Arial" pitchFamily="34" charset="-120"/>
              </a:rPr>
              <a:t>Knock carries more of the search, end to end.</a:t>
            </a:r>
            <a:endParaRPr lang="en-US" sz="1500" dirty="0"/>
          </a:p>
        </p:txBody>
      </p:sp>
      <p:sp>
        <p:nvSpPr>
          <p:cNvPr id="29" name="Shape 26"/>
          <p:cNvSpPr/>
          <p:nvPr/>
        </p:nvSpPr>
        <p:spPr>
          <a:xfrm>
            <a:off x="548640" y="5760720"/>
            <a:ext cx="11094415" cy="457200"/>
          </a:xfrm>
          <a:prstGeom prst="roundRect">
            <a:avLst>
              <a:gd name="adj" fmla="val 12000"/>
            </a:avLst>
          </a:prstGeom>
          <a:solidFill>
            <a:srgbClr val="EEF2EF"/>
          </a:solidFill>
          <a:ln w="12700">
            <a:solidFill>
              <a:srgbClr val="EEF2EF"/>
            </a:solidFill>
            <a:prstDash val="solid"/>
          </a:ln>
        </p:spPr>
      </p:sp>
      <p:sp>
        <p:nvSpPr>
          <p:cNvPr id="30" name="Text 27"/>
          <p:cNvSpPr txBox="1"/>
          <p:nvPr/>
        </p:nvSpPr>
        <p:spPr>
          <a:xfrm>
            <a:off x="822960" y="5760720"/>
            <a:ext cx="10545775" cy="457200"/>
          </a:xfrm>
          <a:prstGeom prst="rect">
            <a:avLst/>
          </a:prstGeom>
          <a:noFill/>
          <a:ln/>
        </p:spPr>
        <p:txBody>
          <a:bodyPr wrap="square" lIns="0" tIns="0" rIns="0" bIns="0" rtlCol="0" anchor="ctr"/>
          <a:lstStyle/>
          <a:p>
            <a:pPr indent="0" marL="0">
              <a:buNone/>
            </a:pPr>
            <a:r>
              <a:rPr lang="en-US" sz="1500" b="1" dirty="0">
                <a:solidFill>
                  <a:srgbClr val="14302A"/>
                </a:solidFill>
                <a:latin typeface="Arial" pitchFamily="34" charset="0"/>
                <a:ea typeface="Arial" pitchFamily="34" charset="-122"/>
                <a:cs typeface="Arial" pitchFamily="34" charset="-120"/>
              </a:rPr>
              <a:t>Club members get the founding price. </a:t>
            </a:r>
            <a:pPr indent="0" marL="0">
              <a:buNone/>
            </a:pPr>
            <a:r>
              <a:rPr lang="en-US" sz="1500" dirty="0">
                <a:solidFill>
                  <a:srgbClr val="66706C"/>
                </a:solidFill>
                <a:latin typeface="Arial" pitchFamily="34" charset="0"/>
                <a:ea typeface="Arial" pitchFamily="34" charset="-122"/>
                <a:cs typeface="Arial" pitchFamily="34" charset="-120"/>
              </a:rPr>
              <a:t>All prices in INR, per student.</a:t>
            </a:r>
            <a:endParaRPr lang="en-US" sz="15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6C"/>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spc="300" kern="0" dirty="0">
                <a:solidFill>
                  <a:srgbClr val="A9772F"/>
                </a:solidFill>
                <a:latin typeface="Arial" pitchFamily="34" charset="0"/>
                <a:ea typeface="Arial" pitchFamily="34" charset="-122"/>
                <a:cs typeface="Arial" pitchFamily="34" charset="-120"/>
              </a:rPr>
              <a:t>THE PARTNERSHIP</a:t>
            </a:r>
            <a:endParaRPr lang="en-US" sz="1100" dirty="0"/>
          </a:p>
        </p:txBody>
      </p:sp>
      <p:sp>
        <p:nvSpPr>
          <p:cNvPr id="3" name="Text 1"/>
          <p:cNvSpPr/>
          <p:nvPr>
            <p:ph idx="102" type="title" hasCustomPrompt="1"/>
          </p:nvPr>
        </p:nvSpPr>
        <p:spPr>
          <a:xfrm>
            <a:off x="548640" y="658368"/>
            <a:ext cx="11094415" cy="960120"/>
          </a:xfrm>
          <a:prstGeom prst="rect">
            <a:avLst/>
          </a:prstGeom>
          <a:noFill/>
          <a:ln/>
        </p:spPr>
        <p:txBody>
          <a:bodyPr wrap="square" lIns="0" tIns="0" rIns="0" bIns="0" rtlCol="0" anchor="t"/>
          <a:lstStyle/>
          <a:p>
            <a:pPr algn="l" indent="0" marL="0">
              <a:buNone/>
            </a:pPr>
            <a:r>
              <a:rPr lang="en-US" sz="2800" dirty="0">
                <a:solidFill>
                  <a:srgbClr val="14302A"/>
                </a:solidFill>
                <a:latin typeface="Georgia" pitchFamily="34" charset="0"/>
                <a:ea typeface="Georgia" pitchFamily="34" charset="-122"/>
                <a:cs typeface="Georgia" pitchFamily="34" charset="-120"/>
              </a:rPr>
              <a:t>The club gets a free pilot and a founding price; Knock asks for one announcement and one call</a:t>
            </a:r>
            <a:endParaRPr lang="en-US" sz="2800" dirty="0"/>
          </a:p>
        </p:txBody>
      </p:sp>
      <p:sp>
        <p:nvSpPr>
          <p:cNvPr id="5" name="Shape 2"/>
          <p:cNvSpPr/>
          <p:nvPr/>
        </p:nvSpPr>
        <p:spPr>
          <a:xfrm>
            <a:off x="548640" y="2011680"/>
            <a:ext cx="6766560" cy="4023360"/>
          </a:xfrm>
          <a:prstGeom prst="roundRect">
            <a:avLst>
              <a:gd name="adj" fmla="val 1818"/>
            </a:avLst>
          </a:prstGeom>
          <a:solidFill>
            <a:srgbClr val="FFFFFF"/>
          </a:solidFill>
          <a:ln w="12700">
            <a:solidFill>
              <a:srgbClr val="D3D9D6"/>
            </a:solidFill>
            <a:prstDash val="solid"/>
          </a:ln>
        </p:spPr>
      </p:sp>
      <p:sp>
        <p:nvSpPr>
          <p:cNvPr id="6" name="Text 3"/>
          <p:cNvSpPr txBox="1"/>
          <p:nvPr/>
        </p:nvSpPr>
        <p:spPr>
          <a:xfrm>
            <a:off x="914400" y="2286000"/>
            <a:ext cx="6035040" cy="320040"/>
          </a:xfrm>
          <a:prstGeom prst="rect">
            <a:avLst/>
          </a:prstGeom>
          <a:noFill/>
          <a:ln/>
        </p:spPr>
        <p:txBody>
          <a:bodyPr wrap="square" lIns="0" tIns="0" rIns="0" bIns="0" rtlCol="0" anchor="t"/>
          <a:lstStyle/>
          <a:p>
            <a:pPr indent="0" marL="0">
              <a:buNone/>
            </a:pPr>
            <a:r>
              <a:rPr lang="en-US" sz="1300" b="1" spc="300" kern="0" dirty="0">
                <a:solidFill>
                  <a:srgbClr val="A9772F"/>
                </a:solidFill>
                <a:latin typeface="Arial" pitchFamily="34" charset="0"/>
                <a:ea typeface="Arial" pitchFamily="34" charset="-122"/>
                <a:cs typeface="Arial" pitchFamily="34" charset="-120"/>
              </a:rPr>
              <a:t>WHAT &lt;CLUB NAME&gt; GETS</a:t>
            </a:r>
            <a:endParaRPr lang="en-US" sz="1300" dirty="0"/>
          </a:p>
        </p:txBody>
      </p:sp>
      <p:sp>
        <p:nvSpPr>
          <p:cNvPr id="7" name="Shape 4"/>
          <p:cNvSpPr/>
          <p:nvPr/>
        </p:nvSpPr>
        <p:spPr>
          <a:xfrm>
            <a:off x="914400" y="2834640"/>
            <a:ext cx="384048" cy="384048"/>
          </a:xfrm>
          <a:prstGeom prst="ellipse">
            <a:avLst/>
          </a:prstGeom>
          <a:solidFill>
            <a:srgbClr val="14302A"/>
          </a:solidFill>
          <a:ln w="12700">
            <a:solidFill>
              <a:srgbClr val="14302A"/>
            </a:solidFill>
            <a:prstDash val="solid"/>
          </a:ln>
        </p:spPr>
      </p:sp>
      <p:sp>
        <p:nvSpPr>
          <p:cNvPr id="8" name="Text 5"/>
          <p:cNvSpPr txBox="1"/>
          <p:nvPr/>
        </p:nvSpPr>
        <p:spPr>
          <a:xfrm>
            <a:off x="914400" y="28346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a:t>
            </a:r>
            <a:endParaRPr lang="en-US" sz="1200" dirty="0"/>
          </a:p>
        </p:txBody>
      </p:sp>
      <p:sp>
        <p:nvSpPr>
          <p:cNvPr id="9" name="Text 6"/>
          <p:cNvSpPr txBox="1"/>
          <p:nvPr/>
        </p:nvSpPr>
        <p:spPr>
          <a:xfrm>
            <a:off x="1463040" y="2788920"/>
            <a:ext cx="5486400" cy="347472"/>
          </a:xfrm>
          <a:prstGeom prst="rect">
            <a:avLst/>
          </a:prstGeom>
          <a:noFill/>
          <a:ln/>
        </p:spPr>
        <p:txBody>
          <a:bodyPr wrap="square" lIns="0" tIns="0" rIns="0" bIns="0" rtlCol="0" anchor="t"/>
          <a:lstStyle/>
          <a:p>
            <a:pPr indent="0" marL="0">
              <a:buNone/>
            </a:pPr>
            <a:r>
              <a:rPr lang="en-US" sz="1800" b="1" dirty="0">
                <a:solidFill>
                  <a:srgbClr val="14302A"/>
                </a:solidFill>
                <a:latin typeface="Arial" pitchFamily="34" charset="0"/>
                <a:ea typeface="Arial" pitchFamily="34" charset="-122"/>
                <a:cs typeface="Arial" pitchFamily="34" charset="-120"/>
              </a:rPr>
              <a:t>Founding price for every member</a:t>
            </a:r>
            <a:endParaRPr lang="en-US" sz="1800" dirty="0"/>
          </a:p>
        </p:txBody>
      </p:sp>
      <p:sp>
        <p:nvSpPr>
          <p:cNvPr id="10" name="Text 7"/>
          <p:cNvSpPr txBox="1"/>
          <p:nvPr/>
        </p:nvSpPr>
        <p:spPr>
          <a:xfrm>
            <a:off x="1463040" y="3136392"/>
            <a:ext cx="5486400" cy="320040"/>
          </a:xfrm>
          <a:prstGeom prst="rect">
            <a:avLst/>
          </a:prstGeom>
          <a:noFill/>
          <a:ln/>
        </p:spPr>
        <p:txBody>
          <a:bodyPr wrap="square" lIns="0" tIns="0" rIns="0" bIns="0" rtlCol="0" anchor="t"/>
          <a:lstStyle/>
          <a:p>
            <a:pPr indent="0" marL="0">
              <a:buNone/>
            </a:pPr>
            <a:r>
              <a:rPr lang="en-US" sz="1500" dirty="0">
                <a:solidFill>
                  <a:srgbClr val="1E2422"/>
                </a:solidFill>
                <a:latin typeface="Arial" pitchFamily="34" charset="0"/>
                <a:ea typeface="Arial" pitchFamily="34" charset="-122"/>
                <a:cs typeface="Arial" pitchFamily="34" charset="-120"/>
              </a:rPr>
              <a:t>Locked in for students and alumni.</a:t>
            </a:r>
            <a:endParaRPr lang="en-US" sz="1500" dirty="0"/>
          </a:p>
        </p:txBody>
      </p:sp>
      <p:sp>
        <p:nvSpPr>
          <p:cNvPr id="11" name="Shape 8"/>
          <p:cNvSpPr/>
          <p:nvPr/>
        </p:nvSpPr>
        <p:spPr>
          <a:xfrm>
            <a:off x="914400" y="3611880"/>
            <a:ext cx="384048" cy="384048"/>
          </a:xfrm>
          <a:prstGeom prst="ellipse">
            <a:avLst/>
          </a:prstGeom>
          <a:solidFill>
            <a:srgbClr val="14302A"/>
          </a:solidFill>
          <a:ln w="12700">
            <a:solidFill>
              <a:srgbClr val="14302A"/>
            </a:solidFill>
            <a:prstDash val="solid"/>
          </a:ln>
        </p:spPr>
      </p:sp>
      <p:sp>
        <p:nvSpPr>
          <p:cNvPr id="12" name="Text 9"/>
          <p:cNvSpPr txBox="1"/>
          <p:nvPr/>
        </p:nvSpPr>
        <p:spPr>
          <a:xfrm>
            <a:off x="914400" y="36118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2</a:t>
            </a:r>
            <a:endParaRPr lang="en-US" sz="1200" dirty="0"/>
          </a:p>
        </p:txBody>
      </p:sp>
      <p:sp>
        <p:nvSpPr>
          <p:cNvPr id="13" name="Text 10"/>
          <p:cNvSpPr txBox="1"/>
          <p:nvPr/>
        </p:nvSpPr>
        <p:spPr>
          <a:xfrm>
            <a:off x="1463040" y="3566160"/>
            <a:ext cx="5486400" cy="347472"/>
          </a:xfrm>
          <a:prstGeom prst="rect">
            <a:avLst/>
          </a:prstGeom>
          <a:noFill/>
          <a:ln/>
        </p:spPr>
        <p:txBody>
          <a:bodyPr wrap="square" lIns="0" tIns="0" rIns="0" bIns="0" rtlCol="0" anchor="t"/>
          <a:lstStyle/>
          <a:p>
            <a:pPr indent="0" marL="0">
              <a:buNone/>
            </a:pPr>
            <a:r>
              <a:rPr lang="en-US" sz="1800" b="1" dirty="0">
                <a:solidFill>
                  <a:srgbClr val="14302A"/>
                </a:solidFill>
                <a:latin typeface="Arial" pitchFamily="34" charset="0"/>
                <a:ea typeface="Arial" pitchFamily="34" charset="-122"/>
                <a:cs typeface="Arial" pitchFamily="34" charset="-120"/>
              </a:rPr>
              <a:t>A free pilot for 5 students</a:t>
            </a:r>
            <a:endParaRPr lang="en-US" sz="1800" dirty="0"/>
          </a:p>
        </p:txBody>
      </p:sp>
      <p:sp>
        <p:nvSpPr>
          <p:cNvPr id="14" name="Text 11"/>
          <p:cNvSpPr txBox="1"/>
          <p:nvPr/>
        </p:nvSpPr>
        <p:spPr>
          <a:xfrm>
            <a:off x="1463040" y="3913632"/>
            <a:ext cx="5486400" cy="320040"/>
          </a:xfrm>
          <a:prstGeom prst="rect">
            <a:avLst/>
          </a:prstGeom>
          <a:noFill/>
          <a:ln/>
        </p:spPr>
        <p:txBody>
          <a:bodyPr wrap="square" lIns="0" tIns="0" rIns="0" bIns="0" rtlCol="0" anchor="t"/>
          <a:lstStyle/>
          <a:p>
            <a:pPr indent="0" marL="0">
              <a:buNone/>
            </a:pPr>
            <a:r>
              <a:rPr lang="en-US" sz="1500" dirty="0">
                <a:solidFill>
                  <a:srgbClr val="1E2422"/>
                </a:solidFill>
                <a:latin typeface="Arial" pitchFamily="34" charset="0"/>
                <a:ea typeface="Arial" pitchFamily="34" charset="-122"/>
                <a:cs typeface="Arial" pitchFamily="34" charset="-120"/>
              </a:rPr>
              <a:t>Chosen by the club, at no cost.</a:t>
            </a:r>
            <a:endParaRPr lang="en-US" sz="1500" dirty="0"/>
          </a:p>
        </p:txBody>
      </p:sp>
      <p:sp>
        <p:nvSpPr>
          <p:cNvPr id="15" name="Shape 12"/>
          <p:cNvSpPr/>
          <p:nvPr/>
        </p:nvSpPr>
        <p:spPr>
          <a:xfrm>
            <a:off x="914400" y="4389120"/>
            <a:ext cx="384048" cy="384048"/>
          </a:xfrm>
          <a:prstGeom prst="ellipse">
            <a:avLst/>
          </a:prstGeom>
          <a:solidFill>
            <a:srgbClr val="14302A"/>
          </a:solidFill>
          <a:ln w="12700">
            <a:solidFill>
              <a:srgbClr val="14302A"/>
            </a:solidFill>
            <a:prstDash val="solid"/>
          </a:ln>
        </p:spPr>
      </p:sp>
      <p:sp>
        <p:nvSpPr>
          <p:cNvPr id="16" name="Text 13"/>
          <p:cNvSpPr txBox="1"/>
          <p:nvPr/>
        </p:nvSpPr>
        <p:spPr>
          <a:xfrm>
            <a:off x="914400" y="43891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3</a:t>
            </a:r>
            <a:endParaRPr lang="en-US" sz="1200" dirty="0"/>
          </a:p>
        </p:txBody>
      </p:sp>
      <p:sp>
        <p:nvSpPr>
          <p:cNvPr id="17" name="Text 14"/>
          <p:cNvSpPr txBox="1"/>
          <p:nvPr/>
        </p:nvSpPr>
        <p:spPr>
          <a:xfrm>
            <a:off x="1463040" y="4343400"/>
            <a:ext cx="5486400" cy="347472"/>
          </a:xfrm>
          <a:prstGeom prst="rect">
            <a:avLst/>
          </a:prstGeom>
          <a:noFill/>
          <a:ln/>
        </p:spPr>
        <p:txBody>
          <a:bodyPr wrap="square" lIns="0" tIns="0" rIns="0" bIns="0" rtlCol="0" anchor="t"/>
          <a:lstStyle/>
          <a:p>
            <a:pPr indent="0" marL="0">
              <a:buNone/>
            </a:pPr>
            <a:r>
              <a:rPr lang="en-US" sz="1800" b="1" dirty="0">
                <a:solidFill>
                  <a:srgbClr val="14302A"/>
                </a:solidFill>
                <a:latin typeface="Arial" pitchFamily="34" charset="0"/>
                <a:ea typeface="Arial" pitchFamily="34" charset="-122"/>
                <a:cs typeface="Arial" pitchFamily="34" charset="-120"/>
              </a:rPr>
              <a:t>A results summary to share</a:t>
            </a:r>
            <a:endParaRPr lang="en-US" sz="1800" dirty="0"/>
          </a:p>
        </p:txBody>
      </p:sp>
      <p:sp>
        <p:nvSpPr>
          <p:cNvPr id="18" name="Text 15"/>
          <p:cNvSpPr txBox="1"/>
          <p:nvPr/>
        </p:nvSpPr>
        <p:spPr>
          <a:xfrm>
            <a:off x="1463040" y="4690872"/>
            <a:ext cx="5486400" cy="320040"/>
          </a:xfrm>
          <a:prstGeom prst="rect">
            <a:avLst/>
          </a:prstGeom>
          <a:noFill/>
          <a:ln/>
        </p:spPr>
        <p:txBody>
          <a:bodyPr wrap="square" lIns="0" tIns="0" rIns="0" bIns="0" rtlCol="0" anchor="t"/>
          <a:lstStyle/>
          <a:p>
            <a:pPr indent="0" marL="0">
              <a:buNone/>
            </a:pPr>
            <a:r>
              <a:rPr lang="en-US" sz="1500" dirty="0">
                <a:solidFill>
                  <a:srgbClr val="1E2422"/>
                </a:solidFill>
                <a:latin typeface="Arial" pitchFamily="34" charset="0"/>
                <a:ea typeface="Arial" pitchFamily="34" charset="-122"/>
                <a:cs typeface="Arial" pitchFamily="34" charset="-120"/>
              </a:rPr>
              <a:t>Honest numbers the club can show the batch.</a:t>
            </a:r>
            <a:endParaRPr lang="en-US" sz="1500" dirty="0"/>
          </a:p>
        </p:txBody>
      </p:sp>
      <p:sp>
        <p:nvSpPr>
          <p:cNvPr id="19" name="Shape 16"/>
          <p:cNvSpPr/>
          <p:nvPr/>
        </p:nvSpPr>
        <p:spPr>
          <a:xfrm>
            <a:off x="914400" y="5166360"/>
            <a:ext cx="384048" cy="384048"/>
          </a:xfrm>
          <a:prstGeom prst="ellipse">
            <a:avLst/>
          </a:prstGeom>
          <a:solidFill>
            <a:srgbClr val="14302A"/>
          </a:solidFill>
          <a:ln w="12700">
            <a:solidFill>
              <a:srgbClr val="14302A"/>
            </a:solidFill>
            <a:prstDash val="solid"/>
          </a:ln>
        </p:spPr>
      </p:sp>
      <p:sp>
        <p:nvSpPr>
          <p:cNvPr id="20" name="Text 17"/>
          <p:cNvSpPr txBox="1"/>
          <p:nvPr/>
        </p:nvSpPr>
        <p:spPr>
          <a:xfrm>
            <a:off x="914400" y="51663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4</a:t>
            </a:r>
            <a:endParaRPr lang="en-US" sz="1200" dirty="0"/>
          </a:p>
        </p:txBody>
      </p:sp>
      <p:sp>
        <p:nvSpPr>
          <p:cNvPr id="21" name="Text 18"/>
          <p:cNvSpPr txBox="1"/>
          <p:nvPr/>
        </p:nvSpPr>
        <p:spPr>
          <a:xfrm>
            <a:off x="1463040" y="5120640"/>
            <a:ext cx="5486400" cy="347472"/>
          </a:xfrm>
          <a:prstGeom prst="rect">
            <a:avLst/>
          </a:prstGeom>
          <a:noFill/>
          <a:ln/>
        </p:spPr>
        <p:txBody>
          <a:bodyPr wrap="square" lIns="0" tIns="0" rIns="0" bIns="0" rtlCol="0" anchor="t"/>
          <a:lstStyle/>
          <a:p>
            <a:pPr indent="0" marL="0">
              <a:buNone/>
            </a:pPr>
            <a:r>
              <a:rPr lang="en-US" sz="1800" b="1" dirty="0">
                <a:solidFill>
                  <a:srgbClr val="14302A"/>
                </a:solidFill>
                <a:latin typeface="Arial" pitchFamily="34" charset="0"/>
                <a:ea typeface="Arial" pitchFamily="34" charset="-122"/>
                <a:cs typeface="Arial" pitchFamily="34" charset="-120"/>
              </a:rPr>
              <a:t>A co-hosted session</a:t>
            </a:r>
            <a:endParaRPr lang="en-US" sz="1800" dirty="0"/>
          </a:p>
        </p:txBody>
      </p:sp>
      <p:sp>
        <p:nvSpPr>
          <p:cNvPr id="22" name="Text 19"/>
          <p:cNvSpPr txBox="1"/>
          <p:nvPr/>
        </p:nvSpPr>
        <p:spPr>
          <a:xfrm>
            <a:off x="1463040" y="5468112"/>
            <a:ext cx="5486400" cy="320040"/>
          </a:xfrm>
          <a:prstGeom prst="rect">
            <a:avLst/>
          </a:prstGeom>
          <a:noFill/>
          <a:ln/>
        </p:spPr>
        <p:txBody>
          <a:bodyPr wrap="square" lIns="0" tIns="0" rIns="0" bIns="0" rtlCol="0" anchor="t"/>
          <a:lstStyle/>
          <a:p>
            <a:pPr indent="0" marL="0">
              <a:buNone/>
            </a:pPr>
            <a:r>
              <a:rPr lang="en-US" sz="1500" dirty="0">
                <a:solidFill>
                  <a:srgbClr val="1E2422"/>
                </a:solidFill>
                <a:latin typeface="Arial" pitchFamily="34" charset="0"/>
                <a:ea typeface="Arial" pitchFamily="34" charset="-122"/>
                <a:cs typeface="Arial" pitchFamily="34" charset="-120"/>
              </a:rPr>
              <a:t>On running an outbound job search well.</a:t>
            </a:r>
            <a:endParaRPr lang="en-US" sz="1500" dirty="0"/>
          </a:p>
        </p:txBody>
      </p:sp>
      <p:sp>
        <p:nvSpPr>
          <p:cNvPr id="23" name="Shape 20"/>
          <p:cNvSpPr/>
          <p:nvPr/>
        </p:nvSpPr>
        <p:spPr>
          <a:xfrm>
            <a:off x="7589520" y="2011680"/>
            <a:ext cx="4053535" cy="4023360"/>
          </a:xfrm>
          <a:prstGeom prst="roundRect">
            <a:avLst>
              <a:gd name="adj" fmla="val 1818"/>
            </a:avLst>
          </a:prstGeom>
          <a:solidFill>
            <a:srgbClr val="14302A"/>
          </a:solidFill>
          <a:ln w="12700">
            <a:solidFill>
              <a:srgbClr val="14302A"/>
            </a:solidFill>
            <a:prstDash val="solid"/>
          </a:ln>
        </p:spPr>
      </p:sp>
      <p:sp>
        <p:nvSpPr>
          <p:cNvPr id="24" name="Text 21"/>
          <p:cNvSpPr txBox="1"/>
          <p:nvPr/>
        </p:nvSpPr>
        <p:spPr>
          <a:xfrm>
            <a:off x="7955280" y="2286000"/>
            <a:ext cx="3322015" cy="320040"/>
          </a:xfrm>
          <a:prstGeom prst="rect">
            <a:avLst/>
          </a:prstGeom>
          <a:noFill/>
          <a:ln/>
        </p:spPr>
        <p:txBody>
          <a:bodyPr wrap="square" lIns="0" tIns="0" rIns="0" bIns="0" rtlCol="0" anchor="t"/>
          <a:lstStyle/>
          <a:p>
            <a:pPr indent="0" marL="0">
              <a:buNone/>
            </a:pPr>
            <a:r>
              <a:rPr lang="en-US" sz="1300" b="1" spc="300" kern="0" dirty="0">
                <a:solidFill>
                  <a:srgbClr val="E6D3B0"/>
                </a:solidFill>
                <a:latin typeface="Arial" pitchFamily="34" charset="0"/>
                <a:ea typeface="Arial" pitchFamily="34" charset="-122"/>
                <a:cs typeface="Arial" pitchFamily="34" charset="-120"/>
              </a:rPr>
              <a:t>WHAT KNOCK ASKS</a:t>
            </a:r>
            <a:endParaRPr lang="en-US" sz="1300" dirty="0"/>
          </a:p>
        </p:txBody>
      </p:sp>
      <p:sp>
        <p:nvSpPr>
          <p:cNvPr id="25" name="Text 22"/>
          <p:cNvSpPr txBox="1"/>
          <p:nvPr/>
        </p:nvSpPr>
        <p:spPr>
          <a:xfrm>
            <a:off x="7955280" y="2788920"/>
            <a:ext cx="3322015" cy="384048"/>
          </a:xfrm>
          <a:prstGeom prst="rect">
            <a:avLst/>
          </a:prstGeom>
          <a:noFill/>
          <a:ln/>
        </p:spPr>
        <p:txBody>
          <a:bodyPr wrap="square" lIns="0" tIns="0" rIns="0" bIns="0" rtlCol="0" anchor="t"/>
          <a:lstStyle/>
          <a:p>
            <a:pPr indent="0" marL="0">
              <a:buNone/>
            </a:pPr>
            <a:r>
              <a:rPr lang="en-US" sz="2200" b="1" dirty="0">
                <a:solidFill>
                  <a:srgbClr val="FFFFFF"/>
                </a:solidFill>
                <a:latin typeface="Georgia" pitchFamily="34" charset="0"/>
                <a:ea typeface="Georgia" pitchFamily="34" charset="-122"/>
                <a:cs typeface="Georgia" pitchFamily="34" charset="-120"/>
              </a:rPr>
              <a:t>One announcement</a:t>
            </a:r>
            <a:endParaRPr lang="en-US" sz="2200" dirty="0"/>
          </a:p>
        </p:txBody>
      </p:sp>
      <p:sp>
        <p:nvSpPr>
          <p:cNvPr id="26" name="Text 23"/>
          <p:cNvSpPr txBox="1"/>
          <p:nvPr/>
        </p:nvSpPr>
        <p:spPr>
          <a:xfrm>
            <a:off x="7955280" y="3200400"/>
            <a:ext cx="3322015" cy="640080"/>
          </a:xfrm>
          <a:prstGeom prst="rect">
            <a:avLst/>
          </a:prstGeom>
          <a:noFill/>
          <a:ln/>
        </p:spPr>
        <p:txBody>
          <a:bodyPr wrap="square" lIns="0" tIns="0" rIns="0" bIns="0" rtlCol="0" anchor="t"/>
          <a:lstStyle/>
          <a:p>
            <a:pPr indent="0" marL="0">
              <a:buNone/>
            </a:pPr>
            <a:r>
              <a:rPr lang="en-US" sz="1500" dirty="0">
                <a:solidFill>
                  <a:srgbClr val="C9D6D0"/>
                </a:solidFill>
                <a:latin typeface="Arial" pitchFamily="34" charset="0"/>
                <a:ea typeface="Arial" pitchFamily="34" charset="-122"/>
                <a:cs typeface="Arial" pitchFamily="34" charset="-120"/>
              </a:rPr>
              <a:t>To the batch, in the club's own words.</a:t>
            </a:r>
            <a:endParaRPr lang="en-US" sz="1500" dirty="0"/>
          </a:p>
        </p:txBody>
      </p:sp>
      <p:sp>
        <p:nvSpPr>
          <p:cNvPr id="27" name="Text 24"/>
          <p:cNvSpPr txBox="1"/>
          <p:nvPr/>
        </p:nvSpPr>
        <p:spPr>
          <a:xfrm>
            <a:off x="7955280" y="3977640"/>
            <a:ext cx="3322015" cy="384048"/>
          </a:xfrm>
          <a:prstGeom prst="rect">
            <a:avLst/>
          </a:prstGeom>
          <a:noFill/>
          <a:ln/>
        </p:spPr>
        <p:txBody>
          <a:bodyPr wrap="square" lIns="0" tIns="0" rIns="0" bIns="0" rtlCol="0" anchor="t"/>
          <a:lstStyle/>
          <a:p>
            <a:pPr indent="0" marL="0">
              <a:buNone/>
            </a:pPr>
            <a:r>
              <a:rPr lang="en-US" sz="2200" b="1" dirty="0">
                <a:solidFill>
                  <a:srgbClr val="FFFFFF"/>
                </a:solidFill>
                <a:latin typeface="Georgia" pitchFamily="34" charset="0"/>
                <a:ea typeface="Georgia" pitchFamily="34" charset="-122"/>
                <a:cs typeface="Georgia" pitchFamily="34" charset="-120"/>
              </a:rPr>
              <a:t>One feedback call</a:t>
            </a:r>
            <a:endParaRPr lang="en-US" sz="2200" dirty="0"/>
          </a:p>
        </p:txBody>
      </p:sp>
      <p:sp>
        <p:nvSpPr>
          <p:cNvPr id="28" name="Text 25"/>
          <p:cNvSpPr txBox="1"/>
          <p:nvPr/>
        </p:nvSpPr>
        <p:spPr>
          <a:xfrm>
            <a:off x="7955280" y="4389120"/>
            <a:ext cx="3322015" cy="640080"/>
          </a:xfrm>
          <a:prstGeom prst="rect">
            <a:avLst/>
          </a:prstGeom>
          <a:noFill/>
          <a:ln/>
        </p:spPr>
        <p:txBody>
          <a:bodyPr wrap="square" lIns="0" tIns="0" rIns="0" bIns="0" rtlCol="0" anchor="t"/>
          <a:lstStyle/>
          <a:p>
            <a:pPr indent="0" marL="0">
              <a:buNone/>
            </a:pPr>
            <a:r>
              <a:rPr lang="en-US" sz="1500" dirty="0">
                <a:solidFill>
                  <a:srgbClr val="C9D6D0"/>
                </a:solidFill>
                <a:latin typeface="Arial" pitchFamily="34" charset="0"/>
                <a:ea typeface="Arial" pitchFamily="34" charset="-122"/>
                <a:cs typeface="Arial" pitchFamily="34" charset="-120"/>
              </a:rPr>
              <a:t>After the pilot, to hear what worked and what did not.</a:t>
            </a:r>
            <a:endParaRPr lang="en-US" sz="1500" dirty="0"/>
          </a:p>
        </p:txBody>
      </p:sp>
      <p:sp>
        <p:nvSpPr>
          <p:cNvPr id="29" name="Text 26"/>
          <p:cNvSpPr txBox="1"/>
          <p:nvPr/>
        </p:nvSpPr>
        <p:spPr>
          <a:xfrm>
            <a:off x="7955280" y="5303520"/>
            <a:ext cx="3322015" cy="457200"/>
          </a:xfrm>
          <a:prstGeom prst="rect">
            <a:avLst/>
          </a:prstGeom>
          <a:noFill/>
          <a:ln/>
        </p:spPr>
        <p:txBody>
          <a:bodyPr wrap="square" lIns="0" tIns="0" rIns="0" bIns="0" rtlCol="0" anchor="t"/>
          <a:lstStyle/>
          <a:p>
            <a:pPr indent="0" marL="0">
              <a:buNone/>
            </a:pPr>
            <a:r>
              <a:rPr lang="en-US" sz="1400" i="1" dirty="0">
                <a:solidFill>
                  <a:srgbClr val="E6D3B0"/>
                </a:solidFill>
                <a:latin typeface="Arial" pitchFamily="34" charset="0"/>
                <a:ea typeface="Arial" pitchFamily="34" charset="-122"/>
                <a:cs typeface="Arial" pitchFamily="34" charset="-120"/>
              </a:rPr>
              <a:t>Nothing else. No batch data, no mailing lists.</a:t>
            </a:r>
            <a:endParaRPr lang="en-US" sz="14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6C"/>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spc="300" kern="0" dirty="0">
                <a:solidFill>
                  <a:srgbClr val="A9772F"/>
                </a:solidFill>
                <a:latin typeface="Arial" pitchFamily="34" charset="0"/>
                <a:ea typeface="Arial" pitchFamily="34" charset="-122"/>
                <a:cs typeface="Arial" pitchFamily="34" charset="-120"/>
              </a:rPr>
              <a:t>HOW WE MEASURE SUCCESS</a:t>
            </a:r>
            <a:endParaRPr lang="en-US" sz="1100" dirty="0"/>
          </a:p>
        </p:txBody>
      </p:sp>
      <p:sp>
        <p:nvSpPr>
          <p:cNvPr id="3" name="Text 1"/>
          <p:cNvSpPr/>
          <p:nvPr>
            <p:ph idx="102" type="title" hasCustomPrompt="1"/>
          </p:nvPr>
        </p:nvSpPr>
        <p:spPr>
          <a:xfrm>
            <a:off x="548640" y="658368"/>
            <a:ext cx="11094415" cy="960120"/>
          </a:xfrm>
          <a:prstGeom prst="rect">
            <a:avLst/>
          </a:prstGeom>
          <a:noFill/>
          <a:ln/>
        </p:spPr>
        <p:txBody>
          <a:bodyPr wrap="square" lIns="0" tIns="0" rIns="0" bIns="0" rtlCol="0" anchor="t"/>
          <a:lstStyle/>
          <a:p>
            <a:pPr algn="l" indent="0" marL="0">
              <a:buNone/>
            </a:pPr>
            <a:r>
              <a:rPr lang="en-US" sz="2800" dirty="0">
                <a:solidFill>
                  <a:srgbClr val="14302A"/>
                </a:solidFill>
                <a:latin typeface="Georgia" pitchFamily="34" charset="0"/>
                <a:ea typeface="Georgia" pitchFamily="34" charset="-122"/>
                <a:cs typeface="Georgia" pitchFamily="34" charset="-120"/>
              </a:rPr>
              <a:t>We will judge the pilot by one honest number: interviews per 100 people contacted</a:t>
            </a:r>
            <a:endParaRPr lang="en-US" sz="2800" dirty="0"/>
          </a:p>
        </p:txBody>
      </p:sp>
      <p:sp>
        <p:nvSpPr>
          <p:cNvPr id="5" name="Shape 2"/>
          <p:cNvSpPr/>
          <p:nvPr/>
        </p:nvSpPr>
        <p:spPr>
          <a:xfrm>
            <a:off x="548640" y="2148840"/>
            <a:ext cx="2377440" cy="1188720"/>
          </a:xfrm>
          <a:prstGeom prst="roundRect">
            <a:avLst>
              <a:gd name="adj" fmla="val 6154"/>
            </a:avLst>
          </a:prstGeom>
          <a:solidFill>
            <a:srgbClr val="14302A"/>
          </a:solidFill>
          <a:ln w="12700">
            <a:solidFill>
              <a:srgbClr val="14302A"/>
            </a:solidFill>
            <a:prstDash val="solid"/>
          </a:ln>
        </p:spPr>
      </p:sp>
      <p:sp>
        <p:nvSpPr>
          <p:cNvPr id="6" name="Text 3"/>
          <p:cNvSpPr txBox="1"/>
          <p:nvPr/>
        </p:nvSpPr>
        <p:spPr>
          <a:xfrm>
            <a:off x="548640" y="2148840"/>
            <a:ext cx="2377440" cy="118872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Interviews</a:t>
            </a:r>
            <a:endParaRPr lang="en-US" sz="2600" dirty="0"/>
          </a:p>
        </p:txBody>
      </p:sp>
      <p:sp>
        <p:nvSpPr>
          <p:cNvPr id="7" name="Text 4"/>
          <p:cNvSpPr txBox="1"/>
          <p:nvPr/>
        </p:nvSpPr>
        <p:spPr>
          <a:xfrm>
            <a:off x="2926080" y="2148840"/>
            <a:ext cx="731520" cy="1188720"/>
          </a:xfrm>
          <a:prstGeom prst="rect">
            <a:avLst/>
          </a:prstGeom>
          <a:noFill/>
          <a:ln/>
        </p:spPr>
        <p:txBody>
          <a:bodyPr wrap="square" lIns="0" tIns="0" rIns="0" bIns="0" rtlCol="0" anchor="ctr"/>
          <a:lstStyle/>
          <a:p>
            <a:pPr algn="ctr" indent="0" marL="0">
              <a:buNone/>
            </a:pPr>
            <a:r>
              <a:rPr lang="en-US" sz="3400" dirty="0">
                <a:solidFill>
                  <a:srgbClr val="A9772F"/>
                </a:solidFill>
                <a:latin typeface="Georgia" pitchFamily="34" charset="0"/>
                <a:ea typeface="Georgia" pitchFamily="34" charset="-122"/>
                <a:cs typeface="Georgia" pitchFamily="34" charset="-120"/>
              </a:rPr>
              <a:t>÷</a:t>
            </a:r>
            <a:endParaRPr lang="en-US" sz="3400" dirty="0"/>
          </a:p>
        </p:txBody>
      </p:sp>
      <p:sp>
        <p:nvSpPr>
          <p:cNvPr id="8" name="Shape 5"/>
          <p:cNvSpPr/>
          <p:nvPr/>
        </p:nvSpPr>
        <p:spPr>
          <a:xfrm>
            <a:off x="3657600" y="2148840"/>
            <a:ext cx="2743200" cy="1188720"/>
          </a:xfrm>
          <a:prstGeom prst="roundRect">
            <a:avLst>
              <a:gd name="adj" fmla="val 6154"/>
            </a:avLst>
          </a:prstGeom>
          <a:solidFill>
            <a:srgbClr val="EEF2EF"/>
          </a:solidFill>
          <a:ln w="12700">
            <a:solidFill>
              <a:srgbClr val="D3D9D6"/>
            </a:solidFill>
            <a:prstDash val="solid"/>
          </a:ln>
        </p:spPr>
      </p:sp>
      <p:sp>
        <p:nvSpPr>
          <p:cNvPr id="9" name="Text 6"/>
          <p:cNvSpPr txBox="1"/>
          <p:nvPr/>
        </p:nvSpPr>
        <p:spPr>
          <a:xfrm>
            <a:off x="3657600" y="2148840"/>
            <a:ext cx="2743200" cy="1188720"/>
          </a:xfrm>
          <a:prstGeom prst="rect">
            <a:avLst/>
          </a:prstGeom>
          <a:noFill/>
          <a:ln/>
        </p:spPr>
        <p:txBody>
          <a:bodyPr wrap="square" lIns="0" tIns="0" rIns="0" bIns="0" rtlCol="0" anchor="ctr"/>
          <a:lstStyle/>
          <a:p>
            <a:pPr algn="ctr" indent="0" marL="0">
              <a:buNone/>
            </a:pPr>
            <a:r>
              <a:rPr lang="en-US" sz="2600" b="1" dirty="0">
                <a:solidFill>
                  <a:srgbClr val="14302A"/>
                </a:solidFill>
                <a:latin typeface="Georgia" pitchFamily="34" charset="0"/>
                <a:ea typeface="Georgia" pitchFamily="34" charset="-122"/>
                <a:cs typeface="Georgia" pitchFamily="34" charset="-120"/>
              </a:rPr>
              <a:t>People contacted</a:t>
            </a:r>
            <a:endParaRPr lang="en-US" sz="2600" dirty="0"/>
          </a:p>
        </p:txBody>
      </p:sp>
      <p:sp>
        <p:nvSpPr>
          <p:cNvPr id="10" name="Text 7"/>
          <p:cNvSpPr txBox="1"/>
          <p:nvPr/>
        </p:nvSpPr>
        <p:spPr>
          <a:xfrm>
            <a:off x="6400800" y="2148840"/>
            <a:ext cx="731520" cy="1188720"/>
          </a:xfrm>
          <a:prstGeom prst="rect">
            <a:avLst/>
          </a:prstGeom>
          <a:noFill/>
          <a:ln/>
        </p:spPr>
        <p:txBody>
          <a:bodyPr wrap="square" lIns="0" tIns="0" rIns="0" bIns="0" rtlCol="0" anchor="ctr"/>
          <a:lstStyle/>
          <a:p>
            <a:pPr algn="ctr" indent="0" marL="0">
              <a:buNone/>
            </a:pPr>
            <a:r>
              <a:rPr lang="en-US" sz="3400" dirty="0">
                <a:solidFill>
                  <a:srgbClr val="A9772F"/>
                </a:solidFill>
                <a:latin typeface="Georgia" pitchFamily="34" charset="0"/>
                <a:ea typeface="Georgia" pitchFamily="34" charset="-122"/>
                <a:cs typeface="Georgia" pitchFamily="34" charset="-120"/>
              </a:rPr>
              <a:t>×</a:t>
            </a:r>
            <a:endParaRPr lang="en-US" sz="3400" dirty="0"/>
          </a:p>
        </p:txBody>
      </p:sp>
      <p:sp>
        <p:nvSpPr>
          <p:cNvPr id="11" name="Shape 8"/>
          <p:cNvSpPr/>
          <p:nvPr/>
        </p:nvSpPr>
        <p:spPr>
          <a:xfrm>
            <a:off x="7132320" y="2148840"/>
            <a:ext cx="1280160" cy="1188720"/>
          </a:xfrm>
          <a:prstGeom prst="roundRect">
            <a:avLst>
              <a:gd name="adj" fmla="val 6154"/>
            </a:avLst>
          </a:prstGeom>
          <a:solidFill>
            <a:srgbClr val="EEF2EF"/>
          </a:solidFill>
          <a:ln w="12700">
            <a:solidFill>
              <a:srgbClr val="D3D9D6"/>
            </a:solidFill>
            <a:prstDash val="solid"/>
          </a:ln>
        </p:spPr>
      </p:sp>
      <p:sp>
        <p:nvSpPr>
          <p:cNvPr id="12" name="Text 9"/>
          <p:cNvSpPr txBox="1"/>
          <p:nvPr/>
        </p:nvSpPr>
        <p:spPr>
          <a:xfrm>
            <a:off x="7132320" y="2148840"/>
            <a:ext cx="1280160" cy="1188720"/>
          </a:xfrm>
          <a:prstGeom prst="rect">
            <a:avLst/>
          </a:prstGeom>
          <a:noFill/>
          <a:ln/>
        </p:spPr>
        <p:txBody>
          <a:bodyPr wrap="square" lIns="0" tIns="0" rIns="0" bIns="0" rtlCol="0" anchor="ctr"/>
          <a:lstStyle/>
          <a:p>
            <a:pPr algn="ctr" indent="0" marL="0">
              <a:buNone/>
            </a:pPr>
            <a:r>
              <a:rPr lang="en-US" sz="2600" b="1" dirty="0">
                <a:solidFill>
                  <a:srgbClr val="14302A"/>
                </a:solidFill>
                <a:latin typeface="Georgia" pitchFamily="34" charset="0"/>
                <a:ea typeface="Georgia" pitchFamily="34" charset="-122"/>
                <a:cs typeface="Georgia" pitchFamily="34" charset="-120"/>
              </a:rPr>
              <a:t>100</a:t>
            </a:r>
            <a:endParaRPr lang="en-US" sz="2600" dirty="0"/>
          </a:p>
        </p:txBody>
      </p:sp>
      <p:sp>
        <p:nvSpPr>
          <p:cNvPr id="13" name="Text 10"/>
          <p:cNvSpPr txBox="1"/>
          <p:nvPr/>
        </p:nvSpPr>
        <p:spPr>
          <a:xfrm>
            <a:off x="8412480" y="2148840"/>
            <a:ext cx="731520" cy="1188720"/>
          </a:xfrm>
          <a:prstGeom prst="rect">
            <a:avLst/>
          </a:prstGeom>
          <a:noFill/>
          <a:ln/>
        </p:spPr>
        <p:txBody>
          <a:bodyPr wrap="square" lIns="0" tIns="0" rIns="0" bIns="0" rtlCol="0" anchor="ctr"/>
          <a:lstStyle/>
          <a:p>
            <a:pPr algn="ctr" indent="0" marL="0">
              <a:buNone/>
            </a:pPr>
            <a:r>
              <a:rPr lang="en-US" sz="3400" dirty="0">
                <a:solidFill>
                  <a:srgbClr val="A9772F"/>
                </a:solidFill>
                <a:latin typeface="Georgia" pitchFamily="34" charset="0"/>
                <a:ea typeface="Georgia" pitchFamily="34" charset="-122"/>
                <a:cs typeface="Georgia" pitchFamily="34" charset="-120"/>
              </a:rPr>
              <a:t>=</a:t>
            </a:r>
            <a:endParaRPr lang="en-US" sz="3400" dirty="0"/>
          </a:p>
        </p:txBody>
      </p:sp>
      <p:sp>
        <p:nvSpPr>
          <p:cNvPr id="14" name="Shape 11"/>
          <p:cNvSpPr/>
          <p:nvPr/>
        </p:nvSpPr>
        <p:spPr>
          <a:xfrm>
            <a:off x="9144000" y="2148840"/>
            <a:ext cx="2499055" cy="1188720"/>
          </a:xfrm>
          <a:prstGeom prst="roundRect">
            <a:avLst>
              <a:gd name="adj" fmla="val 6154"/>
            </a:avLst>
          </a:prstGeom>
          <a:solidFill>
            <a:srgbClr val="A9772F"/>
          </a:solidFill>
          <a:ln w="12700">
            <a:solidFill>
              <a:srgbClr val="A9772F"/>
            </a:solidFill>
            <a:prstDash val="solid"/>
          </a:ln>
        </p:spPr>
      </p:sp>
      <p:sp>
        <p:nvSpPr>
          <p:cNvPr id="15" name="Text 12"/>
          <p:cNvSpPr txBox="1"/>
          <p:nvPr/>
        </p:nvSpPr>
        <p:spPr>
          <a:xfrm>
            <a:off x="9326880" y="2148840"/>
            <a:ext cx="2133295" cy="11887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The one number we report</a:t>
            </a:r>
            <a:endParaRPr lang="en-US" sz="1700" dirty="0"/>
          </a:p>
        </p:txBody>
      </p:sp>
      <p:sp>
        <p:nvSpPr>
          <p:cNvPr id="16" name="Shape 13"/>
          <p:cNvSpPr/>
          <p:nvPr/>
        </p:nvSpPr>
        <p:spPr>
          <a:xfrm>
            <a:off x="548640" y="3794760"/>
            <a:ext cx="5410048" cy="1417320"/>
          </a:xfrm>
          <a:prstGeom prst="roundRect">
            <a:avLst>
              <a:gd name="adj" fmla="val 5161"/>
            </a:avLst>
          </a:prstGeom>
          <a:solidFill>
            <a:srgbClr val="FFFFFF"/>
          </a:solidFill>
          <a:ln w="12700">
            <a:solidFill>
              <a:srgbClr val="D3D9D6"/>
            </a:solidFill>
            <a:prstDash val="solid"/>
          </a:ln>
        </p:spPr>
      </p:sp>
      <p:sp>
        <p:nvSpPr>
          <p:cNvPr id="17" name="Text 14"/>
          <p:cNvSpPr txBox="1"/>
          <p:nvPr/>
        </p:nvSpPr>
        <p:spPr>
          <a:xfrm>
            <a:off x="868680" y="4023360"/>
            <a:ext cx="4769968" cy="365760"/>
          </a:xfrm>
          <a:prstGeom prst="rect">
            <a:avLst/>
          </a:prstGeom>
          <a:noFill/>
          <a:ln/>
        </p:spPr>
        <p:txBody>
          <a:bodyPr wrap="square" lIns="0" tIns="0" rIns="0" bIns="0" rtlCol="0" anchor="t"/>
          <a:lstStyle/>
          <a:p>
            <a:pPr indent="0" marL="0">
              <a:buNone/>
            </a:pPr>
            <a:r>
              <a:rPr lang="en-US" sz="1900" b="1" dirty="0">
                <a:solidFill>
                  <a:srgbClr val="14302A"/>
                </a:solidFill>
                <a:latin typeface="Arial" pitchFamily="34" charset="0"/>
                <a:ea typeface="Arial" pitchFamily="34" charset="-122"/>
                <a:cs typeface="Arial" pitchFamily="34" charset="-120"/>
              </a:rPr>
              <a:t>Per student</a:t>
            </a:r>
            <a:endParaRPr lang="en-US" sz="1900" dirty="0"/>
          </a:p>
        </p:txBody>
      </p:sp>
      <p:sp>
        <p:nvSpPr>
          <p:cNvPr id="18" name="Text 15"/>
          <p:cNvSpPr txBox="1"/>
          <p:nvPr/>
        </p:nvSpPr>
        <p:spPr>
          <a:xfrm>
            <a:off x="868680" y="4434840"/>
            <a:ext cx="4769968" cy="640080"/>
          </a:xfrm>
          <a:prstGeom prst="rect">
            <a:avLst/>
          </a:prstGeom>
          <a:noFill/>
          <a:ln/>
        </p:spPr>
        <p:txBody>
          <a:bodyPr wrap="square" lIns="0" tIns="0" rIns="0" bIns="0" rtlCol="0" anchor="t"/>
          <a:lstStyle/>
          <a:p>
            <a:pPr indent="0" marL="0">
              <a:buNone/>
            </a:pPr>
            <a:r>
              <a:rPr lang="en-US" sz="1600" dirty="0">
                <a:solidFill>
                  <a:srgbClr val="1E2422"/>
                </a:solidFill>
                <a:latin typeface="Arial" pitchFamily="34" charset="0"/>
                <a:ea typeface="Arial" pitchFamily="34" charset="-122"/>
                <a:cs typeface="Arial" pitchFamily="34" charset="-120"/>
              </a:rPr>
              <a:t>Each pilot student sees their own number and the conversations behind it.</a:t>
            </a:r>
            <a:endParaRPr lang="en-US" sz="1600" dirty="0"/>
          </a:p>
        </p:txBody>
      </p:sp>
      <p:sp>
        <p:nvSpPr>
          <p:cNvPr id="19" name="Shape 16"/>
          <p:cNvSpPr/>
          <p:nvPr/>
        </p:nvSpPr>
        <p:spPr>
          <a:xfrm>
            <a:off x="6233008" y="3794760"/>
            <a:ext cx="5410048" cy="1417320"/>
          </a:xfrm>
          <a:prstGeom prst="roundRect">
            <a:avLst>
              <a:gd name="adj" fmla="val 5161"/>
            </a:avLst>
          </a:prstGeom>
          <a:solidFill>
            <a:srgbClr val="FFFFFF"/>
          </a:solidFill>
          <a:ln w="12700">
            <a:solidFill>
              <a:srgbClr val="D3D9D6"/>
            </a:solidFill>
            <a:prstDash val="solid"/>
          </a:ln>
        </p:spPr>
      </p:sp>
      <p:sp>
        <p:nvSpPr>
          <p:cNvPr id="20" name="Text 17"/>
          <p:cNvSpPr txBox="1"/>
          <p:nvPr/>
        </p:nvSpPr>
        <p:spPr>
          <a:xfrm>
            <a:off x="6553048" y="4023360"/>
            <a:ext cx="4769968" cy="365760"/>
          </a:xfrm>
          <a:prstGeom prst="rect">
            <a:avLst/>
          </a:prstGeom>
          <a:noFill/>
          <a:ln/>
        </p:spPr>
        <p:txBody>
          <a:bodyPr wrap="square" lIns="0" tIns="0" rIns="0" bIns="0" rtlCol="0" anchor="t"/>
          <a:lstStyle/>
          <a:p>
            <a:pPr indent="0" marL="0">
              <a:buNone/>
            </a:pPr>
            <a:r>
              <a:rPr lang="en-US" sz="1900" b="1" dirty="0">
                <a:solidFill>
                  <a:srgbClr val="14302A"/>
                </a:solidFill>
                <a:latin typeface="Arial" pitchFamily="34" charset="0"/>
                <a:ea typeface="Arial" pitchFamily="34" charset="-122"/>
                <a:cs typeface="Arial" pitchFamily="34" charset="-120"/>
              </a:rPr>
              <a:t>In aggregate</a:t>
            </a:r>
            <a:endParaRPr lang="en-US" sz="1900" dirty="0"/>
          </a:p>
        </p:txBody>
      </p:sp>
      <p:sp>
        <p:nvSpPr>
          <p:cNvPr id="21" name="Text 18"/>
          <p:cNvSpPr txBox="1"/>
          <p:nvPr/>
        </p:nvSpPr>
        <p:spPr>
          <a:xfrm>
            <a:off x="6553048" y="4434840"/>
            <a:ext cx="4769968" cy="640080"/>
          </a:xfrm>
          <a:prstGeom prst="rect">
            <a:avLst/>
          </a:prstGeom>
          <a:noFill/>
          <a:ln/>
        </p:spPr>
        <p:txBody>
          <a:bodyPr wrap="square" lIns="0" tIns="0" rIns="0" bIns="0" rtlCol="0" anchor="t"/>
          <a:lstStyle/>
          <a:p>
            <a:pPr indent="0" marL="0">
              <a:buNone/>
            </a:pPr>
            <a:r>
              <a:rPr lang="en-US" sz="1600" dirty="0">
                <a:solidFill>
                  <a:srgbClr val="1E2422"/>
                </a:solidFill>
                <a:latin typeface="Arial" pitchFamily="34" charset="0"/>
                <a:ea typeface="Arial" pitchFamily="34" charset="-122"/>
                <a:cs typeface="Arial" pitchFamily="34" charset="-120"/>
              </a:rPr>
              <a:t>The club gets one summary across all five students, ready to share with the batch.</a:t>
            </a:r>
            <a:endParaRPr lang="en-US" sz="1600" dirty="0"/>
          </a:p>
        </p:txBody>
      </p:sp>
      <p:sp>
        <p:nvSpPr>
          <p:cNvPr id="22" name="Text 19"/>
          <p:cNvSpPr txBox="1"/>
          <p:nvPr/>
        </p:nvSpPr>
        <p:spPr>
          <a:xfrm>
            <a:off x="548640" y="5486400"/>
            <a:ext cx="11094415" cy="411480"/>
          </a:xfrm>
          <a:prstGeom prst="rect">
            <a:avLst/>
          </a:prstGeom>
          <a:noFill/>
          <a:ln/>
        </p:spPr>
        <p:txBody>
          <a:bodyPr wrap="square" lIns="0" tIns="0" rIns="0" bIns="0" rtlCol="0" anchor="t"/>
          <a:lstStyle/>
          <a:p>
            <a:pPr indent="0" marL="0">
              <a:buNone/>
            </a:pPr>
            <a:r>
              <a:rPr lang="en-US" sz="1700" b="1" dirty="0">
                <a:solidFill>
                  <a:srgbClr val="A9772F"/>
                </a:solidFill>
                <a:latin typeface="Arial" pitchFamily="34" charset="0"/>
                <a:ea typeface="Arial" pitchFamily="34" charset="-122"/>
                <a:cs typeface="Arial" pitchFamily="34" charset="-120"/>
              </a:rPr>
              <a:t>No promised results. </a:t>
            </a:r>
            <a:pPr indent="0" marL="0">
              <a:buNone/>
            </a:pPr>
            <a:r>
              <a:rPr lang="en-US" sz="1700" dirty="0">
                <a:solidFill>
                  <a:srgbClr val="1E2422"/>
                </a:solidFill>
                <a:latin typeface="Arial" pitchFamily="34" charset="0"/>
                <a:ea typeface="Arial" pitchFamily="34" charset="-122"/>
                <a:cs typeface="Arial" pitchFamily="34" charset="-120"/>
              </a:rPr>
              <a:t>Knock is new. We will report what actually happens, good or bad.</a:t>
            </a:r>
            <a:endParaRPr lang="en-US" sz="17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6C"/>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spc="300" kern="0" dirty="0">
                <a:solidFill>
                  <a:srgbClr val="A9772F"/>
                </a:solidFill>
                <a:latin typeface="Arial" pitchFamily="34" charset="0"/>
                <a:ea typeface="Arial" pitchFamily="34" charset="-122"/>
                <a:cs typeface="Arial" pitchFamily="34" charset="-120"/>
              </a:rPr>
              <a:t>PILOT TIMELINE</a:t>
            </a:r>
            <a:endParaRPr lang="en-US" sz="1100" dirty="0"/>
          </a:p>
        </p:txBody>
      </p:sp>
      <p:sp>
        <p:nvSpPr>
          <p:cNvPr id="3" name="Text 1"/>
          <p:cNvSpPr/>
          <p:nvPr>
            <p:ph idx="102" type="title" hasCustomPrompt="1"/>
          </p:nvPr>
        </p:nvSpPr>
        <p:spPr>
          <a:xfrm>
            <a:off x="548640" y="658368"/>
            <a:ext cx="11094415" cy="960120"/>
          </a:xfrm>
          <a:prstGeom prst="rect">
            <a:avLst/>
          </a:prstGeom>
          <a:noFill/>
          <a:ln/>
        </p:spPr>
        <p:txBody>
          <a:bodyPr wrap="square" lIns="0" tIns="0" rIns="0" bIns="0" rtlCol="0" anchor="t"/>
          <a:lstStyle/>
          <a:p>
            <a:pPr algn="l" indent="0" marL="0">
              <a:buNone/>
            </a:pPr>
            <a:r>
              <a:rPr lang="en-US" sz="2800" dirty="0">
                <a:solidFill>
                  <a:srgbClr val="14302A"/>
                </a:solidFill>
                <a:latin typeface="Georgia" pitchFamily="34" charset="0"/>
                <a:ea typeface="Georgia" pitchFamily="34" charset="-122"/>
                <a:cs typeface="Georgia" pitchFamily="34" charset="-120"/>
              </a:rPr>
              <a:t>The pilot takes three weeks, from kickoff to a results review with the club</a:t>
            </a:r>
            <a:endParaRPr lang="en-US" sz="2800" dirty="0"/>
          </a:p>
        </p:txBody>
      </p:sp>
      <p:sp>
        <p:nvSpPr>
          <p:cNvPr id="5" name="Shape 2"/>
          <p:cNvSpPr/>
          <p:nvPr/>
        </p:nvSpPr>
        <p:spPr>
          <a:xfrm>
            <a:off x="548640" y="2194560"/>
            <a:ext cx="3196846" cy="960120"/>
          </a:xfrm>
          <a:prstGeom prst="roundRect">
            <a:avLst>
              <a:gd name="adj" fmla="val 7619"/>
            </a:avLst>
          </a:prstGeom>
          <a:solidFill>
            <a:srgbClr val="EEF2EF"/>
          </a:solidFill>
          <a:ln w="12700">
            <a:solidFill>
              <a:srgbClr val="D3D9D6"/>
            </a:solidFill>
            <a:prstDash val="solid"/>
          </a:ln>
        </p:spPr>
      </p:sp>
      <p:sp>
        <p:nvSpPr>
          <p:cNvPr id="6" name="Text 3"/>
          <p:cNvSpPr txBox="1"/>
          <p:nvPr/>
        </p:nvSpPr>
        <p:spPr>
          <a:xfrm>
            <a:off x="822960" y="2350008"/>
            <a:ext cx="2648206" cy="274320"/>
          </a:xfrm>
          <a:prstGeom prst="rect">
            <a:avLst/>
          </a:prstGeom>
          <a:noFill/>
          <a:ln/>
        </p:spPr>
        <p:txBody>
          <a:bodyPr wrap="square" lIns="0" tIns="0" rIns="0" bIns="0" rtlCol="0" anchor="t"/>
          <a:lstStyle/>
          <a:p>
            <a:pPr indent="0" marL="0">
              <a:buNone/>
            </a:pPr>
            <a:r>
              <a:rPr lang="en-US" sz="1200" b="1" spc="200" kern="0" dirty="0">
                <a:solidFill>
                  <a:srgbClr val="A9772F"/>
                </a:solidFill>
                <a:latin typeface="Arial" pitchFamily="34" charset="0"/>
                <a:ea typeface="Arial" pitchFamily="34" charset="-122"/>
                <a:cs typeface="Arial" pitchFamily="34" charset="-120"/>
              </a:rPr>
              <a:t>WEEK 0</a:t>
            </a:r>
            <a:endParaRPr lang="en-US" sz="1200" dirty="0"/>
          </a:p>
        </p:txBody>
      </p:sp>
      <p:sp>
        <p:nvSpPr>
          <p:cNvPr id="7" name="Text 4"/>
          <p:cNvSpPr txBox="1"/>
          <p:nvPr/>
        </p:nvSpPr>
        <p:spPr>
          <a:xfrm>
            <a:off x="822960" y="2606040"/>
            <a:ext cx="2648206" cy="411480"/>
          </a:xfrm>
          <a:prstGeom prst="rect">
            <a:avLst/>
          </a:prstGeom>
          <a:noFill/>
          <a:ln/>
        </p:spPr>
        <p:txBody>
          <a:bodyPr wrap="square" lIns="0" tIns="0" rIns="0" bIns="0" rtlCol="0" anchor="t"/>
          <a:lstStyle/>
          <a:p>
            <a:pPr indent="0" marL="0">
              <a:buNone/>
            </a:pPr>
            <a:r>
              <a:rPr lang="en-US" sz="2200" b="1" dirty="0">
                <a:solidFill>
                  <a:srgbClr val="14302A"/>
                </a:solidFill>
                <a:latin typeface="Georgia" pitchFamily="34" charset="0"/>
                <a:ea typeface="Georgia" pitchFamily="34" charset="-122"/>
                <a:cs typeface="Georgia" pitchFamily="34" charset="-120"/>
              </a:rPr>
              <a:t>Kickoff</a:t>
            </a:r>
            <a:endParaRPr lang="en-US" sz="2200" dirty="0"/>
          </a:p>
        </p:txBody>
      </p:sp>
      <p:sp>
        <p:nvSpPr>
          <p:cNvPr id="8" name="Text 5"/>
          <p:cNvSpPr txBox="1"/>
          <p:nvPr/>
        </p:nvSpPr>
        <p:spPr>
          <a:xfrm>
            <a:off x="685800" y="3429000"/>
            <a:ext cx="2922526" cy="1645920"/>
          </a:xfrm>
          <a:prstGeom prst="rect">
            <a:avLst/>
          </a:prstGeom>
          <a:noFill/>
          <a:ln/>
        </p:spPr>
        <p:txBody>
          <a:bodyPr wrap="square" lIns="0" tIns="0" rIns="0" bIns="0" rtlCol="0" anchor="t"/>
          <a:lstStyle/>
          <a:p>
            <a:pPr marL="177800" indent="-177800">
              <a:spcAft>
                <a:spcPts val="800"/>
              </a:spcAft>
              <a:buSzPct val="100000"/>
              <a:buChar char="•"/>
            </a:pPr>
            <a:r>
              <a:rPr lang="en-US" sz="1600" dirty="0">
                <a:solidFill>
                  <a:srgbClr val="1E2422"/>
                </a:solidFill>
                <a:latin typeface="Arial" pitchFamily="34" charset="0"/>
                <a:ea typeface="Arial" pitchFamily="34" charset="-122"/>
                <a:cs typeface="Arial" pitchFamily="34" charset="-120"/>
              </a:rPr>
              <a:t>Club picks 5 students</a:t>
            </a:r>
            <a:endParaRPr lang="en-US" sz="1600" dirty="0"/>
          </a:p>
          <a:p>
            <a:pPr marL="177800" indent="-177800">
              <a:spcAft>
                <a:spcPts val="800"/>
              </a:spcAft>
              <a:buSzPct val="100000"/>
              <a:buChar char="•"/>
            </a:pPr>
            <a:r>
              <a:rPr lang="en-US" sz="1600" dirty="0">
                <a:solidFill>
                  <a:srgbClr val="1E2422"/>
                </a:solidFill>
                <a:latin typeface="Arial" pitchFamily="34" charset="0"/>
                <a:ea typeface="Arial" pitchFamily="34" charset="-122"/>
                <a:cs typeface="Arial" pitchFamily="34" charset="-120"/>
              </a:rPr>
              <a:t>Each sets target companies and roles with Knock</a:t>
            </a:r>
            <a:endParaRPr lang="en-US" sz="1600" dirty="0"/>
          </a:p>
        </p:txBody>
      </p:sp>
      <p:sp>
        <p:nvSpPr>
          <p:cNvPr id="9" name="Shape 6"/>
          <p:cNvSpPr/>
          <p:nvPr/>
        </p:nvSpPr>
        <p:spPr>
          <a:xfrm>
            <a:off x="3882646" y="2194560"/>
            <a:ext cx="4426403" cy="960120"/>
          </a:xfrm>
          <a:prstGeom prst="roundRect">
            <a:avLst>
              <a:gd name="adj" fmla="val 7619"/>
            </a:avLst>
          </a:prstGeom>
          <a:solidFill>
            <a:srgbClr val="14302A"/>
          </a:solidFill>
          <a:ln w="12700">
            <a:solidFill>
              <a:srgbClr val="14302A"/>
            </a:solidFill>
            <a:prstDash val="solid"/>
          </a:ln>
        </p:spPr>
      </p:sp>
      <p:sp>
        <p:nvSpPr>
          <p:cNvPr id="10" name="Text 7"/>
          <p:cNvSpPr txBox="1"/>
          <p:nvPr/>
        </p:nvSpPr>
        <p:spPr>
          <a:xfrm>
            <a:off x="4156966" y="2350008"/>
            <a:ext cx="3877763" cy="274320"/>
          </a:xfrm>
          <a:prstGeom prst="rect">
            <a:avLst/>
          </a:prstGeom>
          <a:noFill/>
          <a:ln/>
        </p:spPr>
        <p:txBody>
          <a:bodyPr wrap="square" lIns="0" tIns="0" rIns="0" bIns="0" rtlCol="0" anchor="t"/>
          <a:lstStyle/>
          <a:p>
            <a:pPr indent="0" marL="0">
              <a:buNone/>
            </a:pPr>
            <a:r>
              <a:rPr lang="en-US" sz="1200" b="1" spc="200" kern="0" dirty="0">
                <a:solidFill>
                  <a:srgbClr val="E6D3B0"/>
                </a:solidFill>
                <a:latin typeface="Arial" pitchFamily="34" charset="0"/>
                <a:ea typeface="Arial" pitchFamily="34" charset="-122"/>
                <a:cs typeface="Arial" pitchFamily="34" charset="-120"/>
              </a:rPr>
              <a:t>WEEKS 1 TO 2</a:t>
            </a:r>
            <a:endParaRPr lang="en-US" sz="1200" dirty="0"/>
          </a:p>
        </p:txBody>
      </p:sp>
      <p:sp>
        <p:nvSpPr>
          <p:cNvPr id="11" name="Text 8"/>
          <p:cNvSpPr txBox="1"/>
          <p:nvPr/>
        </p:nvSpPr>
        <p:spPr>
          <a:xfrm>
            <a:off x="4156966" y="2606040"/>
            <a:ext cx="3877763" cy="411480"/>
          </a:xfrm>
          <a:prstGeom prst="rect">
            <a:avLst/>
          </a:prstGeom>
          <a:noFill/>
          <a:ln/>
        </p:spPr>
        <p:txBody>
          <a:bodyPr wrap="square" lIns="0" tIns="0" rIns="0" bIns="0" rtlCol="0" anchor="t"/>
          <a:lstStyle/>
          <a:p>
            <a:pPr indent="0" marL="0">
              <a:buNone/>
            </a:pPr>
            <a:r>
              <a:rPr lang="en-US" sz="2200" b="1" dirty="0">
                <a:solidFill>
                  <a:srgbClr val="FFFFFF"/>
                </a:solidFill>
                <a:latin typeface="Georgia" pitchFamily="34" charset="0"/>
                <a:ea typeface="Georgia" pitchFamily="34" charset="-122"/>
                <a:cs typeface="Georgia" pitchFamily="34" charset="-120"/>
              </a:rPr>
              <a:t>Outreach</a:t>
            </a:r>
            <a:endParaRPr lang="en-US" sz="2200" dirty="0"/>
          </a:p>
        </p:txBody>
      </p:sp>
      <p:sp>
        <p:nvSpPr>
          <p:cNvPr id="12" name="Text 9"/>
          <p:cNvSpPr txBox="1"/>
          <p:nvPr/>
        </p:nvSpPr>
        <p:spPr>
          <a:xfrm>
            <a:off x="4019806" y="3429000"/>
            <a:ext cx="4152083" cy="1645920"/>
          </a:xfrm>
          <a:prstGeom prst="rect">
            <a:avLst/>
          </a:prstGeom>
          <a:noFill/>
          <a:ln/>
        </p:spPr>
        <p:txBody>
          <a:bodyPr wrap="square" lIns="0" tIns="0" rIns="0" bIns="0" rtlCol="0" anchor="t"/>
          <a:lstStyle/>
          <a:p>
            <a:pPr marL="177800" indent="-177800">
              <a:spcAft>
                <a:spcPts val="800"/>
              </a:spcAft>
              <a:buSzPct val="100000"/>
              <a:buChar char="•"/>
            </a:pPr>
            <a:r>
              <a:rPr lang="en-US" sz="1600" dirty="0">
                <a:solidFill>
                  <a:srgbClr val="1E2422"/>
                </a:solidFill>
                <a:latin typeface="Arial" pitchFamily="34" charset="0"/>
                <a:ea typeface="Arial" pitchFamily="34" charset="-122"/>
                <a:cs typeface="Arial" pitchFamily="34" charset="-120"/>
              </a:rPr>
              <a:t>60 people a week per student</a:t>
            </a:r>
            <a:endParaRPr lang="en-US" sz="1600" dirty="0"/>
          </a:p>
          <a:p>
            <a:pPr marL="177800" indent="-177800">
              <a:spcAft>
                <a:spcPts val="800"/>
              </a:spcAft>
              <a:buSzPct val="100000"/>
              <a:buChar char="•"/>
            </a:pPr>
            <a:r>
              <a:rPr lang="en-US" sz="1600" dirty="0">
                <a:solidFill>
                  <a:srgbClr val="1E2422"/>
                </a:solidFill>
                <a:latin typeface="Arial" pitchFamily="34" charset="0"/>
                <a:ea typeface="Arial" pitchFamily="34" charset="-122"/>
                <a:cs typeface="Arial" pitchFamily="34" charset="-120"/>
              </a:rPr>
              <a:t>Every reply guided toward a referral or interview</a:t>
            </a:r>
            <a:endParaRPr lang="en-US" sz="1600" dirty="0"/>
          </a:p>
        </p:txBody>
      </p:sp>
      <p:sp>
        <p:nvSpPr>
          <p:cNvPr id="13" name="Shape 10"/>
          <p:cNvSpPr/>
          <p:nvPr/>
        </p:nvSpPr>
        <p:spPr>
          <a:xfrm>
            <a:off x="8446209" y="2194560"/>
            <a:ext cx="3196846" cy="960120"/>
          </a:xfrm>
          <a:prstGeom prst="roundRect">
            <a:avLst>
              <a:gd name="adj" fmla="val 7619"/>
            </a:avLst>
          </a:prstGeom>
          <a:solidFill>
            <a:srgbClr val="A9772F"/>
          </a:solidFill>
          <a:ln w="12700">
            <a:solidFill>
              <a:srgbClr val="A9772F"/>
            </a:solidFill>
            <a:prstDash val="solid"/>
          </a:ln>
        </p:spPr>
      </p:sp>
      <p:sp>
        <p:nvSpPr>
          <p:cNvPr id="14" name="Text 11"/>
          <p:cNvSpPr txBox="1"/>
          <p:nvPr/>
        </p:nvSpPr>
        <p:spPr>
          <a:xfrm>
            <a:off x="8720529" y="2350008"/>
            <a:ext cx="2648206" cy="274320"/>
          </a:xfrm>
          <a:prstGeom prst="rect">
            <a:avLst/>
          </a:prstGeom>
          <a:noFill/>
          <a:ln/>
        </p:spPr>
        <p:txBody>
          <a:bodyPr wrap="square" lIns="0" tIns="0" rIns="0" bIns="0" rtlCol="0" anchor="t"/>
          <a:lstStyle/>
          <a:p>
            <a:pPr indent="0" marL="0">
              <a:buNone/>
            </a:pPr>
            <a:r>
              <a:rPr lang="en-US" sz="1200" b="1" spc="200" kern="0" dirty="0">
                <a:solidFill>
                  <a:srgbClr val="FFFFFF"/>
                </a:solidFill>
                <a:latin typeface="Arial" pitchFamily="34" charset="0"/>
                <a:ea typeface="Arial" pitchFamily="34" charset="-122"/>
                <a:cs typeface="Arial" pitchFamily="34" charset="-120"/>
              </a:rPr>
              <a:t>WEEK 3</a:t>
            </a:r>
            <a:endParaRPr lang="en-US" sz="1200" dirty="0"/>
          </a:p>
        </p:txBody>
      </p:sp>
      <p:sp>
        <p:nvSpPr>
          <p:cNvPr id="15" name="Text 12"/>
          <p:cNvSpPr txBox="1"/>
          <p:nvPr/>
        </p:nvSpPr>
        <p:spPr>
          <a:xfrm>
            <a:off x="8720529" y="2606040"/>
            <a:ext cx="2648206" cy="411480"/>
          </a:xfrm>
          <a:prstGeom prst="rect">
            <a:avLst/>
          </a:prstGeom>
          <a:noFill/>
          <a:ln/>
        </p:spPr>
        <p:txBody>
          <a:bodyPr wrap="square" lIns="0" tIns="0" rIns="0" bIns="0" rtlCol="0" anchor="t"/>
          <a:lstStyle/>
          <a:p>
            <a:pPr indent="0" marL="0">
              <a:buNone/>
            </a:pPr>
            <a:r>
              <a:rPr lang="en-US" sz="2200" b="1" dirty="0">
                <a:solidFill>
                  <a:srgbClr val="FFFFFF"/>
                </a:solidFill>
                <a:latin typeface="Georgia" pitchFamily="34" charset="0"/>
                <a:ea typeface="Georgia" pitchFamily="34" charset="-122"/>
                <a:cs typeface="Georgia" pitchFamily="34" charset="-120"/>
              </a:rPr>
              <a:t>Results review</a:t>
            </a:r>
            <a:endParaRPr lang="en-US" sz="2200" dirty="0"/>
          </a:p>
        </p:txBody>
      </p:sp>
      <p:sp>
        <p:nvSpPr>
          <p:cNvPr id="16" name="Text 13"/>
          <p:cNvSpPr txBox="1"/>
          <p:nvPr/>
        </p:nvSpPr>
        <p:spPr>
          <a:xfrm>
            <a:off x="8583369" y="3429000"/>
            <a:ext cx="2922526" cy="1645920"/>
          </a:xfrm>
          <a:prstGeom prst="rect">
            <a:avLst/>
          </a:prstGeom>
          <a:noFill/>
          <a:ln/>
        </p:spPr>
        <p:txBody>
          <a:bodyPr wrap="square" lIns="0" tIns="0" rIns="0" bIns="0" rtlCol="0" anchor="t"/>
          <a:lstStyle/>
          <a:p>
            <a:pPr marL="177800" indent="-177800">
              <a:spcAft>
                <a:spcPts val="800"/>
              </a:spcAft>
              <a:buSzPct val="100000"/>
              <a:buChar char="•"/>
            </a:pPr>
            <a:r>
              <a:rPr lang="en-US" sz="1600" dirty="0">
                <a:solidFill>
                  <a:srgbClr val="1E2422"/>
                </a:solidFill>
                <a:latin typeface="Arial" pitchFamily="34" charset="0"/>
                <a:ea typeface="Arial" pitchFamily="34" charset="-122"/>
                <a:cs typeface="Arial" pitchFamily="34" charset="-120"/>
              </a:rPr>
              <a:t>Interviews per 100 contacted, per student and overall</a:t>
            </a:r>
            <a:endParaRPr lang="en-US" sz="1600" dirty="0"/>
          </a:p>
          <a:p>
            <a:pPr marL="177800" indent="-177800">
              <a:spcAft>
                <a:spcPts val="800"/>
              </a:spcAft>
              <a:buSzPct val="100000"/>
              <a:buChar char="•"/>
            </a:pPr>
            <a:r>
              <a:rPr lang="en-US" sz="1600" dirty="0">
                <a:solidFill>
                  <a:srgbClr val="1E2422"/>
                </a:solidFill>
                <a:latin typeface="Arial" pitchFamily="34" charset="0"/>
                <a:ea typeface="Arial" pitchFamily="34" charset="-122"/>
                <a:cs typeface="Arial" pitchFamily="34" charset="-120"/>
              </a:rPr>
              <a:t>Decide together on opening to the batch</a:t>
            </a:r>
            <a:endParaRPr lang="en-US" sz="1600" dirty="0"/>
          </a:p>
        </p:txBody>
      </p:sp>
      <p:sp>
        <p:nvSpPr>
          <p:cNvPr id="17" name="Shape 14"/>
          <p:cNvSpPr/>
          <p:nvPr/>
        </p:nvSpPr>
        <p:spPr>
          <a:xfrm>
            <a:off x="548640" y="5120640"/>
            <a:ext cx="11094415" cy="822960"/>
          </a:xfrm>
          <a:prstGeom prst="roundRect">
            <a:avLst>
              <a:gd name="adj" fmla="val 8889"/>
            </a:avLst>
          </a:prstGeom>
          <a:solidFill>
            <a:srgbClr val="EEF2EF"/>
          </a:solidFill>
          <a:ln w="12700">
            <a:solidFill>
              <a:srgbClr val="EEF2EF"/>
            </a:solidFill>
            <a:prstDash val="solid"/>
          </a:ln>
        </p:spPr>
      </p:sp>
      <p:sp>
        <p:nvSpPr>
          <p:cNvPr id="18" name="Text 15"/>
          <p:cNvSpPr txBox="1"/>
          <p:nvPr/>
        </p:nvSpPr>
        <p:spPr>
          <a:xfrm>
            <a:off x="868680" y="5120640"/>
            <a:ext cx="10454335" cy="822960"/>
          </a:xfrm>
          <a:prstGeom prst="rect">
            <a:avLst/>
          </a:prstGeom>
          <a:noFill/>
          <a:ln/>
        </p:spPr>
        <p:txBody>
          <a:bodyPr wrap="square" lIns="0" tIns="0" rIns="0" bIns="0" rtlCol="0" anchor="ctr"/>
          <a:lstStyle/>
          <a:p>
            <a:pPr indent="0" marL="0">
              <a:buNone/>
            </a:pPr>
            <a:r>
              <a:rPr lang="en-US" sz="1800" b="1" dirty="0">
                <a:solidFill>
                  <a:srgbClr val="14302A"/>
                </a:solidFill>
                <a:latin typeface="Arial" pitchFamily="34" charset="0"/>
                <a:ea typeface="Arial" pitchFamily="34" charset="-122"/>
                <a:cs typeface="Arial" pitchFamily="34" charset="-120"/>
              </a:rPr>
              <a:t>Club effort: </a:t>
            </a:r>
            <a:pPr indent="0" marL="0">
              <a:buNone/>
            </a:pPr>
            <a:r>
              <a:rPr lang="en-US" sz="1800" dirty="0">
                <a:solidFill>
                  <a:srgbClr val="1E2422"/>
                </a:solidFill>
                <a:latin typeface="Arial" pitchFamily="34" charset="0"/>
                <a:ea typeface="Arial" pitchFamily="34" charset="-122"/>
                <a:cs typeface="Arial" pitchFamily="34" charset="-120"/>
              </a:rPr>
              <a:t>one announcement and one feedback call. Knock does the rest.</a:t>
            </a:r>
            <a:endParaRPr lang="en-US" sz="18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06C"/>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822960"/>
            <a:ext cx="5486400" cy="320040"/>
          </a:xfrm>
          <a:prstGeom prst="rect">
            <a:avLst/>
          </a:prstGeom>
          <a:noFill/>
          <a:ln/>
        </p:spPr>
        <p:txBody>
          <a:bodyPr wrap="square" lIns="0" tIns="0" rIns="0" bIns="0" rtlCol="0" anchor="t"/>
          <a:lstStyle/>
          <a:p>
            <a:pPr indent="0" marL="0">
              <a:buNone/>
            </a:pPr>
            <a:r>
              <a:rPr lang="en-US" sz="1300" b="1" spc="600" kern="0" dirty="0">
                <a:solidFill>
                  <a:srgbClr val="E6D3B0"/>
                </a:solidFill>
                <a:latin typeface="Arial" pitchFamily="34" charset="0"/>
                <a:ea typeface="Arial" pitchFamily="34" charset="-122"/>
                <a:cs typeface="Arial" pitchFamily="34" charset="-120"/>
              </a:rPr>
              <a:t>NEXT STEP</a:t>
            </a:r>
            <a:endParaRPr lang="en-US" sz="1300" dirty="0"/>
          </a:p>
        </p:txBody>
      </p:sp>
      <p:sp>
        <p:nvSpPr>
          <p:cNvPr id="3" name="Text 1"/>
          <p:cNvSpPr txBox="1"/>
          <p:nvPr/>
        </p:nvSpPr>
        <p:spPr>
          <a:xfrm>
            <a:off x="731520" y="1234440"/>
            <a:ext cx="6949440" cy="1463040"/>
          </a:xfrm>
          <a:prstGeom prst="rect">
            <a:avLst/>
          </a:prstGeom>
          <a:noFill/>
          <a:ln/>
        </p:spPr>
        <p:txBody>
          <a:bodyPr wrap="square" lIns="0" tIns="0" rIns="0" bIns="0"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Pick 5 students for the free pilot</a:t>
            </a:r>
            <a:endParaRPr lang="en-US" sz="4400" dirty="0"/>
          </a:p>
        </p:txBody>
      </p:sp>
      <p:sp>
        <p:nvSpPr>
          <p:cNvPr id="4" name="Shape 2"/>
          <p:cNvSpPr/>
          <p:nvPr/>
        </p:nvSpPr>
        <p:spPr>
          <a:xfrm>
            <a:off x="731520" y="3218688"/>
            <a:ext cx="128016" cy="128016"/>
          </a:xfrm>
          <a:prstGeom prst="ellipse">
            <a:avLst/>
          </a:prstGeom>
          <a:solidFill>
            <a:srgbClr val="A9772F"/>
          </a:solidFill>
          <a:ln w="12700">
            <a:solidFill>
              <a:srgbClr val="A9772F"/>
            </a:solidFill>
            <a:prstDash val="solid"/>
          </a:ln>
        </p:spPr>
      </p:sp>
      <p:sp>
        <p:nvSpPr>
          <p:cNvPr id="5" name="Text 3"/>
          <p:cNvSpPr txBox="1"/>
          <p:nvPr/>
        </p:nvSpPr>
        <p:spPr>
          <a:xfrm>
            <a:off x="1051560" y="3108960"/>
            <a:ext cx="6675120" cy="457200"/>
          </a:xfrm>
          <a:prstGeom prst="rect">
            <a:avLst/>
          </a:prstGeom>
          <a:noFill/>
          <a:ln/>
        </p:spPr>
        <p:txBody>
          <a:bodyPr wrap="square" lIns="0" tIns="0" rIns="0" bIns="0" rtlCol="0" anchor="t"/>
          <a:lstStyle/>
          <a:p>
            <a:pPr indent="0" marL="0">
              <a:buNone/>
            </a:pPr>
            <a:r>
              <a:rPr lang="en-US" sz="1800" dirty="0">
                <a:solidFill>
                  <a:srgbClr val="C9D6D0"/>
                </a:solidFill>
                <a:latin typeface="Arial" pitchFamily="34" charset="0"/>
                <a:ea typeface="Arial" pitchFamily="34" charset="-122"/>
                <a:cs typeface="Arial" pitchFamily="34" charset="-120"/>
              </a:rPr>
              <a:t>Warm, personal outreach at a pace that protects your batch</a:t>
            </a:r>
            <a:endParaRPr lang="en-US" sz="1800" dirty="0"/>
          </a:p>
        </p:txBody>
      </p:sp>
      <p:sp>
        <p:nvSpPr>
          <p:cNvPr id="6" name="Shape 4"/>
          <p:cNvSpPr/>
          <p:nvPr/>
        </p:nvSpPr>
        <p:spPr>
          <a:xfrm>
            <a:off x="731520" y="3904488"/>
            <a:ext cx="128016" cy="128016"/>
          </a:xfrm>
          <a:prstGeom prst="ellipse">
            <a:avLst/>
          </a:prstGeom>
          <a:solidFill>
            <a:srgbClr val="A9772F"/>
          </a:solidFill>
          <a:ln w="12700">
            <a:solidFill>
              <a:srgbClr val="A9772F"/>
            </a:solidFill>
            <a:prstDash val="solid"/>
          </a:ln>
        </p:spPr>
      </p:sp>
      <p:sp>
        <p:nvSpPr>
          <p:cNvPr id="7" name="Text 5"/>
          <p:cNvSpPr txBox="1"/>
          <p:nvPr/>
        </p:nvSpPr>
        <p:spPr>
          <a:xfrm>
            <a:off x="1051560" y="3794760"/>
            <a:ext cx="6675120" cy="457200"/>
          </a:xfrm>
          <a:prstGeom prst="rect">
            <a:avLst/>
          </a:prstGeom>
          <a:noFill/>
          <a:ln/>
        </p:spPr>
        <p:txBody>
          <a:bodyPr wrap="square" lIns="0" tIns="0" rIns="0" bIns="0" rtlCol="0" anchor="t"/>
          <a:lstStyle/>
          <a:p>
            <a:pPr indent="0" marL="0">
              <a:buNone/>
            </a:pPr>
            <a:r>
              <a:rPr lang="en-US" sz="1800" dirty="0">
                <a:solidFill>
                  <a:srgbClr val="C9D6D0"/>
                </a:solidFill>
                <a:latin typeface="Arial" pitchFamily="34" charset="0"/>
                <a:ea typeface="Arial" pitchFamily="34" charset="-122"/>
                <a:cs typeface="Arial" pitchFamily="34" charset="-120"/>
              </a:rPr>
              <a:t>A free pilot for 5 students and a founding price for every member</a:t>
            </a:r>
            <a:endParaRPr lang="en-US" sz="1800" dirty="0"/>
          </a:p>
        </p:txBody>
      </p:sp>
      <p:sp>
        <p:nvSpPr>
          <p:cNvPr id="8" name="Shape 6"/>
          <p:cNvSpPr/>
          <p:nvPr/>
        </p:nvSpPr>
        <p:spPr>
          <a:xfrm>
            <a:off x="731520" y="4590288"/>
            <a:ext cx="128016" cy="128016"/>
          </a:xfrm>
          <a:prstGeom prst="ellipse">
            <a:avLst/>
          </a:prstGeom>
          <a:solidFill>
            <a:srgbClr val="A9772F"/>
          </a:solidFill>
          <a:ln w="12700">
            <a:solidFill>
              <a:srgbClr val="A9772F"/>
            </a:solidFill>
            <a:prstDash val="solid"/>
          </a:ln>
        </p:spPr>
      </p:sp>
      <p:sp>
        <p:nvSpPr>
          <p:cNvPr id="9" name="Text 7"/>
          <p:cNvSpPr txBox="1"/>
          <p:nvPr/>
        </p:nvSpPr>
        <p:spPr>
          <a:xfrm>
            <a:off x="1051560" y="4480560"/>
            <a:ext cx="6675120" cy="457200"/>
          </a:xfrm>
          <a:prstGeom prst="rect">
            <a:avLst/>
          </a:prstGeom>
          <a:noFill/>
          <a:ln/>
        </p:spPr>
        <p:txBody>
          <a:bodyPr wrap="square" lIns="0" tIns="0" rIns="0" bIns="0" rtlCol="0" anchor="t"/>
          <a:lstStyle/>
          <a:p>
            <a:pPr indent="0" marL="0">
              <a:buNone/>
            </a:pPr>
            <a:r>
              <a:rPr lang="en-US" sz="1800" dirty="0">
                <a:solidFill>
                  <a:srgbClr val="C9D6D0"/>
                </a:solidFill>
                <a:latin typeface="Arial" pitchFamily="34" charset="0"/>
                <a:ea typeface="Arial" pitchFamily="34" charset="-122"/>
                <a:cs typeface="Arial" pitchFamily="34" charset="-120"/>
              </a:rPr>
              <a:t>Measured honestly: interviews per 100 people contacted</a:t>
            </a:r>
            <a:endParaRPr lang="en-US" sz="1800" dirty="0"/>
          </a:p>
        </p:txBody>
      </p:sp>
      <p:sp>
        <p:nvSpPr>
          <p:cNvPr id="10" name="Text 8"/>
          <p:cNvSpPr txBox="1"/>
          <p:nvPr/>
        </p:nvSpPr>
        <p:spPr>
          <a:xfrm>
            <a:off x="731520" y="5394960"/>
            <a:ext cx="6858000" cy="822960"/>
          </a:xfrm>
          <a:prstGeom prst="rect">
            <a:avLst/>
          </a:prstGeom>
          <a:noFill/>
          <a:ln/>
        </p:spPr>
        <p:txBody>
          <a:bodyPr wrap="square" lIns="0" tIns="0" rIns="0" bIns="0" rtlCol="0" anchor="t"/>
          <a:lstStyle/>
          <a:p>
            <a:pPr indent="0" marL="0">
              <a:spcAft>
                <a:spcPts val="400"/>
              </a:spcAft>
              <a:buNone/>
            </a:pPr>
            <a:r>
              <a:rPr lang="en-US" sz="2200" b="1" dirty="0">
                <a:solidFill>
                  <a:srgbClr val="FFFFFF"/>
                </a:solidFill>
                <a:latin typeface="Arial" pitchFamily="34" charset="0"/>
                <a:ea typeface="Arial" pitchFamily="34" charset="-122"/>
                <a:cs typeface="Arial" pitchFamily="34" charset="-120"/>
              </a:rPr>
              <a:t>hello@knock.careers</a:t>
            </a:r>
            <a:endParaRPr lang="en-US" sz="2200" dirty="0"/>
          </a:p>
          <a:p>
            <a:pPr indent="0" marL="0">
              <a:spcAft>
                <a:spcPts val="400"/>
              </a:spcAft>
              <a:buNone/>
            </a:pPr>
            <a:r>
              <a:rPr lang="en-US" sz="2200" i="1" dirty="0">
                <a:solidFill>
                  <a:srgbClr val="E6D3B0"/>
                </a:solidFill>
                <a:latin typeface="Georgia" pitchFamily="34" charset="0"/>
                <a:ea typeface="Georgia" pitchFamily="34" charset="-122"/>
                <a:cs typeface="Georgia" pitchFamily="34" charset="-120"/>
              </a:rPr>
              <a:t>Knock on the right door.</a:t>
            </a:r>
            <a:endParaRPr lang="en-US" sz="2200" dirty="0"/>
          </a:p>
        </p:txBody>
      </p:sp>
      <p:sp>
        <p:nvSpPr>
          <p:cNvPr id="11" name="Shape 9"/>
          <p:cNvSpPr/>
          <p:nvPr/>
        </p:nvSpPr>
        <p:spPr>
          <a:xfrm>
            <a:off x="10689336" y="914400"/>
            <a:ext cx="380390" cy="4754880"/>
          </a:xfrm>
          <a:prstGeom prst="rect">
            <a:avLst/>
          </a:prstGeom>
          <a:solidFill>
            <a:srgbClr val="E6D3B0"/>
          </a:solidFill>
          <a:ln w="12700">
            <a:solidFill>
              <a:srgbClr val="E6D3B0"/>
            </a:solidFill>
            <a:prstDash val="solid"/>
          </a:ln>
        </p:spPr>
      </p:sp>
      <p:sp>
        <p:nvSpPr>
          <p:cNvPr id="12" name="Shape 10"/>
          <p:cNvSpPr/>
          <p:nvPr/>
        </p:nvSpPr>
        <p:spPr>
          <a:xfrm>
            <a:off x="8549640" y="914400"/>
            <a:ext cx="2377440" cy="4754880"/>
          </a:xfrm>
          <a:prstGeom prst="roundRect">
            <a:avLst>
              <a:gd name="adj" fmla="val 2308"/>
            </a:avLst>
          </a:prstGeom>
          <a:solidFill>
            <a:srgbClr val="1D4038"/>
          </a:solidFill>
          <a:ln w="25400">
            <a:solidFill>
              <a:srgbClr val="A9772F"/>
            </a:solidFill>
            <a:prstDash val="solid"/>
          </a:ln>
        </p:spPr>
      </p:sp>
      <p:sp>
        <p:nvSpPr>
          <p:cNvPr id="13" name="Shape 11"/>
          <p:cNvSpPr/>
          <p:nvPr/>
        </p:nvSpPr>
        <p:spPr>
          <a:xfrm>
            <a:off x="8930030" y="1294790"/>
            <a:ext cx="1616659" cy="1806854"/>
          </a:xfrm>
          <a:prstGeom prst="rect">
            <a:avLst/>
          </a:prstGeom>
          <a:ln w="12700">
            <a:solidFill>
              <a:srgbClr val="3B5E55"/>
            </a:solidFill>
            <a:prstDash val="solid"/>
          </a:ln>
        </p:spPr>
      </p:sp>
      <p:sp>
        <p:nvSpPr>
          <p:cNvPr id="14" name="Shape 12"/>
          <p:cNvSpPr/>
          <p:nvPr/>
        </p:nvSpPr>
        <p:spPr>
          <a:xfrm>
            <a:off x="8930030" y="3434486"/>
            <a:ext cx="1616659" cy="1806854"/>
          </a:xfrm>
          <a:prstGeom prst="rect">
            <a:avLst/>
          </a:prstGeom>
          <a:ln w="12700">
            <a:solidFill>
              <a:srgbClr val="3B5E55"/>
            </a:solidFill>
            <a:prstDash val="solid"/>
          </a:ln>
        </p:spPr>
      </p:sp>
      <p:sp>
        <p:nvSpPr>
          <p:cNvPr id="15" name="Shape 13"/>
          <p:cNvSpPr/>
          <p:nvPr/>
        </p:nvSpPr>
        <p:spPr>
          <a:xfrm>
            <a:off x="10344607" y="3184855"/>
            <a:ext cx="213970" cy="213970"/>
          </a:xfrm>
          <a:prstGeom prst="ellipse">
            <a:avLst/>
          </a:prstGeom>
          <a:solidFill>
            <a:srgbClr val="A9772F"/>
          </a:solidFill>
          <a:ln w="12700">
            <a:solidFill>
              <a:srgbClr val="A9772F"/>
            </a:solidFill>
            <a:prstDash val="solid"/>
          </a:ln>
        </p:spPr>
      </p:sp>
    </p:spTree>
  </p:cSld>
  <p:clrMapOvr>
    <a:masterClrMapping/>
  </p:clrMapOvr>
</p:sld>
</file>

<file path=ppt/theme/theme1.xml><?xml version="1.0" encoding="utf-8"?>
<a:theme xmlns:a="http://schemas.openxmlformats.org/drawingml/2006/main" name="Knock">
  <a:themeElements>
    <a:clrScheme name="Knock">
      <a:dk1>
        <a:srgbClr val="1E2422"/>
      </a:dk1>
      <a:lt1>
        <a:srgbClr val="FFFFFF"/>
      </a:lt1>
      <a:dk2>
        <a:srgbClr val="14302A"/>
      </a:dk2>
      <a:lt2>
        <a:srgbClr val="EEF2EF"/>
      </a:lt2>
      <a:accent1>
        <a:srgbClr val="14302A"/>
      </a:accent1>
      <a:accent2>
        <a:srgbClr val="A9772F"/>
      </a:accent2>
      <a:accent3>
        <a:srgbClr val="4F7A6D"/>
      </a:accent3>
      <a:accent4>
        <a:srgbClr val="66706C"/>
      </a:accent4>
      <a:accent5>
        <a:srgbClr val="C9D6D0"/>
      </a:accent5>
      <a:accent6>
        <a:srgbClr val="E6D3B0"/>
      </a:accent6>
      <a:hlink>
        <a:srgbClr val="14302A"/>
      </a:hlink>
      <a:folHlink>
        <a:srgbClr val="66706C"/>
      </a:folHlink>
    </a:clrScheme>
    <a:fontScheme name="Knock">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Knock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Knock partner proposal</dc:title>
  <dc:subject>PptxGenJS Presentation</dc:subject>
  <dc:creator>PptxGenJS</dc:creator>
  <cp:lastModifiedBy>PptxGenJS</cp:lastModifiedBy>
  <cp:revision>1</cp:revision>
  <dcterms:created xsi:type="dcterms:W3CDTF">2026-10-04T19:38:14Z</dcterms:created>
  <dcterms:modified xsi:type="dcterms:W3CDTF">2026-10-04T19:38:14Z</dcterms:modified>
</cp:coreProperties>
</file>