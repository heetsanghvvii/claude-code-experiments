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448480d-4d3e-c9f2-fe5b-511cb0773dda}">
          <p14:sldIdLst>
            <p14:sldId id="256"/>
          </p14:sldIdLst>
        </p14:section>
        <p14:section name="The problem" id="{e48defab-6826-555a-74e1-883bc822fc4b}">
          <p14:sldIdLst>
            <p14:sldId id="257"/>
            <p14:sldId id="258"/>
          </p14:sldIdLst>
        </p14:section>
        <p14:section name="What Knock does" id="{8d1fa0ca-37fa-1649-2ca3-d228fb7f94e7}">
          <p14:sldIdLst>
            <p14:sldId id="259"/>
            <p14:sldId id="260"/>
          </p14:sldIdLst>
        </p14:section>
        <p14:section name="Safety" id="{1b9861c3-f7c1-1d07-d86e-87665af6c1a4}">
          <p14:sldIdLst>
            <p14:sldId id="261"/>
          </p14:sldIdLst>
        </p14:section>
        <p14:section name="Offer" id="{5db69a6a-4a65-c4ad-588c-35a93358a8d8}">
          <p14:sldIdLst>
            <p14:sldId id="262"/>
            <p14:sldId id="263"/>
          </p14:sldIdLst>
        </p14:section>
        <p14:section name="Pilot" id="{82577e21-aa51-7d69-e323-4054108afc05}">
          <p14:sldIdLst>
            <p14:sldId id="264"/>
            <p14:sldId id="265"/>
          </p14:sldIdLst>
        </p14:section>
        <p14:section name="Next step" id="{92a83430-3fba-5724-e98d-cf88829a1561}">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the time. In ten minutes I will show you what Knock does, why it is safe for your batch, and a free pilot we would like to run with five students you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committee here knows this pattern. The portal makes applying easy for everyone, which is exactly why it rarely works for anyone. Hiring still starts with a person deciding to talk to another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claiming a new insight. Referrals and warm introductions convert better, and everyone in this room has seen it. What is missing is the time and craft to do it properly for a whole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The student owns the targets and approves every word. We do the slow parts: finding the right people, researching them, writing, and coaching each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kind of message we write. It is short, it could only be sent to this one person, and it asks an easy question. The referral conversation comes once there is a real exchange.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Committees are right to be protective of their batch. Every safeguard here is a design choice, not a promise: small volume, personal messages, the student's own account, and no early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is deliberately simple. Members of the club get the founding price. The five pilot students pay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balance is intentional. The club gets real value for its members first. We ask for one announcement and one honest feedback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not quote conversion rates we have not earned. The pilot produces the first real numbers, and we report them per student and in aggregate.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zero is a kickoff with the five students. Two weeks of outreach follow. In week three we review results with the committee and hand over the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next step is choosing five students. Write to hello@knock.careers and we will set up the kickoff.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Light">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spc="100" kern="0" dirty="0">
                <a:solidFill>
                  <a:schemeClr val="accent3"/>
                </a:solidFill>
                <a:latin typeface="Arial" pitchFamily="34" charset="0"/>
                <a:ea typeface="Arial" pitchFamily="34" charset="-122"/>
                <a:cs typeface="Arial" pitchFamily="34" charset="-120"/>
              </a:rPr>
              <a:t>Knock   |   Partner proposal for &lt;Club name&gt;</a:t>
            </a:r>
            <a:endParaRPr lang="en-US" sz="900" dirty="0"/>
          </a:p>
        </p:txBody>
      </p:sp>
      <p:sp>
        <p:nvSpPr>
          <p:cNvPr id="3" name="Text 1"/>
          <p:cNvSpPr/>
          <p:nvPr>
            <p:ph idx="101" type="body" hasCustomPrompt="1"/>
          </p:nvPr>
        </p:nvSpPr>
        <p:spPr>
          <a:xfrm>
            <a:off x="640080" y="502920"/>
            <a:ext cx="10911535" cy="274320"/>
          </a:xfrm>
          <a:prstGeom prst="rect">
            <a:avLst/>
          </a:prstGeom>
          <a:noFill/>
          <a:ln/>
        </p:spPr>
        <p:txBody>
          <a:bodyPr wrap="square" rtlCol="0"/>
          <a:lstStyle>
            <a:lvl1pPr indent="0" marL="0">
              <a:buNone/>
              <a:defRPr lang="en-US" sz="1100" b="1" spc="300" kern="0" dirty="0">
                <a:solidFill>
                  <a:schemeClr val="accent1"/>
                </a:solidFill>
                <a:latin typeface="Arial" pitchFamily="34" charset="0"/>
                <a:ea typeface="Arial" pitchFamily="34" charset="-122"/>
                <a:cs typeface="Arial" pitchFamily="34" charset="-120"/>
              </a:defRPr>
            </a:lvl1pPr>
          </a:lstStyle>
          <a:p>
            <a:pPr indent="0" marL="0">
              <a:buNone/>
            </a:pPr>
            <a:endParaRPr lang="en-US" sz="1100" dirty="0"/>
          </a:p>
        </p:txBody>
      </p:sp>
      <p:sp>
        <p:nvSpPr>
          <p:cNvPr id="4" name="Text 1"/>
          <p:cNvSpPr/>
          <p:nvPr>
            <p:ph idx="102" type="title" hasCustomPrompt="1"/>
          </p:nvPr>
        </p:nvSpPr>
        <p:spPr>
          <a:xfrm>
            <a:off x="640080" y="822960"/>
            <a:ext cx="10241280" cy="1051560"/>
          </a:xfrm>
          <a:prstGeom prst="rect">
            <a:avLst/>
          </a:prstGeom>
          <a:noFill/>
          <a:ln/>
        </p:spPr>
        <p:txBody>
          <a:bodyPr wrap="square" rtlCol="0"/>
          <a:lstStyle>
            <a:lvl1pPr algn="l" indent="0" marL="0">
              <a:lnSpc>
                <a:spcPct val="95000"/>
              </a:lnSpc>
              <a:buNone/>
              <a:defRPr lang="en-US" sz="3000" dirty="0">
                <a:solidFill>
                  <a:schemeClr val="tx1"/>
                </a:solidFill>
                <a:latin typeface="Georgia" pitchFamily="34" charset="0"/>
                <a:ea typeface="Georgia" pitchFamily="34" charset="-122"/>
                <a:cs typeface="Georgia" pitchFamily="34" charset="-120"/>
              </a:defRPr>
            </a:lvl1pPr>
          </a:lstStyle>
          <a:p>
            <a:pPr algn="l" indent="0" marL="0">
              <a:lnSpc>
                <a:spcPct val="95000"/>
              </a:lnSpc>
              <a:buNone/>
            </a:pPr>
            <a:endParaRPr lang="en-US" sz="300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Dark">
    <p:bg>
      <p:bgPr>
        <a:solidFill>
          <a:srgbClr val="14211D"/>
        </a:solidFill>
      </p:bgPr>
    </p:bg>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spc="100" kern="0" dirty="0">
                <a:solidFill>
                  <a:schemeClr val="accent3"/>
                </a:solidFill>
                <a:latin typeface="Arial" pitchFamily="34" charset="0"/>
                <a:ea typeface="Arial" pitchFamily="34" charset="-122"/>
                <a:cs typeface="Arial" pitchFamily="34" charset="-120"/>
              </a:rPr>
              <a:t>Knock   |   Partner proposal for &lt;Club name&gt;</a:t>
            </a:r>
            <a:endParaRPr lang="en-US" sz="900" dirty="0"/>
          </a:p>
        </p:txBody>
      </p:sp>
      <p:sp>
        <p:nvSpPr>
          <p:cNvPr id="3" name="Text 1"/>
          <p:cNvSpPr/>
          <p:nvPr>
            <p:ph idx="101" type="body" hasCustomPrompt="1"/>
          </p:nvPr>
        </p:nvSpPr>
        <p:spPr>
          <a:xfrm>
            <a:off x="640080" y="502920"/>
            <a:ext cx="10911535" cy="274320"/>
          </a:xfrm>
          <a:prstGeom prst="rect">
            <a:avLst/>
          </a:prstGeom>
          <a:noFill/>
          <a:ln/>
        </p:spPr>
        <p:txBody>
          <a:bodyPr wrap="square" rtlCol="0"/>
          <a:lstStyle>
            <a:lvl1pPr indent="0" marL="0">
              <a:buNone/>
              <a:defRPr lang="en-US" sz="1100" b="1" spc="300" kern="0" dirty="0">
                <a:solidFill>
                  <a:schemeClr val="accent2"/>
                </a:solidFill>
                <a:latin typeface="Arial" pitchFamily="34" charset="0"/>
                <a:ea typeface="Arial" pitchFamily="34" charset="-122"/>
                <a:cs typeface="Arial" pitchFamily="34" charset="-120"/>
              </a:defRPr>
            </a:lvl1pPr>
          </a:lstStyle>
          <a:p>
            <a:pPr indent="0" marL="0">
              <a:buNone/>
            </a:pPr>
            <a:endParaRPr lang="en-US" sz="1100" dirty="0"/>
          </a:p>
        </p:txBody>
      </p:sp>
      <p:sp>
        <p:nvSpPr>
          <p:cNvPr id="4" name="Text 1"/>
          <p:cNvSpPr/>
          <p:nvPr>
            <p:ph idx="102" type="title" hasCustomPrompt="1"/>
          </p:nvPr>
        </p:nvSpPr>
        <p:spPr>
          <a:xfrm>
            <a:off x="640080" y="822960"/>
            <a:ext cx="10241280" cy="1051560"/>
          </a:xfrm>
          <a:prstGeom prst="rect">
            <a:avLst/>
          </a:prstGeom>
          <a:noFill/>
          <a:ln/>
        </p:spPr>
        <p:txBody>
          <a:bodyPr wrap="square" rtlCol="0"/>
          <a:lstStyle>
            <a:lvl1pPr algn="l" indent="0" marL="0">
              <a:lnSpc>
                <a:spcPct val="95000"/>
              </a:lnSpc>
              <a:buNone/>
              <a:defRPr lang="en-US" sz="3000" dirty="0">
                <a:solidFill>
                  <a:schemeClr val="bg1"/>
                </a:solidFill>
                <a:latin typeface="Georgia" pitchFamily="34" charset="0"/>
                <a:ea typeface="Georgia" pitchFamily="34" charset="-122"/>
                <a:cs typeface="Georgia" pitchFamily="34" charset="-120"/>
              </a:defRPr>
            </a:lvl1pPr>
          </a:lstStyle>
          <a:p>
            <a:pPr algn="l" indent="0" marL="0">
              <a:lnSpc>
                <a:spcPct val="95000"/>
              </a:lnSpc>
              <a:buNone/>
            </a:pPr>
            <a:endParaRPr lang="en-US" sz="300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Dark">
    <p:bg>
      <p:bgPr>
        <a:solidFill>
          <a:srgbClr val="14211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5120640" cy="274320"/>
          </a:xfrm>
          <a:prstGeom prst="rect">
            <a:avLst/>
          </a:prstGeom>
          <a:noFill/>
          <a:ln/>
        </p:spPr>
        <p:txBody>
          <a:bodyPr wrap="square" rtlCol="0"/>
          <a:lstStyle>
            <a:lvl1pPr indent="0" marL="0">
              <a:buNone/>
              <a:defRPr lang="en-US" sz="1100" b="1" spc="300" kern="0" dirty="0">
                <a:solidFill>
                  <a:schemeClr val="accent2"/>
                </a:solidFill>
                <a:latin typeface="Arial" pitchFamily="34" charset="0"/>
                <a:ea typeface="Arial" pitchFamily="34" charset="-122"/>
                <a:cs typeface="Arial" pitchFamily="34" charset="-120"/>
              </a:defRPr>
            </a:lvl1pPr>
          </a:lstStyle>
          <a:p>
            <a:pPr indent="0" marL="0">
              <a:buNone/>
            </a:pPr>
            <a:endParaRPr lang="en-US" sz="1100" dirty="0"/>
          </a:p>
        </p:txBody>
      </p:sp>
      <p:sp>
        <p:nvSpPr>
          <p:cNvPr id="3" name="Text 0"/>
          <p:cNvSpPr/>
          <p:nvPr>
            <p:ph idx="101" type="title" hasCustomPrompt="1"/>
          </p:nvPr>
        </p:nvSpPr>
        <p:spPr>
          <a:xfrm>
            <a:off x="640080" y="1920240"/>
            <a:ext cx="5303520" cy="1371600"/>
          </a:xfrm>
          <a:prstGeom prst="rect">
            <a:avLst/>
          </a:prstGeom>
          <a:noFill/>
          <a:ln/>
        </p:spPr>
        <p:txBody>
          <a:bodyPr wrap="square" rtlCol="0"/>
          <a:lstStyle>
            <a:lvl1pPr algn="l" indent="0" marL="0">
              <a:buNone/>
              <a:defRPr lang="en-US" sz="6000" dirty="0">
                <a:solidFill>
                  <a:schemeClr val="bg1"/>
                </a:solidFill>
                <a:latin typeface="Georgia" pitchFamily="34" charset="0"/>
                <a:ea typeface="Georgia" pitchFamily="34" charset="-122"/>
                <a:cs typeface="Georgia" pitchFamily="34" charset="-120"/>
              </a:defRPr>
            </a:lvl1pPr>
          </a:lstStyle>
          <a:p>
            <a:pPr algn="l" indent="0" marL="0">
              <a:buNone/>
            </a:pPr>
            <a:endParaRPr lang="en-US" sz="6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e Dark">
    <p:bg>
      <p:bgPr>
        <a:solidFill>
          <a:srgbClr val="14211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5120640" cy="274320"/>
          </a:xfrm>
          <a:prstGeom prst="rect">
            <a:avLst/>
          </a:prstGeom>
          <a:noFill/>
          <a:ln/>
        </p:spPr>
        <p:txBody>
          <a:bodyPr wrap="square" rtlCol="0"/>
          <a:lstStyle>
            <a:lvl1pPr indent="0" marL="0">
              <a:buNone/>
              <a:defRPr lang="en-US" sz="1100" b="1" spc="300" kern="0" dirty="0">
                <a:solidFill>
                  <a:schemeClr val="accent2"/>
                </a:solidFill>
                <a:latin typeface="Arial" pitchFamily="34" charset="0"/>
                <a:ea typeface="Arial" pitchFamily="34" charset="-122"/>
                <a:cs typeface="Arial" pitchFamily="34" charset="-120"/>
              </a:defRPr>
            </a:lvl1pPr>
          </a:lstStyle>
          <a:p>
            <a:pPr indent="0" marL="0">
              <a:buNone/>
            </a:pPr>
            <a:endParaRPr lang="en-US" sz="1100" dirty="0"/>
          </a:p>
        </p:txBody>
      </p:sp>
      <p:sp>
        <p:nvSpPr>
          <p:cNvPr id="3" name="Text 0"/>
          <p:cNvSpPr/>
          <p:nvPr>
            <p:ph idx="101" type="title" hasCustomPrompt="1"/>
          </p:nvPr>
        </p:nvSpPr>
        <p:spPr>
          <a:xfrm>
            <a:off x="640080" y="1645920"/>
            <a:ext cx="5394960" cy="1920240"/>
          </a:xfrm>
          <a:prstGeom prst="rect">
            <a:avLst/>
          </a:prstGeom>
          <a:noFill/>
          <a:ln/>
        </p:spPr>
        <p:txBody>
          <a:bodyPr wrap="square" rtlCol="0"/>
          <a:lstStyle>
            <a:lvl1pPr algn="l" indent="0" marL="0">
              <a:buNone/>
              <a:defRPr lang="en-US" sz="4400" dirty="0">
                <a:solidFill>
                  <a:schemeClr val="bg1"/>
                </a:solidFill>
                <a:latin typeface="Georgia" pitchFamily="34" charset="0"/>
                <a:ea typeface="Georgia" pitchFamily="34" charset="-122"/>
                <a:cs typeface="Georgia" pitchFamily="34" charset="-120"/>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art" descr="A grid of closed doors with one door open and warm light spilling across the floor">    </p:cNvPr>
          <p:cNvPicPr>
            <a:picLocks noChangeAspect="1"/>
          </p:cNvPicPr>
          <p:nvPr/>
        </p:nvPicPr>
        <p:blipFill>
          <a:blip r:embed="rId1"/>
          <a:stretch>
            <a:fillRect/>
          </a:stretch>
        </p:blipFill>
        <p:spPr>
          <a:xfrm>
            <a:off x="6339535" y="0"/>
            <a:ext cx="5852160" cy="6858000"/>
          </a:xfrm>
          <a:prstGeom prst="rect">
            <a:avLst/>
          </a:prstGeom>
        </p:spPr>
      </p:pic>
      <p:sp>
        <p:nvSpPr>
          <p:cNvPr id="3" name="Text 0"/>
          <p:cNvSpPr/>
          <p:nvPr>
            <p:ph idx="100" type="body" hasCustomPrompt="1"/>
          </p:nvPr>
        </p:nvSpPr>
        <p:spPr>
          <a:xfrm>
            <a:off x="640080" y="1097280"/>
            <a:ext cx="5120640" cy="274320"/>
          </a:xfrm>
          <a:prstGeom prst="rect">
            <a:avLst/>
          </a:prstGeom>
          <a:noFill/>
          <a:ln/>
        </p:spPr>
        <p:txBody>
          <a:bodyPr wrap="square" lIns="0" tIns="0" rIns="0" bIns="0" rtlCol="0"/>
          <a:lstStyle/>
          <a:p>
            <a:pPr indent="0" marL="0">
              <a:buNone/>
            </a:pPr>
            <a:r>
              <a:rPr lang="en-US" sz="1100" b="1" spc="300" kern="0" dirty="0">
                <a:solidFill>
                  <a:schemeClr val="accent2"/>
                </a:solidFill>
                <a:latin typeface="Arial" pitchFamily="34" charset="0"/>
                <a:ea typeface="Arial" pitchFamily="34" charset="-122"/>
                <a:cs typeface="Arial" pitchFamily="34" charset="-120"/>
              </a:rPr>
              <a:t>PARTNER PROPOSAL</a:t>
            </a:r>
            <a:endParaRPr lang="en-US" sz="1100" dirty="0"/>
          </a:p>
        </p:txBody>
      </p:sp>
      <p:sp>
        <p:nvSpPr>
          <p:cNvPr id="4" name="Text 0"/>
          <p:cNvSpPr/>
          <p:nvPr>
            <p:ph idx="101" type="title" hasCustomPrompt="1"/>
          </p:nvPr>
        </p:nvSpPr>
        <p:spPr>
          <a:xfrm>
            <a:off x="640080" y="1920240"/>
            <a:ext cx="5303520" cy="1371600"/>
          </a:xfrm>
          <a:prstGeom prst="rect">
            <a:avLst/>
          </a:prstGeom>
          <a:noFill/>
          <a:ln/>
        </p:spPr>
        <p:txBody>
          <a:bodyPr wrap="square" lIns="0" tIns="0" rIns="0" bIns="0" rtlCol="0" anchor="t"/>
          <a:lstStyle/>
          <a:p>
            <a:pPr algn="l" indent="0" marL="0">
              <a:buNone/>
            </a:pPr>
            <a:r>
              <a:rPr lang="en-US" sz="6000" dirty="0">
                <a:solidFill>
                  <a:schemeClr val="bg1"/>
                </a:solidFill>
                <a:latin typeface="Georgia" pitchFamily="34" charset="0"/>
                <a:ea typeface="Georgia" pitchFamily="34" charset="-122"/>
                <a:cs typeface="Georgia" pitchFamily="34" charset="-120"/>
              </a:rPr>
              <a:t>Knock</a:t>
            </a:r>
            <a:endParaRPr lang="en-US" sz="6000" dirty="0"/>
          </a:p>
        </p:txBody>
      </p:sp>
      <p:sp>
        <p:nvSpPr>
          <p:cNvPr id="5" name="text-1"/>
          <p:cNvSpPr txBox="1"/>
          <p:nvPr/>
        </p:nvSpPr>
        <p:spPr>
          <a:xfrm>
            <a:off x="640080" y="3246120"/>
            <a:ext cx="5303520" cy="640080"/>
          </a:xfrm>
          <a:prstGeom prst="rect">
            <a:avLst/>
          </a:prstGeom>
          <a:noFill/>
          <a:ln/>
        </p:spPr>
        <p:txBody>
          <a:bodyPr wrap="square" lIns="0" tIns="0" rIns="0" bIns="0" rtlCol="0" anchor="t"/>
          <a:lstStyle/>
          <a:p>
            <a:pPr indent="0" marL="0">
              <a:buNone/>
            </a:pPr>
            <a:r>
              <a:rPr lang="en-US" sz="2800" i="1" dirty="0">
                <a:solidFill>
                  <a:schemeClr val="accent6"/>
                </a:solidFill>
                <a:latin typeface="Georgia" pitchFamily="34" charset="0"/>
                <a:ea typeface="Georgia" pitchFamily="34" charset="-122"/>
                <a:cs typeface="Georgia" pitchFamily="34" charset="-120"/>
              </a:rPr>
              <a:t>Knock on the right door.</a:t>
            </a:r>
            <a:endParaRPr lang="en-US" sz="2800" dirty="0"/>
          </a:p>
        </p:txBody>
      </p:sp>
      <p:sp>
        <p:nvSpPr>
          <p:cNvPr id="6" name="text-2"/>
          <p:cNvSpPr txBox="1"/>
          <p:nvPr/>
        </p:nvSpPr>
        <p:spPr>
          <a:xfrm>
            <a:off x="640080" y="4160520"/>
            <a:ext cx="5303520" cy="411480"/>
          </a:xfrm>
          <a:prstGeom prst="rect">
            <a:avLst/>
          </a:prstGeom>
          <a:noFill/>
          <a:ln/>
        </p:spPr>
        <p:txBody>
          <a:bodyPr wrap="square" lIns="0" tIns="0" rIns="0" bIns="0" rtlCol="0" anchor="t"/>
          <a:lstStyle/>
          <a:p>
            <a:pPr indent="0" marL="0">
              <a:buNone/>
            </a:pPr>
            <a:r>
              <a:rPr lang="en-US" sz="1800" dirty="0">
                <a:solidFill>
                  <a:schemeClr val="bg1"/>
                </a:solidFill>
                <a:latin typeface="Arial" pitchFamily="34" charset="0"/>
                <a:ea typeface="Arial" pitchFamily="34" charset="-122"/>
                <a:cs typeface="Arial" pitchFamily="34" charset="-120"/>
              </a:rPr>
              <a:t>A founding partnership for &lt;Club name&gt;</a:t>
            </a:r>
            <a:endParaRPr lang="en-US" sz="1800" dirty="0"/>
          </a:p>
        </p:txBody>
      </p:sp>
      <p:sp>
        <p:nvSpPr>
          <p:cNvPr id="7" name="text-3"/>
          <p:cNvSpPr txBox="1"/>
          <p:nvPr/>
        </p:nvSpPr>
        <p:spPr>
          <a:xfrm>
            <a:off x="640080" y="4709160"/>
            <a:ext cx="4937760" cy="914400"/>
          </a:xfrm>
          <a:prstGeom prst="rect">
            <a:avLst/>
          </a:prstGeom>
          <a:noFill/>
          <a:ln/>
        </p:spPr>
        <p:txBody>
          <a:bodyPr wrap="square" lIns="0" tIns="0" rIns="0" bIns="0" rtlCol="0" anchor="t"/>
          <a:lstStyle/>
          <a:p>
            <a:pPr indent="0" marL="0">
              <a:lnSpc>
                <a:spcPct val="115000"/>
              </a:lnSpc>
              <a:buNone/>
            </a:pPr>
            <a:r>
              <a:rPr lang="en-US" sz="1250" dirty="0">
                <a:solidFill>
                  <a:schemeClr val="accent4"/>
                </a:solidFill>
                <a:latin typeface="Arial" pitchFamily="34" charset="0"/>
                <a:ea typeface="Arial" pitchFamily="34" charset="-122"/>
                <a:cs typeface="Arial" pitchFamily="34" charset="-120"/>
              </a:rPr>
              <a:t>A private career outbound service for your students and alumni: the right people at their target companies, a personal first message to each, and guidance until it becomes a referral or an interview.</a:t>
            </a:r>
            <a:endParaRPr lang="en-US" sz="1250" dirty="0"/>
          </a:p>
        </p:txBody>
      </p:sp>
      <p:sp>
        <p:nvSpPr>
          <p:cNvPr id="8" name="text-4"/>
          <p:cNvSpPr txBox="1"/>
          <p:nvPr/>
        </p:nvSpPr>
        <p:spPr>
          <a:xfrm>
            <a:off x="640080" y="6172200"/>
            <a:ext cx="3657600" cy="274320"/>
          </a:xfrm>
          <a:prstGeom prst="rect">
            <a:avLst/>
          </a:prstGeom>
          <a:noFill/>
          <a:ln/>
        </p:spPr>
        <p:txBody>
          <a:bodyPr wrap="square" lIns="0" tIns="0" rIns="0" bIns="0" rtlCol="0" anchor="t"/>
          <a:lstStyle/>
          <a:p>
            <a:pPr indent="0" marL="0">
              <a:buNone/>
            </a:pPr>
            <a:r>
              <a:rPr lang="en-US" sz="1100" spc="100" kern="0" dirty="0">
                <a:solidFill>
                  <a:schemeClr val="accent2"/>
                </a:solidFill>
                <a:latin typeface="Arial" pitchFamily="34" charset="0"/>
                <a:ea typeface="Arial" pitchFamily="34" charset="-122"/>
                <a:cs typeface="Arial" pitchFamily="34" charset="-120"/>
              </a:rPr>
              <a:t>hello@knock.careers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640080" y="502920"/>
            <a:ext cx="10911535" cy="274320"/>
          </a:xfrm>
          <a:prstGeom prst="rect">
            <a:avLst/>
          </a:prstGeom>
          <a:noFill/>
          <a:ln/>
        </p:spPr>
        <p:txBody>
          <a:bodyPr wrap="square" lIns="0" tIns="0" rIns="0" bIns="0" rtlCol="0" anchor="t"/>
          <a:lstStyle/>
          <a:p>
            <a:pPr indent="0" marL="0">
              <a:buNone/>
            </a:pPr>
            <a:r>
              <a:rPr lang="en-US" sz="1100" b="1" spc="300" kern="0" dirty="0">
                <a:solidFill>
                  <a:schemeClr val="accent1"/>
                </a:solidFill>
                <a:latin typeface="Arial" pitchFamily="34" charset="0"/>
                <a:ea typeface="Arial" pitchFamily="34" charset="-122"/>
                <a:cs typeface="Arial" pitchFamily="34" charset="-120"/>
              </a:rPr>
              <a:t>01   THE PROBLEM</a:t>
            </a:r>
            <a:endParaRPr lang="en-US" sz="1100" dirty="0"/>
          </a:p>
        </p:txBody>
      </p:sp>
      <p:sp>
        <p:nvSpPr>
          <p:cNvPr id="3" name="Text 1"/>
          <p:cNvSpPr/>
          <p:nvPr>
            <p:ph idx="102" type="title" hasCustomPrompt="1"/>
          </p:nvPr>
        </p:nvSpPr>
        <p:spPr>
          <a:xfrm>
            <a:off x="640080" y="822960"/>
            <a:ext cx="10241280" cy="1051560"/>
          </a:xfrm>
          <a:prstGeom prst="rect">
            <a:avLst/>
          </a:prstGeom>
          <a:noFill/>
          <a:ln/>
        </p:spPr>
        <p:txBody>
          <a:bodyPr wrap="square" lIns="0" tIns="0" rIns="0" bIns="0" rtlCol="0" anchor="t"/>
          <a:lstStyle/>
          <a:p>
            <a:pPr algn="l" indent="0" marL="0">
              <a:lnSpc>
                <a:spcPct val="95000"/>
              </a:lnSpc>
              <a:buNone/>
            </a:pPr>
            <a:r>
              <a:rPr lang="en-US" sz="3000" dirty="0">
                <a:solidFill>
                  <a:schemeClr val="tx1"/>
                </a:solidFill>
                <a:latin typeface="Georgia" pitchFamily="34" charset="0"/>
                <a:ea typeface="Georgia" pitchFamily="34" charset="-122"/>
                <a:cs typeface="Georgia" pitchFamily="34" charset="-120"/>
              </a:rPr>
              <a:t>Job portals turn a search into hundreds of applications and very few replies</a:t>
            </a:r>
            <a:endParaRPr lang="en-US" sz="3000" dirty="0"/>
          </a:p>
        </p:txBody>
      </p:sp>
      <p:sp>
        <p:nvSpPr>
          <p:cNvPr id="4" name="text-5"/>
          <p:cNvSpPr txBox="1"/>
          <p:nvPr/>
        </p:nvSpPr>
        <p:spPr>
          <a:xfrm>
            <a:off x="640080" y="2240280"/>
            <a:ext cx="548640" cy="365760"/>
          </a:xfrm>
          <a:prstGeom prst="rect">
            <a:avLst/>
          </a:prstGeom>
          <a:noFill/>
          <a:ln/>
        </p:spPr>
        <p:txBody>
          <a:bodyPr wrap="square" lIns="0" tIns="0" rIns="0" bIns="0" rtlCol="0" anchor="t"/>
          <a:lstStyle/>
          <a:p>
            <a:pPr indent="0" marL="0">
              <a:buNone/>
            </a:pPr>
            <a:r>
              <a:rPr lang="en-US" sz="1800" dirty="0">
                <a:solidFill>
                  <a:schemeClr val="accent1"/>
                </a:solidFill>
                <a:latin typeface="Georgia" pitchFamily="34" charset="0"/>
                <a:ea typeface="Georgia" pitchFamily="34" charset="-122"/>
                <a:cs typeface="Georgia" pitchFamily="34" charset="-120"/>
              </a:rPr>
              <a:t>01</a:t>
            </a:r>
            <a:endParaRPr lang="en-US" sz="1800" dirty="0"/>
          </a:p>
        </p:txBody>
      </p:sp>
      <p:sp>
        <p:nvSpPr>
          <p:cNvPr id="5" name="text-6"/>
          <p:cNvSpPr txBox="1"/>
          <p:nvPr/>
        </p:nvSpPr>
        <p:spPr>
          <a:xfrm>
            <a:off x="1280160" y="2240280"/>
            <a:ext cx="5760720" cy="365760"/>
          </a:xfrm>
          <a:prstGeom prst="rect">
            <a:avLst/>
          </a:prstGeom>
          <a:noFill/>
          <a:ln/>
        </p:spPr>
        <p:txBody>
          <a:bodyPr wrap="square" lIns="0" tIns="0" rIns="0" bIns="0" rtlCol="0" anchor="t"/>
          <a:lstStyle/>
          <a:p>
            <a:pPr indent="0" marL="0">
              <a:buNone/>
            </a:pPr>
            <a:r>
              <a:rPr lang="en-US" sz="1550" b="1" dirty="0">
                <a:solidFill>
                  <a:schemeClr val="tx1"/>
                </a:solidFill>
                <a:latin typeface="Arial" pitchFamily="34" charset="0"/>
                <a:ea typeface="Arial" pitchFamily="34" charset="-122"/>
                <a:cs typeface="Arial" pitchFamily="34" charset="-120"/>
              </a:rPr>
              <a:t>Off-campus and lateral searches run through portals.</a:t>
            </a:r>
            <a:endParaRPr lang="en-US" sz="1550" dirty="0"/>
          </a:p>
        </p:txBody>
      </p:sp>
      <p:sp>
        <p:nvSpPr>
          <p:cNvPr id="6" name="text-7"/>
          <p:cNvSpPr txBox="1"/>
          <p:nvPr/>
        </p:nvSpPr>
        <p:spPr>
          <a:xfrm>
            <a:off x="1280160" y="2624328"/>
            <a:ext cx="5760720" cy="365760"/>
          </a:xfrm>
          <a:prstGeom prst="rect">
            <a:avLst/>
          </a:prstGeom>
          <a:noFill/>
          <a:ln/>
        </p:spPr>
        <p:txBody>
          <a:bodyPr wrap="square" lIns="0" tIns="0" rIns="0" bIns="0" rtlCol="0" anchor="t"/>
          <a:lstStyle/>
          <a:p>
            <a:pPr indent="0" marL="0">
              <a:buNone/>
            </a:pPr>
            <a:r>
              <a:rPr lang="en-US" sz="1350" dirty="0">
                <a:solidFill>
                  <a:schemeClr val="accent3"/>
                </a:solidFill>
                <a:latin typeface="Arial" pitchFamily="34" charset="0"/>
                <a:ea typeface="Arial" pitchFamily="34" charset="-122"/>
                <a:cs typeface="Arial" pitchFamily="34" charset="-120"/>
              </a:rPr>
              <a:t>The same listing reaches thousands of people at once.</a:t>
            </a:r>
            <a:endParaRPr lang="en-US" sz="1350" dirty="0"/>
          </a:p>
        </p:txBody>
      </p:sp>
      <p:sp>
        <p:nvSpPr>
          <p:cNvPr id="7" name="text-8"/>
          <p:cNvSpPr txBox="1"/>
          <p:nvPr/>
        </p:nvSpPr>
        <p:spPr>
          <a:xfrm>
            <a:off x="640080" y="3227832"/>
            <a:ext cx="548640" cy="365760"/>
          </a:xfrm>
          <a:prstGeom prst="rect">
            <a:avLst/>
          </a:prstGeom>
          <a:noFill/>
          <a:ln/>
        </p:spPr>
        <p:txBody>
          <a:bodyPr wrap="square" lIns="0" tIns="0" rIns="0" bIns="0" rtlCol="0" anchor="t"/>
          <a:lstStyle/>
          <a:p>
            <a:pPr indent="0" marL="0">
              <a:buNone/>
            </a:pPr>
            <a:r>
              <a:rPr lang="en-US" sz="1800" dirty="0">
                <a:solidFill>
                  <a:schemeClr val="accent1"/>
                </a:solidFill>
                <a:latin typeface="Georgia" pitchFamily="34" charset="0"/>
                <a:ea typeface="Georgia" pitchFamily="34" charset="-122"/>
                <a:cs typeface="Georgia" pitchFamily="34" charset="-120"/>
              </a:rPr>
              <a:t>02</a:t>
            </a:r>
            <a:endParaRPr lang="en-US" sz="1800" dirty="0"/>
          </a:p>
        </p:txBody>
      </p:sp>
      <p:sp>
        <p:nvSpPr>
          <p:cNvPr id="8" name="text-9"/>
          <p:cNvSpPr txBox="1"/>
          <p:nvPr/>
        </p:nvSpPr>
        <p:spPr>
          <a:xfrm>
            <a:off x="1280160" y="3227832"/>
            <a:ext cx="5760720" cy="365760"/>
          </a:xfrm>
          <a:prstGeom prst="rect">
            <a:avLst/>
          </a:prstGeom>
          <a:noFill/>
          <a:ln/>
        </p:spPr>
        <p:txBody>
          <a:bodyPr wrap="square" lIns="0" tIns="0" rIns="0" bIns="0" rtlCol="0" anchor="t"/>
          <a:lstStyle/>
          <a:p>
            <a:pPr indent="0" marL="0">
              <a:buNone/>
            </a:pPr>
            <a:r>
              <a:rPr lang="en-US" sz="1550" b="1" dirty="0">
                <a:solidFill>
                  <a:schemeClr val="tx1"/>
                </a:solidFill>
                <a:latin typeface="Arial" pitchFamily="34" charset="0"/>
                <a:ea typeface="Arial" pitchFamily="34" charset="-122"/>
                <a:cs typeface="Arial" pitchFamily="34" charset="-120"/>
              </a:rPr>
              <a:t>Each application joins a pile that is barely skimmed.</a:t>
            </a:r>
            <a:endParaRPr lang="en-US" sz="1550" dirty="0"/>
          </a:p>
        </p:txBody>
      </p:sp>
      <p:sp>
        <p:nvSpPr>
          <p:cNvPr id="9" name="text-10"/>
          <p:cNvSpPr txBox="1"/>
          <p:nvPr/>
        </p:nvSpPr>
        <p:spPr>
          <a:xfrm>
            <a:off x="1280160" y="3611880"/>
            <a:ext cx="5760720" cy="365760"/>
          </a:xfrm>
          <a:prstGeom prst="rect">
            <a:avLst/>
          </a:prstGeom>
          <a:noFill/>
          <a:ln/>
        </p:spPr>
        <p:txBody>
          <a:bodyPr wrap="square" lIns="0" tIns="0" rIns="0" bIns="0" rtlCol="0" anchor="t"/>
          <a:lstStyle/>
          <a:p>
            <a:pPr indent="0" marL="0">
              <a:buNone/>
            </a:pPr>
            <a:r>
              <a:rPr lang="en-US" sz="1350" dirty="0">
                <a:solidFill>
                  <a:schemeClr val="accent3"/>
                </a:solidFill>
                <a:latin typeface="Arial" pitchFamily="34" charset="0"/>
                <a:ea typeface="Arial" pitchFamily="34" charset="-122"/>
                <a:cs typeface="Arial" pitchFamily="34" charset="-120"/>
              </a:rPr>
              <a:t>Keywords decide before any person does.</a:t>
            </a:r>
            <a:endParaRPr lang="en-US" sz="1350" dirty="0"/>
          </a:p>
        </p:txBody>
      </p:sp>
      <p:sp>
        <p:nvSpPr>
          <p:cNvPr id="10" name="text-11"/>
          <p:cNvSpPr txBox="1"/>
          <p:nvPr/>
        </p:nvSpPr>
        <p:spPr>
          <a:xfrm>
            <a:off x="640080" y="4215384"/>
            <a:ext cx="548640" cy="365760"/>
          </a:xfrm>
          <a:prstGeom prst="rect">
            <a:avLst/>
          </a:prstGeom>
          <a:noFill/>
          <a:ln/>
        </p:spPr>
        <p:txBody>
          <a:bodyPr wrap="square" lIns="0" tIns="0" rIns="0" bIns="0" rtlCol="0" anchor="t"/>
          <a:lstStyle/>
          <a:p>
            <a:pPr indent="0" marL="0">
              <a:buNone/>
            </a:pPr>
            <a:r>
              <a:rPr lang="en-US" sz="1800" dirty="0">
                <a:solidFill>
                  <a:schemeClr val="accent1"/>
                </a:solidFill>
                <a:latin typeface="Georgia" pitchFamily="34" charset="0"/>
                <a:ea typeface="Georgia" pitchFamily="34" charset="-122"/>
                <a:cs typeface="Georgia" pitchFamily="34" charset="-120"/>
              </a:rPr>
              <a:t>03</a:t>
            </a:r>
            <a:endParaRPr lang="en-US" sz="1800" dirty="0"/>
          </a:p>
        </p:txBody>
      </p:sp>
      <p:sp>
        <p:nvSpPr>
          <p:cNvPr id="11" name="text-12"/>
          <p:cNvSpPr txBox="1"/>
          <p:nvPr/>
        </p:nvSpPr>
        <p:spPr>
          <a:xfrm>
            <a:off x="1280160" y="4215384"/>
            <a:ext cx="5760720" cy="365760"/>
          </a:xfrm>
          <a:prstGeom prst="rect">
            <a:avLst/>
          </a:prstGeom>
          <a:noFill/>
          <a:ln/>
        </p:spPr>
        <p:txBody>
          <a:bodyPr wrap="square" lIns="0" tIns="0" rIns="0" bIns="0" rtlCol="0" anchor="t"/>
          <a:lstStyle/>
          <a:p>
            <a:pPr indent="0" marL="0">
              <a:buNone/>
            </a:pPr>
            <a:r>
              <a:rPr lang="en-US" sz="1550" b="1" dirty="0">
                <a:solidFill>
                  <a:schemeClr val="tx1"/>
                </a:solidFill>
                <a:latin typeface="Arial" pitchFamily="34" charset="0"/>
                <a:ea typeface="Arial" pitchFamily="34" charset="-122"/>
                <a:cs typeface="Arial" pitchFamily="34" charset="-120"/>
              </a:rPr>
              <a:t>Most get no reply, however strong the profile.</a:t>
            </a:r>
            <a:endParaRPr lang="en-US" sz="1550" dirty="0"/>
          </a:p>
        </p:txBody>
      </p:sp>
      <p:sp>
        <p:nvSpPr>
          <p:cNvPr id="12" name="text-13"/>
          <p:cNvSpPr txBox="1"/>
          <p:nvPr/>
        </p:nvSpPr>
        <p:spPr>
          <a:xfrm>
            <a:off x="1280160" y="4599432"/>
            <a:ext cx="5760720" cy="365760"/>
          </a:xfrm>
          <a:prstGeom prst="rect">
            <a:avLst/>
          </a:prstGeom>
          <a:noFill/>
          <a:ln/>
        </p:spPr>
        <p:txBody>
          <a:bodyPr wrap="square" lIns="0" tIns="0" rIns="0" bIns="0" rtlCol="0" anchor="t"/>
          <a:lstStyle/>
          <a:p>
            <a:pPr indent="0" marL="0">
              <a:buNone/>
            </a:pPr>
            <a:r>
              <a:rPr lang="en-US" sz="1350" dirty="0">
                <a:solidFill>
                  <a:schemeClr val="accent3"/>
                </a:solidFill>
                <a:latin typeface="Arial" pitchFamily="34" charset="0"/>
                <a:ea typeface="Arial" pitchFamily="34" charset="-122"/>
                <a:cs typeface="Arial" pitchFamily="34" charset="-120"/>
              </a:rPr>
              <a:t>Silence teaches nothing, so students simply apply more.</a:t>
            </a:r>
            <a:endParaRPr lang="en-US" sz="1350" dirty="0"/>
          </a:p>
        </p:txBody>
      </p:sp>
      <p:sp>
        <p:nvSpPr>
          <p:cNvPr id="13" name="text-14"/>
          <p:cNvSpPr txBox="1"/>
          <p:nvPr/>
        </p:nvSpPr>
        <p:spPr>
          <a:xfrm>
            <a:off x="640080" y="5349240"/>
            <a:ext cx="5669280" cy="640080"/>
          </a:xfrm>
          <a:prstGeom prst="rect">
            <a:avLst/>
          </a:prstGeom>
          <a:noFill/>
          <a:ln/>
        </p:spPr>
        <p:txBody>
          <a:bodyPr wrap="square" lIns="0" tIns="0" rIns="0" bIns="0" rtlCol="0" anchor="t"/>
          <a:lstStyle/>
          <a:p>
            <a:pPr indent="0" marL="0">
              <a:buNone/>
            </a:pPr>
            <a:r>
              <a:rPr lang="en-US" sz="3200" i="1" dirty="0">
                <a:solidFill>
                  <a:schemeClr val="tx1"/>
                </a:solidFill>
                <a:latin typeface="Georgia" pitchFamily="34" charset="0"/>
                <a:ea typeface="Georgia" pitchFamily="34" charset="-122"/>
                <a:cs typeface="Georgia" pitchFamily="34" charset="-120"/>
              </a:rPr>
              <a:t>People hire people.</a:t>
            </a:r>
            <a:endParaRPr lang="en-US" sz="3200" dirty="0"/>
          </a:p>
        </p:txBody>
      </p:sp>
      <p:pic>
        <p:nvPicPr>
          <p:cNvPr id="14" name="portal-art" descr="A dense grid of identical applications with only three highlighted as answered">    </p:cNvPr>
          <p:cNvPicPr>
            <a:picLocks noChangeAspect="1"/>
          </p:cNvPicPr>
          <p:nvPr/>
        </p:nvPicPr>
        <p:blipFill>
          <a:blip r:embed="rId1"/>
          <a:stretch>
            <a:fillRect/>
          </a:stretch>
        </p:blipFill>
        <p:spPr>
          <a:xfrm>
            <a:off x="7360920" y="2011680"/>
            <a:ext cx="4023360" cy="4023360"/>
          </a:xfrm>
          <a:prstGeom prst="rect">
            <a:avLst/>
          </a:prstGeom>
        </p:spPr>
      </p:pic>
      <p:sp>
        <p:nvSpPr>
          <p:cNvPr id="15" name="text-15"/>
          <p:cNvSpPr txBox="1"/>
          <p:nvPr/>
        </p:nvSpPr>
        <p:spPr>
          <a:xfrm>
            <a:off x="7360920" y="6053328"/>
            <a:ext cx="4023360" cy="274320"/>
          </a:xfrm>
          <a:prstGeom prst="rect">
            <a:avLst/>
          </a:prstGeom>
          <a:noFill/>
          <a:ln/>
        </p:spPr>
        <p:txBody>
          <a:bodyPr wrap="square" lIns="0" tIns="0" rIns="0" bIns="0" rtlCol="0" anchor="t"/>
          <a:lstStyle/>
          <a:p>
            <a:pPr indent="0" marL="0">
              <a:buNone/>
            </a:pPr>
            <a:r>
              <a:rPr lang="en-US" sz="950" i="1" dirty="0">
                <a:solidFill>
                  <a:schemeClr val="accent3"/>
                </a:solidFill>
                <a:latin typeface="Arial" pitchFamily="34" charset="0"/>
                <a:ea typeface="Arial" pitchFamily="34" charset="-122"/>
                <a:cs typeface="Arial" pitchFamily="34" charset="-120"/>
              </a:rPr>
              <a:t>Illustrative. Each mark is an application; brass marks are the ones that got a reply.</a:t>
            </a:r>
            <a:endParaRPr lang="en-US" sz="95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640080" y="502920"/>
            <a:ext cx="10911535" cy="274320"/>
          </a:xfrm>
          <a:prstGeom prst="rect">
            <a:avLst/>
          </a:prstGeom>
          <a:noFill/>
          <a:ln/>
        </p:spPr>
        <p:txBody>
          <a:bodyPr wrap="square" lIns="0" tIns="0" rIns="0" bIns="0" rtlCol="0" anchor="t"/>
          <a:lstStyle/>
          <a:p>
            <a:pPr indent="0" marL="0">
              <a:buNone/>
            </a:pPr>
            <a:r>
              <a:rPr lang="en-US" sz="1100" b="1" spc="300" kern="0" dirty="0">
                <a:solidFill>
                  <a:schemeClr val="accent1"/>
                </a:solidFill>
                <a:latin typeface="Arial" pitchFamily="34" charset="0"/>
                <a:ea typeface="Arial" pitchFamily="34" charset="-122"/>
                <a:cs typeface="Arial" pitchFamily="34" charset="-120"/>
              </a:rPr>
              <a:t>02   WHAT ALREADY WORKS</a:t>
            </a:r>
            <a:endParaRPr lang="en-US" sz="1100" dirty="0"/>
          </a:p>
        </p:txBody>
      </p:sp>
      <p:sp>
        <p:nvSpPr>
          <p:cNvPr id="3" name="Text 1"/>
          <p:cNvSpPr/>
          <p:nvPr>
            <p:ph idx="102" type="title" hasCustomPrompt="1"/>
          </p:nvPr>
        </p:nvSpPr>
        <p:spPr>
          <a:xfrm>
            <a:off x="640080" y="822960"/>
            <a:ext cx="10241280" cy="1051560"/>
          </a:xfrm>
          <a:prstGeom prst="rect">
            <a:avLst/>
          </a:prstGeom>
          <a:noFill/>
          <a:ln/>
        </p:spPr>
        <p:txBody>
          <a:bodyPr wrap="square" lIns="0" tIns="0" rIns="0" bIns="0" rtlCol="0" anchor="t"/>
          <a:lstStyle/>
          <a:p>
            <a:pPr algn="l" indent="0" marL="0">
              <a:lnSpc>
                <a:spcPct val="95000"/>
              </a:lnSpc>
              <a:buNone/>
            </a:pPr>
            <a:r>
              <a:rPr lang="en-US" sz="3000" dirty="0">
                <a:solidFill>
                  <a:schemeClr val="tx1"/>
                </a:solidFill>
                <a:latin typeface="Georgia" pitchFamily="34" charset="0"/>
                <a:ea typeface="Georgia" pitchFamily="34" charset="-122"/>
                <a:cs typeface="Georgia" pitchFamily="34" charset="-120"/>
              </a:rPr>
              <a:t>Referrals and warm conversations already beat cold applications</a:t>
            </a:r>
            <a:endParaRPr lang="en-US" sz="3000" dirty="0"/>
          </a:p>
        </p:txBody>
      </p:sp>
      <p:sp>
        <p:nvSpPr>
          <p:cNvPr id="4" name="card-16"/>
          <p:cNvSpPr/>
          <p:nvPr/>
        </p:nvSpPr>
        <p:spPr>
          <a:xfrm>
            <a:off x="640080" y="2148840"/>
            <a:ext cx="5074920" cy="3246120"/>
          </a:xfrm>
          <a:prstGeom prst="rect">
            <a:avLst/>
          </a:prstGeom>
          <a:solidFill>
            <a:schemeClr val="bg2"/>
          </a:solidFill>
          <a:ln/>
        </p:spPr>
      </p:sp>
      <p:sp>
        <p:nvSpPr>
          <p:cNvPr id="5" name="door-17"/>
          <p:cNvSpPr/>
          <p:nvPr/>
        </p:nvSpPr>
        <p:spPr>
          <a:xfrm>
            <a:off x="1051560" y="2560320"/>
            <a:ext cx="384048" cy="676656"/>
          </a:xfrm>
          <a:prstGeom prst="rect">
            <a:avLst/>
          </a:prstGeom>
          <a:ln w="15875">
            <a:solidFill>
              <a:schemeClr val="accent4"/>
            </a:solidFill>
            <a:prstDash val="solid"/>
          </a:ln>
        </p:spPr>
      </p:sp>
      <p:sp>
        <p:nvSpPr>
          <p:cNvPr id="6" name="door-knob-18"/>
          <p:cNvSpPr/>
          <p:nvPr/>
        </p:nvSpPr>
        <p:spPr>
          <a:xfrm>
            <a:off x="1335756" y="2912181"/>
            <a:ext cx="38405" cy="38405"/>
          </a:xfrm>
          <a:prstGeom prst="ellipse">
            <a:avLst/>
          </a:prstGeom>
          <a:solidFill>
            <a:schemeClr val="accent4"/>
          </a:solidFill>
          <a:ln/>
        </p:spPr>
      </p:sp>
      <p:sp>
        <p:nvSpPr>
          <p:cNvPr id="7" name="text-19"/>
          <p:cNvSpPr txBox="1"/>
          <p:nvPr/>
        </p:nvSpPr>
        <p:spPr>
          <a:xfrm>
            <a:off x="1645920" y="2606040"/>
            <a:ext cx="3657600" cy="365760"/>
          </a:xfrm>
          <a:prstGeom prst="rect">
            <a:avLst/>
          </a:prstGeom>
          <a:noFill/>
          <a:ln/>
        </p:spPr>
        <p:txBody>
          <a:bodyPr wrap="square" lIns="0" tIns="0" rIns="0" bIns="0" rtlCol="0" anchor="t"/>
          <a:lstStyle/>
          <a:p>
            <a:pPr indent="0" marL="0">
              <a:buNone/>
            </a:pPr>
            <a:r>
              <a:rPr lang="en-US" sz="2200" dirty="0">
                <a:solidFill>
                  <a:schemeClr val="tx1"/>
                </a:solidFill>
                <a:latin typeface="Georgia" pitchFamily="34" charset="0"/>
                <a:ea typeface="Georgia" pitchFamily="34" charset="-122"/>
                <a:cs typeface="Georgia" pitchFamily="34" charset="-120"/>
              </a:rPr>
              <a:t>Cold application</a:t>
            </a:r>
            <a:endParaRPr lang="en-US" sz="2200" dirty="0"/>
          </a:p>
        </p:txBody>
      </p:sp>
      <p:sp>
        <p:nvSpPr>
          <p:cNvPr id="8" name="text-20"/>
          <p:cNvSpPr txBox="1"/>
          <p:nvPr/>
        </p:nvSpPr>
        <p:spPr>
          <a:xfrm>
            <a:off x="1645920" y="2990088"/>
            <a:ext cx="3657600" cy="274320"/>
          </a:xfrm>
          <a:prstGeom prst="rect">
            <a:avLst/>
          </a:prstGeom>
          <a:noFill/>
          <a:ln/>
        </p:spPr>
        <p:txBody>
          <a:bodyPr wrap="square" lIns="0" tIns="0" rIns="0" bIns="0" rtlCol="0" anchor="t"/>
          <a:lstStyle/>
          <a:p>
            <a:pPr indent="0" marL="0">
              <a:buNone/>
            </a:pPr>
            <a:r>
              <a:rPr lang="en-US" sz="1100" dirty="0">
                <a:solidFill>
                  <a:schemeClr val="accent3"/>
                </a:solidFill>
                <a:latin typeface="Arial" pitchFamily="34" charset="0"/>
                <a:ea typeface="Arial" pitchFamily="34" charset="-122"/>
                <a:cs typeface="Arial" pitchFamily="34" charset="-120"/>
              </a:rPr>
              <a:t>What most students do</a:t>
            </a:r>
            <a:endParaRPr lang="en-US" sz="1100" dirty="0"/>
          </a:p>
        </p:txBody>
      </p:sp>
      <p:sp>
        <p:nvSpPr>
          <p:cNvPr id="9" name="cold-list"/>
          <p:cNvSpPr txBox="1"/>
          <p:nvPr/>
        </p:nvSpPr>
        <p:spPr>
          <a:xfrm>
            <a:off x="1051560" y="3566160"/>
            <a:ext cx="4251960" cy="1645920"/>
          </a:xfrm>
          <a:prstGeom prst="rect">
            <a:avLst/>
          </a:prstGeom>
          <a:noFill/>
          <a:ln/>
        </p:spPr>
        <p:txBody>
          <a:bodyPr wrap="square" lIns="0" tIns="0" rIns="0" bIns="0" rtlCol="0" anchor="t"/>
          <a:lstStyle/>
          <a:p>
            <a:pPr marL="203200" indent="-203200">
              <a:spcAft>
                <a:spcPts val="900"/>
              </a:spcAft>
              <a:buSzPct val="100000"/>
              <a:buChar char="•"/>
            </a:pPr>
            <a:r>
              <a:rPr lang="en-US" sz="1450" dirty="0">
                <a:solidFill>
                  <a:schemeClr val="accent3"/>
                </a:solidFill>
                <a:latin typeface="Arial" pitchFamily="34" charset="0"/>
                <a:ea typeface="Arial" pitchFamily="34" charset="-122"/>
                <a:cs typeface="Arial" pitchFamily="34" charset="-120"/>
              </a:rPr>
              <a:t>Lands in a queue with everyone else</a:t>
            </a:r>
            <a:endParaRPr lang="en-US" sz="1450" dirty="0"/>
          </a:p>
          <a:p>
            <a:pPr marL="203200" indent="-203200">
              <a:spcAft>
                <a:spcPts val="900"/>
              </a:spcAft>
              <a:buSzPct val="100000"/>
              <a:buChar char="•"/>
            </a:pPr>
            <a:r>
              <a:rPr lang="en-US" sz="1450" dirty="0">
                <a:solidFill>
                  <a:schemeClr val="accent3"/>
                </a:solidFill>
                <a:latin typeface="Arial" pitchFamily="34" charset="0"/>
                <a:ea typeface="Arial" pitchFamily="34" charset="-122"/>
                <a:cs typeface="Arial" pitchFamily="34" charset="-120"/>
              </a:rPr>
              <a:t>Judged on keywords and a one-page CV</a:t>
            </a:r>
            <a:endParaRPr lang="en-US" sz="1450" dirty="0"/>
          </a:p>
          <a:p>
            <a:pPr marL="203200" indent="-203200">
              <a:spcAft>
                <a:spcPts val="900"/>
              </a:spcAft>
              <a:buSzPct val="100000"/>
              <a:buChar char="•"/>
            </a:pPr>
            <a:r>
              <a:rPr lang="en-US" sz="1450" dirty="0">
                <a:solidFill>
                  <a:schemeClr val="accent3"/>
                </a:solidFill>
                <a:latin typeface="Arial" pitchFamily="34" charset="0"/>
                <a:ea typeface="Arial" pitchFamily="34" charset="-122"/>
                <a:cs typeface="Arial" pitchFamily="34" charset="-120"/>
              </a:rPr>
              <a:t>No one inside is invested in you</a:t>
            </a:r>
            <a:endParaRPr lang="en-US" sz="1450" dirty="0"/>
          </a:p>
          <a:p>
            <a:pPr marL="203200" indent="-203200">
              <a:spcAft>
                <a:spcPts val="900"/>
              </a:spcAft>
              <a:buSzPct val="100000"/>
              <a:buChar char="•"/>
            </a:pPr>
            <a:r>
              <a:rPr lang="en-US" sz="1450" dirty="0">
                <a:solidFill>
                  <a:schemeClr val="accent3"/>
                </a:solidFill>
                <a:latin typeface="Arial" pitchFamily="34" charset="0"/>
                <a:ea typeface="Arial" pitchFamily="34" charset="-122"/>
                <a:cs typeface="Arial" pitchFamily="34" charset="-120"/>
              </a:rPr>
              <a:t>Silence is the usual answer</a:t>
            </a:r>
            <a:endParaRPr lang="en-US" sz="1450" dirty="0"/>
          </a:p>
        </p:txBody>
      </p:sp>
      <p:sp>
        <p:nvSpPr>
          <p:cNvPr id="10" name="card-21"/>
          <p:cNvSpPr/>
          <p:nvPr/>
        </p:nvSpPr>
        <p:spPr>
          <a:xfrm>
            <a:off x="6446520" y="2148840"/>
            <a:ext cx="5074920" cy="3246120"/>
          </a:xfrm>
          <a:prstGeom prst="rect">
            <a:avLst/>
          </a:prstGeom>
          <a:solidFill>
            <a:schemeClr val="tx1"/>
          </a:solidFill>
          <a:ln/>
        </p:spPr>
      </p:sp>
      <p:sp>
        <p:nvSpPr>
          <p:cNvPr id="11" name="door-open-22"/>
          <p:cNvSpPr/>
          <p:nvPr/>
        </p:nvSpPr>
        <p:spPr>
          <a:xfrm>
            <a:off x="6858000" y="2560320"/>
            <a:ext cx="384048" cy="676656"/>
          </a:xfrm>
          <a:prstGeom prst="rect">
            <a:avLst/>
          </a:prstGeom>
          <a:solidFill>
            <a:schemeClr val="accent6"/>
          </a:solidFill>
          <a:ln w="15875">
            <a:solidFill>
              <a:schemeClr val="accent2"/>
            </a:solidFill>
            <a:prstDash val="solid"/>
          </a:ln>
        </p:spPr>
      </p:sp>
      <p:sp>
        <p:nvSpPr>
          <p:cNvPr id="12" name="door-leaf-23"/>
          <p:cNvSpPr/>
          <p:nvPr/>
        </p:nvSpPr>
        <p:spPr>
          <a:xfrm>
            <a:off x="7096110" y="2587386"/>
            <a:ext cx="145938" cy="622524"/>
          </a:xfrm>
          <a:prstGeom prst="rect">
            <a:avLst/>
          </a:prstGeom>
          <a:solidFill>
            <a:schemeClr val="tx2"/>
          </a:solidFill>
          <a:ln w="12700">
            <a:solidFill>
              <a:schemeClr val="accent2"/>
            </a:solidFill>
            <a:prstDash val="solid"/>
          </a:ln>
        </p:spPr>
      </p:sp>
      <p:sp>
        <p:nvSpPr>
          <p:cNvPr id="13" name="text-24"/>
          <p:cNvSpPr txBox="1"/>
          <p:nvPr/>
        </p:nvSpPr>
        <p:spPr>
          <a:xfrm>
            <a:off x="7452360" y="2606040"/>
            <a:ext cx="3657600" cy="365760"/>
          </a:xfrm>
          <a:prstGeom prst="rect">
            <a:avLst/>
          </a:prstGeom>
          <a:noFill/>
          <a:ln/>
        </p:spPr>
        <p:txBody>
          <a:bodyPr wrap="square" lIns="0" tIns="0" rIns="0" bIns="0" rtlCol="0" anchor="t"/>
          <a:lstStyle/>
          <a:p>
            <a:pPr indent="0" marL="0">
              <a:buNone/>
            </a:pPr>
            <a:r>
              <a:rPr lang="en-US" sz="2200" dirty="0">
                <a:solidFill>
                  <a:schemeClr val="bg1"/>
                </a:solidFill>
                <a:latin typeface="Georgia" pitchFamily="34" charset="0"/>
                <a:ea typeface="Georgia" pitchFamily="34" charset="-122"/>
                <a:cs typeface="Georgia" pitchFamily="34" charset="-120"/>
              </a:rPr>
              <a:t>Warm conversation</a:t>
            </a:r>
            <a:endParaRPr lang="en-US" sz="2200" dirty="0"/>
          </a:p>
        </p:txBody>
      </p:sp>
      <p:sp>
        <p:nvSpPr>
          <p:cNvPr id="14" name="text-25"/>
          <p:cNvSpPr txBox="1"/>
          <p:nvPr/>
        </p:nvSpPr>
        <p:spPr>
          <a:xfrm>
            <a:off x="7452360" y="2990088"/>
            <a:ext cx="3657600" cy="274320"/>
          </a:xfrm>
          <a:prstGeom prst="rect">
            <a:avLst/>
          </a:prstGeom>
          <a:noFill/>
          <a:ln/>
        </p:spPr>
        <p:txBody>
          <a:bodyPr wrap="square" lIns="0" tIns="0" rIns="0" bIns="0" rtlCol="0" anchor="t"/>
          <a:lstStyle/>
          <a:p>
            <a:pPr indent="0" marL="0">
              <a:buNone/>
            </a:pPr>
            <a:r>
              <a:rPr lang="en-US" sz="1100" dirty="0">
                <a:solidFill>
                  <a:schemeClr val="accent2"/>
                </a:solidFill>
                <a:latin typeface="Arial" pitchFamily="34" charset="0"/>
                <a:ea typeface="Arial" pitchFamily="34" charset="-122"/>
                <a:cs typeface="Arial" pitchFamily="34" charset="-120"/>
              </a:rPr>
              <a:t>What already works</a:t>
            </a:r>
            <a:endParaRPr lang="en-US" sz="1100" dirty="0"/>
          </a:p>
        </p:txBody>
      </p:sp>
      <p:sp>
        <p:nvSpPr>
          <p:cNvPr id="15" name="warm-list"/>
          <p:cNvSpPr txBox="1"/>
          <p:nvPr/>
        </p:nvSpPr>
        <p:spPr>
          <a:xfrm>
            <a:off x="6858000" y="3566160"/>
            <a:ext cx="4251960" cy="1645920"/>
          </a:xfrm>
          <a:prstGeom prst="rect">
            <a:avLst/>
          </a:prstGeom>
          <a:noFill/>
          <a:ln/>
        </p:spPr>
        <p:txBody>
          <a:bodyPr wrap="square" lIns="0" tIns="0" rIns="0" bIns="0" rtlCol="0" anchor="t"/>
          <a:lstStyle/>
          <a:p>
            <a:pPr marL="203200" indent="-203200">
              <a:spcAft>
                <a:spcPts val="900"/>
              </a:spcAft>
              <a:buSzPct val="100000"/>
              <a:buChar char="•"/>
            </a:pPr>
            <a:r>
              <a:rPr lang="en-US" sz="1450" dirty="0">
                <a:solidFill>
                  <a:schemeClr val="bg1"/>
                </a:solidFill>
                <a:latin typeface="Arial" pitchFamily="34" charset="0"/>
                <a:ea typeface="Arial" pitchFamily="34" charset="-122"/>
                <a:cs typeface="Arial" pitchFamily="34" charset="-120"/>
              </a:rPr>
              <a:t>Starts with a real person on the team</a:t>
            </a:r>
            <a:endParaRPr lang="en-US" sz="1450" dirty="0"/>
          </a:p>
          <a:p>
            <a:pPr marL="203200" indent="-203200">
              <a:spcAft>
                <a:spcPts val="900"/>
              </a:spcAft>
              <a:buSzPct val="100000"/>
              <a:buChar char="•"/>
            </a:pPr>
            <a:r>
              <a:rPr lang="en-US" sz="1450" dirty="0">
                <a:solidFill>
                  <a:schemeClr val="bg1"/>
                </a:solidFill>
                <a:latin typeface="Arial" pitchFamily="34" charset="0"/>
                <a:ea typeface="Arial" pitchFamily="34" charset="-122"/>
                <a:cs typeface="Arial" pitchFamily="34" charset="-120"/>
              </a:rPr>
              <a:t>Judged on the whole story, not a keyword</a:t>
            </a:r>
            <a:endParaRPr lang="en-US" sz="1450" dirty="0"/>
          </a:p>
          <a:p>
            <a:pPr marL="203200" indent="-203200">
              <a:spcAft>
                <a:spcPts val="900"/>
              </a:spcAft>
              <a:buSzPct val="100000"/>
              <a:buChar char="•"/>
            </a:pPr>
            <a:r>
              <a:rPr lang="en-US" sz="1450" dirty="0">
                <a:solidFill>
                  <a:schemeClr val="bg1"/>
                </a:solidFill>
                <a:latin typeface="Arial" pitchFamily="34" charset="0"/>
                <a:ea typeface="Arial" pitchFamily="34" charset="-122"/>
                <a:cs typeface="Arial" pitchFamily="34" charset="-120"/>
              </a:rPr>
              <a:t>Someone inside can vouch for you</a:t>
            </a:r>
            <a:endParaRPr lang="en-US" sz="1450" dirty="0"/>
          </a:p>
          <a:p>
            <a:pPr marL="203200" indent="-203200">
              <a:spcAft>
                <a:spcPts val="900"/>
              </a:spcAft>
              <a:buSzPct val="100000"/>
              <a:buChar char="•"/>
            </a:pPr>
            <a:r>
              <a:rPr lang="en-US" sz="1450" dirty="0">
                <a:solidFill>
                  <a:schemeClr val="bg1"/>
                </a:solidFill>
                <a:latin typeface="Arial" pitchFamily="34" charset="0"/>
                <a:ea typeface="Arial" pitchFamily="34" charset="-122"/>
                <a:cs typeface="Arial" pitchFamily="34" charset="-120"/>
              </a:rPr>
              <a:t>Leads naturally to referrals and interviews</a:t>
            </a:r>
            <a:endParaRPr lang="en-US" sz="1450" dirty="0"/>
          </a:p>
        </p:txBody>
      </p:sp>
      <p:sp>
        <p:nvSpPr>
          <p:cNvPr id="16" name="arrow"/>
          <p:cNvSpPr/>
          <p:nvPr/>
        </p:nvSpPr>
        <p:spPr>
          <a:xfrm>
            <a:off x="5897880" y="3607308"/>
            <a:ext cx="365760" cy="329184"/>
          </a:xfrm>
          <a:prstGeom prst="rightArrow">
            <a:avLst/>
          </a:prstGeom>
          <a:solidFill>
            <a:schemeClr val="accent1"/>
          </a:solidFill>
          <a:ln/>
        </p:spPr>
      </p:sp>
      <p:sp>
        <p:nvSpPr>
          <p:cNvPr id="17" name="text-26"/>
          <p:cNvSpPr txBox="1"/>
          <p:nvPr/>
        </p:nvSpPr>
        <p:spPr>
          <a:xfrm>
            <a:off x="640080" y="5669280"/>
            <a:ext cx="10911535" cy="365760"/>
          </a:xfrm>
          <a:prstGeom prst="rect">
            <a:avLst/>
          </a:prstGeom>
          <a:noFill/>
          <a:ln/>
        </p:spPr>
        <p:txBody>
          <a:bodyPr wrap="square" lIns="0" tIns="0" rIns="0" bIns="0" rtlCol="0" anchor="t"/>
          <a:lstStyle/>
          <a:p>
            <a:pPr indent="0" marL="0">
              <a:buNone/>
            </a:pPr>
            <a:r>
              <a:rPr lang="en-US" sz="1500" i="1" dirty="0">
                <a:solidFill>
                  <a:schemeClr val="tx1"/>
                </a:solidFill>
                <a:latin typeface="Arial" pitchFamily="34" charset="0"/>
                <a:ea typeface="Arial" pitchFamily="34" charset="-122"/>
                <a:cs typeface="Arial" pitchFamily="34" charset="-120"/>
              </a:rPr>
              <a:t>Every placement team knows this. The hard part is doing it well, for every student, without spamming anyone.</a:t>
            </a:r>
            <a:endParaRPr lang="en-US" sz="150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640080" y="502920"/>
            <a:ext cx="10911535" cy="274320"/>
          </a:xfrm>
          <a:prstGeom prst="rect">
            <a:avLst/>
          </a:prstGeom>
          <a:noFill/>
          <a:ln/>
        </p:spPr>
        <p:txBody>
          <a:bodyPr wrap="square" lIns="0" tIns="0" rIns="0" bIns="0" rtlCol="0" anchor="t"/>
          <a:lstStyle/>
          <a:p>
            <a:pPr indent="0" marL="0">
              <a:buNone/>
            </a:pPr>
            <a:r>
              <a:rPr lang="en-US" sz="1100" b="1" spc="300" kern="0" dirty="0">
                <a:solidFill>
                  <a:schemeClr val="accent1"/>
                </a:solidFill>
                <a:latin typeface="Arial" pitchFamily="34" charset="0"/>
                <a:ea typeface="Arial" pitchFamily="34" charset="-122"/>
                <a:cs typeface="Arial" pitchFamily="34" charset="-120"/>
              </a:rPr>
              <a:t>03   WHAT KNOCK DOES</a:t>
            </a:r>
            <a:endParaRPr lang="en-US" sz="1100" dirty="0"/>
          </a:p>
        </p:txBody>
      </p:sp>
      <p:sp>
        <p:nvSpPr>
          <p:cNvPr id="3" name="Text 1"/>
          <p:cNvSpPr/>
          <p:nvPr>
            <p:ph idx="102" type="title" hasCustomPrompt="1"/>
          </p:nvPr>
        </p:nvSpPr>
        <p:spPr>
          <a:xfrm>
            <a:off x="640080" y="822960"/>
            <a:ext cx="10241280" cy="1051560"/>
          </a:xfrm>
          <a:prstGeom prst="rect">
            <a:avLst/>
          </a:prstGeom>
          <a:noFill/>
          <a:ln/>
        </p:spPr>
        <p:txBody>
          <a:bodyPr wrap="square" lIns="0" tIns="0" rIns="0" bIns="0" rtlCol="0" anchor="t"/>
          <a:lstStyle/>
          <a:p>
            <a:pPr algn="l" indent="0" marL="0">
              <a:lnSpc>
                <a:spcPct val="95000"/>
              </a:lnSpc>
              <a:buNone/>
            </a:pPr>
            <a:r>
              <a:rPr lang="en-US" sz="3000" dirty="0">
                <a:solidFill>
                  <a:schemeClr val="tx1"/>
                </a:solidFill>
                <a:latin typeface="Georgia" pitchFamily="34" charset="0"/>
                <a:ea typeface="Georgia" pitchFamily="34" charset="-122"/>
                <a:cs typeface="Georgia" pitchFamily="34" charset="-120"/>
              </a:rPr>
              <a:t>Knock turns a target list into real conversations in four steps</a:t>
            </a:r>
            <a:endParaRPr lang="en-US" sz="3000" dirty="0"/>
          </a:p>
        </p:txBody>
      </p:sp>
      <p:sp>
        <p:nvSpPr>
          <p:cNvPr id="4" name="door-27"/>
          <p:cNvSpPr/>
          <p:nvPr/>
        </p:nvSpPr>
        <p:spPr>
          <a:xfrm>
            <a:off x="640080" y="2103120"/>
            <a:ext cx="457200" cy="804672"/>
          </a:xfrm>
          <a:prstGeom prst="rect">
            <a:avLst/>
          </a:prstGeom>
          <a:ln w="15875">
            <a:solidFill>
              <a:schemeClr val="accent4"/>
            </a:solidFill>
            <a:prstDash val="solid"/>
          </a:ln>
        </p:spPr>
      </p:sp>
      <p:sp>
        <p:nvSpPr>
          <p:cNvPr id="5" name="door-knob-28"/>
          <p:cNvSpPr/>
          <p:nvPr/>
        </p:nvSpPr>
        <p:spPr>
          <a:xfrm>
            <a:off x="978408" y="2521549"/>
            <a:ext cx="45720" cy="45720"/>
          </a:xfrm>
          <a:prstGeom prst="ellipse">
            <a:avLst/>
          </a:prstGeom>
          <a:solidFill>
            <a:schemeClr val="accent4"/>
          </a:solidFill>
          <a:ln/>
        </p:spPr>
      </p:sp>
      <p:sp>
        <p:nvSpPr>
          <p:cNvPr id="6" name="text-29"/>
          <p:cNvSpPr txBox="1"/>
          <p:nvPr/>
        </p:nvSpPr>
        <p:spPr>
          <a:xfrm>
            <a:off x="1325880" y="2377440"/>
            <a:ext cx="914400" cy="548640"/>
          </a:xfrm>
          <a:prstGeom prst="rect">
            <a:avLst/>
          </a:prstGeom>
          <a:noFill/>
          <a:ln/>
        </p:spPr>
        <p:txBody>
          <a:bodyPr wrap="square" lIns="0" tIns="0" rIns="0" bIns="0" rtlCol="0" anchor="t"/>
          <a:lstStyle/>
          <a:p>
            <a:pPr indent="0" marL="0">
              <a:buNone/>
            </a:pPr>
            <a:r>
              <a:rPr lang="en-US" sz="3000" dirty="0">
                <a:solidFill>
                  <a:schemeClr val="accent1"/>
                </a:solidFill>
                <a:latin typeface="Georgia" pitchFamily="34" charset="0"/>
                <a:ea typeface="Georgia" pitchFamily="34" charset="-122"/>
                <a:cs typeface="Georgia" pitchFamily="34" charset="-120"/>
              </a:rPr>
              <a:t>01</a:t>
            </a:r>
            <a:endParaRPr lang="en-US" sz="3000" dirty="0"/>
          </a:p>
        </p:txBody>
      </p:sp>
      <p:sp>
        <p:nvSpPr>
          <p:cNvPr id="7" name="text-30"/>
          <p:cNvSpPr txBox="1"/>
          <p:nvPr/>
        </p:nvSpPr>
        <p:spPr>
          <a:xfrm>
            <a:off x="640080" y="3200400"/>
            <a:ext cx="2487854" cy="411480"/>
          </a:xfrm>
          <a:prstGeom prst="rect">
            <a:avLst/>
          </a:prstGeom>
          <a:noFill/>
          <a:ln/>
        </p:spPr>
        <p:txBody>
          <a:bodyPr wrap="square" lIns="0" tIns="0" rIns="0" bIns="0" rtlCol="0" anchor="t"/>
          <a:lstStyle/>
          <a:p>
            <a:pPr indent="0" marL="0">
              <a:buNone/>
            </a:pPr>
            <a:r>
              <a:rPr lang="en-US" sz="1650" b="1" dirty="0">
                <a:solidFill>
                  <a:schemeClr val="tx1"/>
                </a:solidFill>
                <a:latin typeface="Arial" pitchFamily="34" charset="0"/>
                <a:ea typeface="Arial" pitchFamily="34" charset="-122"/>
                <a:cs typeface="Arial" pitchFamily="34" charset="-120"/>
              </a:rPr>
              <a:t>You pick the targets</a:t>
            </a:r>
            <a:endParaRPr lang="en-US" sz="1650" dirty="0"/>
          </a:p>
        </p:txBody>
      </p:sp>
      <p:sp>
        <p:nvSpPr>
          <p:cNvPr id="8" name="text-31"/>
          <p:cNvSpPr txBox="1"/>
          <p:nvPr/>
        </p:nvSpPr>
        <p:spPr>
          <a:xfrm>
            <a:off x="640080" y="3639312"/>
            <a:ext cx="2396414" cy="1005840"/>
          </a:xfrm>
          <a:prstGeom prst="rect">
            <a:avLst/>
          </a:prstGeom>
          <a:noFill/>
          <a:ln/>
        </p:spPr>
        <p:txBody>
          <a:bodyPr wrap="square" lIns="0" tIns="0" rIns="0" bIns="0" rtlCol="0" anchor="t"/>
          <a:lstStyle/>
          <a:p>
            <a:pPr indent="0" marL="0">
              <a:lnSpc>
                <a:spcPct val="112000"/>
              </a:lnSpc>
              <a:buNone/>
            </a:pPr>
            <a:r>
              <a:rPr lang="en-US" sz="1350" dirty="0">
                <a:solidFill>
                  <a:schemeClr val="accent3"/>
                </a:solidFill>
                <a:latin typeface="Arial" pitchFamily="34" charset="0"/>
                <a:ea typeface="Arial" pitchFamily="34" charset="-122"/>
                <a:cs typeface="Arial" pitchFamily="34" charset="-120"/>
              </a:rPr>
              <a:t>Choose target companies and roles. We agree the brief together.</a:t>
            </a:r>
            <a:endParaRPr lang="en-US" sz="1350" dirty="0"/>
          </a:p>
        </p:txBody>
      </p:sp>
      <p:sp>
        <p:nvSpPr>
          <p:cNvPr id="9" name="door-32"/>
          <p:cNvSpPr/>
          <p:nvPr/>
        </p:nvSpPr>
        <p:spPr>
          <a:xfrm>
            <a:off x="3447974" y="2103120"/>
            <a:ext cx="457200" cy="804672"/>
          </a:xfrm>
          <a:prstGeom prst="rect">
            <a:avLst/>
          </a:prstGeom>
          <a:ln w="15875">
            <a:solidFill>
              <a:schemeClr val="accent1"/>
            </a:solidFill>
            <a:prstDash val="solid"/>
          </a:ln>
        </p:spPr>
      </p:sp>
      <p:sp>
        <p:nvSpPr>
          <p:cNvPr id="10" name="door-knob-33"/>
          <p:cNvSpPr/>
          <p:nvPr/>
        </p:nvSpPr>
        <p:spPr>
          <a:xfrm>
            <a:off x="3786302" y="2521549"/>
            <a:ext cx="45720" cy="45720"/>
          </a:xfrm>
          <a:prstGeom prst="ellipse">
            <a:avLst/>
          </a:prstGeom>
          <a:solidFill>
            <a:schemeClr val="accent1"/>
          </a:solidFill>
          <a:ln/>
        </p:spPr>
      </p:sp>
      <p:sp>
        <p:nvSpPr>
          <p:cNvPr id="11" name="door-light-34"/>
          <p:cNvSpPr/>
          <p:nvPr/>
        </p:nvSpPr>
        <p:spPr>
          <a:xfrm>
            <a:off x="3475406" y="2867558"/>
            <a:ext cx="402336" cy="28164"/>
          </a:xfrm>
          <a:prstGeom prst="rect">
            <a:avLst/>
          </a:prstGeom>
          <a:solidFill>
            <a:schemeClr val="accent6"/>
          </a:solidFill>
          <a:ln/>
        </p:spPr>
      </p:sp>
      <p:sp>
        <p:nvSpPr>
          <p:cNvPr id="12" name="text-35"/>
          <p:cNvSpPr txBox="1"/>
          <p:nvPr/>
        </p:nvSpPr>
        <p:spPr>
          <a:xfrm>
            <a:off x="4133774" y="2377440"/>
            <a:ext cx="914400" cy="548640"/>
          </a:xfrm>
          <a:prstGeom prst="rect">
            <a:avLst/>
          </a:prstGeom>
          <a:noFill/>
          <a:ln/>
        </p:spPr>
        <p:txBody>
          <a:bodyPr wrap="square" lIns="0" tIns="0" rIns="0" bIns="0" rtlCol="0" anchor="t"/>
          <a:lstStyle/>
          <a:p>
            <a:pPr indent="0" marL="0">
              <a:buNone/>
            </a:pPr>
            <a:r>
              <a:rPr lang="en-US" sz="3000" dirty="0">
                <a:solidFill>
                  <a:schemeClr val="accent1"/>
                </a:solidFill>
                <a:latin typeface="Georgia" pitchFamily="34" charset="0"/>
                <a:ea typeface="Georgia" pitchFamily="34" charset="-122"/>
                <a:cs typeface="Georgia" pitchFamily="34" charset="-120"/>
              </a:rPr>
              <a:t>02</a:t>
            </a:r>
            <a:endParaRPr lang="en-US" sz="3000" dirty="0"/>
          </a:p>
        </p:txBody>
      </p:sp>
      <p:sp>
        <p:nvSpPr>
          <p:cNvPr id="13" name="text-36"/>
          <p:cNvSpPr txBox="1"/>
          <p:nvPr/>
        </p:nvSpPr>
        <p:spPr>
          <a:xfrm>
            <a:off x="3447974" y="3200400"/>
            <a:ext cx="2487854" cy="411480"/>
          </a:xfrm>
          <a:prstGeom prst="rect">
            <a:avLst/>
          </a:prstGeom>
          <a:noFill/>
          <a:ln/>
        </p:spPr>
        <p:txBody>
          <a:bodyPr wrap="square" lIns="0" tIns="0" rIns="0" bIns="0" rtlCol="0" anchor="t"/>
          <a:lstStyle/>
          <a:p>
            <a:pPr indent="0" marL="0">
              <a:buNone/>
            </a:pPr>
            <a:r>
              <a:rPr lang="en-US" sz="1650" b="1" dirty="0">
                <a:solidFill>
                  <a:schemeClr val="tx1"/>
                </a:solidFill>
                <a:latin typeface="Arial" pitchFamily="34" charset="0"/>
                <a:ea typeface="Arial" pitchFamily="34" charset="-122"/>
                <a:cs typeface="Arial" pitchFamily="34" charset="-120"/>
              </a:rPr>
              <a:t>We find the right people</a:t>
            </a:r>
            <a:endParaRPr lang="en-US" sz="1650" dirty="0"/>
          </a:p>
        </p:txBody>
      </p:sp>
      <p:sp>
        <p:nvSpPr>
          <p:cNvPr id="14" name="text-37"/>
          <p:cNvSpPr txBox="1"/>
          <p:nvPr/>
        </p:nvSpPr>
        <p:spPr>
          <a:xfrm>
            <a:off x="3447974" y="3639312"/>
            <a:ext cx="2396414" cy="1005840"/>
          </a:xfrm>
          <a:prstGeom prst="rect">
            <a:avLst/>
          </a:prstGeom>
          <a:noFill/>
          <a:ln/>
        </p:spPr>
        <p:txBody>
          <a:bodyPr wrap="square" lIns="0" tIns="0" rIns="0" bIns="0" rtlCol="0" anchor="t"/>
          <a:lstStyle/>
          <a:p>
            <a:pPr indent="0" marL="0">
              <a:lnSpc>
                <a:spcPct val="112000"/>
              </a:lnSpc>
              <a:buNone/>
            </a:pPr>
            <a:r>
              <a:rPr lang="en-US" sz="1350" dirty="0">
                <a:solidFill>
                  <a:schemeClr val="accent3"/>
                </a:solidFill>
                <a:latin typeface="Arial" pitchFamily="34" charset="0"/>
                <a:ea typeface="Arial" pitchFamily="34" charset="-122"/>
                <a:cs typeface="Arial" pitchFamily="34" charset="-120"/>
              </a:rPr>
              <a:t>Hiring managers, team members, alumni and senior people who can introduce.</a:t>
            </a:r>
            <a:endParaRPr lang="en-US" sz="1350" dirty="0"/>
          </a:p>
        </p:txBody>
      </p:sp>
      <p:sp>
        <p:nvSpPr>
          <p:cNvPr id="15" name="door-open-38"/>
          <p:cNvSpPr/>
          <p:nvPr/>
        </p:nvSpPr>
        <p:spPr>
          <a:xfrm>
            <a:off x="6255868" y="2103120"/>
            <a:ext cx="457200" cy="804672"/>
          </a:xfrm>
          <a:prstGeom prst="rect">
            <a:avLst/>
          </a:prstGeom>
          <a:solidFill>
            <a:schemeClr val="accent6"/>
          </a:solidFill>
          <a:ln w="15875">
            <a:solidFill>
              <a:schemeClr val="accent1"/>
            </a:solidFill>
            <a:prstDash val="solid"/>
          </a:ln>
        </p:spPr>
      </p:sp>
      <p:sp>
        <p:nvSpPr>
          <p:cNvPr id="16" name="door-leaf-39"/>
          <p:cNvSpPr/>
          <p:nvPr/>
        </p:nvSpPr>
        <p:spPr>
          <a:xfrm>
            <a:off x="6393028" y="2135307"/>
            <a:ext cx="320040" cy="740298"/>
          </a:xfrm>
          <a:prstGeom prst="rect">
            <a:avLst/>
          </a:prstGeom>
          <a:solidFill>
            <a:schemeClr val="tx2"/>
          </a:solidFill>
          <a:ln w="12700">
            <a:solidFill>
              <a:schemeClr val="accent1"/>
            </a:solidFill>
            <a:prstDash val="solid"/>
          </a:ln>
        </p:spPr>
      </p:sp>
      <p:sp>
        <p:nvSpPr>
          <p:cNvPr id="17" name="text-40"/>
          <p:cNvSpPr txBox="1"/>
          <p:nvPr/>
        </p:nvSpPr>
        <p:spPr>
          <a:xfrm>
            <a:off x="6941668" y="2377440"/>
            <a:ext cx="914400" cy="548640"/>
          </a:xfrm>
          <a:prstGeom prst="rect">
            <a:avLst/>
          </a:prstGeom>
          <a:noFill/>
          <a:ln/>
        </p:spPr>
        <p:txBody>
          <a:bodyPr wrap="square" lIns="0" tIns="0" rIns="0" bIns="0" rtlCol="0" anchor="t"/>
          <a:lstStyle/>
          <a:p>
            <a:pPr indent="0" marL="0">
              <a:buNone/>
            </a:pPr>
            <a:r>
              <a:rPr lang="en-US" sz="3000" dirty="0">
                <a:solidFill>
                  <a:schemeClr val="accent1"/>
                </a:solidFill>
                <a:latin typeface="Georgia" pitchFamily="34" charset="0"/>
                <a:ea typeface="Georgia" pitchFamily="34" charset="-122"/>
                <a:cs typeface="Georgia" pitchFamily="34" charset="-120"/>
              </a:rPr>
              <a:t>03</a:t>
            </a:r>
            <a:endParaRPr lang="en-US" sz="3000" dirty="0"/>
          </a:p>
        </p:txBody>
      </p:sp>
      <p:sp>
        <p:nvSpPr>
          <p:cNvPr id="18" name="text-41"/>
          <p:cNvSpPr txBox="1"/>
          <p:nvPr/>
        </p:nvSpPr>
        <p:spPr>
          <a:xfrm>
            <a:off x="6255868" y="3200400"/>
            <a:ext cx="2487854" cy="411480"/>
          </a:xfrm>
          <a:prstGeom prst="rect">
            <a:avLst/>
          </a:prstGeom>
          <a:noFill/>
          <a:ln/>
        </p:spPr>
        <p:txBody>
          <a:bodyPr wrap="square" lIns="0" tIns="0" rIns="0" bIns="0" rtlCol="0" anchor="t"/>
          <a:lstStyle/>
          <a:p>
            <a:pPr indent="0" marL="0">
              <a:buNone/>
            </a:pPr>
            <a:r>
              <a:rPr lang="en-US" sz="1650" b="1" dirty="0">
                <a:solidFill>
                  <a:schemeClr val="tx1"/>
                </a:solidFill>
                <a:latin typeface="Arial" pitchFamily="34" charset="0"/>
                <a:ea typeface="Arial" pitchFamily="34" charset="-122"/>
                <a:cs typeface="Arial" pitchFamily="34" charset="-120"/>
              </a:rPr>
              <a:t>We write each message</a:t>
            </a:r>
            <a:endParaRPr lang="en-US" sz="1650" dirty="0"/>
          </a:p>
        </p:txBody>
      </p:sp>
      <p:sp>
        <p:nvSpPr>
          <p:cNvPr id="19" name="text-42"/>
          <p:cNvSpPr txBox="1"/>
          <p:nvPr/>
        </p:nvSpPr>
        <p:spPr>
          <a:xfrm>
            <a:off x="6255868" y="3639312"/>
            <a:ext cx="2396414" cy="1005840"/>
          </a:xfrm>
          <a:prstGeom prst="rect">
            <a:avLst/>
          </a:prstGeom>
          <a:noFill/>
          <a:ln/>
        </p:spPr>
        <p:txBody>
          <a:bodyPr wrap="square" lIns="0" tIns="0" rIns="0" bIns="0" rtlCol="0" anchor="t"/>
          <a:lstStyle/>
          <a:p>
            <a:pPr indent="0" marL="0">
              <a:lnSpc>
                <a:spcPct val="112000"/>
              </a:lnSpc>
              <a:buNone/>
            </a:pPr>
            <a:r>
              <a:rPr lang="en-US" sz="1350" dirty="0">
                <a:solidFill>
                  <a:schemeClr val="accent3"/>
                </a:solidFill>
                <a:latin typeface="Arial" pitchFamily="34" charset="0"/>
                <a:ea typeface="Arial" pitchFamily="34" charset="-122"/>
                <a:cs typeface="Arial" pitchFamily="34" charset="-120"/>
              </a:rPr>
              <a:t>Personal to each person, built on something genuinely shared.</a:t>
            </a:r>
            <a:endParaRPr lang="en-US" sz="1350" dirty="0"/>
          </a:p>
        </p:txBody>
      </p:sp>
      <p:sp>
        <p:nvSpPr>
          <p:cNvPr id="20" name="door-open-43"/>
          <p:cNvSpPr/>
          <p:nvPr/>
        </p:nvSpPr>
        <p:spPr>
          <a:xfrm>
            <a:off x="9063761" y="2103120"/>
            <a:ext cx="457200" cy="804672"/>
          </a:xfrm>
          <a:prstGeom prst="rect">
            <a:avLst/>
          </a:prstGeom>
          <a:solidFill>
            <a:schemeClr val="accent6"/>
          </a:solidFill>
          <a:ln w="15875">
            <a:solidFill>
              <a:schemeClr val="accent1"/>
            </a:solidFill>
            <a:prstDash val="solid"/>
          </a:ln>
        </p:spPr>
      </p:sp>
      <p:sp>
        <p:nvSpPr>
          <p:cNvPr id="21" name="door-leaf-44"/>
          <p:cNvSpPr/>
          <p:nvPr/>
        </p:nvSpPr>
        <p:spPr>
          <a:xfrm>
            <a:off x="9347225" y="2135307"/>
            <a:ext cx="173736" cy="740298"/>
          </a:xfrm>
          <a:prstGeom prst="rect">
            <a:avLst/>
          </a:prstGeom>
          <a:solidFill>
            <a:schemeClr val="tx2"/>
          </a:solidFill>
          <a:ln w="12700">
            <a:solidFill>
              <a:schemeClr val="accent1"/>
            </a:solidFill>
            <a:prstDash val="solid"/>
          </a:ln>
        </p:spPr>
      </p:sp>
      <p:sp>
        <p:nvSpPr>
          <p:cNvPr id="22" name="text-45"/>
          <p:cNvSpPr txBox="1"/>
          <p:nvPr/>
        </p:nvSpPr>
        <p:spPr>
          <a:xfrm>
            <a:off x="9749561" y="2377440"/>
            <a:ext cx="914400" cy="548640"/>
          </a:xfrm>
          <a:prstGeom prst="rect">
            <a:avLst/>
          </a:prstGeom>
          <a:noFill/>
          <a:ln/>
        </p:spPr>
        <p:txBody>
          <a:bodyPr wrap="square" lIns="0" tIns="0" rIns="0" bIns="0" rtlCol="0" anchor="t"/>
          <a:lstStyle/>
          <a:p>
            <a:pPr indent="0" marL="0">
              <a:buNone/>
            </a:pPr>
            <a:r>
              <a:rPr lang="en-US" sz="3000" dirty="0">
                <a:solidFill>
                  <a:schemeClr val="accent1"/>
                </a:solidFill>
                <a:latin typeface="Georgia" pitchFamily="34" charset="0"/>
                <a:ea typeface="Georgia" pitchFamily="34" charset="-122"/>
                <a:cs typeface="Georgia" pitchFamily="34" charset="-120"/>
              </a:rPr>
              <a:t>04</a:t>
            </a:r>
            <a:endParaRPr lang="en-US" sz="3000" dirty="0"/>
          </a:p>
        </p:txBody>
      </p:sp>
      <p:sp>
        <p:nvSpPr>
          <p:cNvPr id="23" name="text-46"/>
          <p:cNvSpPr txBox="1"/>
          <p:nvPr/>
        </p:nvSpPr>
        <p:spPr>
          <a:xfrm>
            <a:off x="9063761" y="3200400"/>
            <a:ext cx="2487854" cy="411480"/>
          </a:xfrm>
          <a:prstGeom prst="rect">
            <a:avLst/>
          </a:prstGeom>
          <a:noFill/>
          <a:ln/>
        </p:spPr>
        <p:txBody>
          <a:bodyPr wrap="square" lIns="0" tIns="0" rIns="0" bIns="0" rtlCol="0" anchor="t"/>
          <a:lstStyle/>
          <a:p>
            <a:pPr indent="0" marL="0">
              <a:buNone/>
            </a:pPr>
            <a:r>
              <a:rPr lang="en-US" sz="1650" b="1" dirty="0">
                <a:solidFill>
                  <a:schemeClr val="tx1"/>
                </a:solidFill>
                <a:latin typeface="Arial" pitchFamily="34" charset="0"/>
                <a:ea typeface="Arial" pitchFamily="34" charset="-122"/>
                <a:cs typeface="Arial" pitchFamily="34" charset="-120"/>
              </a:rPr>
              <a:t>We guide every reply</a:t>
            </a:r>
            <a:endParaRPr lang="en-US" sz="1650" dirty="0"/>
          </a:p>
        </p:txBody>
      </p:sp>
      <p:sp>
        <p:nvSpPr>
          <p:cNvPr id="24" name="text-47"/>
          <p:cNvSpPr txBox="1"/>
          <p:nvPr/>
        </p:nvSpPr>
        <p:spPr>
          <a:xfrm>
            <a:off x="9063761" y="3639312"/>
            <a:ext cx="2396414" cy="1005840"/>
          </a:xfrm>
          <a:prstGeom prst="rect">
            <a:avLst/>
          </a:prstGeom>
          <a:noFill/>
          <a:ln/>
        </p:spPr>
        <p:txBody>
          <a:bodyPr wrap="square" lIns="0" tIns="0" rIns="0" bIns="0" rtlCol="0" anchor="t"/>
          <a:lstStyle/>
          <a:p>
            <a:pPr indent="0" marL="0">
              <a:lnSpc>
                <a:spcPct val="112000"/>
              </a:lnSpc>
              <a:buNone/>
            </a:pPr>
            <a:r>
              <a:rPr lang="en-US" sz="1350" dirty="0">
                <a:solidFill>
                  <a:schemeClr val="accent3"/>
                </a:solidFill>
                <a:latin typeface="Arial" pitchFamily="34" charset="0"/>
                <a:ea typeface="Arial" pitchFamily="34" charset="-122"/>
                <a:cs typeface="Arial" pitchFamily="34" charset="-120"/>
              </a:rPr>
              <a:t>From the first answer to a referral or an interview, step by step.</a:t>
            </a:r>
            <a:endParaRPr lang="en-US" sz="1350" dirty="0"/>
          </a:p>
        </p:txBody>
      </p:sp>
      <p:sp>
        <p:nvSpPr>
          <p:cNvPr id="25" name="card-48"/>
          <p:cNvSpPr/>
          <p:nvPr/>
        </p:nvSpPr>
        <p:spPr>
          <a:xfrm>
            <a:off x="640080" y="5074920"/>
            <a:ext cx="10911535" cy="868680"/>
          </a:xfrm>
          <a:prstGeom prst="rect">
            <a:avLst/>
          </a:prstGeom>
          <a:solidFill>
            <a:schemeClr val="tx1"/>
          </a:solidFill>
          <a:ln/>
        </p:spPr>
      </p:sp>
      <p:sp>
        <p:nvSpPr>
          <p:cNvPr id="26" name="door-open-49"/>
          <p:cNvSpPr/>
          <p:nvPr/>
        </p:nvSpPr>
        <p:spPr>
          <a:xfrm>
            <a:off x="960120" y="5212080"/>
            <a:ext cx="329184" cy="585216"/>
          </a:xfrm>
          <a:prstGeom prst="rect">
            <a:avLst/>
          </a:prstGeom>
          <a:solidFill>
            <a:schemeClr val="accent6"/>
          </a:solidFill>
          <a:ln w="15875">
            <a:solidFill>
              <a:schemeClr val="accent2"/>
            </a:solidFill>
            <a:prstDash val="solid"/>
          </a:ln>
        </p:spPr>
      </p:sp>
      <p:sp>
        <p:nvSpPr>
          <p:cNvPr id="27" name="door-leaf-50"/>
          <p:cNvSpPr/>
          <p:nvPr/>
        </p:nvSpPr>
        <p:spPr>
          <a:xfrm>
            <a:off x="1164214" y="5235489"/>
            <a:ext cx="125090" cy="538399"/>
          </a:xfrm>
          <a:prstGeom prst="rect">
            <a:avLst/>
          </a:prstGeom>
          <a:solidFill>
            <a:schemeClr val="tx2"/>
          </a:solidFill>
          <a:ln w="12700">
            <a:solidFill>
              <a:schemeClr val="accent2"/>
            </a:solidFill>
            <a:prstDash val="solid"/>
          </a:ln>
        </p:spPr>
      </p:sp>
      <p:sp>
        <p:nvSpPr>
          <p:cNvPr id="28" name="text-51"/>
          <p:cNvSpPr txBox="1"/>
          <p:nvPr/>
        </p:nvSpPr>
        <p:spPr>
          <a:xfrm>
            <a:off x="1554480" y="5074920"/>
            <a:ext cx="9722815" cy="868680"/>
          </a:xfrm>
          <a:prstGeom prst="rect">
            <a:avLst/>
          </a:prstGeom>
          <a:noFill/>
          <a:ln/>
        </p:spPr>
        <p:txBody>
          <a:bodyPr wrap="square" lIns="0" tIns="0" rIns="0" bIns="0" rtlCol="0" anchor="ctr"/>
          <a:lstStyle/>
          <a:p>
            <a:pPr indent="0" marL="0">
              <a:buNone/>
            </a:pPr>
            <a:r>
              <a:rPr lang="en-US" sz="2000" dirty="0">
                <a:solidFill>
                  <a:schemeClr val="bg1"/>
                </a:solidFill>
                <a:latin typeface="Georgia" pitchFamily="34" charset="0"/>
                <a:ea typeface="Georgia" pitchFamily="34" charset="-122"/>
                <a:cs typeface="Georgia" pitchFamily="34" charset="-120"/>
              </a:rPr>
              <a:t>You approve every message. It goes out from your own LinkedIn.</a:t>
            </a:r>
            <a:endParaRPr lang="en-US" sz="200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640080" y="502920"/>
            <a:ext cx="10911535" cy="274320"/>
          </a:xfrm>
          <a:prstGeom prst="rect">
            <a:avLst/>
          </a:prstGeom>
          <a:noFill/>
          <a:ln/>
        </p:spPr>
        <p:txBody>
          <a:bodyPr wrap="square" lIns="0" tIns="0" rIns="0" bIns="0" rtlCol="0" anchor="t"/>
          <a:lstStyle/>
          <a:p>
            <a:pPr indent="0" marL="0">
              <a:buNone/>
            </a:pPr>
            <a:r>
              <a:rPr lang="en-US" sz="1100" b="1" spc="300" kern="0" dirty="0">
                <a:solidFill>
                  <a:schemeClr val="accent2"/>
                </a:solidFill>
                <a:latin typeface="Arial" pitchFamily="34" charset="0"/>
                <a:ea typeface="Arial" pitchFamily="34" charset="-122"/>
                <a:cs typeface="Arial" pitchFamily="34" charset="-120"/>
              </a:rPr>
              <a:t>04   AN EXAMPLE FIRST MESSAGE</a:t>
            </a:r>
            <a:endParaRPr lang="en-US" sz="1100" dirty="0"/>
          </a:p>
        </p:txBody>
      </p:sp>
      <p:sp>
        <p:nvSpPr>
          <p:cNvPr id="3" name="Text 1"/>
          <p:cNvSpPr/>
          <p:nvPr>
            <p:ph idx="102" type="title" hasCustomPrompt="1"/>
          </p:nvPr>
        </p:nvSpPr>
        <p:spPr>
          <a:xfrm>
            <a:off x="640080" y="822960"/>
            <a:ext cx="10241280" cy="1051560"/>
          </a:xfrm>
          <a:prstGeom prst="rect">
            <a:avLst/>
          </a:prstGeom>
          <a:noFill/>
          <a:ln/>
        </p:spPr>
        <p:txBody>
          <a:bodyPr wrap="square" lIns="0" tIns="0" rIns="0" bIns="0" rtlCol="0" anchor="t"/>
          <a:lstStyle/>
          <a:p>
            <a:pPr algn="l" indent="0" marL="0">
              <a:lnSpc>
                <a:spcPct val="95000"/>
              </a:lnSpc>
              <a:buNone/>
            </a:pPr>
            <a:r>
              <a:rPr lang="en-US" sz="3000" dirty="0">
                <a:solidFill>
                  <a:schemeClr val="bg1"/>
                </a:solidFill>
                <a:latin typeface="Georgia" pitchFamily="34" charset="0"/>
                <a:ea typeface="Georgia" pitchFamily="34" charset="-122"/>
                <a:cs typeface="Georgia" pitchFamily="34" charset="-120"/>
              </a:rPr>
              <a:t>One short, personal note that is easy to answer</a:t>
            </a:r>
            <a:endParaRPr lang="en-US" sz="3000" dirty="0"/>
          </a:p>
        </p:txBody>
      </p:sp>
      <p:sp>
        <p:nvSpPr>
          <p:cNvPr id="4" name="card-52"/>
          <p:cNvSpPr/>
          <p:nvPr/>
        </p:nvSpPr>
        <p:spPr>
          <a:xfrm>
            <a:off x="640080" y="2057400"/>
            <a:ext cx="6309360" cy="3611880"/>
          </a:xfrm>
          <a:prstGeom prst="rect">
            <a:avLst>
              <a:gd name="adj" fmla="val 2025"/>
            </a:avLst>
          </a:prstGeom>
          <a:solidFill>
            <a:schemeClr val="bg1"/>
          </a:solidFill>
          <a:ln/>
        </p:spPr>
      </p:sp>
      <p:sp>
        <p:nvSpPr>
          <p:cNvPr id="5" name="avatar"/>
          <p:cNvSpPr/>
          <p:nvPr/>
        </p:nvSpPr>
        <p:spPr>
          <a:xfrm>
            <a:off x="1051560" y="2423160"/>
            <a:ext cx="502920" cy="502920"/>
          </a:xfrm>
          <a:prstGeom prst="ellipse">
            <a:avLst/>
          </a:prstGeom>
          <a:solidFill>
            <a:schemeClr val="bg2"/>
          </a:solidFill>
          <a:ln w="12700">
            <a:solidFill>
              <a:schemeClr val="accent4"/>
            </a:solidFill>
            <a:prstDash val="solid"/>
          </a:ln>
        </p:spPr>
      </p:sp>
      <p:sp>
        <p:nvSpPr>
          <p:cNvPr id="6" name="text-53"/>
          <p:cNvSpPr txBox="1"/>
          <p:nvPr/>
        </p:nvSpPr>
        <p:spPr>
          <a:xfrm>
            <a:off x="1051560" y="2423160"/>
            <a:ext cx="502920" cy="502920"/>
          </a:xfrm>
          <a:prstGeom prst="rect">
            <a:avLst/>
          </a:prstGeom>
          <a:noFill/>
          <a:ln/>
        </p:spPr>
        <p:txBody>
          <a:bodyPr wrap="square" lIns="0" tIns="0" rIns="0" bIns="0" rtlCol="0" anchor="ctr"/>
          <a:lstStyle/>
          <a:p>
            <a:pPr algn="ctr" indent="0" marL="0">
              <a:buNone/>
            </a:pPr>
            <a:r>
              <a:rPr lang="en-US" sz="1800" dirty="0">
                <a:solidFill>
                  <a:schemeClr val="tx1"/>
                </a:solidFill>
                <a:latin typeface="Georgia" pitchFamily="34" charset="0"/>
                <a:ea typeface="Georgia" pitchFamily="34" charset="-122"/>
                <a:cs typeface="Georgia" pitchFamily="34" charset="-120"/>
              </a:rPr>
              <a:t>R</a:t>
            </a:r>
            <a:endParaRPr lang="en-US" sz="1800" dirty="0"/>
          </a:p>
        </p:txBody>
      </p:sp>
      <p:sp>
        <p:nvSpPr>
          <p:cNvPr id="7" name="text-54"/>
          <p:cNvSpPr txBox="1"/>
          <p:nvPr/>
        </p:nvSpPr>
        <p:spPr>
          <a:xfrm>
            <a:off x="1737360" y="2423160"/>
            <a:ext cx="4572000" cy="274320"/>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To Rahul, Product at Zepto</a:t>
            </a:r>
            <a:endParaRPr lang="en-US" sz="1300" dirty="0"/>
          </a:p>
        </p:txBody>
      </p:sp>
      <p:sp>
        <p:nvSpPr>
          <p:cNvPr id="8" name="text-55"/>
          <p:cNvSpPr txBox="1"/>
          <p:nvPr/>
        </p:nvSpPr>
        <p:spPr>
          <a:xfrm>
            <a:off x="1737360" y="2697480"/>
            <a:ext cx="4846320" cy="274320"/>
          </a:xfrm>
          <a:prstGeom prst="rect">
            <a:avLst/>
          </a:prstGeom>
          <a:noFill/>
          <a:ln/>
        </p:spPr>
        <p:txBody>
          <a:bodyPr wrap="square" lIns="0" tIns="0" rIns="0" bIns="0" rtlCol="0" anchor="t"/>
          <a:lstStyle/>
          <a:p>
            <a:pPr indent="0" marL="0">
              <a:buNone/>
            </a:pPr>
            <a:r>
              <a:rPr lang="en-US" sz="1100" dirty="0">
                <a:solidFill>
                  <a:schemeClr val="accent3"/>
                </a:solidFill>
                <a:latin typeface="Arial" pitchFamily="34" charset="0"/>
                <a:ea typeface="Arial" pitchFamily="34" charset="-122"/>
                <a:cs typeface="Arial" pitchFamily="34" charset="-120"/>
              </a:rPr>
              <a:t>From the student's own LinkedIn, after their approval</a:t>
            </a:r>
            <a:endParaRPr lang="en-US" sz="1100" dirty="0"/>
          </a:p>
        </p:txBody>
      </p:sp>
      <p:sp>
        <p:nvSpPr>
          <p:cNvPr id="9" name="msg-rule"/>
          <p:cNvSpPr/>
          <p:nvPr/>
        </p:nvSpPr>
        <p:spPr>
          <a:xfrm>
            <a:off x="1051560" y="3200400"/>
            <a:ext cx="5486400" cy="0"/>
          </a:xfrm>
          <a:prstGeom prst="line">
            <a:avLst/>
          </a:prstGeom>
          <a:noFill/>
          <a:ln w="9525">
            <a:solidFill>
              <a:schemeClr val="accent4"/>
            </a:solidFill>
            <a:prstDash val="solid"/>
          </a:ln>
        </p:spPr>
      </p:sp>
      <p:sp>
        <p:nvSpPr>
          <p:cNvPr id="10" name="message"/>
          <p:cNvSpPr txBox="1"/>
          <p:nvPr/>
        </p:nvSpPr>
        <p:spPr>
          <a:xfrm>
            <a:off x="1051560" y="3429000"/>
            <a:ext cx="5486400" cy="2011680"/>
          </a:xfrm>
          <a:prstGeom prst="rect">
            <a:avLst/>
          </a:prstGeom>
          <a:noFill/>
          <a:ln/>
        </p:spPr>
        <p:txBody>
          <a:bodyPr wrap="square" lIns="0" tIns="0" rIns="0" bIns="0" rtlCol="0" anchor="t"/>
          <a:lstStyle/>
          <a:p>
            <a:pPr indent="0" marL="0">
              <a:lnSpc>
                <a:spcPct val="125000"/>
              </a:lnSpc>
              <a:buNone/>
            </a:pPr>
            <a:r>
              <a:rPr lang="en-US" sz="2100" dirty="0">
                <a:solidFill>
                  <a:schemeClr val="tx1"/>
                </a:solidFill>
                <a:latin typeface="Georgia" pitchFamily="34" charset="0"/>
                <a:ea typeface="Georgia" pitchFamily="34" charset="-122"/>
                <a:cs typeface="Georgia" pitchFamily="34" charset="-120"/>
              </a:rPr>
              <a:t>Hey Rahul, </a:t>
            </a:r>
            <a:pPr indent="0" marL="0">
              <a:lnSpc>
                <a:spcPct val="125000"/>
              </a:lnSpc>
              <a:buNone/>
            </a:pPr>
            <a:r>
              <a:rPr lang="en-US" sz="2100" b="1" dirty="0">
                <a:solidFill>
                  <a:schemeClr val="accent1"/>
                </a:solidFill>
                <a:latin typeface="Georgia" pitchFamily="34" charset="0"/>
                <a:ea typeface="Georgia" pitchFamily="34" charset="-122"/>
                <a:cs typeface="Georgia" pitchFamily="34" charset="-120"/>
              </a:rPr>
              <a:t>saw you moved from Flipkart into product at Zepto</a:t>
            </a:r>
            <a:pPr indent="0" marL="0">
              <a:lnSpc>
                <a:spcPct val="125000"/>
              </a:lnSpc>
              <a:buNone/>
            </a:pPr>
            <a:r>
              <a:rPr lang="en-US" sz="2100" dirty="0">
                <a:solidFill>
                  <a:schemeClr val="tx1"/>
                </a:solidFill>
                <a:latin typeface="Georgia" pitchFamily="34" charset="0"/>
                <a:ea typeface="Georgia" pitchFamily="34" charset="-122"/>
                <a:cs typeface="Georgia" pitchFamily="34" charset="-120"/>
              </a:rPr>
              <a:t>. </a:t>
            </a:r>
            <a:pPr indent="0" marL="0">
              <a:lnSpc>
                <a:spcPct val="125000"/>
              </a:lnSpc>
              <a:buNone/>
            </a:pPr>
            <a:r>
              <a:rPr lang="en-US" sz="2100" b="1" dirty="0">
                <a:solidFill>
                  <a:schemeClr val="accent1"/>
                </a:solidFill>
                <a:latin typeface="Georgia" pitchFamily="34" charset="0"/>
                <a:ea typeface="Georgia" pitchFamily="34" charset="-122"/>
                <a:cs typeface="Georgia" pitchFamily="34" charset="-120"/>
              </a:rPr>
              <a:t>I'm making a similar jump from brand management</a:t>
            </a:r>
            <a:pPr indent="0" marL="0">
              <a:lnSpc>
                <a:spcPct val="125000"/>
              </a:lnSpc>
              <a:buNone/>
            </a:pPr>
            <a:r>
              <a:rPr lang="en-US" sz="2100" dirty="0">
                <a:solidFill>
                  <a:schemeClr val="tx1"/>
                </a:solidFill>
                <a:latin typeface="Georgia" pitchFamily="34" charset="0"/>
                <a:ea typeface="Georgia" pitchFamily="34" charset="-122"/>
                <a:cs typeface="Georgia" pitchFamily="34" charset="-120"/>
              </a:rPr>
              <a:t>. Curious, </a:t>
            </a:r>
            <a:pPr indent="0" marL="0">
              <a:lnSpc>
                <a:spcPct val="125000"/>
              </a:lnSpc>
              <a:buNone/>
            </a:pPr>
            <a:r>
              <a:rPr lang="en-US" sz="2100" b="1" dirty="0">
                <a:solidFill>
                  <a:schemeClr val="accent1"/>
                </a:solidFill>
                <a:latin typeface="Georgia" pitchFamily="34" charset="0"/>
                <a:ea typeface="Georgia" pitchFamily="34" charset="-122"/>
                <a:cs typeface="Georgia" pitchFamily="34" charset="-120"/>
              </a:rPr>
              <a:t>what was the biggest adjustment for you?</a:t>
            </a:r>
            <a:endParaRPr lang="en-US" sz="2100" dirty="0"/>
          </a:p>
        </p:txBody>
      </p:sp>
      <p:sp>
        <p:nvSpPr>
          <p:cNvPr id="11" name="num-56"/>
          <p:cNvSpPr/>
          <p:nvPr/>
        </p:nvSpPr>
        <p:spPr>
          <a:xfrm>
            <a:off x="7543800" y="2103120"/>
            <a:ext cx="329184" cy="329184"/>
          </a:xfrm>
          <a:prstGeom prst="ellipse">
            <a:avLst/>
          </a:prstGeom>
          <a:ln w="15875">
            <a:solidFill>
              <a:schemeClr val="accent2"/>
            </a:solidFill>
            <a:prstDash val="solid"/>
          </a:ln>
        </p:spPr>
      </p:sp>
      <p:sp>
        <p:nvSpPr>
          <p:cNvPr id="12" name="text-57"/>
          <p:cNvSpPr txBox="1"/>
          <p:nvPr/>
        </p:nvSpPr>
        <p:spPr>
          <a:xfrm>
            <a:off x="7543800" y="2103120"/>
            <a:ext cx="329184" cy="329184"/>
          </a:xfrm>
          <a:prstGeom prst="rect">
            <a:avLst/>
          </a:prstGeom>
          <a:noFill/>
          <a:ln/>
        </p:spPr>
        <p:txBody>
          <a:bodyPr wrap="square" lIns="0" tIns="0" rIns="0" bIns="0" rtlCol="0" anchor="ctr"/>
          <a:lstStyle/>
          <a:p>
            <a:pPr algn="ctr" indent="0" marL="0">
              <a:buNone/>
            </a:pPr>
            <a:r>
              <a:rPr lang="en-US" sz="1200" b="1" dirty="0">
                <a:solidFill>
                  <a:schemeClr val="accent2"/>
                </a:solidFill>
                <a:latin typeface="Arial" pitchFamily="34" charset="0"/>
                <a:ea typeface="Arial" pitchFamily="34" charset="-122"/>
                <a:cs typeface="Arial" pitchFamily="34" charset="-120"/>
              </a:rPr>
              <a:t>1</a:t>
            </a:r>
            <a:endParaRPr lang="en-US" sz="1200" dirty="0"/>
          </a:p>
        </p:txBody>
      </p:sp>
      <p:sp>
        <p:nvSpPr>
          <p:cNvPr id="13" name="text-58"/>
          <p:cNvSpPr txBox="1"/>
          <p:nvPr/>
        </p:nvSpPr>
        <p:spPr>
          <a:xfrm>
            <a:off x="8092440" y="2121408"/>
            <a:ext cx="3429000" cy="320040"/>
          </a:xfrm>
          <a:prstGeom prst="rect">
            <a:avLst/>
          </a:prstGeom>
          <a:noFill/>
          <a:ln/>
        </p:spPr>
        <p:txBody>
          <a:bodyPr wrap="square" lIns="0" tIns="0" rIns="0" bIns="0" rtlCol="0" anchor="t"/>
          <a:lstStyle/>
          <a:p>
            <a:pPr indent="0" marL="0">
              <a:buNone/>
            </a:pPr>
            <a:r>
              <a:rPr lang="en-US" sz="1550" b="1" dirty="0">
                <a:solidFill>
                  <a:schemeClr val="bg1"/>
                </a:solidFill>
                <a:latin typeface="Arial" pitchFamily="34" charset="0"/>
                <a:ea typeface="Arial" pitchFamily="34" charset="-122"/>
                <a:cs typeface="Arial" pitchFamily="34" charset="-120"/>
              </a:rPr>
              <a:t>A real, specific reason</a:t>
            </a:r>
            <a:endParaRPr lang="en-US" sz="1550" dirty="0"/>
          </a:p>
        </p:txBody>
      </p:sp>
      <p:sp>
        <p:nvSpPr>
          <p:cNvPr id="14" name="text-59"/>
          <p:cNvSpPr txBox="1"/>
          <p:nvPr/>
        </p:nvSpPr>
        <p:spPr>
          <a:xfrm>
            <a:off x="8092440" y="2487168"/>
            <a:ext cx="3429000" cy="685800"/>
          </a:xfrm>
          <a:prstGeom prst="rect">
            <a:avLst/>
          </a:prstGeom>
          <a:noFill/>
          <a:ln/>
        </p:spPr>
        <p:txBody>
          <a:bodyPr wrap="square" lIns="0" tIns="0" rIns="0" bIns="0" rtlCol="0" anchor="t"/>
          <a:lstStyle/>
          <a:p>
            <a:pPr indent="0" marL="0">
              <a:lnSpc>
                <a:spcPct val="110000"/>
              </a:lnSpc>
              <a:buNone/>
            </a:pPr>
            <a:r>
              <a:rPr lang="en-US" sz="1300" dirty="0">
                <a:solidFill>
                  <a:schemeClr val="accent4"/>
                </a:solidFill>
                <a:latin typeface="Arial" pitchFamily="34" charset="0"/>
                <a:ea typeface="Arial" pitchFamily="34" charset="-122"/>
                <a:cs typeface="Arial" pitchFamily="34" charset="-120"/>
              </a:rPr>
              <a:t>It names his actual move, so it could only have been written to Rahul.</a:t>
            </a:r>
            <a:endParaRPr lang="en-US" sz="1300" dirty="0"/>
          </a:p>
        </p:txBody>
      </p:sp>
      <p:sp>
        <p:nvSpPr>
          <p:cNvPr id="15" name="num-60"/>
          <p:cNvSpPr/>
          <p:nvPr/>
        </p:nvSpPr>
        <p:spPr>
          <a:xfrm>
            <a:off x="7543800" y="3319272"/>
            <a:ext cx="329184" cy="329184"/>
          </a:xfrm>
          <a:prstGeom prst="ellipse">
            <a:avLst/>
          </a:prstGeom>
          <a:ln w="15875">
            <a:solidFill>
              <a:schemeClr val="accent2"/>
            </a:solidFill>
            <a:prstDash val="solid"/>
          </a:ln>
        </p:spPr>
      </p:sp>
      <p:sp>
        <p:nvSpPr>
          <p:cNvPr id="16" name="text-61"/>
          <p:cNvSpPr txBox="1"/>
          <p:nvPr/>
        </p:nvSpPr>
        <p:spPr>
          <a:xfrm>
            <a:off x="7543800" y="3319272"/>
            <a:ext cx="329184" cy="329184"/>
          </a:xfrm>
          <a:prstGeom prst="rect">
            <a:avLst/>
          </a:prstGeom>
          <a:noFill/>
          <a:ln/>
        </p:spPr>
        <p:txBody>
          <a:bodyPr wrap="square" lIns="0" tIns="0" rIns="0" bIns="0" rtlCol="0" anchor="ctr"/>
          <a:lstStyle/>
          <a:p>
            <a:pPr algn="ctr" indent="0" marL="0">
              <a:buNone/>
            </a:pPr>
            <a:r>
              <a:rPr lang="en-US" sz="1200" b="1" dirty="0">
                <a:solidFill>
                  <a:schemeClr val="accent2"/>
                </a:solidFill>
                <a:latin typeface="Arial" pitchFamily="34" charset="0"/>
                <a:ea typeface="Arial" pitchFamily="34" charset="-122"/>
                <a:cs typeface="Arial" pitchFamily="34" charset="-120"/>
              </a:rPr>
              <a:t>2</a:t>
            </a:r>
            <a:endParaRPr lang="en-US" sz="1200" dirty="0"/>
          </a:p>
        </p:txBody>
      </p:sp>
      <p:sp>
        <p:nvSpPr>
          <p:cNvPr id="17" name="text-62"/>
          <p:cNvSpPr txBox="1"/>
          <p:nvPr/>
        </p:nvSpPr>
        <p:spPr>
          <a:xfrm>
            <a:off x="8092440" y="3337560"/>
            <a:ext cx="3429000" cy="320040"/>
          </a:xfrm>
          <a:prstGeom prst="rect">
            <a:avLst/>
          </a:prstGeom>
          <a:noFill/>
          <a:ln/>
        </p:spPr>
        <p:txBody>
          <a:bodyPr wrap="square" lIns="0" tIns="0" rIns="0" bIns="0" rtlCol="0" anchor="t"/>
          <a:lstStyle/>
          <a:p>
            <a:pPr indent="0" marL="0">
              <a:buNone/>
            </a:pPr>
            <a:r>
              <a:rPr lang="en-US" sz="1550" b="1" dirty="0">
                <a:solidFill>
                  <a:schemeClr val="bg1"/>
                </a:solidFill>
                <a:latin typeface="Arial" pitchFamily="34" charset="0"/>
                <a:ea typeface="Arial" pitchFamily="34" charset="-122"/>
                <a:cs typeface="Arial" pitchFamily="34" charset="-120"/>
              </a:rPr>
              <a:t>Honest about who you are</a:t>
            </a:r>
            <a:endParaRPr lang="en-US" sz="1550" dirty="0"/>
          </a:p>
        </p:txBody>
      </p:sp>
      <p:sp>
        <p:nvSpPr>
          <p:cNvPr id="18" name="text-63"/>
          <p:cNvSpPr txBox="1"/>
          <p:nvPr/>
        </p:nvSpPr>
        <p:spPr>
          <a:xfrm>
            <a:off x="8092440" y="3703320"/>
            <a:ext cx="3429000" cy="685800"/>
          </a:xfrm>
          <a:prstGeom prst="rect">
            <a:avLst/>
          </a:prstGeom>
          <a:noFill/>
          <a:ln/>
        </p:spPr>
        <p:txBody>
          <a:bodyPr wrap="square" lIns="0" tIns="0" rIns="0" bIns="0" rtlCol="0" anchor="t"/>
          <a:lstStyle/>
          <a:p>
            <a:pPr indent="0" marL="0">
              <a:lnSpc>
                <a:spcPct val="110000"/>
              </a:lnSpc>
              <a:buNone/>
            </a:pPr>
            <a:r>
              <a:rPr lang="en-US" sz="1300" dirty="0">
                <a:solidFill>
                  <a:schemeClr val="accent4"/>
                </a:solidFill>
                <a:latin typeface="Arial" pitchFamily="34" charset="0"/>
                <a:ea typeface="Arial" pitchFamily="34" charset="-122"/>
                <a:cs typeface="Arial" pitchFamily="34" charset="-120"/>
              </a:rPr>
              <a:t>A peer making the same jump. No pitch and no CV attached.</a:t>
            </a:r>
            <a:endParaRPr lang="en-US" sz="1300" dirty="0"/>
          </a:p>
        </p:txBody>
      </p:sp>
      <p:sp>
        <p:nvSpPr>
          <p:cNvPr id="19" name="num-64"/>
          <p:cNvSpPr/>
          <p:nvPr/>
        </p:nvSpPr>
        <p:spPr>
          <a:xfrm>
            <a:off x="7543800" y="4535424"/>
            <a:ext cx="329184" cy="329184"/>
          </a:xfrm>
          <a:prstGeom prst="ellipse">
            <a:avLst/>
          </a:prstGeom>
          <a:ln w="15875">
            <a:solidFill>
              <a:schemeClr val="accent2"/>
            </a:solidFill>
            <a:prstDash val="solid"/>
          </a:ln>
        </p:spPr>
      </p:sp>
      <p:sp>
        <p:nvSpPr>
          <p:cNvPr id="20" name="text-65"/>
          <p:cNvSpPr txBox="1"/>
          <p:nvPr/>
        </p:nvSpPr>
        <p:spPr>
          <a:xfrm>
            <a:off x="7543800" y="4535424"/>
            <a:ext cx="329184" cy="329184"/>
          </a:xfrm>
          <a:prstGeom prst="rect">
            <a:avLst/>
          </a:prstGeom>
          <a:noFill/>
          <a:ln/>
        </p:spPr>
        <p:txBody>
          <a:bodyPr wrap="square" lIns="0" tIns="0" rIns="0" bIns="0" rtlCol="0" anchor="ctr"/>
          <a:lstStyle/>
          <a:p>
            <a:pPr algn="ctr" indent="0" marL="0">
              <a:buNone/>
            </a:pPr>
            <a:r>
              <a:rPr lang="en-US" sz="1200" b="1" dirty="0">
                <a:solidFill>
                  <a:schemeClr val="accent2"/>
                </a:solidFill>
                <a:latin typeface="Arial" pitchFamily="34" charset="0"/>
                <a:ea typeface="Arial" pitchFamily="34" charset="-122"/>
                <a:cs typeface="Arial" pitchFamily="34" charset="-120"/>
              </a:rPr>
              <a:t>3</a:t>
            </a:r>
            <a:endParaRPr lang="en-US" sz="1200" dirty="0"/>
          </a:p>
        </p:txBody>
      </p:sp>
      <p:sp>
        <p:nvSpPr>
          <p:cNvPr id="21" name="text-66"/>
          <p:cNvSpPr txBox="1"/>
          <p:nvPr/>
        </p:nvSpPr>
        <p:spPr>
          <a:xfrm>
            <a:off x="8092440" y="4553712"/>
            <a:ext cx="3429000" cy="320040"/>
          </a:xfrm>
          <a:prstGeom prst="rect">
            <a:avLst/>
          </a:prstGeom>
          <a:noFill/>
          <a:ln/>
        </p:spPr>
        <p:txBody>
          <a:bodyPr wrap="square" lIns="0" tIns="0" rIns="0" bIns="0" rtlCol="0" anchor="t"/>
          <a:lstStyle/>
          <a:p>
            <a:pPr indent="0" marL="0">
              <a:buNone/>
            </a:pPr>
            <a:r>
              <a:rPr lang="en-US" sz="1550" b="1" dirty="0">
                <a:solidFill>
                  <a:schemeClr val="bg1"/>
                </a:solidFill>
                <a:latin typeface="Arial" pitchFamily="34" charset="0"/>
                <a:ea typeface="Arial" pitchFamily="34" charset="-122"/>
                <a:cs typeface="Arial" pitchFamily="34" charset="-120"/>
              </a:rPr>
              <a:t>Easy to answer</a:t>
            </a:r>
            <a:endParaRPr lang="en-US" sz="1550" dirty="0"/>
          </a:p>
        </p:txBody>
      </p:sp>
      <p:sp>
        <p:nvSpPr>
          <p:cNvPr id="22" name="text-67"/>
          <p:cNvSpPr txBox="1"/>
          <p:nvPr/>
        </p:nvSpPr>
        <p:spPr>
          <a:xfrm>
            <a:off x="8092440" y="4919472"/>
            <a:ext cx="3429000" cy="685800"/>
          </a:xfrm>
          <a:prstGeom prst="rect">
            <a:avLst/>
          </a:prstGeom>
          <a:noFill/>
          <a:ln/>
        </p:spPr>
        <p:txBody>
          <a:bodyPr wrap="square" lIns="0" tIns="0" rIns="0" bIns="0" rtlCol="0" anchor="t"/>
          <a:lstStyle/>
          <a:p>
            <a:pPr indent="0" marL="0">
              <a:lnSpc>
                <a:spcPct val="110000"/>
              </a:lnSpc>
              <a:buNone/>
            </a:pPr>
            <a:r>
              <a:rPr lang="en-US" sz="1300" dirty="0">
                <a:solidFill>
                  <a:schemeClr val="accent4"/>
                </a:solidFill>
                <a:latin typeface="Arial" pitchFamily="34" charset="0"/>
                <a:ea typeface="Arial" pitchFamily="34" charset="-122"/>
                <a:cs typeface="Arial" pitchFamily="34" charset="-120"/>
              </a:rPr>
              <a:t>One open question about his experience. The ask comes later.</a:t>
            </a:r>
            <a:endParaRPr lang="en-US" sz="1300" dirty="0"/>
          </a:p>
        </p:txBody>
      </p:sp>
      <p:sp>
        <p:nvSpPr>
          <p:cNvPr id="23" name="text-68"/>
          <p:cNvSpPr txBox="1"/>
          <p:nvPr/>
        </p:nvSpPr>
        <p:spPr>
          <a:xfrm>
            <a:off x="640080" y="5852160"/>
            <a:ext cx="10911535" cy="320040"/>
          </a:xfrm>
          <a:prstGeom prst="rect">
            <a:avLst/>
          </a:prstGeom>
          <a:noFill/>
          <a:ln/>
        </p:spPr>
        <p:txBody>
          <a:bodyPr wrap="square" lIns="0" tIns="0" rIns="0" bIns="0" rtlCol="0" anchor="t"/>
          <a:lstStyle/>
          <a:p>
            <a:pPr indent="0" marL="0">
              <a:buNone/>
            </a:pPr>
            <a:r>
              <a:rPr lang="en-US" sz="1300" i="1" dirty="0">
                <a:solidFill>
                  <a:schemeClr val="accent2"/>
                </a:solidFill>
                <a:latin typeface="Arial" pitchFamily="34" charset="0"/>
                <a:ea typeface="Arial" pitchFamily="34" charset="-122"/>
                <a:cs typeface="Arial" pitchFamily="34" charset="-120"/>
              </a:rPr>
              <a:t>Three sentences. One shared reason to talk. No ask in the first message.</a:t>
            </a:r>
            <a:endParaRPr lang="en-US" sz="130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640080" y="502920"/>
            <a:ext cx="10911535" cy="274320"/>
          </a:xfrm>
          <a:prstGeom prst="rect">
            <a:avLst/>
          </a:prstGeom>
          <a:noFill/>
          <a:ln/>
        </p:spPr>
        <p:txBody>
          <a:bodyPr wrap="square" lIns="0" tIns="0" rIns="0" bIns="0" rtlCol="0" anchor="t"/>
          <a:lstStyle/>
          <a:p>
            <a:pPr indent="0" marL="0">
              <a:buNone/>
            </a:pPr>
            <a:r>
              <a:rPr lang="en-US" sz="1100" b="1" spc="300" kern="0" dirty="0">
                <a:solidFill>
                  <a:schemeClr val="accent1"/>
                </a:solidFill>
                <a:latin typeface="Arial" pitchFamily="34" charset="0"/>
                <a:ea typeface="Arial" pitchFamily="34" charset="-122"/>
                <a:cs typeface="Arial" pitchFamily="34" charset="-120"/>
              </a:rPr>
              <a:t>05   WHY IT IS NOT SPAM</a:t>
            </a:r>
            <a:endParaRPr lang="en-US" sz="1100" dirty="0"/>
          </a:p>
        </p:txBody>
      </p:sp>
      <p:sp>
        <p:nvSpPr>
          <p:cNvPr id="3" name="Text 1"/>
          <p:cNvSpPr/>
          <p:nvPr>
            <p:ph idx="102" type="title" hasCustomPrompt="1"/>
          </p:nvPr>
        </p:nvSpPr>
        <p:spPr>
          <a:xfrm>
            <a:off x="640080" y="822960"/>
            <a:ext cx="10241280" cy="1051560"/>
          </a:xfrm>
          <a:prstGeom prst="rect">
            <a:avLst/>
          </a:prstGeom>
          <a:noFill/>
          <a:ln/>
        </p:spPr>
        <p:txBody>
          <a:bodyPr wrap="square" lIns="0" tIns="0" rIns="0" bIns="0" rtlCol="0" anchor="t"/>
          <a:lstStyle/>
          <a:p>
            <a:pPr algn="l" indent="0" marL="0">
              <a:lnSpc>
                <a:spcPct val="95000"/>
              </a:lnSpc>
              <a:buNone/>
            </a:pPr>
            <a:r>
              <a:rPr lang="en-US" sz="3000" dirty="0">
                <a:solidFill>
                  <a:schemeClr val="tx1"/>
                </a:solidFill>
                <a:latin typeface="Georgia" pitchFamily="34" charset="0"/>
                <a:ea typeface="Georgia" pitchFamily="34" charset="-122"/>
                <a:cs typeface="Georgia" pitchFamily="34" charset="-120"/>
              </a:rPr>
              <a:t>Built to protect your batch's reputation, not to blast inboxes</a:t>
            </a:r>
            <a:endParaRPr lang="en-US" sz="3000" dirty="0"/>
          </a:p>
        </p:txBody>
      </p:sp>
      <p:sp>
        <p:nvSpPr>
          <p:cNvPr id="4" name="card-69"/>
          <p:cNvSpPr/>
          <p:nvPr/>
        </p:nvSpPr>
        <p:spPr>
          <a:xfrm>
            <a:off x="640080" y="2103120"/>
            <a:ext cx="3291840" cy="3840480"/>
          </a:xfrm>
          <a:prstGeom prst="rect">
            <a:avLst/>
          </a:prstGeom>
          <a:solidFill>
            <a:schemeClr val="tx1"/>
          </a:solidFill>
          <a:ln/>
        </p:spPr>
      </p:sp>
      <p:sp>
        <p:nvSpPr>
          <p:cNvPr id="5" name="text-70"/>
          <p:cNvSpPr txBox="1"/>
          <p:nvPr/>
        </p:nvSpPr>
        <p:spPr>
          <a:xfrm>
            <a:off x="1051560" y="2377440"/>
            <a:ext cx="2560320" cy="1463040"/>
          </a:xfrm>
          <a:prstGeom prst="rect">
            <a:avLst/>
          </a:prstGeom>
          <a:noFill/>
          <a:ln/>
        </p:spPr>
        <p:txBody>
          <a:bodyPr wrap="square" lIns="0" tIns="0" rIns="0" bIns="0" rtlCol="0" anchor="t"/>
          <a:lstStyle/>
          <a:p>
            <a:pPr indent="0" marL="0">
              <a:buNone/>
            </a:pPr>
            <a:r>
              <a:rPr lang="en-US" sz="9600" dirty="0">
                <a:solidFill>
                  <a:schemeClr val="accent6"/>
                </a:solidFill>
                <a:latin typeface="Georgia" pitchFamily="34" charset="0"/>
                <a:ea typeface="Georgia" pitchFamily="34" charset="-122"/>
                <a:cs typeface="Georgia" pitchFamily="34" charset="-120"/>
              </a:rPr>
              <a:t>60</a:t>
            </a:r>
            <a:endParaRPr lang="en-US" sz="9600" dirty="0"/>
          </a:p>
        </p:txBody>
      </p:sp>
      <p:sp>
        <p:nvSpPr>
          <p:cNvPr id="6" name="text-71"/>
          <p:cNvSpPr txBox="1"/>
          <p:nvPr/>
        </p:nvSpPr>
        <p:spPr>
          <a:xfrm>
            <a:off x="1051560" y="3931920"/>
            <a:ext cx="2560320" cy="731520"/>
          </a:xfrm>
          <a:prstGeom prst="rect">
            <a:avLst/>
          </a:prstGeom>
          <a:noFill/>
          <a:ln/>
        </p:spPr>
        <p:txBody>
          <a:bodyPr wrap="square" lIns="0" tIns="0" rIns="0" bIns="0" rtlCol="0" anchor="t"/>
          <a:lstStyle/>
          <a:p>
            <a:pPr indent="0" marL="0">
              <a:lnSpc>
                <a:spcPct val="110000"/>
              </a:lnSpc>
              <a:buNone/>
            </a:pPr>
            <a:r>
              <a:rPr lang="en-US" sz="1600" b="1" dirty="0">
                <a:solidFill>
                  <a:schemeClr val="bg1"/>
                </a:solidFill>
                <a:latin typeface="Arial" pitchFamily="34" charset="0"/>
                <a:ea typeface="Arial" pitchFamily="34" charset="-122"/>
                <a:cs typeface="Arial" pitchFamily="34" charset="-120"/>
              </a:rPr>
              <a:t>hand-picked people per student, per week</a:t>
            </a:r>
            <a:endParaRPr lang="en-US" sz="1600" dirty="0"/>
          </a:p>
        </p:txBody>
      </p:sp>
      <p:sp>
        <p:nvSpPr>
          <p:cNvPr id="7" name="text-72"/>
          <p:cNvSpPr txBox="1"/>
          <p:nvPr/>
        </p:nvSpPr>
        <p:spPr>
          <a:xfrm>
            <a:off x="1051560" y="4892040"/>
            <a:ext cx="2560320" cy="640080"/>
          </a:xfrm>
          <a:prstGeom prst="rect">
            <a:avLst/>
          </a:prstGeom>
          <a:noFill/>
          <a:ln/>
        </p:spPr>
        <p:txBody>
          <a:bodyPr wrap="square" lIns="0" tIns="0" rIns="0" bIns="0" rtlCol="0" anchor="t"/>
          <a:lstStyle/>
          <a:p>
            <a:pPr indent="0" marL="0">
              <a:buNone/>
            </a:pPr>
            <a:r>
              <a:rPr lang="en-US" sz="1250" dirty="0">
                <a:solidFill>
                  <a:schemeClr val="accent4"/>
                </a:solidFill>
                <a:latin typeface="Arial" pitchFamily="34" charset="0"/>
                <a:ea typeface="Arial" pitchFamily="34" charset="-122"/>
                <a:cs typeface="Arial" pitchFamily="34" charset="-120"/>
              </a:rPr>
              <a:t>Chosen one by one, never scraped in bulk.</a:t>
            </a:r>
            <a:endParaRPr lang="en-US" sz="1250" dirty="0"/>
          </a:p>
        </p:txBody>
      </p:sp>
      <p:sp>
        <p:nvSpPr>
          <p:cNvPr id="8" name="card-73"/>
          <p:cNvSpPr/>
          <p:nvPr/>
        </p:nvSpPr>
        <p:spPr>
          <a:xfrm>
            <a:off x="4297680" y="2103120"/>
            <a:ext cx="3466948" cy="1783080"/>
          </a:xfrm>
          <a:prstGeom prst="rect">
            <a:avLst/>
          </a:prstGeom>
          <a:solidFill>
            <a:schemeClr val="bg2"/>
          </a:solidFill>
          <a:ln/>
        </p:spPr>
      </p:sp>
      <p:sp>
        <p:nvSpPr>
          <p:cNvPr id="9" name="door-74"/>
          <p:cNvSpPr/>
          <p:nvPr/>
        </p:nvSpPr>
        <p:spPr>
          <a:xfrm>
            <a:off x="4617720" y="2423160"/>
            <a:ext cx="274320" cy="475488"/>
          </a:xfrm>
          <a:prstGeom prst="rect">
            <a:avLst/>
          </a:prstGeom>
          <a:ln w="15875">
            <a:solidFill>
              <a:schemeClr val="accent4"/>
            </a:solidFill>
            <a:prstDash val="solid"/>
          </a:ln>
        </p:spPr>
      </p:sp>
      <p:sp>
        <p:nvSpPr>
          <p:cNvPr id="10" name="door-knob-75"/>
          <p:cNvSpPr/>
          <p:nvPr/>
        </p:nvSpPr>
        <p:spPr>
          <a:xfrm>
            <a:off x="4820717" y="2670414"/>
            <a:ext cx="27432" cy="27432"/>
          </a:xfrm>
          <a:prstGeom prst="ellipse">
            <a:avLst/>
          </a:prstGeom>
          <a:solidFill>
            <a:schemeClr val="accent4"/>
          </a:solidFill>
          <a:ln/>
        </p:spPr>
      </p:sp>
      <p:sp>
        <p:nvSpPr>
          <p:cNvPr id="11" name="text-76"/>
          <p:cNvSpPr txBox="1"/>
          <p:nvPr/>
        </p:nvSpPr>
        <p:spPr>
          <a:xfrm>
            <a:off x="4617720" y="3017520"/>
            <a:ext cx="3009748" cy="3200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Every message is personal</a:t>
            </a:r>
            <a:endParaRPr lang="en-US" sz="1500" dirty="0"/>
          </a:p>
        </p:txBody>
      </p:sp>
      <p:sp>
        <p:nvSpPr>
          <p:cNvPr id="12" name="text-77"/>
          <p:cNvSpPr txBox="1"/>
          <p:nvPr/>
        </p:nvSpPr>
        <p:spPr>
          <a:xfrm>
            <a:off x="4617720" y="3364992"/>
            <a:ext cx="2918308" cy="457200"/>
          </a:xfrm>
          <a:prstGeom prst="rect">
            <a:avLst/>
          </a:prstGeom>
          <a:noFill/>
          <a:ln/>
        </p:spPr>
        <p:txBody>
          <a:bodyPr wrap="square" lIns="0" tIns="0" rIns="0" bIns="0" rtlCol="0" anchor="t"/>
          <a:lstStyle/>
          <a:p>
            <a:pPr indent="0" marL="0">
              <a:buNone/>
            </a:pPr>
            <a:r>
              <a:rPr lang="en-US" sz="1300" dirty="0">
                <a:solidFill>
                  <a:schemeClr val="accent3"/>
                </a:solidFill>
                <a:latin typeface="Arial" pitchFamily="34" charset="0"/>
                <a:ea typeface="Arial" pitchFamily="34" charset="-122"/>
                <a:cs typeface="Arial" pitchFamily="34" charset="-120"/>
              </a:rPr>
              <a:t>Written for one person. No templates and no mail merge.</a:t>
            </a:r>
            <a:endParaRPr lang="en-US" sz="1300" dirty="0"/>
          </a:p>
        </p:txBody>
      </p:sp>
      <p:sp>
        <p:nvSpPr>
          <p:cNvPr id="13" name="card-78"/>
          <p:cNvSpPr/>
          <p:nvPr/>
        </p:nvSpPr>
        <p:spPr>
          <a:xfrm>
            <a:off x="8084668" y="2103120"/>
            <a:ext cx="3466948" cy="1783080"/>
          </a:xfrm>
          <a:prstGeom prst="rect">
            <a:avLst/>
          </a:prstGeom>
          <a:solidFill>
            <a:schemeClr val="bg2"/>
          </a:solidFill>
          <a:ln/>
        </p:spPr>
      </p:sp>
      <p:sp>
        <p:nvSpPr>
          <p:cNvPr id="14" name="door-79"/>
          <p:cNvSpPr/>
          <p:nvPr/>
        </p:nvSpPr>
        <p:spPr>
          <a:xfrm>
            <a:off x="8404708" y="2423160"/>
            <a:ext cx="274320" cy="475488"/>
          </a:xfrm>
          <a:prstGeom prst="rect">
            <a:avLst/>
          </a:prstGeom>
          <a:ln w="15875">
            <a:solidFill>
              <a:schemeClr val="accent4"/>
            </a:solidFill>
            <a:prstDash val="solid"/>
          </a:ln>
        </p:spPr>
      </p:sp>
      <p:sp>
        <p:nvSpPr>
          <p:cNvPr id="15" name="door-knob-80"/>
          <p:cNvSpPr/>
          <p:nvPr/>
        </p:nvSpPr>
        <p:spPr>
          <a:xfrm>
            <a:off x="8607704" y="2670414"/>
            <a:ext cx="27432" cy="27432"/>
          </a:xfrm>
          <a:prstGeom prst="ellipse">
            <a:avLst/>
          </a:prstGeom>
          <a:solidFill>
            <a:schemeClr val="accent4"/>
          </a:solidFill>
          <a:ln/>
        </p:spPr>
      </p:sp>
      <p:sp>
        <p:nvSpPr>
          <p:cNvPr id="16" name="text-81"/>
          <p:cNvSpPr txBox="1"/>
          <p:nvPr/>
        </p:nvSpPr>
        <p:spPr>
          <a:xfrm>
            <a:off x="8404708" y="3017520"/>
            <a:ext cx="3009748" cy="3200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Sent from their own account</a:t>
            </a:r>
            <a:endParaRPr lang="en-US" sz="1500" dirty="0"/>
          </a:p>
        </p:txBody>
      </p:sp>
      <p:sp>
        <p:nvSpPr>
          <p:cNvPr id="17" name="text-82"/>
          <p:cNvSpPr txBox="1"/>
          <p:nvPr/>
        </p:nvSpPr>
        <p:spPr>
          <a:xfrm>
            <a:off x="8404708" y="3364992"/>
            <a:ext cx="2918308" cy="457200"/>
          </a:xfrm>
          <a:prstGeom prst="rect">
            <a:avLst/>
          </a:prstGeom>
          <a:noFill/>
          <a:ln/>
        </p:spPr>
        <p:txBody>
          <a:bodyPr wrap="square" lIns="0" tIns="0" rIns="0" bIns="0" rtlCol="0" anchor="t"/>
          <a:lstStyle/>
          <a:p>
            <a:pPr indent="0" marL="0">
              <a:buNone/>
            </a:pPr>
            <a:r>
              <a:rPr lang="en-US" sz="1300" dirty="0">
                <a:solidFill>
                  <a:schemeClr val="accent3"/>
                </a:solidFill>
                <a:latin typeface="Arial" pitchFamily="34" charset="0"/>
                <a:ea typeface="Arial" pitchFamily="34" charset="-122"/>
                <a:cs typeface="Arial" pitchFamily="34" charset="-120"/>
              </a:rPr>
              <a:t>Their name, their profile, their approval every time.</a:t>
            </a:r>
            <a:endParaRPr lang="en-US" sz="1300" dirty="0"/>
          </a:p>
        </p:txBody>
      </p:sp>
      <p:sp>
        <p:nvSpPr>
          <p:cNvPr id="18" name="card-83"/>
          <p:cNvSpPr/>
          <p:nvPr/>
        </p:nvSpPr>
        <p:spPr>
          <a:xfrm>
            <a:off x="4297680" y="4160520"/>
            <a:ext cx="3466948" cy="1783080"/>
          </a:xfrm>
          <a:prstGeom prst="rect">
            <a:avLst/>
          </a:prstGeom>
          <a:solidFill>
            <a:schemeClr val="bg2"/>
          </a:solidFill>
          <a:ln/>
        </p:spPr>
      </p:sp>
      <p:sp>
        <p:nvSpPr>
          <p:cNvPr id="19" name="door-84"/>
          <p:cNvSpPr/>
          <p:nvPr/>
        </p:nvSpPr>
        <p:spPr>
          <a:xfrm>
            <a:off x="4617720" y="4480560"/>
            <a:ext cx="274320" cy="475488"/>
          </a:xfrm>
          <a:prstGeom prst="rect">
            <a:avLst/>
          </a:prstGeom>
          <a:ln w="15875">
            <a:solidFill>
              <a:schemeClr val="accent4"/>
            </a:solidFill>
            <a:prstDash val="solid"/>
          </a:ln>
        </p:spPr>
      </p:sp>
      <p:sp>
        <p:nvSpPr>
          <p:cNvPr id="20" name="door-knob-85"/>
          <p:cNvSpPr/>
          <p:nvPr/>
        </p:nvSpPr>
        <p:spPr>
          <a:xfrm>
            <a:off x="4820717" y="4727814"/>
            <a:ext cx="27432" cy="27432"/>
          </a:xfrm>
          <a:prstGeom prst="ellipse">
            <a:avLst/>
          </a:prstGeom>
          <a:solidFill>
            <a:schemeClr val="accent4"/>
          </a:solidFill>
          <a:ln/>
        </p:spPr>
      </p:sp>
      <p:sp>
        <p:nvSpPr>
          <p:cNvPr id="21" name="text-86"/>
          <p:cNvSpPr txBox="1"/>
          <p:nvPr/>
        </p:nvSpPr>
        <p:spPr>
          <a:xfrm>
            <a:off x="4617720" y="5074920"/>
            <a:ext cx="3009748" cy="3200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Well under LinkedIn's limits</a:t>
            </a:r>
            <a:endParaRPr lang="en-US" sz="1500" dirty="0"/>
          </a:p>
        </p:txBody>
      </p:sp>
      <p:sp>
        <p:nvSpPr>
          <p:cNvPr id="22" name="text-87"/>
          <p:cNvSpPr txBox="1"/>
          <p:nvPr/>
        </p:nvSpPr>
        <p:spPr>
          <a:xfrm>
            <a:off x="4617720" y="5422392"/>
            <a:ext cx="2918308" cy="457200"/>
          </a:xfrm>
          <a:prstGeom prst="rect">
            <a:avLst/>
          </a:prstGeom>
          <a:noFill/>
          <a:ln/>
        </p:spPr>
        <p:txBody>
          <a:bodyPr wrap="square" lIns="0" tIns="0" rIns="0" bIns="0" rtlCol="0" anchor="t"/>
          <a:lstStyle/>
          <a:p>
            <a:pPr indent="0" marL="0">
              <a:buNone/>
            </a:pPr>
            <a:r>
              <a:rPr lang="en-US" sz="1300" dirty="0">
                <a:solidFill>
                  <a:schemeClr val="accent3"/>
                </a:solidFill>
                <a:latin typeface="Arial" pitchFamily="34" charset="0"/>
                <a:ea typeface="Arial" pitchFamily="34" charset="-122"/>
                <a:cs typeface="Arial" pitchFamily="34" charset="-120"/>
              </a:rPr>
              <a:t>A deliberate pace that keeps every account in good standing.</a:t>
            </a:r>
            <a:endParaRPr lang="en-US" sz="1300" dirty="0"/>
          </a:p>
        </p:txBody>
      </p:sp>
      <p:sp>
        <p:nvSpPr>
          <p:cNvPr id="23" name="card-88"/>
          <p:cNvSpPr/>
          <p:nvPr/>
        </p:nvSpPr>
        <p:spPr>
          <a:xfrm>
            <a:off x="8084668" y="4160520"/>
            <a:ext cx="3466948" cy="1783080"/>
          </a:xfrm>
          <a:prstGeom prst="rect">
            <a:avLst/>
          </a:prstGeom>
          <a:solidFill>
            <a:schemeClr val="bg2"/>
          </a:solidFill>
          <a:ln/>
        </p:spPr>
      </p:sp>
      <p:sp>
        <p:nvSpPr>
          <p:cNvPr id="24" name="door-open-89"/>
          <p:cNvSpPr/>
          <p:nvPr/>
        </p:nvSpPr>
        <p:spPr>
          <a:xfrm>
            <a:off x="8404708" y="4480560"/>
            <a:ext cx="274320" cy="475488"/>
          </a:xfrm>
          <a:prstGeom prst="rect">
            <a:avLst/>
          </a:prstGeom>
          <a:solidFill>
            <a:schemeClr val="accent6"/>
          </a:solidFill>
          <a:ln w="15875">
            <a:solidFill>
              <a:schemeClr val="accent1"/>
            </a:solidFill>
            <a:prstDash val="solid"/>
          </a:ln>
        </p:spPr>
      </p:sp>
      <p:sp>
        <p:nvSpPr>
          <p:cNvPr id="25" name="door-leaf-90"/>
          <p:cNvSpPr/>
          <p:nvPr/>
        </p:nvSpPr>
        <p:spPr>
          <a:xfrm>
            <a:off x="8487004" y="4499580"/>
            <a:ext cx="192024" cy="437449"/>
          </a:xfrm>
          <a:prstGeom prst="rect">
            <a:avLst/>
          </a:prstGeom>
          <a:solidFill>
            <a:schemeClr val="tx2"/>
          </a:solidFill>
          <a:ln w="12700">
            <a:solidFill>
              <a:schemeClr val="accent1"/>
            </a:solidFill>
            <a:prstDash val="solid"/>
          </a:ln>
        </p:spPr>
      </p:sp>
      <p:sp>
        <p:nvSpPr>
          <p:cNvPr id="26" name="text-91"/>
          <p:cNvSpPr txBox="1"/>
          <p:nvPr/>
        </p:nvSpPr>
        <p:spPr>
          <a:xfrm>
            <a:off x="8404708" y="5074920"/>
            <a:ext cx="3009748" cy="3200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Conversation first, ask later</a:t>
            </a:r>
            <a:endParaRPr lang="en-US" sz="1500" dirty="0"/>
          </a:p>
        </p:txBody>
      </p:sp>
      <p:sp>
        <p:nvSpPr>
          <p:cNvPr id="27" name="text-92"/>
          <p:cNvSpPr txBox="1"/>
          <p:nvPr/>
        </p:nvSpPr>
        <p:spPr>
          <a:xfrm>
            <a:off x="8404708" y="5422392"/>
            <a:ext cx="2918308" cy="457200"/>
          </a:xfrm>
          <a:prstGeom prst="rect">
            <a:avLst/>
          </a:prstGeom>
          <a:noFill/>
          <a:ln/>
        </p:spPr>
        <p:txBody>
          <a:bodyPr wrap="square" lIns="0" tIns="0" rIns="0" bIns="0" rtlCol="0" anchor="t"/>
          <a:lstStyle/>
          <a:p>
            <a:pPr indent="0" marL="0">
              <a:buNone/>
            </a:pPr>
            <a:r>
              <a:rPr lang="en-US" sz="1300" dirty="0">
                <a:solidFill>
                  <a:schemeClr val="accent3"/>
                </a:solidFill>
                <a:latin typeface="Arial" pitchFamily="34" charset="0"/>
                <a:ea typeface="Arial" pitchFamily="34" charset="-122"/>
                <a:cs typeface="Arial" pitchFamily="34" charset="-120"/>
              </a:rPr>
              <a:t>We earn a reply before anyone mentions a referral.</a:t>
            </a:r>
            <a:endParaRPr lang="en-US" sz="130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640080" y="502920"/>
            <a:ext cx="10911535" cy="274320"/>
          </a:xfrm>
          <a:prstGeom prst="rect">
            <a:avLst/>
          </a:prstGeom>
          <a:noFill/>
          <a:ln/>
        </p:spPr>
        <p:txBody>
          <a:bodyPr wrap="square" lIns="0" tIns="0" rIns="0" bIns="0" rtlCol="0" anchor="t"/>
          <a:lstStyle/>
          <a:p>
            <a:pPr indent="0" marL="0">
              <a:buNone/>
            </a:pPr>
            <a:r>
              <a:rPr lang="en-US" sz="1100" b="1" spc="300" kern="0" dirty="0">
                <a:solidFill>
                  <a:schemeClr val="accent1"/>
                </a:solidFill>
                <a:latin typeface="Arial" pitchFamily="34" charset="0"/>
                <a:ea typeface="Arial" pitchFamily="34" charset="-122"/>
                <a:cs typeface="Arial" pitchFamily="34" charset="-120"/>
              </a:rPr>
              <a:t>06   PACKAGES   |   FOUNDING-MEMBER PRICING (INR)</a:t>
            </a:r>
            <a:endParaRPr lang="en-US" sz="1100" dirty="0"/>
          </a:p>
        </p:txBody>
      </p:sp>
      <p:sp>
        <p:nvSpPr>
          <p:cNvPr id="3" name="Text 1"/>
          <p:cNvSpPr/>
          <p:nvPr>
            <p:ph idx="102" type="title" hasCustomPrompt="1"/>
          </p:nvPr>
        </p:nvSpPr>
        <p:spPr>
          <a:xfrm>
            <a:off x="640080" y="822960"/>
            <a:ext cx="10241280" cy="1051560"/>
          </a:xfrm>
          <a:prstGeom prst="rect">
            <a:avLst/>
          </a:prstGeom>
          <a:noFill/>
          <a:ln/>
        </p:spPr>
        <p:txBody>
          <a:bodyPr wrap="square" lIns="0" tIns="0" rIns="0" bIns="0" rtlCol="0" anchor="t"/>
          <a:lstStyle/>
          <a:p>
            <a:pPr algn="l" indent="0" marL="0">
              <a:lnSpc>
                <a:spcPct val="95000"/>
              </a:lnSpc>
              <a:buNone/>
            </a:pPr>
            <a:r>
              <a:rPr lang="en-US" sz="3000" dirty="0">
                <a:solidFill>
                  <a:schemeClr val="tx1"/>
                </a:solidFill>
                <a:latin typeface="Georgia" pitchFamily="34" charset="0"/>
                <a:ea typeface="Georgia" pitchFamily="34" charset="-122"/>
                <a:cs typeface="Georgia" pitchFamily="34" charset="-120"/>
              </a:rPr>
              <a:t>Simple packages, with the founding price for every club member</a:t>
            </a:r>
            <a:endParaRPr lang="en-US" sz="3000" dirty="0"/>
          </a:p>
        </p:txBody>
      </p:sp>
      <p:sp>
        <p:nvSpPr>
          <p:cNvPr id="4" name="card-93"/>
          <p:cNvSpPr/>
          <p:nvPr/>
        </p:nvSpPr>
        <p:spPr>
          <a:xfrm>
            <a:off x="640080" y="2103120"/>
            <a:ext cx="2522144" cy="3429000"/>
          </a:xfrm>
          <a:prstGeom prst="rect">
            <a:avLst/>
          </a:prstGeom>
          <a:solidFill>
            <a:schemeClr val="bg2"/>
          </a:solidFill>
          <a:ln/>
        </p:spPr>
      </p:sp>
      <p:sp>
        <p:nvSpPr>
          <p:cNvPr id="5" name="text-94"/>
          <p:cNvSpPr txBox="1"/>
          <p:nvPr/>
        </p:nvSpPr>
        <p:spPr>
          <a:xfrm>
            <a:off x="960120" y="2423160"/>
            <a:ext cx="1882064" cy="365760"/>
          </a:xfrm>
          <a:prstGeom prst="rect">
            <a:avLst/>
          </a:prstGeom>
          <a:noFill/>
          <a:ln/>
        </p:spPr>
        <p:txBody>
          <a:bodyPr wrap="square" lIns="0" tIns="0" rIns="0" bIns="0" rtlCol="0" anchor="t"/>
          <a:lstStyle/>
          <a:p>
            <a:pPr indent="0" marL="0">
              <a:buNone/>
            </a:pPr>
            <a:r>
              <a:rPr lang="en-US" sz="2000" dirty="0">
                <a:solidFill>
                  <a:schemeClr val="tx1"/>
                </a:solidFill>
                <a:latin typeface="Georgia" pitchFamily="34" charset="0"/>
                <a:ea typeface="Georgia" pitchFamily="34" charset="-122"/>
                <a:cs typeface="Georgia" pitchFamily="34" charset="-120"/>
              </a:rPr>
              <a:t>Sprint</a:t>
            </a:r>
            <a:endParaRPr lang="en-US" sz="2000" dirty="0"/>
          </a:p>
        </p:txBody>
      </p:sp>
      <p:sp>
        <p:nvSpPr>
          <p:cNvPr id="6" name="text-95"/>
          <p:cNvSpPr txBox="1"/>
          <p:nvPr/>
        </p:nvSpPr>
        <p:spPr>
          <a:xfrm>
            <a:off x="960120" y="2971800"/>
            <a:ext cx="2064944" cy="640080"/>
          </a:xfrm>
          <a:prstGeom prst="rect">
            <a:avLst/>
          </a:prstGeom>
          <a:noFill/>
          <a:ln/>
        </p:spPr>
        <p:txBody>
          <a:bodyPr wrap="square" lIns="0" tIns="0" rIns="0" bIns="0" rtlCol="0" anchor="b"/>
          <a:lstStyle/>
          <a:p>
            <a:pPr indent="0" marL="0">
              <a:buNone/>
            </a:pPr>
            <a:r>
              <a:rPr lang="en-US" sz="3000" dirty="0">
                <a:solidFill>
                  <a:schemeClr val="accent1"/>
                </a:solidFill>
                <a:latin typeface="Georgia" pitchFamily="34" charset="0"/>
                <a:ea typeface="Georgia" pitchFamily="34" charset="-122"/>
                <a:cs typeface="Georgia" pitchFamily="34" charset="-120"/>
              </a:rPr>
              <a:t>Rs 2,499</a:t>
            </a:r>
            <a:endParaRPr lang="en-US" sz="3000" dirty="0"/>
          </a:p>
        </p:txBody>
      </p:sp>
      <p:sp>
        <p:nvSpPr>
          <p:cNvPr id="7" name="rule-96"/>
          <p:cNvSpPr/>
          <p:nvPr/>
        </p:nvSpPr>
        <p:spPr>
          <a:xfrm>
            <a:off x="960120" y="3886200"/>
            <a:ext cx="1882064" cy="0"/>
          </a:xfrm>
          <a:prstGeom prst="line">
            <a:avLst/>
          </a:prstGeom>
          <a:noFill/>
          <a:ln w="9525">
            <a:solidFill>
              <a:schemeClr val="accent4"/>
            </a:solidFill>
            <a:prstDash val="solid"/>
          </a:ln>
        </p:spPr>
      </p:sp>
      <p:sp>
        <p:nvSpPr>
          <p:cNvPr id="8" name="text-97"/>
          <p:cNvSpPr txBox="1"/>
          <p:nvPr/>
        </p:nvSpPr>
        <p:spPr>
          <a:xfrm>
            <a:off x="960120" y="4069080"/>
            <a:ext cx="1882064" cy="27432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7 days</a:t>
            </a:r>
            <a:endParaRPr lang="en-US" sz="1400" dirty="0"/>
          </a:p>
        </p:txBody>
      </p:sp>
      <p:sp>
        <p:nvSpPr>
          <p:cNvPr id="9" name="text-98"/>
          <p:cNvSpPr txBox="1"/>
          <p:nvPr/>
        </p:nvSpPr>
        <p:spPr>
          <a:xfrm>
            <a:off x="960120" y="4361688"/>
            <a:ext cx="1882064" cy="274320"/>
          </a:xfrm>
          <a:prstGeom prst="rect">
            <a:avLst/>
          </a:prstGeom>
          <a:noFill/>
          <a:ln/>
        </p:spPr>
        <p:txBody>
          <a:bodyPr wrap="square" lIns="0" tIns="0" rIns="0" bIns="0" rtlCol="0" anchor="t"/>
          <a:lstStyle/>
          <a:p>
            <a:pPr indent="0" marL="0">
              <a:buNone/>
            </a:pPr>
            <a:r>
              <a:rPr lang="en-US" sz="1400" dirty="0">
                <a:solidFill>
                  <a:schemeClr val="accent3"/>
                </a:solidFill>
                <a:latin typeface="Arial" pitchFamily="34" charset="0"/>
                <a:ea typeface="Arial" pitchFamily="34" charset="-122"/>
                <a:cs typeface="Arial" pitchFamily="34" charset="-120"/>
              </a:rPr>
              <a:t>60 people</a:t>
            </a:r>
            <a:endParaRPr lang="en-US" sz="1400" dirty="0"/>
          </a:p>
        </p:txBody>
      </p:sp>
      <p:sp>
        <p:nvSpPr>
          <p:cNvPr id="10" name="text-99"/>
          <p:cNvSpPr txBox="1"/>
          <p:nvPr/>
        </p:nvSpPr>
        <p:spPr>
          <a:xfrm>
            <a:off x="960120" y="4800600"/>
            <a:ext cx="1882064" cy="640080"/>
          </a:xfrm>
          <a:prstGeom prst="rect">
            <a:avLst/>
          </a:prstGeom>
          <a:noFill/>
          <a:ln/>
        </p:spPr>
        <p:txBody>
          <a:bodyPr wrap="square" lIns="0" tIns="0" rIns="0" bIns="0" rtlCol="0" anchor="t"/>
          <a:lstStyle/>
          <a:p>
            <a:pPr indent="0" marL="0">
              <a:lnSpc>
                <a:spcPct val="110000"/>
              </a:lnSpc>
              <a:buNone/>
            </a:pPr>
            <a:r>
              <a:rPr lang="en-US" sz="1250" dirty="0">
                <a:solidFill>
                  <a:schemeClr val="accent3"/>
                </a:solidFill>
                <a:latin typeface="Arial" pitchFamily="34" charset="0"/>
                <a:ea typeface="Arial" pitchFamily="34" charset="-122"/>
                <a:cs typeface="Arial" pitchFamily="34" charset="-120"/>
              </a:rPr>
              <a:t>A focused push on a short target list.</a:t>
            </a:r>
            <a:endParaRPr lang="en-US" sz="1250" dirty="0"/>
          </a:p>
        </p:txBody>
      </p:sp>
      <p:sp>
        <p:nvSpPr>
          <p:cNvPr id="11" name="card-100"/>
          <p:cNvSpPr/>
          <p:nvPr/>
        </p:nvSpPr>
        <p:spPr>
          <a:xfrm>
            <a:off x="3436544" y="2103120"/>
            <a:ext cx="2522144" cy="3429000"/>
          </a:xfrm>
          <a:prstGeom prst="rect">
            <a:avLst/>
          </a:prstGeom>
          <a:solidFill>
            <a:schemeClr val="bg2"/>
          </a:solidFill>
          <a:ln/>
        </p:spPr>
      </p:sp>
      <p:sp>
        <p:nvSpPr>
          <p:cNvPr id="12" name="text-101"/>
          <p:cNvSpPr txBox="1"/>
          <p:nvPr/>
        </p:nvSpPr>
        <p:spPr>
          <a:xfrm>
            <a:off x="3756584" y="2423160"/>
            <a:ext cx="1882064" cy="365760"/>
          </a:xfrm>
          <a:prstGeom prst="rect">
            <a:avLst/>
          </a:prstGeom>
          <a:noFill/>
          <a:ln/>
        </p:spPr>
        <p:txBody>
          <a:bodyPr wrap="square" lIns="0" tIns="0" rIns="0" bIns="0" rtlCol="0" anchor="t"/>
          <a:lstStyle/>
          <a:p>
            <a:pPr indent="0" marL="0">
              <a:buNone/>
            </a:pPr>
            <a:r>
              <a:rPr lang="en-US" sz="2000" dirty="0">
                <a:solidFill>
                  <a:schemeClr val="tx1"/>
                </a:solidFill>
                <a:latin typeface="Georgia" pitchFamily="34" charset="0"/>
                <a:ea typeface="Georgia" pitchFamily="34" charset="-122"/>
                <a:cs typeface="Georgia" pitchFamily="34" charset="-120"/>
              </a:rPr>
              <a:t>Standard</a:t>
            </a:r>
            <a:endParaRPr lang="en-US" sz="2000" dirty="0"/>
          </a:p>
        </p:txBody>
      </p:sp>
      <p:sp>
        <p:nvSpPr>
          <p:cNvPr id="13" name="text-102"/>
          <p:cNvSpPr txBox="1"/>
          <p:nvPr/>
        </p:nvSpPr>
        <p:spPr>
          <a:xfrm>
            <a:off x="3756584" y="2971800"/>
            <a:ext cx="2064944" cy="640080"/>
          </a:xfrm>
          <a:prstGeom prst="rect">
            <a:avLst/>
          </a:prstGeom>
          <a:noFill/>
          <a:ln/>
        </p:spPr>
        <p:txBody>
          <a:bodyPr wrap="square" lIns="0" tIns="0" rIns="0" bIns="0" rtlCol="0" anchor="b"/>
          <a:lstStyle/>
          <a:p>
            <a:pPr indent="0" marL="0">
              <a:buNone/>
            </a:pPr>
            <a:r>
              <a:rPr lang="en-US" sz="3000" dirty="0">
                <a:solidFill>
                  <a:schemeClr val="accent1"/>
                </a:solidFill>
                <a:latin typeface="Georgia" pitchFamily="34" charset="0"/>
                <a:ea typeface="Georgia" pitchFamily="34" charset="-122"/>
                <a:cs typeface="Georgia" pitchFamily="34" charset="-120"/>
              </a:rPr>
              <a:t>Rs 3,999</a:t>
            </a:r>
            <a:endParaRPr lang="en-US" sz="3000" dirty="0"/>
          </a:p>
        </p:txBody>
      </p:sp>
      <p:sp>
        <p:nvSpPr>
          <p:cNvPr id="14" name="rule-103"/>
          <p:cNvSpPr/>
          <p:nvPr/>
        </p:nvSpPr>
        <p:spPr>
          <a:xfrm>
            <a:off x="3756584" y="3886200"/>
            <a:ext cx="1882064" cy="0"/>
          </a:xfrm>
          <a:prstGeom prst="line">
            <a:avLst/>
          </a:prstGeom>
          <a:noFill/>
          <a:ln w="9525">
            <a:solidFill>
              <a:schemeClr val="accent4"/>
            </a:solidFill>
            <a:prstDash val="solid"/>
          </a:ln>
        </p:spPr>
      </p:sp>
      <p:sp>
        <p:nvSpPr>
          <p:cNvPr id="15" name="text-104"/>
          <p:cNvSpPr txBox="1"/>
          <p:nvPr/>
        </p:nvSpPr>
        <p:spPr>
          <a:xfrm>
            <a:off x="3756584" y="4069080"/>
            <a:ext cx="1882064" cy="27432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14 days</a:t>
            </a:r>
            <a:endParaRPr lang="en-US" sz="1400" dirty="0"/>
          </a:p>
        </p:txBody>
      </p:sp>
      <p:sp>
        <p:nvSpPr>
          <p:cNvPr id="16" name="text-105"/>
          <p:cNvSpPr txBox="1"/>
          <p:nvPr/>
        </p:nvSpPr>
        <p:spPr>
          <a:xfrm>
            <a:off x="3756584" y="4361688"/>
            <a:ext cx="1882064" cy="274320"/>
          </a:xfrm>
          <a:prstGeom prst="rect">
            <a:avLst/>
          </a:prstGeom>
          <a:noFill/>
          <a:ln/>
        </p:spPr>
        <p:txBody>
          <a:bodyPr wrap="square" lIns="0" tIns="0" rIns="0" bIns="0" rtlCol="0" anchor="t"/>
          <a:lstStyle/>
          <a:p>
            <a:pPr indent="0" marL="0">
              <a:buNone/>
            </a:pPr>
            <a:r>
              <a:rPr lang="en-US" sz="1400" dirty="0">
                <a:solidFill>
                  <a:schemeClr val="accent3"/>
                </a:solidFill>
                <a:latin typeface="Arial" pitchFamily="34" charset="0"/>
                <a:ea typeface="Arial" pitchFamily="34" charset="-122"/>
                <a:cs typeface="Arial" pitchFamily="34" charset="-120"/>
              </a:rPr>
              <a:t>120 people</a:t>
            </a:r>
            <a:endParaRPr lang="en-US" sz="1400" dirty="0"/>
          </a:p>
        </p:txBody>
      </p:sp>
      <p:sp>
        <p:nvSpPr>
          <p:cNvPr id="17" name="text-106"/>
          <p:cNvSpPr txBox="1"/>
          <p:nvPr/>
        </p:nvSpPr>
        <p:spPr>
          <a:xfrm>
            <a:off x="3756584" y="4800600"/>
            <a:ext cx="1882064" cy="640080"/>
          </a:xfrm>
          <a:prstGeom prst="rect">
            <a:avLst/>
          </a:prstGeom>
          <a:noFill/>
          <a:ln/>
        </p:spPr>
        <p:txBody>
          <a:bodyPr wrap="square" lIns="0" tIns="0" rIns="0" bIns="0" rtlCol="0" anchor="t"/>
          <a:lstStyle/>
          <a:p>
            <a:pPr indent="0" marL="0">
              <a:lnSpc>
                <a:spcPct val="110000"/>
              </a:lnSpc>
              <a:buNone/>
            </a:pPr>
            <a:r>
              <a:rPr lang="en-US" sz="1250" dirty="0">
                <a:solidFill>
                  <a:schemeClr val="accent3"/>
                </a:solidFill>
                <a:latin typeface="Arial" pitchFamily="34" charset="0"/>
                <a:ea typeface="Arial" pitchFamily="34" charset="-122"/>
                <a:cs typeface="Arial" pitchFamily="34" charset="-120"/>
              </a:rPr>
              <a:t>Two weeks of steady outreach and follow-ups.</a:t>
            </a:r>
            <a:endParaRPr lang="en-US" sz="1250" dirty="0"/>
          </a:p>
        </p:txBody>
      </p:sp>
      <p:sp>
        <p:nvSpPr>
          <p:cNvPr id="18" name="card-107"/>
          <p:cNvSpPr/>
          <p:nvPr/>
        </p:nvSpPr>
        <p:spPr>
          <a:xfrm>
            <a:off x="6233008" y="2103120"/>
            <a:ext cx="2522144" cy="3429000"/>
          </a:xfrm>
          <a:prstGeom prst="rect">
            <a:avLst/>
          </a:prstGeom>
          <a:solidFill>
            <a:schemeClr val="bg2"/>
          </a:solidFill>
          <a:ln/>
        </p:spPr>
      </p:sp>
      <p:sp>
        <p:nvSpPr>
          <p:cNvPr id="19" name="text-108"/>
          <p:cNvSpPr txBox="1"/>
          <p:nvPr/>
        </p:nvSpPr>
        <p:spPr>
          <a:xfrm>
            <a:off x="6553048" y="2423160"/>
            <a:ext cx="1882064" cy="365760"/>
          </a:xfrm>
          <a:prstGeom prst="rect">
            <a:avLst/>
          </a:prstGeom>
          <a:noFill/>
          <a:ln/>
        </p:spPr>
        <p:txBody>
          <a:bodyPr wrap="square" lIns="0" tIns="0" rIns="0" bIns="0" rtlCol="0" anchor="t"/>
          <a:lstStyle/>
          <a:p>
            <a:pPr indent="0" marL="0">
              <a:buNone/>
            </a:pPr>
            <a:r>
              <a:rPr lang="en-US" sz="2000" dirty="0">
                <a:solidFill>
                  <a:schemeClr val="tx1"/>
                </a:solidFill>
                <a:latin typeface="Georgia" pitchFamily="34" charset="0"/>
                <a:ea typeface="Georgia" pitchFamily="34" charset="-122"/>
                <a:cs typeface="Georgia" pitchFamily="34" charset="-120"/>
              </a:rPr>
              <a:t>Full search</a:t>
            </a:r>
            <a:endParaRPr lang="en-US" sz="2000" dirty="0"/>
          </a:p>
        </p:txBody>
      </p:sp>
      <p:sp>
        <p:nvSpPr>
          <p:cNvPr id="20" name="text-109"/>
          <p:cNvSpPr txBox="1"/>
          <p:nvPr/>
        </p:nvSpPr>
        <p:spPr>
          <a:xfrm>
            <a:off x="6553048" y="2971800"/>
            <a:ext cx="2064944" cy="640080"/>
          </a:xfrm>
          <a:prstGeom prst="rect">
            <a:avLst/>
          </a:prstGeom>
          <a:noFill/>
          <a:ln/>
        </p:spPr>
        <p:txBody>
          <a:bodyPr wrap="square" lIns="0" tIns="0" rIns="0" bIns="0" rtlCol="0" anchor="b"/>
          <a:lstStyle/>
          <a:p>
            <a:pPr indent="0" marL="0">
              <a:buNone/>
            </a:pPr>
            <a:r>
              <a:rPr lang="en-US" sz="3000" dirty="0">
                <a:solidFill>
                  <a:schemeClr val="accent1"/>
                </a:solidFill>
                <a:latin typeface="Georgia" pitchFamily="34" charset="0"/>
                <a:ea typeface="Georgia" pitchFamily="34" charset="-122"/>
                <a:cs typeface="Georgia" pitchFamily="34" charset="-120"/>
              </a:rPr>
              <a:t>Rs 5,499</a:t>
            </a:r>
            <a:endParaRPr lang="en-US" sz="3000" dirty="0"/>
          </a:p>
        </p:txBody>
      </p:sp>
      <p:sp>
        <p:nvSpPr>
          <p:cNvPr id="21" name="rule-110"/>
          <p:cNvSpPr/>
          <p:nvPr/>
        </p:nvSpPr>
        <p:spPr>
          <a:xfrm>
            <a:off x="6553048" y="3886200"/>
            <a:ext cx="1882064" cy="0"/>
          </a:xfrm>
          <a:prstGeom prst="line">
            <a:avLst/>
          </a:prstGeom>
          <a:noFill/>
          <a:ln w="9525">
            <a:solidFill>
              <a:schemeClr val="accent4"/>
            </a:solidFill>
            <a:prstDash val="solid"/>
          </a:ln>
        </p:spPr>
      </p:sp>
      <p:sp>
        <p:nvSpPr>
          <p:cNvPr id="22" name="text-111"/>
          <p:cNvSpPr txBox="1"/>
          <p:nvPr/>
        </p:nvSpPr>
        <p:spPr>
          <a:xfrm>
            <a:off x="6553048" y="4069080"/>
            <a:ext cx="1882064" cy="27432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21 days</a:t>
            </a:r>
            <a:endParaRPr lang="en-US" sz="1400" dirty="0"/>
          </a:p>
        </p:txBody>
      </p:sp>
      <p:sp>
        <p:nvSpPr>
          <p:cNvPr id="23" name="text-112"/>
          <p:cNvSpPr txBox="1"/>
          <p:nvPr/>
        </p:nvSpPr>
        <p:spPr>
          <a:xfrm>
            <a:off x="6553048" y="4361688"/>
            <a:ext cx="1882064" cy="274320"/>
          </a:xfrm>
          <a:prstGeom prst="rect">
            <a:avLst/>
          </a:prstGeom>
          <a:noFill/>
          <a:ln/>
        </p:spPr>
        <p:txBody>
          <a:bodyPr wrap="square" lIns="0" tIns="0" rIns="0" bIns="0" rtlCol="0" anchor="t"/>
          <a:lstStyle/>
          <a:p>
            <a:pPr indent="0" marL="0">
              <a:buNone/>
            </a:pPr>
            <a:r>
              <a:rPr lang="en-US" sz="1400" dirty="0">
                <a:solidFill>
                  <a:schemeClr val="accent3"/>
                </a:solidFill>
                <a:latin typeface="Arial" pitchFamily="34" charset="0"/>
                <a:ea typeface="Arial" pitchFamily="34" charset="-122"/>
                <a:cs typeface="Arial" pitchFamily="34" charset="-120"/>
              </a:rPr>
              <a:t>180 people</a:t>
            </a:r>
            <a:endParaRPr lang="en-US" sz="1400" dirty="0"/>
          </a:p>
        </p:txBody>
      </p:sp>
      <p:sp>
        <p:nvSpPr>
          <p:cNvPr id="24" name="text-113"/>
          <p:cNvSpPr txBox="1"/>
          <p:nvPr/>
        </p:nvSpPr>
        <p:spPr>
          <a:xfrm>
            <a:off x="6553048" y="4800600"/>
            <a:ext cx="1882064" cy="640080"/>
          </a:xfrm>
          <a:prstGeom prst="rect">
            <a:avLst/>
          </a:prstGeom>
          <a:noFill/>
          <a:ln/>
        </p:spPr>
        <p:txBody>
          <a:bodyPr wrap="square" lIns="0" tIns="0" rIns="0" bIns="0" rtlCol="0" anchor="t"/>
          <a:lstStyle/>
          <a:p>
            <a:pPr indent="0" marL="0">
              <a:lnSpc>
                <a:spcPct val="110000"/>
              </a:lnSpc>
              <a:buNone/>
            </a:pPr>
            <a:r>
              <a:rPr lang="en-US" sz="1250" dirty="0">
                <a:solidFill>
                  <a:schemeClr val="accent3"/>
                </a:solidFill>
                <a:latin typeface="Arial" pitchFamily="34" charset="0"/>
                <a:ea typeface="Arial" pitchFamily="34" charset="-122"/>
                <a:cs typeface="Arial" pitchFamily="34" charset="-120"/>
              </a:rPr>
              <a:t>A complete search across the whole target set.</a:t>
            </a:r>
            <a:endParaRPr lang="en-US" sz="1250" dirty="0"/>
          </a:p>
        </p:txBody>
      </p:sp>
      <p:sp>
        <p:nvSpPr>
          <p:cNvPr id="25" name="card-114"/>
          <p:cNvSpPr/>
          <p:nvPr/>
        </p:nvSpPr>
        <p:spPr>
          <a:xfrm>
            <a:off x="9029471" y="2103120"/>
            <a:ext cx="2522144" cy="3429000"/>
          </a:xfrm>
          <a:prstGeom prst="rect">
            <a:avLst/>
          </a:prstGeom>
          <a:solidFill>
            <a:schemeClr val="tx1"/>
          </a:solidFill>
          <a:ln/>
        </p:spPr>
      </p:sp>
      <p:sp>
        <p:nvSpPr>
          <p:cNvPr id="26" name="text-115"/>
          <p:cNvSpPr txBox="1"/>
          <p:nvPr/>
        </p:nvSpPr>
        <p:spPr>
          <a:xfrm>
            <a:off x="9349511" y="2423160"/>
            <a:ext cx="1882064" cy="365760"/>
          </a:xfrm>
          <a:prstGeom prst="rect">
            <a:avLst/>
          </a:prstGeom>
          <a:noFill/>
          <a:ln/>
        </p:spPr>
        <p:txBody>
          <a:bodyPr wrap="square" lIns="0" tIns="0" rIns="0" bIns="0" rtlCol="0" anchor="t"/>
          <a:lstStyle/>
          <a:p>
            <a:pPr indent="0" marL="0">
              <a:buNone/>
            </a:pPr>
            <a:r>
              <a:rPr lang="en-US" sz="2000" dirty="0">
                <a:solidFill>
                  <a:schemeClr val="bg1"/>
                </a:solidFill>
                <a:latin typeface="Georgia" pitchFamily="34" charset="0"/>
                <a:ea typeface="Georgia" pitchFamily="34" charset="-122"/>
                <a:cs typeface="Georgia" pitchFamily="34" charset="-120"/>
              </a:rPr>
              <a:t>Done-for-you</a:t>
            </a:r>
            <a:endParaRPr lang="en-US" sz="2000" dirty="0"/>
          </a:p>
        </p:txBody>
      </p:sp>
      <p:sp>
        <p:nvSpPr>
          <p:cNvPr id="27" name="text-116"/>
          <p:cNvSpPr txBox="1"/>
          <p:nvPr/>
        </p:nvSpPr>
        <p:spPr>
          <a:xfrm>
            <a:off x="9349511" y="2971800"/>
            <a:ext cx="2064944" cy="640080"/>
          </a:xfrm>
          <a:prstGeom prst="rect">
            <a:avLst/>
          </a:prstGeom>
          <a:noFill/>
          <a:ln/>
        </p:spPr>
        <p:txBody>
          <a:bodyPr wrap="square" lIns="0" tIns="0" rIns="0" bIns="0" rtlCol="0" anchor="b"/>
          <a:lstStyle/>
          <a:p>
            <a:pPr indent="0" marL="0">
              <a:buNone/>
            </a:pPr>
            <a:r>
              <a:rPr lang="en-US" sz="3000" dirty="0">
                <a:solidFill>
                  <a:schemeClr val="accent6"/>
                </a:solidFill>
                <a:latin typeface="Georgia" pitchFamily="34" charset="0"/>
                <a:ea typeface="Georgia" pitchFamily="34" charset="-122"/>
                <a:cs typeface="Georgia" pitchFamily="34" charset="-120"/>
              </a:rPr>
              <a:t>Rs 14,999</a:t>
            </a:r>
            <a:endParaRPr lang="en-US" sz="3000" dirty="0"/>
          </a:p>
        </p:txBody>
      </p:sp>
      <p:sp>
        <p:nvSpPr>
          <p:cNvPr id="28" name="text-117"/>
          <p:cNvSpPr txBox="1"/>
          <p:nvPr/>
        </p:nvSpPr>
        <p:spPr>
          <a:xfrm>
            <a:off x="9349511" y="2907792"/>
            <a:ext cx="1882064" cy="228600"/>
          </a:xfrm>
          <a:prstGeom prst="rect">
            <a:avLst/>
          </a:prstGeom>
          <a:noFill/>
          <a:ln/>
        </p:spPr>
        <p:txBody>
          <a:bodyPr wrap="square" lIns="0" tIns="0" rIns="0" bIns="0" rtlCol="0" anchor="t"/>
          <a:lstStyle/>
          <a:p>
            <a:pPr indent="0" marL="0">
              <a:buNone/>
            </a:pPr>
            <a:r>
              <a:rPr lang="en-US" sz="950" b="1" spc="200" kern="0" dirty="0">
                <a:solidFill>
                  <a:schemeClr val="accent2"/>
                </a:solidFill>
                <a:latin typeface="Arial" pitchFamily="34" charset="0"/>
                <a:ea typeface="Arial" pitchFamily="34" charset="-122"/>
                <a:cs typeface="Arial" pitchFamily="34" charset="-120"/>
              </a:rPr>
              <a:t>STARTING AT</a:t>
            </a:r>
            <a:endParaRPr lang="en-US" sz="950" dirty="0"/>
          </a:p>
        </p:txBody>
      </p:sp>
      <p:sp>
        <p:nvSpPr>
          <p:cNvPr id="29" name="rule-118"/>
          <p:cNvSpPr/>
          <p:nvPr/>
        </p:nvSpPr>
        <p:spPr>
          <a:xfrm>
            <a:off x="9349511" y="3886200"/>
            <a:ext cx="1882064" cy="0"/>
          </a:xfrm>
          <a:prstGeom prst="line">
            <a:avLst/>
          </a:prstGeom>
          <a:noFill/>
          <a:ln w="9525">
            <a:solidFill>
              <a:schemeClr val="accent5"/>
            </a:solidFill>
            <a:prstDash val="solid"/>
          </a:ln>
        </p:spPr>
      </p:sp>
      <p:sp>
        <p:nvSpPr>
          <p:cNvPr id="30" name="text-119"/>
          <p:cNvSpPr txBox="1"/>
          <p:nvPr/>
        </p:nvSpPr>
        <p:spPr>
          <a:xfrm>
            <a:off x="9349511" y="4069080"/>
            <a:ext cx="1882064" cy="274320"/>
          </a:xfrm>
          <a:prstGeom prst="rect">
            <a:avLst/>
          </a:prstGeom>
          <a:noFill/>
          <a:ln/>
        </p:spPr>
        <p:txBody>
          <a:bodyPr wrap="square" lIns="0" tIns="0" rIns="0" bIns="0" rtlCol="0" anchor="t"/>
          <a:lstStyle/>
          <a:p>
            <a:pPr indent="0" marL="0">
              <a:buNone/>
            </a:pPr>
            <a:r>
              <a:rPr lang="en-US" sz="1400" b="1" dirty="0">
                <a:solidFill>
                  <a:schemeClr val="bg1"/>
                </a:solidFill>
                <a:latin typeface="Arial" pitchFamily="34" charset="0"/>
                <a:ea typeface="Arial" pitchFamily="34" charset="-122"/>
                <a:cs typeface="Arial" pitchFamily="34" charset="-120"/>
              </a:rPr>
              <a:t>Tailored</a:t>
            </a:r>
            <a:endParaRPr lang="en-US" sz="1400" dirty="0"/>
          </a:p>
        </p:txBody>
      </p:sp>
      <p:sp>
        <p:nvSpPr>
          <p:cNvPr id="31" name="text-120"/>
          <p:cNvSpPr txBox="1"/>
          <p:nvPr/>
        </p:nvSpPr>
        <p:spPr>
          <a:xfrm>
            <a:off x="9349511" y="4361688"/>
            <a:ext cx="1882064" cy="274320"/>
          </a:xfrm>
          <a:prstGeom prst="rect">
            <a:avLst/>
          </a:prstGeom>
          <a:noFill/>
          <a:ln/>
        </p:spPr>
        <p:txBody>
          <a:bodyPr wrap="square" lIns="0" tIns="0" rIns="0" bIns="0" rtlCol="0" anchor="t"/>
          <a:lstStyle/>
          <a:p>
            <a:pPr indent="0" marL="0">
              <a:buNone/>
            </a:pPr>
            <a:r>
              <a:rPr lang="en-US" sz="1400" dirty="0">
                <a:solidFill>
                  <a:schemeClr val="accent4"/>
                </a:solidFill>
                <a:latin typeface="Arial" pitchFamily="34" charset="0"/>
                <a:ea typeface="Arial" pitchFamily="34" charset="-122"/>
                <a:cs typeface="Arial" pitchFamily="34" charset="-120"/>
              </a:rPr>
              <a:t>Scoped together</a:t>
            </a:r>
            <a:endParaRPr lang="en-US" sz="1400" dirty="0"/>
          </a:p>
        </p:txBody>
      </p:sp>
      <p:sp>
        <p:nvSpPr>
          <p:cNvPr id="32" name="text-121"/>
          <p:cNvSpPr txBox="1"/>
          <p:nvPr/>
        </p:nvSpPr>
        <p:spPr>
          <a:xfrm>
            <a:off x="9349511" y="4800600"/>
            <a:ext cx="1882064" cy="640080"/>
          </a:xfrm>
          <a:prstGeom prst="rect">
            <a:avLst/>
          </a:prstGeom>
          <a:noFill/>
          <a:ln/>
        </p:spPr>
        <p:txBody>
          <a:bodyPr wrap="square" lIns="0" tIns="0" rIns="0" bIns="0" rtlCol="0" anchor="t"/>
          <a:lstStyle/>
          <a:p>
            <a:pPr indent="0" marL="0">
              <a:lnSpc>
                <a:spcPct val="110000"/>
              </a:lnSpc>
              <a:buNone/>
            </a:pPr>
            <a:r>
              <a:rPr lang="en-US" sz="1250" dirty="0">
                <a:solidFill>
                  <a:schemeClr val="accent4"/>
                </a:solidFill>
                <a:latin typeface="Arial" pitchFamily="34" charset="0"/>
                <a:ea typeface="Arial" pitchFamily="34" charset="-122"/>
                <a:cs typeface="Arial" pitchFamily="34" charset="-120"/>
              </a:rPr>
              <a:t>We run the search with you, end to end.</a:t>
            </a:r>
            <a:endParaRPr lang="en-US" sz="1250" dirty="0"/>
          </a:p>
        </p:txBody>
      </p:sp>
      <p:sp>
        <p:nvSpPr>
          <p:cNvPr id="33" name="door-open-122"/>
          <p:cNvSpPr/>
          <p:nvPr/>
        </p:nvSpPr>
        <p:spPr>
          <a:xfrm>
            <a:off x="640080" y="5760720"/>
            <a:ext cx="201168" cy="365760"/>
          </a:xfrm>
          <a:prstGeom prst="rect">
            <a:avLst/>
          </a:prstGeom>
          <a:solidFill>
            <a:schemeClr val="accent6"/>
          </a:solidFill>
          <a:ln w="15875">
            <a:solidFill>
              <a:schemeClr val="accent1"/>
            </a:solidFill>
            <a:prstDash val="solid"/>
          </a:ln>
        </p:spPr>
      </p:sp>
      <p:sp>
        <p:nvSpPr>
          <p:cNvPr id="34" name="door-leaf-123"/>
          <p:cNvSpPr/>
          <p:nvPr/>
        </p:nvSpPr>
        <p:spPr>
          <a:xfrm>
            <a:off x="764804" y="5775350"/>
            <a:ext cx="76444" cy="336499"/>
          </a:xfrm>
          <a:prstGeom prst="rect">
            <a:avLst/>
          </a:prstGeom>
          <a:solidFill>
            <a:schemeClr val="tx2"/>
          </a:solidFill>
          <a:ln w="12700">
            <a:solidFill>
              <a:schemeClr val="accent1"/>
            </a:solidFill>
            <a:prstDash val="solid"/>
          </a:ln>
        </p:spPr>
      </p:sp>
      <p:sp>
        <p:nvSpPr>
          <p:cNvPr id="35" name="text-124"/>
          <p:cNvSpPr txBox="1"/>
          <p:nvPr/>
        </p:nvSpPr>
        <p:spPr>
          <a:xfrm>
            <a:off x="1051560" y="5760720"/>
            <a:ext cx="10454335" cy="365760"/>
          </a:xfrm>
          <a:prstGeom prst="rect">
            <a:avLst/>
          </a:prstGeom>
          <a:noFill/>
          <a:ln/>
        </p:spPr>
        <p:txBody>
          <a:bodyPr wrap="square" lIns="0" tIns="0" rIns="0" bIns="0" rtlCol="0" anchor="ctr"/>
          <a:lstStyle/>
          <a:p>
            <a:pPr indent="0" marL="0">
              <a:buNone/>
            </a:pPr>
            <a:r>
              <a:rPr lang="en-US" sz="1400" b="1" dirty="0">
                <a:solidFill>
                  <a:schemeClr val="tx1"/>
                </a:solidFill>
                <a:latin typeface="Arial" pitchFamily="34" charset="0"/>
                <a:ea typeface="Arial" pitchFamily="34" charset="-122"/>
                <a:cs typeface="Arial" pitchFamily="34" charset="-120"/>
              </a:rPr>
              <a:t>Club members get the founding price on every package. Pilot students pay nothing.</a:t>
            </a:r>
            <a:endParaRPr lang="en-US" sz="140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640080" y="502920"/>
            <a:ext cx="10911535" cy="274320"/>
          </a:xfrm>
          <a:prstGeom prst="rect">
            <a:avLst/>
          </a:prstGeom>
          <a:noFill/>
          <a:ln/>
        </p:spPr>
        <p:txBody>
          <a:bodyPr wrap="square" lIns="0" tIns="0" rIns="0" bIns="0" rtlCol="0" anchor="t"/>
          <a:lstStyle/>
          <a:p>
            <a:pPr indent="0" marL="0">
              <a:buNone/>
            </a:pPr>
            <a:r>
              <a:rPr lang="en-US" sz="1100" b="1" spc="300" kern="0" dirty="0">
                <a:solidFill>
                  <a:schemeClr val="accent1"/>
                </a:solidFill>
                <a:latin typeface="Arial" pitchFamily="34" charset="0"/>
                <a:ea typeface="Arial" pitchFamily="34" charset="-122"/>
                <a:cs typeface="Arial" pitchFamily="34" charset="-120"/>
              </a:rPr>
              <a:t>07   THE PARTNERSHIP</a:t>
            </a:r>
            <a:endParaRPr lang="en-US" sz="1100" dirty="0"/>
          </a:p>
        </p:txBody>
      </p:sp>
      <p:sp>
        <p:nvSpPr>
          <p:cNvPr id="3" name="Text 1"/>
          <p:cNvSpPr/>
          <p:nvPr>
            <p:ph idx="102" type="title" hasCustomPrompt="1"/>
          </p:nvPr>
        </p:nvSpPr>
        <p:spPr>
          <a:xfrm>
            <a:off x="640080" y="822960"/>
            <a:ext cx="10241280" cy="1051560"/>
          </a:xfrm>
          <a:prstGeom prst="rect">
            <a:avLst/>
          </a:prstGeom>
          <a:noFill/>
          <a:ln/>
        </p:spPr>
        <p:txBody>
          <a:bodyPr wrap="square" lIns="0" tIns="0" rIns="0" bIns="0" rtlCol="0" anchor="t"/>
          <a:lstStyle/>
          <a:p>
            <a:pPr algn="l" indent="0" marL="0">
              <a:lnSpc>
                <a:spcPct val="95000"/>
              </a:lnSpc>
              <a:buNone/>
            </a:pPr>
            <a:r>
              <a:rPr lang="en-US" sz="3000" dirty="0">
                <a:solidFill>
                  <a:schemeClr val="tx1"/>
                </a:solidFill>
                <a:latin typeface="Georgia" pitchFamily="34" charset="0"/>
                <a:ea typeface="Georgia" pitchFamily="34" charset="-122"/>
                <a:cs typeface="Georgia" pitchFamily="34" charset="-120"/>
              </a:rPr>
              <a:t>Your club gets a lot. We ask for very little.</a:t>
            </a:r>
            <a:endParaRPr lang="en-US" sz="3000" dirty="0"/>
          </a:p>
        </p:txBody>
      </p:sp>
      <p:sp>
        <p:nvSpPr>
          <p:cNvPr id="4" name="card-125"/>
          <p:cNvSpPr/>
          <p:nvPr/>
        </p:nvSpPr>
        <p:spPr>
          <a:xfrm>
            <a:off x="640080" y="2103120"/>
            <a:ext cx="6812280" cy="3840480"/>
          </a:xfrm>
          <a:prstGeom prst="rect">
            <a:avLst/>
          </a:prstGeom>
          <a:solidFill>
            <a:schemeClr val="tx1"/>
          </a:solidFill>
          <a:ln/>
        </p:spPr>
      </p:sp>
      <p:sp>
        <p:nvSpPr>
          <p:cNvPr id="5" name="text-126"/>
          <p:cNvSpPr txBox="1"/>
          <p:nvPr/>
        </p:nvSpPr>
        <p:spPr>
          <a:xfrm>
            <a:off x="1097280" y="2468880"/>
            <a:ext cx="4572000" cy="411480"/>
          </a:xfrm>
          <a:prstGeom prst="rect">
            <a:avLst/>
          </a:prstGeom>
          <a:noFill/>
          <a:ln/>
        </p:spPr>
        <p:txBody>
          <a:bodyPr wrap="square" lIns="0" tIns="0" rIns="0" bIns="0" rtlCol="0" anchor="t"/>
          <a:lstStyle/>
          <a:p>
            <a:pPr indent="0" marL="0">
              <a:buNone/>
            </a:pPr>
            <a:r>
              <a:rPr lang="en-US" sz="2200" dirty="0">
                <a:solidFill>
                  <a:schemeClr val="bg1"/>
                </a:solidFill>
                <a:latin typeface="Georgia" pitchFamily="34" charset="0"/>
                <a:ea typeface="Georgia" pitchFamily="34" charset="-122"/>
                <a:cs typeface="Georgia" pitchFamily="34" charset="-120"/>
              </a:rPr>
              <a:t>What your club gets</a:t>
            </a:r>
            <a:endParaRPr lang="en-US" sz="2200" dirty="0"/>
          </a:p>
        </p:txBody>
      </p:sp>
      <p:sp>
        <p:nvSpPr>
          <p:cNvPr id="6" name="num-127"/>
          <p:cNvSpPr/>
          <p:nvPr/>
        </p:nvSpPr>
        <p:spPr>
          <a:xfrm>
            <a:off x="1097280" y="3154680"/>
            <a:ext cx="329184" cy="329184"/>
          </a:xfrm>
          <a:prstGeom prst="ellipse">
            <a:avLst/>
          </a:prstGeom>
          <a:ln w="15875">
            <a:solidFill>
              <a:schemeClr val="accent2"/>
            </a:solidFill>
            <a:prstDash val="solid"/>
          </a:ln>
        </p:spPr>
      </p:sp>
      <p:sp>
        <p:nvSpPr>
          <p:cNvPr id="7" name="text-128"/>
          <p:cNvSpPr txBox="1"/>
          <p:nvPr/>
        </p:nvSpPr>
        <p:spPr>
          <a:xfrm>
            <a:off x="1097280" y="3154680"/>
            <a:ext cx="329184" cy="329184"/>
          </a:xfrm>
          <a:prstGeom prst="rect">
            <a:avLst/>
          </a:prstGeom>
          <a:noFill/>
          <a:ln/>
        </p:spPr>
        <p:txBody>
          <a:bodyPr wrap="square" lIns="0" tIns="0" rIns="0" bIns="0" rtlCol="0" anchor="ctr"/>
          <a:lstStyle/>
          <a:p>
            <a:pPr algn="ctr" indent="0" marL="0">
              <a:buNone/>
            </a:pPr>
            <a:r>
              <a:rPr lang="en-US" sz="1200" b="1" dirty="0">
                <a:solidFill>
                  <a:schemeClr val="accent2"/>
                </a:solidFill>
                <a:latin typeface="Arial" pitchFamily="34" charset="0"/>
                <a:ea typeface="Arial" pitchFamily="34" charset="-122"/>
                <a:cs typeface="Arial" pitchFamily="34" charset="-120"/>
              </a:rPr>
              <a:t>1</a:t>
            </a:r>
            <a:endParaRPr lang="en-US" sz="1200" dirty="0"/>
          </a:p>
        </p:txBody>
      </p:sp>
      <p:sp>
        <p:nvSpPr>
          <p:cNvPr id="8" name="text-129"/>
          <p:cNvSpPr txBox="1"/>
          <p:nvPr/>
        </p:nvSpPr>
        <p:spPr>
          <a:xfrm>
            <a:off x="1645920" y="3136392"/>
            <a:ext cx="5440680" cy="274320"/>
          </a:xfrm>
          <a:prstGeom prst="rect">
            <a:avLst/>
          </a:prstGeom>
          <a:noFill/>
          <a:ln/>
        </p:spPr>
        <p:txBody>
          <a:bodyPr wrap="square" lIns="0" tIns="0" rIns="0" bIns="0" rtlCol="0" anchor="t"/>
          <a:lstStyle/>
          <a:p>
            <a:pPr indent="0" marL="0">
              <a:buNone/>
            </a:pPr>
            <a:r>
              <a:rPr lang="en-US" sz="1500" b="1" dirty="0">
                <a:solidFill>
                  <a:schemeClr val="bg1"/>
                </a:solidFill>
                <a:latin typeface="Arial" pitchFamily="34" charset="0"/>
                <a:ea typeface="Arial" pitchFamily="34" charset="-122"/>
                <a:cs typeface="Arial" pitchFamily="34" charset="-120"/>
              </a:rPr>
              <a:t>Founding price for every member</a:t>
            </a:r>
            <a:endParaRPr lang="en-US" sz="1500" dirty="0"/>
          </a:p>
        </p:txBody>
      </p:sp>
      <p:sp>
        <p:nvSpPr>
          <p:cNvPr id="9" name="text-130"/>
          <p:cNvSpPr txBox="1"/>
          <p:nvPr/>
        </p:nvSpPr>
        <p:spPr>
          <a:xfrm>
            <a:off x="1645920" y="3419856"/>
            <a:ext cx="5440680" cy="274320"/>
          </a:xfrm>
          <a:prstGeom prst="rect">
            <a:avLst/>
          </a:prstGeom>
          <a:noFill/>
          <a:ln/>
        </p:spPr>
        <p:txBody>
          <a:bodyPr wrap="square" lIns="0" tIns="0" rIns="0" bIns="0" rtlCol="0" anchor="t"/>
          <a:lstStyle/>
          <a:p>
            <a:pPr indent="0" marL="0">
              <a:buNone/>
            </a:pPr>
            <a:r>
              <a:rPr lang="en-US" sz="1200" dirty="0">
                <a:solidFill>
                  <a:schemeClr val="accent4"/>
                </a:solidFill>
                <a:latin typeface="Arial" pitchFamily="34" charset="0"/>
                <a:ea typeface="Arial" pitchFamily="34" charset="-122"/>
                <a:cs typeface="Arial" pitchFamily="34" charset="-120"/>
              </a:rPr>
              <a:t>Locked in for your students and alumni.</a:t>
            </a:r>
            <a:endParaRPr lang="en-US" sz="1200" dirty="0"/>
          </a:p>
        </p:txBody>
      </p:sp>
      <p:sp>
        <p:nvSpPr>
          <p:cNvPr id="10" name="num-131"/>
          <p:cNvSpPr/>
          <p:nvPr/>
        </p:nvSpPr>
        <p:spPr>
          <a:xfrm>
            <a:off x="1097280" y="3822192"/>
            <a:ext cx="329184" cy="329184"/>
          </a:xfrm>
          <a:prstGeom prst="ellipse">
            <a:avLst/>
          </a:prstGeom>
          <a:ln w="15875">
            <a:solidFill>
              <a:schemeClr val="accent2"/>
            </a:solidFill>
            <a:prstDash val="solid"/>
          </a:ln>
        </p:spPr>
      </p:sp>
      <p:sp>
        <p:nvSpPr>
          <p:cNvPr id="11" name="text-132"/>
          <p:cNvSpPr txBox="1"/>
          <p:nvPr/>
        </p:nvSpPr>
        <p:spPr>
          <a:xfrm>
            <a:off x="1097280" y="3822192"/>
            <a:ext cx="329184" cy="329184"/>
          </a:xfrm>
          <a:prstGeom prst="rect">
            <a:avLst/>
          </a:prstGeom>
          <a:noFill/>
          <a:ln/>
        </p:spPr>
        <p:txBody>
          <a:bodyPr wrap="square" lIns="0" tIns="0" rIns="0" bIns="0" rtlCol="0" anchor="ctr"/>
          <a:lstStyle/>
          <a:p>
            <a:pPr algn="ctr" indent="0" marL="0">
              <a:buNone/>
            </a:pPr>
            <a:r>
              <a:rPr lang="en-US" sz="1200" b="1" dirty="0">
                <a:solidFill>
                  <a:schemeClr val="accent2"/>
                </a:solidFill>
                <a:latin typeface="Arial" pitchFamily="34" charset="0"/>
                <a:ea typeface="Arial" pitchFamily="34" charset="-122"/>
                <a:cs typeface="Arial" pitchFamily="34" charset="-120"/>
              </a:rPr>
              <a:t>2</a:t>
            </a:r>
            <a:endParaRPr lang="en-US" sz="1200" dirty="0"/>
          </a:p>
        </p:txBody>
      </p:sp>
      <p:sp>
        <p:nvSpPr>
          <p:cNvPr id="12" name="text-133"/>
          <p:cNvSpPr txBox="1"/>
          <p:nvPr/>
        </p:nvSpPr>
        <p:spPr>
          <a:xfrm>
            <a:off x="1645920" y="3803904"/>
            <a:ext cx="5440680" cy="274320"/>
          </a:xfrm>
          <a:prstGeom prst="rect">
            <a:avLst/>
          </a:prstGeom>
          <a:noFill/>
          <a:ln/>
        </p:spPr>
        <p:txBody>
          <a:bodyPr wrap="square" lIns="0" tIns="0" rIns="0" bIns="0" rtlCol="0" anchor="t"/>
          <a:lstStyle/>
          <a:p>
            <a:pPr indent="0" marL="0">
              <a:buNone/>
            </a:pPr>
            <a:r>
              <a:rPr lang="en-US" sz="1500" b="1" dirty="0">
                <a:solidFill>
                  <a:schemeClr val="bg1"/>
                </a:solidFill>
                <a:latin typeface="Arial" pitchFamily="34" charset="0"/>
                <a:ea typeface="Arial" pitchFamily="34" charset="-122"/>
                <a:cs typeface="Arial" pitchFamily="34" charset="-120"/>
              </a:rPr>
              <a:t>A free pilot for 5 students you choose</a:t>
            </a:r>
            <a:endParaRPr lang="en-US" sz="1500" dirty="0"/>
          </a:p>
        </p:txBody>
      </p:sp>
      <p:sp>
        <p:nvSpPr>
          <p:cNvPr id="13" name="text-134"/>
          <p:cNvSpPr txBox="1"/>
          <p:nvPr/>
        </p:nvSpPr>
        <p:spPr>
          <a:xfrm>
            <a:off x="1645920" y="4087368"/>
            <a:ext cx="5440680" cy="274320"/>
          </a:xfrm>
          <a:prstGeom prst="rect">
            <a:avLst/>
          </a:prstGeom>
          <a:noFill/>
          <a:ln/>
        </p:spPr>
        <p:txBody>
          <a:bodyPr wrap="square" lIns="0" tIns="0" rIns="0" bIns="0" rtlCol="0" anchor="t"/>
          <a:lstStyle/>
          <a:p>
            <a:pPr indent="0" marL="0">
              <a:buNone/>
            </a:pPr>
            <a:r>
              <a:rPr lang="en-US" sz="1200" dirty="0">
                <a:solidFill>
                  <a:schemeClr val="accent4"/>
                </a:solidFill>
                <a:latin typeface="Arial" pitchFamily="34" charset="0"/>
                <a:ea typeface="Arial" pitchFamily="34" charset="-122"/>
                <a:cs typeface="Arial" pitchFamily="34" charset="-120"/>
              </a:rPr>
              <a:t>Run end to end at no cost.</a:t>
            </a:r>
            <a:endParaRPr lang="en-US" sz="1200" dirty="0"/>
          </a:p>
        </p:txBody>
      </p:sp>
      <p:sp>
        <p:nvSpPr>
          <p:cNvPr id="14" name="num-135"/>
          <p:cNvSpPr/>
          <p:nvPr/>
        </p:nvSpPr>
        <p:spPr>
          <a:xfrm>
            <a:off x="1097280" y="4489704"/>
            <a:ext cx="329184" cy="329184"/>
          </a:xfrm>
          <a:prstGeom prst="ellipse">
            <a:avLst/>
          </a:prstGeom>
          <a:ln w="15875">
            <a:solidFill>
              <a:schemeClr val="accent2"/>
            </a:solidFill>
            <a:prstDash val="solid"/>
          </a:ln>
        </p:spPr>
      </p:sp>
      <p:sp>
        <p:nvSpPr>
          <p:cNvPr id="15" name="text-136"/>
          <p:cNvSpPr txBox="1"/>
          <p:nvPr/>
        </p:nvSpPr>
        <p:spPr>
          <a:xfrm>
            <a:off x="1097280" y="4489704"/>
            <a:ext cx="329184" cy="329184"/>
          </a:xfrm>
          <a:prstGeom prst="rect">
            <a:avLst/>
          </a:prstGeom>
          <a:noFill/>
          <a:ln/>
        </p:spPr>
        <p:txBody>
          <a:bodyPr wrap="square" lIns="0" tIns="0" rIns="0" bIns="0" rtlCol="0" anchor="ctr"/>
          <a:lstStyle/>
          <a:p>
            <a:pPr algn="ctr" indent="0" marL="0">
              <a:buNone/>
            </a:pPr>
            <a:r>
              <a:rPr lang="en-US" sz="1200" b="1" dirty="0">
                <a:solidFill>
                  <a:schemeClr val="accent2"/>
                </a:solidFill>
                <a:latin typeface="Arial" pitchFamily="34" charset="0"/>
                <a:ea typeface="Arial" pitchFamily="34" charset="-122"/>
                <a:cs typeface="Arial" pitchFamily="34" charset="-120"/>
              </a:rPr>
              <a:t>3</a:t>
            </a:r>
            <a:endParaRPr lang="en-US" sz="1200" dirty="0"/>
          </a:p>
        </p:txBody>
      </p:sp>
      <p:sp>
        <p:nvSpPr>
          <p:cNvPr id="16" name="text-137"/>
          <p:cNvSpPr txBox="1"/>
          <p:nvPr/>
        </p:nvSpPr>
        <p:spPr>
          <a:xfrm>
            <a:off x="1645920" y="4471416"/>
            <a:ext cx="5440680" cy="274320"/>
          </a:xfrm>
          <a:prstGeom prst="rect">
            <a:avLst/>
          </a:prstGeom>
          <a:noFill/>
          <a:ln/>
        </p:spPr>
        <p:txBody>
          <a:bodyPr wrap="square" lIns="0" tIns="0" rIns="0" bIns="0" rtlCol="0" anchor="t"/>
          <a:lstStyle/>
          <a:p>
            <a:pPr indent="0" marL="0">
              <a:buNone/>
            </a:pPr>
            <a:r>
              <a:rPr lang="en-US" sz="1500" b="1" dirty="0">
                <a:solidFill>
                  <a:schemeClr val="bg1"/>
                </a:solidFill>
                <a:latin typeface="Arial" pitchFamily="34" charset="0"/>
                <a:ea typeface="Arial" pitchFamily="34" charset="-122"/>
                <a:cs typeface="Arial" pitchFamily="34" charset="-120"/>
              </a:rPr>
              <a:t>A results summary you can share</a:t>
            </a:r>
            <a:endParaRPr lang="en-US" sz="1500" dirty="0"/>
          </a:p>
        </p:txBody>
      </p:sp>
      <p:sp>
        <p:nvSpPr>
          <p:cNvPr id="17" name="text-138"/>
          <p:cNvSpPr txBox="1"/>
          <p:nvPr/>
        </p:nvSpPr>
        <p:spPr>
          <a:xfrm>
            <a:off x="1645920" y="4754880"/>
            <a:ext cx="5440680" cy="274320"/>
          </a:xfrm>
          <a:prstGeom prst="rect">
            <a:avLst/>
          </a:prstGeom>
          <a:noFill/>
          <a:ln/>
        </p:spPr>
        <p:txBody>
          <a:bodyPr wrap="square" lIns="0" tIns="0" rIns="0" bIns="0" rtlCol="0" anchor="t"/>
          <a:lstStyle/>
          <a:p>
            <a:pPr indent="0" marL="0">
              <a:buNone/>
            </a:pPr>
            <a:r>
              <a:rPr lang="en-US" sz="1200" dirty="0">
                <a:solidFill>
                  <a:schemeClr val="accent4"/>
                </a:solidFill>
                <a:latin typeface="Arial" pitchFamily="34" charset="0"/>
                <a:ea typeface="Arial" pitchFamily="34" charset="-122"/>
                <a:cs typeface="Arial" pitchFamily="34" charset="-120"/>
              </a:rPr>
              <a:t>Written for your batch and your placement team.</a:t>
            </a:r>
            <a:endParaRPr lang="en-US" sz="1200" dirty="0"/>
          </a:p>
        </p:txBody>
      </p:sp>
      <p:sp>
        <p:nvSpPr>
          <p:cNvPr id="18" name="num-139"/>
          <p:cNvSpPr/>
          <p:nvPr/>
        </p:nvSpPr>
        <p:spPr>
          <a:xfrm>
            <a:off x="1097280" y="5157216"/>
            <a:ext cx="329184" cy="329184"/>
          </a:xfrm>
          <a:prstGeom prst="ellipse">
            <a:avLst/>
          </a:prstGeom>
          <a:ln w="15875">
            <a:solidFill>
              <a:schemeClr val="accent2"/>
            </a:solidFill>
            <a:prstDash val="solid"/>
          </a:ln>
        </p:spPr>
      </p:sp>
      <p:sp>
        <p:nvSpPr>
          <p:cNvPr id="19" name="text-140"/>
          <p:cNvSpPr txBox="1"/>
          <p:nvPr/>
        </p:nvSpPr>
        <p:spPr>
          <a:xfrm>
            <a:off x="1097280" y="5157216"/>
            <a:ext cx="329184" cy="329184"/>
          </a:xfrm>
          <a:prstGeom prst="rect">
            <a:avLst/>
          </a:prstGeom>
          <a:noFill/>
          <a:ln/>
        </p:spPr>
        <p:txBody>
          <a:bodyPr wrap="square" lIns="0" tIns="0" rIns="0" bIns="0" rtlCol="0" anchor="ctr"/>
          <a:lstStyle/>
          <a:p>
            <a:pPr algn="ctr" indent="0" marL="0">
              <a:buNone/>
            </a:pPr>
            <a:r>
              <a:rPr lang="en-US" sz="1200" b="1" dirty="0">
                <a:solidFill>
                  <a:schemeClr val="accent2"/>
                </a:solidFill>
                <a:latin typeface="Arial" pitchFamily="34" charset="0"/>
                <a:ea typeface="Arial" pitchFamily="34" charset="-122"/>
                <a:cs typeface="Arial" pitchFamily="34" charset="-120"/>
              </a:rPr>
              <a:t>4</a:t>
            </a:r>
            <a:endParaRPr lang="en-US" sz="1200" dirty="0"/>
          </a:p>
        </p:txBody>
      </p:sp>
      <p:sp>
        <p:nvSpPr>
          <p:cNvPr id="20" name="text-141"/>
          <p:cNvSpPr txBox="1"/>
          <p:nvPr/>
        </p:nvSpPr>
        <p:spPr>
          <a:xfrm>
            <a:off x="1645920" y="5138928"/>
            <a:ext cx="5440680" cy="274320"/>
          </a:xfrm>
          <a:prstGeom prst="rect">
            <a:avLst/>
          </a:prstGeom>
          <a:noFill/>
          <a:ln/>
        </p:spPr>
        <p:txBody>
          <a:bodyPr wrap="square" lIns="0" tIns="0" rIns="0" bIns="0" rtlCol="0" anchor="t"/>
          <a:lstStyle/>
          <a:p>
            <a:pPr indent="0" marL="0">
              <a:buNone/>
            </a:pPr>
            <a:r>
              <a:rPr lang="en-US" sz="1500" b="1" dirty="0">
                <a:solidFill>
                  <a:schemeClr val="bg1"/>
                </a:solidFill>
                <a:latin typeface="Arial" pitchFamily="34" charset="0"/>
                <a:ea typeface="Arial" pitchFamily="34" charset="-122"/>
                <a:cs typeface="Arial" pitchFamily="34" charset="-120"/>
              </a:rPr>
              <a:t>A co-hosted session on outbound job search</a:t>
            </a:r>
            <a:endParaRPr lang="en-US" sz="1500" dirty="0"/>
          </a:p>
        </p:txBody>
      </p:sp>
      <p:sp>
        <p:nvSpPr>
          <p:cNvPr id="21" name="text-142"/>
          <p:cNvSpPr txBox="1"/>
          <p:nvPr/>
        </p:nvSpPr>
        <p:spPr>
          <a:xfrm>
            <a:off x="1645920" y="5422392"/>
            <a:ext cx="5440680" cy="274320"/>
          </a:xfrm>
          <a:prstGeom prst="rect">
            <a:avLst/>
          </a:prstGeom>
          <a:noFill/>
          <a:ln/>
        </p:spPr>
        <p:txBody>
          <a:bodyPr wrap="square" lIns="0" tIns="0" rIns="0" bIns="0" rtlCol="0" anchor="t"/>
          <a:lstStyle/>
          <a:p>
            <a:pPr indent="0" marL="0">
              <a:buNone/>
            </a:pPr>
            <a:r>
              <a:rPr lang="en-US" sz="1200" dirty="0">
                <a:solidFill>
                  <a:schemeClr val="accent4"/>
                </a:solidFill>
                <a:latin typeface="Arial" pitchFamily="34" charset="0"/>
                <a:ea typeface="Arial" pitchFamily="34" charset="-122"/>
                <a:cs typeface="Arial" pitchFamily="34" charset="-120"/>
              </a:rPr>
              <a:t>Practical, open to the whole batch.</a:t>
            </a:r>
            <a:endParaRPr lang="en-US" sz="1200" dirty="0"/>
          </a:p>
        </p:txBody>
      </p:sp>
      <p:sp>
        <p:nvSpPr>
          <p:cNvPr id="22" name="card-143"/>
          <p:cNvSpPr/>
          <p:nvPr/>
        </p:nvSpPr>
        <p:spPr>
          <a:xfrm>
            <a:off x="7772400" y="2103120"/>
            <a:ext cx="3779215" cy="3840480"/>
          </a:xfrm>
          <a:prstGeom prst="rect">
            <a:avLst/>
          </a:prstGeom>
          <a:solidFill>
            <a:schemeClr val="bg2"/>
          </a:solidFill>
          <a:ln/>
        </p:spPr>
      </p:sp>
      <p:sp>
        <p:nvSpPr>
          <p:cNvPr id="23" name="text-144"/>
          <p:cNvSpPr txBox="1"/>
          <p:nvPr/>
        </p:nvSpPr>
        <p:spPr>
          <a:xfrm>
            <a:off x="8229600" y="2468880"/>
            <a:ext cx="3047695" cy="411480"/>
          </a:xfrm>
          <a:prstGeom prst="rect">
            <a:avLst/>
          </a:prstGeom>
          <a:noFill/>
          <a:ln/>
        </p:spPr>
        <p:txBody>
          <a:bodyPr wrap="square" lIns="0" tIns="0" rIns="0" bIns="0" rtlCol="0" anchor="t"/>
          <a:lstStyle/>
          <a:p>
            <a:pPr indent="0" marL="0">
              <a:buNone/>
            </a:pPr>
            <a:r>
              <a:rPr lang="en-US" sz="2200" dirty="0">
                <a:solidFill>
                  <a:schemeClr val="tx1"/>
                </a:solidFill>
                <a:latin typeface="Georgia" pitchFamily="34" charset="0"/>
                <a:ea typeface="Georgia" pitchFamily="34" charset="-122"/>
                <a:cs typeface="Georgia" pitchFamily="34" charset="-120"/>
              </a:rPr>
              <a:t>What Knock asks</a:t>
            </a:r>
            <a:endParaRPr lang="en-US" sz="2200" dirty="0"/>
          </a:p>
        </p:txBody>
      </p:sp>
      <p:sp>
        <p:nvSpPr>
          <p:cNvPr id="24" name="num-145"/>
          <p:cNvSpPr/>
          <p:nvPr/>
        </p:nvSpPr>
        <p:spPr>
          <a:xfrm>
            <a:off x="8229600" y="3154680"/>
            <a:ext cx="329184" cy="329184"/>
          </a:xfrm>
          <a:prstGeom prst="ellipse">
            <a:avLst/>
          </a:prstGeom>
          <a:ln w="15875">
            <a:solidFill>
              <a:schemeClr val="accent1"/>
            </a:solidFill>
            <a:prstDash val="solid"/>
          </a:ln>
        </p:spPr>
      </p:sp>
      <p:sp>
        <p:nvSpPr>
          <p:cNvPr id="25" name="text-146"/>
          <p:cNvSpPr txBox="1"/>
          <p:nvPr/>
        </p:nvSpPr>
        <p:spPr>
          <a:xfrm>
            <a:off x="8229600" y="3154680"/>
            <a:ext cx="329184" cy="329184"/>
          </a:xfrm>
          <a:prstGeom prst="rect">
            <a:avLst/>
          </a:prstGeom>
          <a:noFill/>
          <a:ln/>
        </p:spPr>
        <p:txBody>
          <a:bodyPr wrap="square" lIns="0" tIns="0" rIns="0" bIns="0" rtlCol="0" anchor="ctr"/>
          <a:lstStyle/>
          <a:p>
            <a:pPr algn="ctr" indent="0" marL="0">
              <a:buNone/>
            </a:pPr>
            <a:r>
              <a:rPr lang="en-US" sz="1200" b="1" dirty="0">
                <a:solidFill>
                  <a:schemeClr val="accent1"/>
                </a:solidFill>
                <a:latin typeface="Arial" pitchFamily="34" charset="0"/>
                <a:ea typeface="Arial" pitchFamily="34" charset="-122"/>
                <a:cs typeface="Arial" pitchFamily="34" charset="-120"/>
              </a:rPr>
              <a:t>1</a:t>
            </a:r>
            <a:endParaRPr lang="en-US" sz="1200" dirty="0"/>
          </a:p>
        </p:txBody>
      </p:sp>
      <p:sp>
        <p:nvSpPr>
          <p:cNvPr id="26" name="text-147"/>
          <p:cNvSpPr txBox="1"/>
          <p:nvPr/>
        </p:nvSpPr>
        <p:spPr>
          <a:xfrm>
            <a:off x="8778240" y="3136392"/>
            <a:ext cx="2499055" cy="5486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One announcement to the batch</a:t>
            </a:r>
            <a:endParaRPr lang="en-US" sz="1500" dirty="0"/>
          </a:p>
        </p:txBody>
      </p:sp>
      <p:sp>
        <p:nvSpPr>
          <p:cNvPr id="27" name="text-148"/>
          <p:cNvSpPr txBox="1"/>
          <p:nvPr/>
        </p:nvSpPr>
        <p:spPr>
          <a:xfrm>
            <a:off x="8778240" y="3657600"/>
            <a:ext cx="2499055" cy="274320"/>
          </a:xfrm>
          <a:prstGeom prst="rect">
            <a:avLst/>
          </a:prstGeom>
          <a:noFill/>
          <a:ln/>
        </p:spPr>
        <p:txBody>
          <a:bodyPr wrap="square" lIns="0" tIns="0" rIns="0" bIns="0" rtlCol="0" anchor="t"/>
          <a:lstStyle/>
          <a:p>
            <a:pPr indent="0" marL="0">
              <a:buNone/>
            </a:pPr>
            <a:r>
              <a:rPr lang="en-US" sz="1200" dirty="0">
                <a:solidFill>
                  <a:schemeClr val="accent3"/>
                </a:solidFill>
                <a:latin typeface="Arial" pitchFamily="34" charset="0"/>
                <a:ea typeface="Arial" pitchFamily="34" charset="-122"/>
                <a:cs typeface="Arial" pitchFamily="34" charset="-120"/>
              </a:rPr>
              <a:t>In your words, on your channel.</a:t>
            </a:r>
            <a:endParaRPr lang="en-US" sz="1200" dirty="0"/>
          </a:p>
        </p:txBody>
      </p:sp>
      <p:sp>
        <p:nvSpPr>
          <p:cNvPr id="28" name="num-149"/>
          <p:cNvSpPr/>
          <p:nvPr/>
        </p:nvSpPr>
        <p:spPr>
          <a:xfrm>
            <a:off x="8229600" y="4069080"/>
            <a:ext cx="329184" cy="329184"/>
          </a:xfrm>
          <a:prstGeom prst="ellipse">
            <a:avLst/>
          </a:prstGeom>
          <a:ln w="15875">
            <a:solidFill>
              <a:schemeClr val="accent1"/>
            </a:solidFill>
            <a:prstDash val="solid"/>
          </a:ln>
        </p:spPr>
      </p:sp>
      <p:sp>
        <p:nvSpPr>
          <p:cNvPr id="29" name="text-150"/>
          <p:cNvSpPr txBox="1"/>
          <p:nvPr/>
        </p:nvSpPr>
        <p:spPr>
          <a:xfrm>
            <a:off x="8229600" y="4069080"/>
            <a:ext cx="329184" cy="329184"/>
          </a:xfrm>
          <a:prstGeom prst="rect">
            <a:avLst/>
          </a:prstGeom>
          <a:noFill/>
          <a:ln/>
        </p:spPr>
        <p:txBody>
          <a:bodyPr wrap="square" lIns="0" tIns="0" rIns="0" bIns="0" rtlCol="0" anchor="ctr"/>
          <a:lstStyle/>
          <a:p>
            <a:pPr algn="ctr" indent="0" marL="0">
              <a:buNone/>
            </a:pPr>
            <a:r>
              <a:rPr lang="en-US" sz="1200" b="1" dirty="0">
                <a:solidFill>
                  <a:schemeClr val="accent1"/>
                </a:solidFill>
                <a:latin typeface="Arial" pitchFamily="34" charset="0"/>
                <a:ea typeface="Arial" pitchFamily="34" charset="-122"/>
                <a:cs typeface="Arial" pitchFamily="34" charset="-120"/>
              </a:rPr>
              <a:t>2</a:t>
            </a:r>
            <a:endParaRPr lang="en-US" sz="1200" dirty="0"/>
          </a:p>
        </p:txBody>
      </p:sp>
      <p:sp>
        <p:nvSpPr>
          <p:cNvPr id="30" name="text-151"/>
          <p:cNvSpPr txBox="1"/>
          <p:nvPr/>
        </p:nvSpPr>
        <p:spPr>
          <a:xfrm>
            <a:off x="8778240" y="4050792"/>
            <a:ext cx="2499055" cy="548640"/>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A feedback call after the pilot</a:t>
            </a:r>
            <a:endParaRPr lang="en-US" sz="1500" dirty="0"/>
          </a:p>
        </p:txBody>
      </p:sp>
      <p:sp>
        <p:nvSpPr>
          <p:cNvPr id="31" name="text-152"/>
          <p:cNvSpPr txBox="1"/>
          <p:nvPr/>
        </p:nvSpPr>
        <p:spPr>
          <a:xfrm>
            <a:off x="8778240" y="4572000"/>
            <a:ext cx="2499055" cy="274320"/>
          </a:xfrm>
          <a:prstGeom prst="rect">
            <a:avLst/>
          </a:prstGeom>
          <a:noFill/>
          <a:ln/>
        </p:spPr>
        <p:txBody>
          <a:bodyPr wrap="square" lIns="0" tIns="0" rIns="0" bIns="0" rtlCol="0" anchor="t"/>
          <a:lstStyle/>
          <a:p>
            <a:pPr indent="0" marL="0">
              <a:buNone/>
            </a:pPr>
            <a:r>
              <a:rPr lang="en-US" sz="1200" dirty="0">
                <a:solidFill>
                  <a:schemeClr val="accent3"/>
                </a:solidFill>
                <a:latin typeface="Arial" pitchFamily="34" charset="0"/>
                <a:ea typeface="Arial" pitchFamily="34" charset="-122"/>
                <a:cs typeface="Arial" pitchFamily="34" charset="-120"/>
              </a:rPr>
              <a:t>Thirty minutes, honest notes.</a:t>
            </a:r>
            <a:endParaRPr lang="en-US" sz="1200" dirty="0"/>
          </a:p>
        </p:txBody>
      </p:sp>
      <p:sp>
        <p:nvSpPr>
          <p:cNvPr id="32" name="text-153"/>
          <p:cNvSpPr txBox="1"/>
          <p:nvPr/>
        </p:nvSpPr>
        <p:spPr>
          <a:xfrm>
            <a:off x="8229600" y="5120640"/>
            <a:ext cx="2956255" cy="594360"/>
          </a:xfrm>
          <a:prstGeom prst="rect">
            <a:avLst/>
          </a:prstGeom>
          <a:noFill/>
          <a:ln/>
        </p:spPr>
        <p:txBody>
          <a:bodyPr wrap="square" lIns="0" tIns="0" rIns="0" bIns="0" rtlCol="0" anchor="t"/>
          <a:lstStyle/>
          <a:p>
            <a:pPr indent="0" marL="0">
              <a:buNone/>
            </a:pPr>
            <a:r>
              <a:rPr lang="en-US" sz="1200" i="1" dirty="0">
                <a:solidFill>
                  <a:schemeClr val="accent3"/>
                </a:solidFill>
                <a:latin typeface="Arial" pitchFamily="34" charset="0"/>
                <a:ea typeface="Arial" pitchFamily="34" charset="-122"/>
                <a:cs typeface="Arial" pitchFamily="34" charset="-120"/>
              </a:rPr>
              <a:t>That is all. No exclusivity, no fees, no data shared without consent.</a:t>
            </a:r>
            <a:endParaRPr lang="en-US" sz="120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640080" y="502920"/>
            <a:ext cx="10911535" cy="274320"/>
          </a:xfrm>
          <a:prstGeom prst="rect">
            <a:avLst/>
          </a:prstGeom>
          <a:noFill/>
          <a:ln/>
        </p:spPr>
        <p:txBody>
          <a:bodyPr wrap="square" lIns="0" tIns="0" rIns="0" bIns="0" rtlCol="0" anchor="t"/>
          <a:lstStyle/>
          <a:p>
            <a:pPr indent="0" marL="0">
              <a:buNone/>
            </a:pPr>
            <a:r>
              <a:rPr lang="en-US" sz="1100" b="1" spc="300" kern="0" dirty="0">
                <a:solidFill>
                  <a:schemeClr val="accent1"/>
                </a:solidFill>
                <a:latin typeface="Arial" pitchFamily="34" charset="0"/>
                <a:ea typeface="Arial" pitchFamily="34" charset="-122"/>
                <a:cs typeface="Arial" pitchFamily="34" charset="-120"/>
              </a:rPr>
              <a:t>08   HOW WE MEASURE SUCCESS</a:t>
            </a:r>
            <a:endParaRPr lang="en-US" sz="1100" dirty="0"/>
          </a:p>
        </p:txBody>
      </p:sp>
      <p:sp>
        <p:nvSpPr>
          <p:cNvPr id="3" name="Text 1"/>
          <p:cNvSpPr/>
          <p:nvPr>
            <p:ph idx="102" type="title" hasCustomPrompt="1"/>
          </p:nvPr>
        </p:nvSpPr>
        <p:spPr>
          <a:xfrm>
            <a:off x="640080" y="822960"/>
            <a:ext cx="10241280" cy="1051560"/>
          </a:xfrm>
          <a:prstGeom prst="rect">
            <a:avLst/>
          </a:prstGeom>
          <a:noFill/>
          <a:ln/>
        </p:spPr>
        <p:txBody>
          <a:bodyPr wrap="square" lIns="0" tIns="0" rIns="0" bIns="0" rtlCol="0" anchor="t"/>
          <a:lstStyle/>
          <a:p>
            <a:pPr algn="l" indent="0" marL="0">
              <a:lnSpc>
                <a:spcPct val="95000"/>
              </a:lnSpc>
              <a:buNone/>
            </a:pPr>
            <a:r>
              <a:rPr lang="en-US" sz="3000" dirty="0">
                <a:solidFill>
                  <a:schemeClr val="tx1"/>
                </a:solidFill>
                <a:latin typeface="Georgia" pitchFamily="34" charset="0"/>
                <a:ea typeface="Georgia" pitchFamily="34" charset="-122"/>
                <a:cs typeface="Georgia" pitchFamily="34" charset="-120"/>
              </a:rPr>
              <a:t>One honest metric: interviews per 100 people contacted</a:t>
            </a:r>
            <a:endParaRPr lang="en-US" sz="3000" dirty="0"/>
          </a:p>
        </p:txBody>
      </p:sp>
      <p:sp>
        <p:nvSpPr>
          <p:cNvPr id="4" name="card-154"/>
          <p:cNvSpPr/>
          <p:nvPr/>
        </p:nvSpPr>
        <p:spPr>
          <a:xfrm>
            <a:off x="640080" y="2194560"/>
            <a:ext cx="5120640" cy="3291840"/>
          </a:xfrm>
          <a:prstGeom prst="rect">
            <a:avLst/>
          </a:prstGeom>
          <a:solidFill>
            <a:schemeClr val="bg2"/>
          </a:solidFill>
          <a:ln/>
        </p:spPr>
      </p:sp>
      <p:sp>
        <p:nvSpPr>
          <p:cNvPr id="5" name="text-155"/>
          <p:cNvSpPr txBox="1"/>
          <p:nvPr/>
        </p:nvSpPr>
        <p:spPr>
          <a:xfrm>
            <a:off x="640080" y="2788920"/>
            <a:ext cx="5120640" cy="731520"/>
          </a:xfrm>
          <a:prstGeom prst="rect">
            <a:avLst/>
          </a:prstGeom>
          <a:noFill/>
          <a:ln/>
        </p:spPr>
        <p:txBody>
          <a:bodyPr wrap="square" lIns="0" tIns="0" rIns="0" bIns="0" rtlCol="0" anchor="b"/>
          <a:lstStyle/>
          <a:p>
            <a:pPr algn="ctr" indent="0" marL="0">
              <a:buNone/>
            </a:pPr>
            <a:r>
              <a:rPr lang="en-US" sz="4000" dirty="0">
                <a:solidFill>
                  <a:schemeClr val="tx1"/>
                </a:solidFill>
                <a:latin typeface="Georgia" pitchFamily="34" charset="0"/>
                <a:ea typeface="Georgia" pitchFamily="34" charset="-122"/>
                <a:cs typeface="Georgia" pitchFamily="34" charset="-120"/>
              </a:rPr>
              <a:t>Interviews</a:t>
            </a:r>
            <a:endParaRPr lang="en-US" sz="4000" dirty="0"/>
          </a:p>
        </p:txBody>
      </p:sp>
      <p:sp>
        <p:nvSpPr>
          <p:cNvPr id="6" name="fraction"/>
          <p:cNvSpPr/>
          <p:nvPr/>
        </p:nvSpPr>
        <p:spPr>
          <a:xfrm>
            <a:off x="1371600" y="3749040"/>
            <a:ext cx="3657600" cy="0"/>
          </a:xfrm>
          <a:prstGeom prst="line">
            <a:avLst/>
          </a:prstGeom>
          <a:noFill/>
          <a:ln w="25400">
            <a:solidFill>
              <a:schemeClr val="accent1"/>
            </a:solidFill>
            <a:prstDash val="solid"/>
          </a:ln>
        </p:spPr>
      </p:sp>
      <p:sp>
        <p:nvSpPr>
          <p:cNvPr id="7" name="text-156"/>
          <p:cNvSpPr txBox="1"/>
          <p:nvPr/>
        </p:nvSpPr>
        <p:spPr>
          <a:xfrm>
            <a:off x="640080" y="3977640"/>
            <a:ext cx="5120640" cy="731520"/>
          </a:xfrm>
          <a:prstGeom prst="rect">
            <a:avLst/>
          </a:prstGeom>
          <a:noFill/>
          <a:ln/>
        </p:spPr>
        <p:txBody>
          <a:bodyPr wrap="square" lIns="0" tIns="0" rIns="0" bIns="0" rtlCol="0" anchor="t"/>
          <a:lstStyle/>
          <a:p>
            <a:pPr algn="ctr" indent="0" marL="0">
              <a:buNone/>
            </a:pPr>
            <a:r>
              <a:rPr lang="en-US" sz="3000" dirty="0">
                <a:solidFill>
                  <a:schemeClr val="accent3"/>
                </a:solidFill>
                <a:latin typeface="Georgia" pitchFamily="34" charset="0"/>
                <a:ea typeface="Georgia" pitchFamily="34" charset="-122"/>
                <a:cs typeface="Georgia" pitchFamily="34" charset="-120"/>
              </a:rPr>
              <a:t>100 people contacted</a:t>
            </a:r>
            <a:endParaRPr lang="en-US" sz="3000" dirty="0"/>
          </a:p>
        </p:txBody>
      </p:sp>
      <p:sp>
        <p:nvSpPr>
          <p:cNvPr id="8" name="door-open-157"/>
          <p:cNvSpPr/>
          <p:nvPr/>
        </p:nvSpPr>
        <p:spPr>
          <a:xfrm>
            <a:off x="6309360" y="2240280"/>
            <a:ext cx="274320" cy="475488"/>
          </a:xfrm>
          <a:prstGeom prst="rect">
            <a:avLst/>
          </a:prstGeom>
          <a:solidFill>
            <a:schemeClr val="accent6"/>
          </a:solidFill>
          <a:ln w="15875">
            <a:solidFill>
              <a:schemeClr val="accent1"/>
            </a:solidFill>
            <a:prstDash val="solid"/>
          </a:ln>
        </p:spPr>
      </p:sp>
      <p:sp>
        <p:nvSpPr>
          <p:cNvPr id="9" name="door-leaf-158"/>
          <p:cNvSpPr/>
          <p:nvPr/>
        </p:nvSpPr>
        <p:spPr>
          <a:xfrm>
            <a:off x="6391656" y="2259300"/>
            <a:ext cx="192024" cy="437449"/>
          </a:xfrm>
          <a:prstGeom prst="rect">
            <a:avLst/>
          </a:prstGeom>
          <a:solidFill>
            <a:schemeClr val="tx2"/>
          </a:solidFill>
          <a:ln w="12700">
            <a:solidFill>
              <a:schemeClr val="accent1"/>
            </a:solidFill>
            <a:prstDash val="solid"/>
          </a:ln>
        </p:spPr>
      </p:sp>
      <p:sp>
        <p:nvSpPr>
          <p:cNvPr id="10" name="text-159"/>
          <p:cNvSpPr txBox="1"/>
          <p:nvPr/>
        </p:nvSpPr>
        <p:spPr>
          <a:xfrm>
            <a:off x="6858000" y="2194560"/>
            <a:ext cx="4693615" cy="365760"/>
          </a:xfrm>
          <a:prstGeom prst="rect">
            <a:avLst/>
          </a:prstGeom>
          <a:noFill/>
          <a:ln/>
        </p:spPr>
        <p:txBody>
          <a:bodyPr wrap="square" lIns="0" tIns="0" rIns="0" bIns="0" rtlCol="0" anchor="t"/>
          <a:lstStyle/>
          <a:p>
            <a:pPr indent="0" marL="0">
              <a:buNone/>
            </a:pPr>
            <a:r>
              <a:rPr lang="en-US" sz="2200" dirty="0">
                <a:solidFill>
                  <a:schemeClr val="tx1"/>
                </a:solidFill>
                <a:latin typeface="Georgia" pitchFamily="34" charset="0"/>
                <a:ea typeface="Georgia" pitchFamily="34" charset="-122"/>
                <a:cs typeface="Georgia" pitchFamily="34" charset="-120"/>
              </a:rPr>
              <a:t>Per student</a:t>
            </a:r>
            <a:endParaRPr lang="en-US" sz="2200" dirty="0"/>
          </a:p>
        </p:txBody>
      </p:sp>
      <p:sp>
        <p:nvSpPr>
          <p:cNvPr id="11" name="text-160"/>
          <p:cNvSpPr txBox="1"/>
          <p:nvPr/>
        </p:nvSpPr>
        <p:spPr>
          <a:xfrm>
            <a:off x="6858000" y="2633472"/>
            <a:ext cx="4693615" cy="731520"/>
          </a:xfrm>
          <a:prstGeom prst="rect">
            <a:avLst/>
          </a:prstGeom>
          <a:noFill/>
          <a:ln/>
        </p:spPr>
        <p:txBody>
          <a:bodyPr wrap="square" lIns="0" tIns="0" rIns="0" bIns="0" rtlCol="0" anchor="t"/>
          <a:lstStyle/>
          <a:p>
            <a:pPr indent="0" marL="0">
              <a:lnSpc>
                <a:spcPct val="112000"/>
              </a:lnSpc>
              <a:buNone/>
            </a:pPr>
            <a:r>
              <a:rPr lang="en-US" sz="1400" dirty="0">
                <a:solidFill>
                  <a:schemeClr val="accent3"/>
                </a:solidFill>
                <a:latin typeface="Arial" pitchFamily="34" charset="0"/>
                <a:ea typeface="Arial" pitchFamily="34" charset="-122"/>
                <a:cs typeface="Arial" pitchFamily="34" charset="-120"/>
              </a:rPr>
              <a:t>Each pilot student sees their own number, and which messages and people led to it.</a:t>
            </a:r>
            <a:endParaRPr lang="en-US" sz="1400" dirty="0"/>
          </a:p>
        </p:txBody>
      </p:sp>
      <p:sp>
        <p:nvSpPr>
          <p:cNvPr id="12" name="door-open-161"/>
          <p:cNvSpPr/>
          <p:nvPr/>
        </p:nvSpPr>
        <p:spPr>
          <a:xfrm>
            <a:off x="6309360" y="3657600"/>
            <a:ext cx="274320" cy="475488"/>
          </a:xfrm>
          <a:prstGeom prst="rect">
            <a:avLst/>
          </a:prstGeom>
          <a:solidFill>
            <a:schemeClr val="accent6"/>
          </a:solidFill>
          <a:ln w="15875">
            <a:solidFill>
              <a:schemeClr val="accent1"/>
            </a:solidFill>
            <a:prstDash val="solid"/>
          </a:ln>
        </p:spPr>
      </p:sp>
      <p:sp>
        <p:nvSpPr>
          <p:cNvPr id="13" name="door-leaf-162"/>
          <p:cNvSpPr/>
          <p:nvPr/>
        </p:nvSpPr>
        <p:spPr>
          <a:xfrm>
            <a:off x="6479438" y="3676620"/>
            <a:ext cx="104242" cy="437449"/>
          </a:xfrm>
          <a:prstGeom prst="rect">
            <a:avLst/>
          </a:prstGeom>
          <a:solidFill>
            <a:schemeClr val="tx2"/>
          </a:solidFill>
          <a:ln w="12700">
            <a:solidFill>
              <a:schemeClr val="accent1"/>
            </a:solidFill>
            <a:prstDash val="solid"/>
          </a:ln>
        </p:spPr>
      </p:sp>
      <p:sp>
        <p:nvSpPr>
          <p:cNvPr id="14" name="text-163"/>
          <p:cNvSpPr txBox="1"/>
          <p:nvPr/>
        </p:nvSpPr>
        <p:spPr>
          <a:xfrm>
            <a:off x="6858000" y="3611880"/>
            <a:ext cx="4693615" cy="365760"/>
          </a:xfrm>
          <a:prstGeom prst="rect">
            <a:avLst/>
          </a:prstGeom>
          <a:noFill/>
          <a:ln/>
        </p:spPr>
        <p:txBody>
          <a:bodyPr wrap="square" lIns="0" tIns="0" rIns="0" bIns="0" rtlCol="0" anchor="t"/>
          <a:lstStyle/>
          <a:p>
            <a:pPr indent="0" marL="0">
              <a:buNone/>
            </a:pPr>
            <a:r>
              <a:rPr lang="en-US" sz="2200" dirty="0">
                <a:solidFill>
                  <a:schemeClr val="tx1"/>
                </a:solidFill>
                <a:latin typeface="Georgia" pitchFamily="34" charset="0"/>
                <a:ea typeface="Georgia" pitchFamily="34" charset="-122"/>
                <a:cs typeface="Georgia" pitchFamily="34" charset="-120"/>
              </a:rPr>
              <a:t>In aggregate</a:t>
            </a:r>
            <a:endParaRPr lang="en-US" sz="2200" dirty="0"/>
          </a:p>
        </p:txBody>
      </p:sp>
      <p:sp>
        <p:nvSpPr>
          <p:cNvPr id="15" name="text-164"/>
          <p:cNvSpPr txBox="1"/>
          <p:nvPr/>
        </p:nvSpPr>
        <p:spPr>
          <a:xfrm>
            <a:off x="6858000" y="4050792"/>
            <a:ext cx="4693615" cy="731520"/>
          </a:xfrm>
          <a:prstGeom prst="rect">
            <a:avLst/>
          </a:prstGeom>
          <a:noFill/>
          <a:ln/>
        </p:spPr>
        <p:txBody>
          <a:bodyPr wrap="square" lIns="0" tIns="0" rIns="0" bIns="0" rtlCol="0" anchor="t"/>
          <a:lstStyle/>
          <a:p>
            <a:pPr indent="0" marL="0">
              <a:lnSpc>
                <a:spcPct val="112000"/>
              </a:lnSpc>
              <a:buNone/>
            </a:pPr>
            <a:r>
              <a:rPr lang="en-US" sz="1400" dirty="0">
                <a:solidFill>
                  <a:schemeClr val="accent3"/>
                </a:solidFill>
                <a:latin typeface="Arial" pitchFamily="34" charset="0"/>
                <a:ea typeface="Arial" pitchFamily="34" charset="-122"/>
                <a:cs typeface="Arial" pitchFamily="34" charset="-120"/>
              </a:rPr>
              <a:t>Your club gets the combined view across the pilot group, ready to share.</a:t>
            </a:r>
            <a:endParaRPr lang="en-US" sz="1400" dirty="0"/>
          </a:p>
        </p:txBody>
      </p:sp>
      <p:sp>
        <p:nvSpPr>
          <p:cNvPr id="16" name="text-165"/>
          <p:cNvSpPr txBox="1"/>
          <p:nvPr/>
        </p:nvSpPr>
        <p:spPr>
          <a:xfrm>
            <a:off x="6309360" y="5074920"/>
            <a:ext cx="5242255" cy="548640"/>
          </a:xfrm>
          <a:prstGeom prst="rect">
            <a:avLst/>
          </a:prstGeom>
          <a:noFill/>
          <a:ln/>
        </p:spPr>
        <p:txBody>
          <a:bodyPr wrap="square" lIns="0" tIns="0" rIns="0" bIns="0" rtlCol="0" anchor="t"/>
          <a:lstStyle/>
          <a:p>
            <a:pPr indent="0" marL="0">
              <a:buNone/>
            </a:pPr>
            <a:r>
              <a:rPr lang="en-US" sz="1350" i="1" dirty="0">
                <a:solidFill>
                  <a:schemeClr val="accent1"/>
                </a:solidFill>
                <a:latin typeface="Arial" pitchFamily="34" charset="0"/>
                <a:ea typeface="Arial" pitchFamily="34" charset="-122"/>
                <a:cs typeface="Arial" pitchFamily="34" charset="-120"/>
              </a:rPr>
              <a:t>No promised numbers. We are new, so the pilot sets the baseline and we report it as it is.</a:t>
            </a:r>
            <a:endParaRPr lang="en-US" sz="135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640080" y="502920"/>
            <a:ext cx="10911535" cy="274320"/>
          </a:xfrm>
          <a:prstGeom prst="rect">
            <a:avLst/>
          </a:prstGeom>
          <a:noFill/>
          <a:ln/>
        </p:spPr>
        <p:txBody>
          <a:bodyPr wrap="square" lIns="0" tIns="0" rIns="0" bIns="0" rtlCol="0" anchor="t"/>
          <a:lstStyle/>
          <a:p>
            <a:pPr indent="0" marL="0">
              <a:buNone/>
            </a:pPr>
            <a:r>
              <a:rPr lang="en-US" sz="1100" b="1" spc="300" kern="0" dirty="0">
                <a:solidFill>
                  <a:schemeClr val="accent1"/>
                </a:solidFill>
                <a:latin typeface="Arial" pitchFamily="34" charset="0"/>
                <a:ea typeface="Arial" pitchFamily="34" charset="-122"/>
                <a:cs typeface="Arial" pitchFamily="34" charset="-120"/>
              </a:rPr>
              <a:t>09   PILOT TIMELINE</a:t>
            </a:r>
            <a:endParaRPr lang="en-US" sz="1100" dirty="0"/>
          </a:p>
        </p:txBody>
      </p:sp>
      <p:sp>
        <p:nvSpPr>
          <p:cNvPr id="3" name="Text 1"/>
          <p:cNvSpPr/>
          <p:nvPr>
            <p:ph idx="102" type="title" hasCustomPrompt="1"/>
          </p:nvPr>
        </p:nvSpPr>
        <p:spPr>
          <a:xfrm>
            <a:off x="640080" y="822960"/>
            <a:ext cx="10241280" cy="1051560"/>
          </a:xfrm>
          <a:prstGeom prst="rect">
            <a:avLst/>
          </a:prstGeom>
          <a:noFill/>
          <a:ln/>
        </p:spPr>
        <p:txBody>
          <a:bodyPr wrap="square" lIns="0" tIns="0" rIns="0" bIns="0" rtlCol="0" anchor="t"/>
          <a:lstStyle/>
          <a:p>
            <a:pPr algn="l" indent="0" marL="0">
              <a:lnSpc>
                <a:spcPct val="95000"/>
              </a:lnSpc>
              <a:buNone/>
            </a:pPr>
            <a:r>
              <a:rPr lang="en-US" sz="3000" dirty="0">
                <a:solidFill>
                  <a:schemeClr val="tx1"/>
                </a:solidFill>
                <a:latin typeface="Georgia" pitchFamily="34" charset="0"/>
                <a:ea typeface="Georgia" pitchFamily="34" charset="-122"/>
                <a:cs typeface="Georgia" pitchFamily="34" charset="-120"/>
              </a:rPr>
              <a:t>A three-week pilot with a clear review at the end</a:t>
            </a:r>
            <a:endParaRPr lang="en-US" sz="3000" dirty="0"/>
          </a:p>
        </p:txBody>
      </p:sp>
      <p:sp>
        <p:nvSpPr>
          <p:cNvPr id="4" name="card-166"/>
          <p:cNvSpPr/>
          <p:nvPr/>
        </p:nvSpPr>
        <p:spPr>
          <a:xfrm>
            <a:off x="640080" y="2331720"/>
            <a:ext cx="2886861" cy="685800"/>
          </a:xfrm>
          <a:prstGeom prst="rect">
            <a:avLst/>
          </a:prstGeom>
          <a:solidFill>
            <a:schemeClr val="bg2"/>
          </a:solidFill>
          <a:ln/>
        </p:spPr>
      </p:sp>
      <p:sp>
        <p:nvSpPr>
          <p:cNvPr id="5" name="text-167"/>
          <p:cNvSpPr txBox="1"/>
          <p:nvPr/>
        </p:nvSpPr>
        <p:spPr>
          <a:xfrm>
            <a:off x="914400" y="2331720"/>
            <a:ext cx="2338221" cy="685800"/>
          </a:xfrm>
          <a:prstGeom prst="rect">
            <a:avLst/>
          </a:prstGeom>
          <a:noFill/>
          <a:ln/>
        </p:spPr>
        <p:txBody>
          <a:bodyPr wrap="square" lIns="0" tIns="0" rIns="0" bIns="0" rtlCol="0" anchor="ctr"/>
          <a:lstStyle/>
          <a:p>
            <a:pPr indent="0" marL="0">
              <a:buNone/>
            </a:pPr>
            <a:r>
              <a:rPr lang="en-US" sz="1200" b="1" spc="200" kern="0" dirty="0">
                <a:solidFill>
                  <a:schemeClr val="tx1"/>
                </a:solidFill>
                <a:latin typeface="Arial" pitchFamily="34" charset="0"/>
                <a:ea typeface="Arial" pitchFamily="34" charset="-122"/>
                <a:cs typeface="Arial" pitchFamily="34" charset="-120"/>
              </a:rPr>
              <a:t>WEEK 0</a:t>
            </a:r>
            <a:endParaRPr lang="en-US" sz="1200" dirty="0"/>
          </a:p>
        </p:txBody>
      </p:sp>
      <p:sp>
        <p:nvSpPr>
          <p:cNvPr id="6" name="door-168"/>
          <p:cNvSpPr/>
          <p:nvPr/>
        </p:nvSpPr>
        <p:spPr>
          <a:xfrm>
            <a:off x="914400" y="3337560"/>
            <a:ext cx="274320" cy="475488"/>
          </a:xfrm>
          <a:prstGeom prst="rect">
            <a:avLst/>
          </a:prstGeom>
          <a:ln w="15875">
            <a:solidFill>
              <a:schemeClr val="accent4"/>
            </a:solidFill>
            <a:prstDash val="solid"/>
          </a:ln>
        </p:spPr>
      </p:sp>
      <p:sp>
        <p:nvSpPr>
          <p:cNvPr id="7" name="door-knob-169"/>
          <p:cNvSpPr/>
          <p:nvPr/>
        </p:nvSpPr>
        <p:spPr>
          <a:xfrm>
            <a:off x="1117397" y="3584814"/>
            <a:ext cx="27432" cy="27432"/>
          </a:xfrm>
          <a:prstGeom prst="ellipse">
            <a:avLst/>
          </a:prstGeom>
          <a:solidFill>
            <a:schemeClr val="accent4"/>
          </a:solidFill>
          <a:ln/>
        </p:spPr>
      </p:sp>
      <p:sp>
        <p:nvSpPr>
          <p:cNvPr id="8" name="text-170"/>
          <p:cNvSpPr txBox="1"/>
          <p:nvPr/>
        </p:nvSpPr>
        <p:spPr>
          <a:xfrm>
            <a:off x="1371600" y="3355848"/>
            <a:ext cx="1972461" cy="457200"/>
          </a:xfrm>
          <a:prstGeom prst="rect">
            <a:avLst/>
          </a:prstGeom>
          <a:noFill/>
          <a:ln/>
        </p:spPr>
        <p:txBody>
          <a:bodyPr wrap="square" lIns="0" tIns="0" rIns="0" bIns="0" rtlCol="0" anchor="ctr"/>
          <a:lstStyle/>
          <a:p>
            <a:pPr indent="0" marL="0">
              <a:buNone/>
            </a:pPr>
            <a:r>
              <a:rPr lang="en-US" sz="2200" dirty="0">
                <a:solidFill>
                  <a:schemeClr val="tx1"/>
                </a:solidFill>
                <a:latin typeface="Georgia" pitchFamily="34" charset="0"/>
                <a:ea typeface="Georgia" pitchFamily="34" charset="-122"/>
                <a:cs typeface="Georgia" pitchFamily="34" charset="-120"/>
              </a:rPr>
              <a:t>Kickoff</a:t>
            </a:r>
            <a:endParaRPr lang="en-US" sz="2200" dirty="0"/>
          </a:p>
        </p:txBody>
      </p:sp>
      <p:sp>
        <p:nvSpPr>
          <p:cNvPr id="9" name="tl-list-171"/>
          <p:cNvSpPr txBox="1"/>
          <p:nvPr/>
        </p:nvSpPr>
        <p:spPr>
          <a:xfrm>
            <a:off x="914400" y="4114800"/>
            <a:ext cx="2429661" cy="173736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chemeClr val="accent3"/>
                </a:solidFill>
                <a:latin typeface="Arial" pitchFamily="34" charset="0"/>
                <a:ea typeface="Arial" pitchFamily="34" charset="-122"/>
                <a:cs typeface="Arial" pitchFamily="34" charset="-120"/>
              </a:rPr>
              <a:t>Club picks 5 students</a:t>
            </a:r>
            <a:endParaRPr lang="en-US" sz="1350" dirty="0"/>
          </a:p>
          <a:p>
            <a:pPr marL="177800" indent="-177800">
              <a:spcAft>
                <a:spcPts val="800"/>
              </a:spcAft>
              <a:buSzPct val="100000"/>
              <a:buChar char="•"/>
            </a:pPr>
            <a:r>
              <a:rPr lang="en-US" sz="1350" dirty="0">
                <a:solidFill>
                  <a:schemeClr val="accent3"/>
                </a:solidFill>
                <a:latin typeface="Arial" pitchFamily="34" charset="0"/>
                <a:ea typeface="Arial" pitchFamily="34" charset="-122"/>
                <a:cs typeface="Arial" pitchFamily="34" charset="-120"/>
              </a:rPr>
              <a:t>Targets and roles agreed</a:t>
            </a:r>
            <a:endParaRPr lang="en-US" sz="1350" dirty="0"/>
          </a:p>
          <a:p>
            <a:pPr marL="177800" indent="-177800">
              <a:spcAft>
                <a:spcPts val="800"/>
              </a:spcAft>
              <a:buSzPct val="100000"/>
              <a:buChar char="•"/>
            </a:pPr>
            <a:r>
              <a:rPr lang="en-US" sz="1350" dirty="0">
                <a:solidFill>
                  <a:schemeClr val="accent3"/>
                </a:solidFill>
                <a:latin typeface="Arial" pitchFamily="34" charset="0"/>
                <a:ea typeface="Arial" pitchFamily="34" charset="-122"/>
                <a:cs typeface="Arial" pitchFamily="34" charset="-120"/>
              </a:rPr>
              <a:t>Profiles reviewed together</a:t>
            </a:r>
            <a:endParaRPr lang="en-US" sz="1350" dirty="0"/>
          </a:p>
        </p:txBody>
      </p:sp>
      <p:sp>
        <p:nvSpPr>
          <p:cNvPr id="10" name="card-172"/>
          <p:cNvSpPr/>
          <p:nvPr/>
        </p:nvSpPr>
        <p:spPr>
          <a:xfrm>
            <a:off x="3636669" y="2331720"/>
            <a:ext cx="4597594" cy="685800"/>
          </a:xfrm>
          <a:prstGeom prst="rect">
            <a:avLst/>
          </a:prstGeom>
          <a:solidFill>
            <a:schemeClr val="accent1"/>
          </a:solidFill>
          <a:ln/>
        </p:spPr>
      </p:sp>
      <p:sp>
        <p:nvSpPr>
          <p:cNvPr id="11" name="text-173"/>
          <p:cNvSpPr txBox="1"/>
          <p:nvPr/>
        </p:nvSpPr>
        <p:spPr>
          <a:xfrm>
            <a:off x="3910989" y="2331720"/>
            <a:ext cx="4048954" cy="685800"/>
          </a:xfrm>
          <a:prstGeom prst="rect">
            <a:avLst/>
          </a:prstGeom>
          <a:noFill/>
          <a:ln/>
        </p:spPr>
        <p:txBody>
          <a:bodyPr wrap="square" lIns="0" tIns="0" rIns="0" bIns="0" rtlCol="0" anchor="ctr"/>
          <a:lstStyle/>
          <a:p>
            <a:pPr indent="0" marL="0">
              <a:buNone/>
            </a:pPr>
            <a:r>
              <a:rPr lang="en-US" sz="1200" b="1" spc="200" kern="0" dirty="0">
                <a:solidFill>
                  <a:schemeClr val="bg1"/>
                </a:solidFill>
                <a:latin typeface="Arial" pitchFamily="34" charset="0"/>
                <a:ea typeface="Arial" pitchFamily="34" charset="-122"/>
                <a:cs typeface="Arial" pitchFamily="34" charset="-120"/>
              </a:rPr>
              <a:t>WEEKS 1 TO 2</a:t>
            </a:r>
            <a:endParaRPr lang="en-US" sz="1200" dirty="0"/>
          </a:p>
        </p:txBody>
      </p:sp>
      <p:sp>
        <p:nvSpPr>
          <p:cNvPr id="12" name="door-open-174"/>
          <p:cNvSpPr/>
          <p:nvPr/>
        </p:nvSpPr>
        <p:spPr>
          <a:xfrm>
            <a:off x="3910989" y="3337560"/>
            <a:ext cx="274320" cy="475488"/>
          </a:xfrm>
          <a:prstGeom prst="rect">
            <a:avLst/>
          </a:prstGeom>
          <a:solidFill>
            <a:schemeClr val="accent6"/>
          </a:solidFill>
          <a:ln w="15875">
            <a:solidFill>
              <a:schemeClr val="accent1"/>
            </a:solidFill>
            <a:prstDash val="solid"/>
          </a:ln>
        </p:spPr>
      </p:sp>
      <p:sp>
        <p:nvSpPr>
          <p:cNvPr id="13" name="door-leaf-175"/>
          <p:cNvSpPr/>
          <p:nvPr/>
        </p:nvSpPr>
        <p:spPr>
          <a:xfrm>
            <a:off x="3993285" y="3356580"/>
            <a:ext cx="192024" cy="437449"/>
          </a:xfrm>
          <a:prstGeom prst="rect">
            <a:avLst/>
          </a:prstGeom>
          <a:solidFill>
            <a:schemeClr val="tx2"/>
          </a:solidFill>
          <a:ln w="12700">
            <a:solidFill>
              <a:schemeClr val="accent1"/>
            </a:solidFill>
            <a:prstDash val="solid"/>
          </a:ln>
        </p:spPr>
      </p:sp>
      <p:sp>
        <p:nvSpPr>
          <p:cNvPr id="14" name="text-176"/>
          <p:cNvSpPr txBox="1"/>
          <p:nvPr/>
        </p:nvSpPr>
        <p:spPr>
          <a:xfrm>
            <a:off x="4368189" y="3355848"/>
            <a:ext cx="3683194" cy="457200"/>
          </a:xfrm>
          <a:prstGeom prst="rect">
            <a:avLst/>
          </a:prstGeom>
          <a:noFill/>
          <a:ln/>
        </p:spPr>
        <p:txBody>
          <a:bodyPr wrap="square" lIns="0" tIns="0" rIns="0" bIns="0" rtlCol="0" anchor="ctr"/>
          <a:lstStyle/>
          <a:p>
            <a:pPr indent="0" marL="0">
              <a:buNone/>
            </a:pPr>
            <a:r>
              <a:rPr lang="en-US" sz="2200" dirty="0">
                <a:solidFill>
                  <a:schemeClr val="tx1"/>
                </a:solidFill>
                <a:latin typeface="Georgia" pitchFamily="34" charset="0"/>
                <a:ea typeface="Georgia" pitchFamily="34" charset="-122"/>
                <a:cs typeface="Georgia" pitchFamily="34" charset="-120"/>
              </a:rPr>
              <a:t>Outreach</a:t>
            </a:r>
            <a:endParaRPr lang="en-US" sz="2200" dirty="0"/>
          </a:p>
        </p:txBody>
      </p:sp>
      <p:sp>
        <p:nvSpPr>
          <p:cNvPr id="15" name="tl-list-177"/>
          <p:cNvSpPr txBox="1"/>
          <p:nvPr/>
        </p:nvSpPr>
        <p:spPr>
          <a:xfrm>
            <a:off x="3910989" y="4114800"/>
            <a:ext cx="4140394" cy="173736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chemeClr val="accent3"/>
                </a:solidFill>
                <a:latin typeface="Arial" pitchFamily="34" charset="0"/>
                <a:ea typeface="Arial" pitchFamily="34" charset="-122"/>
                <a:cs typeface="Arial" pitchFamily="34" charset="-120"/>
              </a:rPr>
              <a:t>Hand-picked people contacted each week</a:t>
            </a:r>
            <a:endParaRPr lang="en-US" sz="1350" dirty="0"/>
          </a:p>
          <a:p>
            <a:pPr marL="177800" indent="-177800">
              <a:spcAft>
                <a:spcPts val="800"/>
              </a:spcAft>
              <a:buSzPct val="100000"/>
              <a:buChar char="•"/>
            </a:pPr>
            <a:r>
              <a:rPr lang="en-US" sz="1350" dirty="0">
                <a:solidFill>
                  <a:schemeClr val="accent3"/>
                </a:solidFill>
                <a:latin typeface="Arial" pitchFamily="34" charset="0"/>
                <a:ea typeface="Arial" pitchFamily="34" charset="-122"/>
                <a:cs typeface="Arial" pitchFamily="34" charset="-120"/>
              </a:rPr>
              <a:t>Every message approved by the student</a:t>
            </a:r>
            <a:endParaRPr lang="en-US" sz="1350" dirty="0"/>
          </a:p>
          <a:p>
            <a:pPr marL="177800" indent="-177800">
              <a:spcAft>
                <a:spcPts val="800"/>
              </a:spcAft>
              <a:buSzPct val="100000"/>
              <a:buChar char="•"/>
            </a:pPr>
            <a:r>
              <a:rPr lang="en-US" sz="1350" dirty="0">
                <a:solidFill>
                  <a:schemeClr val="accent3"/>
                </a:solidFill>
                <a:latin typeface="Arial" pitchFamily="34" charset="0"/>
                <a:ea typeface="Arial" pitchFamily="34" charset="-122"/>
                <a:cs typeface="Arial" pitchFamily="34" charset="-120"/>
              </a:rPr>
              <a:t>Replies guided toward referrals and interviews</a:t>
            </a:r>
            <a:endParaRPr lang="en-US" sz="1350" dirty="0"/>
          </a:p>
        </p:txBody>
      </p:sp>
      <p:sp>
        <p:nvSpPr>
          <p:cNvPr id="16" name="card-178"/>
          <p:cNvSpPr/>
          <p:nvPr/>
        </p:nvSpPr>
        <p:spPr>
          <a:xfrm>
            <a:off x="8343991" y="2331720"/>
            <a:ext cx="3207624" cy="685800"/>
          </a:xfrm>
          <a:prstGeom prst="rect">
            <a:avLst/>
          </a:prstGeom>
          <a:solidFill>
            <a:schemeClr val="tx1"/>
          </a:solidFill>
          <a:ln/>
        </p:spPr>
      </p:sp>
      <p:sp>
        <p:nvSpPr>
          <p:cNvPr id="17" name="text-179"/>
          <p:cNvSpPr txBox="1"/>
          <p:nvPr/>
        </p:nvSpPr>
        <p:spPr>
          <a:xfrm>
            <a:off x="8618311" y="2331720"/>
            <a:ext cx="2658984" cy="685800"/>
          </a:xfrm>
          <a:prstGeom prst="rect">
            <a:avLst/>
          </a:prstGeom>
          <a:noFill/>
          <a:ln/>
        </p:spPr>
        <p:txBody>
          <a:bodyPr wrap="square" lIns="0" tIns="0" rIns="0" bIns="0" rtlCol="0" anchor="ctr"/>
          <a:lstStyle/>
          <a:p>
            <a:pPr indent="0" marL="0">
              <a:buNone/>
            </a:pPr>
            <a:r>
              <a:rPr lang="en-US" sz="1200" b="1" spc="200" kern="0" dirty="0">
                <a:solidFill>
                  <a:schemeClr val="bg1"/>
                </a:solidFill>
                <a:latin typeface="Arial" pitchFamily="34" charset="0"/>
                <a:ea typeface="Arial" pitchFamily="34" charset="-122"/>
                <a:cs typeface="Arial" pitchFamily="34" charset="-120"/>
              </a:rPr>
              <a:t>WEEK 3</a:t>
            </a:r>
            <a:endParaRPr lang="en-US" sz="1200" dirty="0"/>
          </a:p>
        </p:txBody>
      </p:sp>
      <p:sp>
        <p:nvSpPr>
          <p:cNvPr id="18" name="door-open-180"/>
          <p:cNvSpPr/>
          <p:nvPr/>
        </p:nvSpPr>
        <p:spPr>
          <a:xfrm>
            <a:off x="8618311" y="3337560"/>
            <a:ext cx="274320" cy="475488"/>
          </a:xfrm>
          <a:prstGeom prst="rect">
            <a:avLst/>
          </a:prstGeom>
          <a:solidFill>
            <a:schemeClr val="accent6"/>
          </a:solidFill>
          <a:ln w="15875">
            <a:solidFill>
              <a:schemeClr val="accent1"/>
            </a:solidFill>
            <a:prstDash val="solid"/>
          </a:ln>
        </p:spPr>
      </p:sp>
      <p:sp>
        <p:nvSpPr>
          <p:cNvPr id="19" name="door-leaf-181"/>
          <p:cNvSpPr/>
          <p:nvPr/>
        </p:nvSpPr>
        <p:spPr>
          <a:xfrm>
            <a:off x="8788390" y="3356580"/>
            <a:ext cx="104242" cy="437449"/>
          </a:xfrm>
          <a:prstGeom prst="rect">
            <a:avLst/>
          </a:prstGeom>
          <a:solidFill>
            <a:schemeClr val="tx2"/>
          </a:solidFill>
          <a:ln w="12700">
            <a:solidFill>
              <a:schemeClr val="accent1"/>
            </a:solidFill>
            <a:prstDash val="solid"/>
          </a:ln>
        </p:spPr>
      </p:sp>
      <p:sp>
        <p:nvSpPr>
          <p:cNvPr id="20" name="text-182"/>
          <p:cNvSpPr txBox="1"/>
          <p:nvPr/>
        </p:nvSpPr>
        <p:spPr>
          <a:xfrm>
            <a:off x="9075511" y="3355848"/>
            <a:ext cx="2293224" cy="457200"/>
          </a:xfrm>
          <a:prstGeom prst="rect">
            <a:avLst/>
          </a:prstGeom>
          <a:noFill/>
          <a:ln/>
        </p:spPr>
        <p:txBody>
          <a:bodyPr wrap="square" lIns="0" tIns="0" rIns="0" bIns="0" rtlCol="0" anchor="ctr"/>
          <a:lstStyle/>
          <a:p>
            <a:pPr indent="0" marL="0">
              <a:buNone/>
            </a:pPr>
            <a:r>
              <a:rPr lang="en-US" sz="2200" dirty="0">
                <a:solidFill>
                  <a:schemeClr val="tx1"/>
                </a:solidFill>
                <a:latin typeface="Georgia" pitchFamily="34" charset="0"/>
                <a:ea typeface="Georgia" pitchFamily="34" charset="-122"/>
                <a:cs typeface="Georgia" pitchFamily="34" charset="-120"/>
              </a:rPr>
              <a:t>Results review</a:t>
            </a:r>
            <a:endParaRPr lang="en-US" sz="2200" dirty="0"/>
          </a:p>
        </p:txBody>
      </p:sp>
      <p:sp>
        <p:nvSpPr>
          <p:cNvPr id="21" name="tl-list-183"/>
          <p:cNvSpPr txBox="1"/>
          <p:nvPr/>
        </p:nvSpPr>
        <p:spPr>
          <a:xfrm>
            <a:off x="8618311" y="4114800"/>
            <a:ext cx="2750424" cy="173736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chemeClr val="accent3"/>
                </a:solidFill>
                <a:latin typeface="Arial" pitchFamily="34" charset="0"/>
                <a:ea typeface="Arial" pitchFamily="34" charset="-122"/>
                <a:cs typeface="Arial" pitchFamily="34" charset="-120"/>
              </a:rPr>
              <a:t>Interviews per 100 contacted, per student</a:t>
            </a:r>
            <a:endParaRPr lang="en-US" sz="1350" dirty="0"/>
          </a:p>
          <a:p>
            <a:pPr marL="177800" indent="-177800">
              <a:spcAft>
                <a:spcPts val="800"/>
              </a:spcAft>
              <a:buSzPct val="100000"/>
              <a:buChar char="•"/>
            </a:pPr>
            <a:r>
              <a:rPr lang="en-US" sz="1350" dirty="0">
                <a:solidFill>
                  <a:schemeClr val="accent3"/>
                </a:solidFill>
                <a:latin typeface="Arial" pitchFamily="34" charset="0"/>
                <a:ea typeface="Arial" pitchFamily="34" charset="-122"/>
                <a:cs typeface="Arial" pitchFamily="34" charset="-120"/>
              </a:rPr>
              <a:t>Shareable summary for the club</a:t>
            </a:r>
            <a:endParaRPr lang="en-US" sz="1350" dirty="0"/>
          </a:p>
          <a:p>
            <a:pPr marL="177800" indent="-177800">
              <a:spcAft>
                <a:spcPts val="800"/>
              </a:spcAft>
              <a:buSzPct val="100000"/>
              <a:buChar char="•"/>
            </a:pPr>
            <a:r>
              <a:rPr lang="en-US" sz="1350" dirty="0">
                <a:solidFill>
                  <a:schemeClr val="accent3"/>
                </a:solidFill>
                <a:latin typeface="Arial" pitchFamily="34" charset="0"/>
                <a:ea typeface="Arial" pitchFamily="34" charset="-122"/>
                <a:cs typeface="Arial" pitchFamily="34" charset="-120"/>
              </a:rPr>
              <a:t>Feedback call with the committee</a:t>
            </a:r>
            <a:endParaRPr lang="en-US" sz="1350" dirty="0"/>
          </a:p>
        </p:txBody>
      </p:sp>
      <p:sp>
        <p:nvSpPr>
          <p:cNvPr id="25" name="Slide Number Placeholder 0"/>
          <p:cNvSpPr>
            <a:spLocks noGrp="1"/>
          </p:cNvSpPr>
          <p:nvPr>
            <p:ph type="sldNum" sz="quarter" idx="4294967295"/>
          </p:nvPr>
        </p:nvSpPr>
        <p:spPr>
          <a:xfrm>
            <a:off x="10637215" y="6355080"/>
            <a:ext cx="9144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close-art" descr="A grid of doors with one open, warm light falling across the floor">    </p:cNvPr>
          <p:cNvPicPr>
            <a:picLocks noChangeAspect="1"/>
          </p:cNvPicPr>
          <p:nvPr/>
        </p:nvPicPr>
        <p:blipFill>
          <a:blip r:embed="rId1"/>
          <a:stretch>
            <a:fillRect/>
          </a:stretch>
        </p:blipFill>
        <p:spPr>
          <a:xfrm>
            <a:off x="6705295" y="0"/>
            <a:ext cx="5486400" cy="6858000"/>
          </a:xfrm>
          <a:prstGeom prst="rect">
            <a:avLst/>
          </a:prstGeom>
        </p:spPr>
      </p:pic>
      <p:sp>
        <p:nvSpPr>
          <p:cNvPr id="3" name="Text 0"/>
          <p:cNvSpPr/>
          <p:nvPr>
            <p:ph idx="100" type="body" hasCustomPrompt="1"/>
          </p:nvPr>
        </p:nvSpPr>
        <p:spPr>
          <a:xfrm>
            <a:off x="640080" y="1097280"/>
            <a:ext cx="5120640" cy="274320"/>
          </a:xfrm>
          <a:prstGeom prst="rect">
            <a:avLst/>
          </a:prstGeom>
          <a:noFill/>
          <a:ln/>
        </p:spPr>
        <p:txBody>
          <a:bodyPr wrap="square" lIns="0" tIns="0" rIns="0" bIns="0" rtlCol="0"/>
          <a:lstStyle/>
          <a:p>
            <a:pPr indent="0" marL="0">
              <a:buNone/>
            </a:pPr>
            <a:r>
              <a:rPr lang="en-US" sz="1100" b="1" spc="300" kern="0" dirty="0">
                <a:solidFill>
                  <a:schemeClr val="accent2"/>
                </a:solidFill>
                <a:latin typeface="Arial" pitchFamily="34" charset="0"/>
                <a:ea typeface="Arial" pitchFamily="34" charset="-122"/>
                <a:cs typeface="Arial" pitchFamily="34" charset="-120"/>
              </a:rPr>
              <a:t>NEXT STEP</a:t>
            </a:r>
            <a:endParaRPr lang="en-US" sz="1100" dirty="0"/>
          </a:p>
        </p:txBody>
      </p:sp>
      <p:sp>
        <p:nvSpPr>
          <p:cNvPr id="4" name="Text 0"/>
          <p:cNvSpPr/>
          <p:nvPr>
            <p:ph idx="101" type="title" hasCustomPrompt="1"/>
          </p:nvPr>
        </p:nvSpPr>
        <p:spPr>
          <a:xfrm>
            <a:off x="640080" y="1645920"/>
            <a:ext cx="5394960" cy="1920240"/>
          </a:xfrm>
          <a:prstGeom prst="rect">
            <a:avLst/>
          </a:prstGeom>
          <a:noFill/>
          <a:ln/>
        </p:spPr>
        <p:txBody>
          <a:bodyPr wrap="square" lIns="0" tIns="0" rIns="0" bIns="0" rtlCol="0" anchor="t"/>
          <a:lstStyle/>
          <a:p>
            <a:pPr algn="l" indent="0" marL="0">
              <a:buNone/>
            </a:pPr>
            <a:r>
              <a:rPr lang="en-US" sz="4400" dirty="0">
                <a:solidFill>
                  <a:schemeClr val="bg1"/>
                </a:solidFill>
                <a:latin typeface="Georgia" pitchFamily="34" charset="0"/>
                <a:ea typeface="Georgia" pitchFamily="34" charset="-122"/>
                <a:cs typeface="Georgia" pitchFamily="34" charset="-120"/>
              </a:rPr>
              <a:t>Pick 5 students for the free pilot</a:t>
            </a:r>
            <a:endParaRPr lang="en-US" sz="4400" dirty="0"/>
          </a:p>
        </p:txBody>
      </p:sp>
      <p:sp>
        <p:nvSpPr>
          <p:cNvPr id="5" name="text-184"/>
          <p:cNvSpPr txBox="1"/>
          <p:nvPr/>
        </p:nvSpPr>
        <p:spPr>
          <a:xfrm>
            <a:off x="640080" y="3840480"/>
            <a:ext cx="5120640" cy="822960"/>
          </a:xfrm>
          <a:prstGeom prst="rect">
            <a:avLst/>
          </a:prstGeom>
          <a:noFill/>
          <a:ln/>
        </p:spPr>
        <p:txBody>
          <a:bodyPr wrap="square" lIns="0" tIns="0" rIns="0" bIns="0" rtlCol="0" anchor="t"/>
          <a:lstStyle/>
          <a:p>
            <a:pPr indent="0" marL="0">
              <a:lnSpc>
                <a:spcPct val="115000"/>
              </a:lnSpc>
              <a:buNone/>
            </a:pPr>
            <a:r>
              <a:rPr lang="en-US" sz="1500" dirty="0">
                <a:solidFill>
                  <a:schemeClr val="accent4"/>
                </a:solidFill>
                <a:latin typeface="Arial" pitchFamily="34" charset="0"/>
                <a:ea typeface="Arial" pitchFamily="34" charset="-122"/>
                <a:cs typeface="Arial" pitchFamily="34" charset="-120"/>
              </a:rPr>
              <a:t>Choose them, and we start the week that suits your calendar. The club and the students pay nothing for the pilot.</a:t>
            </a:r>
            <a:endParaRPr lang="en-US" sz="1500" dirty="0"/>
          </a:p>
        </p:txBody>
      </p:sp>
      <p:sp>
        <p:nvSpPr>
          <p:cNvPr id="6" name="text-185"/>
          <p:cNvSpPr txBox="1"/>
          <p:nvPr/>
        </p:nvSpPr>
        <p:spPr>
          <a:xfrm>
            <a:off x="640080" y="4892040"/>
            <a:ext cx="5120640" cy="457200"/>
          </a:xfrm>
          <a:prstGeom prst="rect">
            <a:avLst/>
          </a:prstGeom>
          <a:noFill/>
          <a:ln/>
        </p:spPr>
        <p:txBody>
          <a:bodyPr wrap="square" lIns="0" tIns="0" rIns="0" bIns="0" rtlCol="0" anchor="t"/>
          <a:lstStyle/>
          <a:p>
            <a:pPr indent="0" marL="0">
              <a:buNone/>
            </a:pPr>
            <a:r>
              <a:rPr lang="en-US" sz="2400" b="1" dirty="0">
                <a:solidFill>
                  <a:schemeClr val="accent6"/>
                </a:solidFill>
                <a:latin typeface="Arial" pitchFamily="34" charset="0"/>
                <a:ea typeface="Arial" pitchFamily="34" charset="-122"/>
                <a:cs typeface="Arial" pitchFamily="34" charset="-120"/>
              </a:rPr>
              <a:t>hello@knock.careers</a:t>
            </a:r>
            <a:endParaRPr lang="en-US" sz="2400" dirty="0"/>
          </a:p>
        </p:txBody>
      </p:sp>
      <p:sp>
        <p:nvSpPr>
          <p:cNvPr id="7" name="text-186"/>
          <p:cNvSpPr txBox="1"/>
          <p:nvPr/>
        </p:nvSpPr>
        <p:spPr>
          <a:xfrm>
            <a:off x="640080" y="5989320"/>
            <a:ext cx="5120640" cy="365760"/>
          </a:xfrm>
          <a:prstGeom prst="rect">
            <a:avLst/>
          </a:prstGeom>
          <a:noFill/>
          <a:ln/>
        </p:spPr>
        <p:txBody>
          <a:bodyPr wrap="square" lIns="0" tIns="0" rIns="0" bIns="0" rtlCol="0" anchor="t"/>
          <a:lstStyle/>
          <a:p>
            <a:pPr indent="0" marL="0">
              <a:buNone/>
            </a:pPr>
            <a:r>
              <a:rPr lang="en-US" sz="1600" i="1" dirty="0">
                <a:solidFill>
                  <a:schemeClr val="accent2"/>
                </a:solidFill>
                <a:latin typeface="Georgia" pitchFamily="34" charset="0"/>
                <a:ea typeface="Georgia" pitchFamily="34" charset="-122"/>
                <a:cs typeface="Georgia" pitchFamily="34" charset="-120"/>
              </a:rPr>
              <a:t>Knock on the right door.</a:t>
            </a:r>
            <a:endParaRPr lang="en-US" sz="1600" dirty="0"/>
          </a:p>
        </p:txBody>
      </p:sp>
    </p:spTree>
  </p:cSld>
  <p:clrMapOvr>
    <a:masterClrMapping/>
  </p:clrMapOvr>
</p:sld>
</file>

<file path=ppt/theme/theme1.xml><?xml version="1.0" encoding="utf-8"?>
<a:theme xmlns:a="http://schemas.openxmlformats.org/drawingml/2006/main" name="Knock Threshold">
  <a:themeElements>
    <a:clrScheme name="Knock Threshold">
      <a:dk1>
        <a:srgbClr val="14211D"/>
      </a:dk1>
      <a:lt1>
        <a:srgbClr val="F7F6F2"/>
      </a:lt1>
      <a:dk2>
        <a:srgbClr val="22332D"/>
      </a:dk2>
      <a:lt2>
        <a:srgbClr val="ECEAE3"/>
      </a:lt2>
      <a:accent1>
        <a:srgbClr val="A87A3D"/>
      </a:accent1>
      <a:accent2>
        <a:srgbClr val="D3A562"/>
      </a:accent2>
      <a:accent3>
        <a:srgbClr val="56665F"/>
      </a:accent3>
      <a:accent4>
        <a:srgbClr val="D9D6CE"/>
      </a:accent4>
      <a:accent5>
        <a:srgbClr val="33483F"/>
      </a:accent5>
      <a:accent6>
        <a:srgbClr val="EECD94"/>
      </a:accent6>
      <a:hlink>
        <a:srgbClr val="A87A3D"/>
      </a:hlink>
      <a:folHlink>
        <a:srgbClr val="56665F"/>
      </a:folHlink>
    </a:clrScheme>
    <a:fontScheme name="Knock Threshold">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Knock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Knock partner proposal</dc:title>
  <dc:subject>PptxGenJS Presentation</dc:subject>
  <dc:creator>Knock</dc:creator>
  <cp:lastModifiedBy>Knock</cp:lastModifiedBy>
  <cp:revision>1</cp:revision>
  <dcterms:created xsi:type="dcterms:W3CDTF">2026-10-04T19:34:33Z</dcterms:created>
  <dcterms:modified xsi:type="dcterms:W3CDTF">2026-10-04T19:34:33Z</dcterms:modified>
</cp:coreProperties>
</file>