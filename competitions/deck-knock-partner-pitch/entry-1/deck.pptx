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no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no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cover-title"/>
          <p:cNvGrpSpPr/>
          <p:nvPr/>
        </p:nvGrpSpPr>
        <p:grpSpPr>
          <a:xfrm>
            <a:off x="590550" y="1727200"/>
            <a:ext cx="4423282" cy="2911094"/>
            <a:chOff x="590550" y="1727200"/>
            <a:chExt cx="4423282" cy="291109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1727200"/>
              <a:ext cx="294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225" dirty="0">
                  <a:solidFill>
                    <a:srgbClr val="C9A063"/>
                  </a:solidFill>
                  <a:latin typeface="+mn-lt"/>
                  <a:ea typeface="+mn-ea"/>
                  <a:cs typeface="+mn-cs"/>
                </a:rPr>
                <a:t>PARTNER PROPOSAL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609600" y="2057400"/>
              <a:ext cx="533400" cy="28575"/>
            </a:xfrm>
            <a:prstGeom prst="rect">
              <a:avLst/>
            </a:prstGeom>
            <a:solidFill>
              <a:srgbClr val="C9A063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90550" y="2387600"/>
              <a:ext cx="4856645" cy="1866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6450"/>
                </a:lnSpc>
              </a:pPr>
              <a:r>
                <a:rPr lang="en" sz="540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Knock on the</a:t>
              </a:r>
              <a:br>
                <a:rPr lang="en" sz="540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</a:br>
              <a:r>
                <a:rPr lang="en" sz="540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right door.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0456" y="4286250"/>
              <a:ext cx="57072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 xml:space="preserve">A partnership proposal for </a:t>
              </a:r>
              <a:r>
                <a:rPr lang="en" sz="1800" b="1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  <a:t>&lt;Club name&gt;</a:t>
              </a:r>
            </a:p>
          </p:txBody>
        </p:sp>
      </p:grpSp>
      <p:grpSp>
        <p:nvGrpSpPr>
          <p:cNvPr id="8" name="cover-promise"/>
          <p:cNvGrpSpPr/>
          <p:nvPr/>
        </p:nvGrpSpPr>
        <p:grpSpPr>
          <a:xfrm>
            <a:off x="601980" y="5003800"/>
            <a:ext cx="5373510" cy="579120"/>
            <a:chOff x="601980" y="5003800"/>
            <a:chExt cx="5373510" cy="579120"/>
          </a:xfrm>
        </p:grpSpPr>
        <p:sp>
          <p:nvSpPr>
            <p:cNvPr id="7" name="TextBox 7"/>
            <p:cNvSpPr txBox="1"/>
            <p:nvPr/>
          </p:nvSpPr>
          <p:spPr>
            <a:xfrm>
              <a:off x="601980" y="5003800"/>
              <a:ext cx="6907387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50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A private career outbound service for your students and alumni.</a:t>
              </a:r>
              <a:br>
                <a:rPr lang="en" sz="150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Warm introductions, not more applications.</a:t>
              </a:r>
            </a:p>
          </p:txBody>
        </p:sp>
      </p:grpSp>
      <p:grpSp>
        <p:nvGrpSpPr>
          <p:cNvPr id="18" name="cover-door"/>
          <p:cNvGrpSpPr/>
          <p:nvPr/>
        </p:nvGrpSpPr>
        <p:grpSpPr>
          <a:xfrm>
            <a:off x="8001000" y="1066800"/>
            <a:ext cx="3619500" cy="5219700"/>
            <a:chOff x="8001000" y="1066800"/>
            <a:chExt cx="3619500" cy="5219700"/>
          </a:xfrm>
        </p:grpSpPr>
        <p:sp>
          <p:nvSpPr>
            <p:cNvPr id="9" name="Freeform 9"/>
            <p:cNvSpPr/>
            <p:nvPr/>
          </p:nvSpPr>
          <p:spPr>
            <a:xfrm>
              <a:off x="8001000" y="5829300"/>
              <a:ext cx="3619500" cy="457200"/>
            </a:xfrm>
            <a:custGeom>
              <a:avLst/>
              <a:gdLst/>
              <a:ahLst/>
              <a:cxnLst/>
              <a:rect l="l" t="t" r="r" b="b"/>
              <a:pathLst>
                <a:path w="3619500" h="457200">
                  <a:moveTo>
                    <a:pt x="2800350" y="0"/>
                  </a:moveTo>
                  <a:lnTo>
                    <a:pt x="3619500" y="457200"/>
                  </a:lnTo>
                  <a:lnTo>
                    <a:pt x="0" y="457200"/>
                  </a:lnTo>
                  <a:lnTo>
                    <a:pt x="438150" y="0"/>
                  </a:lnTo>
                  <a:close/>
                </a:path>
              </a:pathLst>
            </a:custGeom>
            <a:gradFill>
              <a:gsLst>
                <a:gs pos="0">
                  <a:srgbClr val="C9A063">
                    <a:alpha val="35000"/>
                  </a:srgbClr>
                </a:gs>
                <a:gs pos="100000">
                  <a:srgbClr val="C9A063">
                    <a:alpha val="0"/>
                  </a:srgbClr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8267700" y="1066800"/>
              <a:ext cx="2705100" cy="4762500"/>
            </a:xfrm>
            <a:prstGeom prst="round2SameRect">
              <a:avLst>
                <a:gd name="adj1" fmla="val 50000"/>
                <a:gd name="adj2" fmla="val 0"/>
              </a:avLst>
            </a:prstGeom>
            <a:noFill/>
            <a:ln w="28575">
              <a:solidFill>
                <a:srgbClr val="C9A063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8439150" y="1238250"/>
              <a:ext cx="2362200" cy="459105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21443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8439150" y="2419350"/>
              <a:ext cx="95250" cy="3409950"/>
            </a:xfrm>
            <a:prstGeom prst="rect">
              <a:avLst/>
            </a:prstGeom>
            <a:gradFill>
              <a:gsLst>
                <a:gs pos="0">
                  <a:srgbClr val="E9C98C"/>
                </a:gs>
                <a:gs pos="100000">
                  <a:srgbClr val="C9A063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8801100" y="2857500"/>
              <a:ext cx="1638300" cy="1143000"/>
            </a:xfrm>
            <a:prstGeom prst="roundRect">
              <a:avLst>
                <a:gd name="adj" fmla="val 3333"/>
              </a:avLst>
            </a:prstGeom>
            <a:noFill/>
            <a:ln w="19050">
              <a:solidFill>
                <a:srgbClr val="2F5A5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8801100" y="4248150"/>
              <a:ext cx="1638300" cy="1238250"/>
            </a:xfrm>
            <a:prstGeom prst="roundRect">
              <a:avLst>
                <a:gd name="adj" fmla="val 3077"/>
              </a:avLst>
            </a:prstGeom>
            <a:noFill/>
            <a:ln w="19050">
              <a:solidFill>
                <a:srgbClr val="2F5A50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9410700" y="2171700"/>
              <a:ext cx="419100" cy="419100"/>
            </a:xfrm>
            <a:prstGeom prst="ellipse">
              <a:avLst/>
            </a:prstGeom>
            <a:noFill/>
            <a:ln w="47625">
              <a:solidFill>
                <a:srgbClr val="C9A063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9563100" y="2076450"/>
              <a:ext cx="114300" cy="114300"/>
            </a:xfrm>
            <a:prstGeom prst="ellipse">
              <a:avLst/>
            </a:prstGeom>
            <a:solidFill>
              <a:srgbClr val="C9A063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0448925" y="4124325"/>
              <a:ext cx="133350" cy="133350"/>
            </a:xfrm>
            <a:prstGeom prst="ellipse">
              <a:avLst/>
            </a:prstGeom>
            <a:solidFill>
              <a:srgbClr val="C9A063"/>
            </a:solidFill>
            <a:ln>
              <a:noFill/>
            </a:ln>
          </p:spPr>
        </p:sp>
      </p:grpSp>
      <p:grpSp>
        <p:nvGrpSpPr>
          <p:cNvPr id="21" name="cover-footer"/>
          <p:cNvGrpSpPr/>
          <p:nvPr/>
        </p:nvGrpSpPr>
        <p:grpSpPr>
          <a:xfrm>
            <a:off x="601218" y="6235700"/>
            <a:ext cx="2243425" cy="322707"/>
            <a:chOff x="601218" y="6235700"/>
            <a:chExt cx="2243425" cy="322707"/>
          </a:xfrm>
        </p:grpSpPr>
        <p:sp>
          <p:nvSpPr>
            <p:cNvPr id="19" name="TextBox 19"/>
            <p:cNvSpPr txBox="1"/>
            <p:nvPr/>
          </p:nvSpPr>
          <p:spPr>
            <a:xfrm>
              <a:off x="601218" y="6235700"/>
              <a:ext cx="10270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23035" y="6289675"/>
              <a:ext cx="1967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hello@knock.careers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7980134" cy="1118870"/>
            <a:chOff x="594360" y="565150"/>
            <a:chExt cx="7980134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227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01 THE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016566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Portals turn a job search into a numbers game.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77648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Off-campus and lateral searches still run mostly through job portals.</a:t>
              </a:r>
            </a:p>
          </p:txBody>
        </p:sp>
      </p:grpSp>
      <p:grpSp>
        <p:nvGrpSpPr>
          <p:cNvPr id="91" name="pile"/>
          <p:cNvGrpSpPr/>
          <p:nvPr/>
        </p:nvGrpSpPr>
        <p:grpSpPr>
          <a:xfrm>
            <a:off x="603885" y="2203450"/>
            <a:ext cx="5625465" cy="3309493"/>
            <a:chOff x="603885" y="2203450"/>
            <a:chExt cx="5625465" cy="3309493"/>
          </a:xfrm>
        </p:grpSpPr>
        <p:sp>
          <p:nvSpPr>
            <p:cNvPr id="6" name="TextBox 6"/>
            <p:cNvSpPr txBox="1"/>
            <p:nvPr/>
          </p:nvSpPr>
          <p:spPr>
            <a:xfrm>
              <a:off x="603885" y="2203450"/>
              <a:ext cx="38164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HUNDREDS OF APPLICATIONS</a:t>
              </a:r>
            </a:p>
          </p:txBody>
        </p:sp>
        <p:grpSp>
          <p:nvGrpSpPr>
            <p:cNvPr id="19" name="pile-row-1"/>
            <p:cNvGrpSpPr/>
            <p:nvPr/>
          </p:nvGrpSpPr>
          <p:grpSpPr>
            <a:xfrm>
              <a:off x="609600" y="2571750"/>
              <a:ext cx="5619750" cy="266700"/>
              <a:chOff x="609600" y="2571750"/>
              <a:chExt cx="5619750" cy="26670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60960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8" name="Rectangle 8"/>
              <p:cNvSpPr/>
              <p:nvPr/>
            </p:nvSpPr>
            <p:spPr>
              <a:xfrm>
                <a:off x="108585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156210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203835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251460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299085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346710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394335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441960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489585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537210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5848350" y="25717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</p:grpSp>
        <p:grpSp>
          <p:nvGrpSpPr>
            <p:cNvPr id="32" name="pile-row-2"/>
            <p:cNvGrpSpPr/>
            <p:nvPr/>
          </p:nvGrpSpPr>
          <p:grpSpPr>
            <a:xfrm>
              <a:off x="609600" y="2933700"/>
              <a:ext cx="5619750" cy="266700"/>
              <a:chOff x="609600" y="2933700"/>
              <a:chExt cx="5619750" cy="2667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60960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108585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156210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203835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4" name="Rectangle 24"/>
              <p:cNvSpPr/>
              <p:nvPr/>
            </p:nvSpPr>
            <p:spPr>
              <a:xfrm>
                <a:off x="251460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5" name="Rectangle 25"/>
              <p:cNvSpPr/>
              <p:nvPr/>
            </p:nvSpPr>
            <p:spPr>
              <a:xfrm>
                <a:off x="299085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6" name="Rectangle 26"/>
              <p:cNvSpPr/>
              <p:nvPr/>
            </p:nvSpPr>
            <p:spPr>
              <a:xfrm>
                <a:off x="346710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394335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441960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489585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537210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584835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</p:grpSp>
        <p:grpSp>
          <p:nvGrpSpPr>
            <p:cNvPr id="45" name="pile-row-3"/>
            <p:cNvGrpSpPr/>
            <p:nvPr/>
          </p:nvGrpSpPr>
          <p:grpSpPr>
            <a:xfrm>
              <a:off x="609600" y="3295650"/>
              <a:ext cx="5619750" cy="266700"/>
              <a:chOff x="609600" y="3295650"/>
              <a:chExt cx="5619750" cy="2667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60960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4" name="Rectangle 34"/>
              <p:cNvSpPr/>
              <p:nvPr/>
            </p:nvSpPr>
            <p:spPr>
              <a:xfrm>
                <a:off x="108585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156210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203835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251460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299085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39" name="Rectangle 39"/>
              <p:cNvSpPr/>
              <p:nvPr/>
            </p:nvSpPr>
            <p:spPr>
              <a:xfrm>
                <a:off x="346710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394335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1" name="Rectangle 41"/>
              <p:cNvSpPr/>
              <p:nvPr/>
            </p:nvSpPr>
            <p:spPr>
              <a:xfrm>
                <a:off x="441960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2" name="Rectangle 42"/>
              <p:cNvSpPr/>
              <p:nvPr/>
            </p:nvSpPr>
            <p:spPr>
              <a:xfrm>
                <a:off x="489585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3" name="Rectangle 43"/>
              <p:cNvSpPr/>
              <p:nvPr/>
            </p:nvSpPr>
            <p:spPr>
              <a:xfrm>
                <a:off x="537210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4" name="Rectangle 44"/>
              <p:cNvSpPr/>
              <p:nvPr/>
            </p:nvSpPr>
            <p:spPr>
              <a:xfrm>
                <a:off x="5848350" y="32956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</p:grpSp>
        <p:grpSp>
          <p:nvGrpSpPr>
            <p:cNvPr id="58" name="pile-row-4"/>
            <p:cNvGrpSpPr/>
            <p:nvPr/>
          </p:nvGrpSpPr>
          <p:grpSpPr>
            <a:xfrm>
              <a:off x="609600" y="3657600"/>
              <a:ext cx="5619750" cy="266700"/>
              <a:chOff x="609600" y="3657600"/>
              <a:chExt cx="5619750" cy="2667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60960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7" name="Rectangle 47"/>
              <p:cNvSpPr/>
              <p:nvPr/>
            </p:nvSpPr>
            <p:spPr>
              <a:xfrm>
                <a:off x="108585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8" name="Rectangle 48"/>
              <p:cNvSpPr/>
              <p:nvPr/>
            </p:nvSpPr>
            <p:spPr>
              <a:xfrm>
                <a:off x="156210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49" name="Rectangle 49"/>
              <p:cNvSpPr/>
              <p:nvPr/>
            </p:nvSpPr>
            <p:spPr>
              <a:xfrm>
                <a:off x="203835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0" name="Rectangle 50"/>
              <p:cNvSpPr/>
              <p:nvPr/>
            </p:nvSpPr>
            <p:spPr>
              <a:xfrm>
                <a:off x="251460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1" name="Rectangle 51"/>
              <p:cNvSpPr/>
              <p:nvPr/>
            </p:nvSpPr>
            <p:spPr>
              <a:xfrm>
                <a:off x="299085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2" name="Rectangle 52"/>
              <p:cNvSpPr/>
              <p:nvPr/>
            </p:nvSpPr>
            <p:spPr>
              <a:xfrm>
                <a:off x="346710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3" name="Rectangle 53"/>
              <p:cNvSpPr/>
              <p:nvPr/>
            </p:nvSpPr>
            <p:spPr>
              <a:xfrm>
                <a:off x="394335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4" name="Rectangle 54"/>
              <p:cNvSpPr/>
              <p:nvPr/>
            </p:nvSpPr>
            <p:spPr>
              <a:xfrm>
                <a:off x="441960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5" name="Rectangle 55"/>
              <p:cNvSpPr/>
              <p:nvPr/>
            </p:nvSpPr>
            <p:spPr>
              <a:xfrm>
                <a:off x="489585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6" name="Rectangle 56"/>
              <p:cNvSpPr/>
              <p:nvPr/>
            </p:nvSpPr>
            <p:spPr>
              <a:xfrm>
                <a:off x="537210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57" name="Rectangle 57"/>
              <p:cNvSpPr/>
              <p:nvPr/>
            </p:nvSpPr>
            <p:spPr>
              <a:xfrm>
                <a:off x="584835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</p:grpSp>
        <p:grpSp>
          <p:nvGrpSpPr>
            <p:cNvPr id="71" name="pile-row-5"/>
            <p:cNvGrpSpPr/>
            <p:nvPr/>
          </p:nvGrpSpPr>
          <p:grpSpPr>
            <a:xfrm>
              <a:off x="609600" y="4019550"/>
              <a:ext cx="5619750" cy="266700"/>
              <a:chOff x="609600" y="4019550"/>
              <a:chExt cx="5619750" cy="266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60960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0" name="Rectangle 60"/>
              <p:cNvSpPr/>
              <p:nvPr/>
            </p:nvSpPr>
            <p:spPr>
              <a:xfrm>
                <a:off x="108585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1" name="Rectangle 61"/>
              <p:cNvSpPr/>
              <p:nvPr/>
            </p:nvSpPr>
            <p:spPr>
              <a:xfrm>
                <a:off x="156210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2" name="Rectangle 62"/>
              <p:cNvSpPr/>
              <p:nvPr/>
            </p:nvSpPr>
            <p:spPr>
              <a:xfrm>
                <a:off x="203835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3" name="Rectangle 63"/>
              <p:cNvSpPr/>
              <p:nvPr/>
            </p:nvSpPr>
            <p:spPr>
              <a:xfrm>
                <a:off x="251460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4" name="Rectangle 64"/>
              <p:cNvSpPr/>
              <p:nvPr/>
            </p:nvSpPr>
            <p:spPr>
              <a:xfrm>
                <a:off x="299085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5" name="Rectangle 65"/>
              <p:cNvSpPr/>
              <p:nvPr/>
            </p:nvSpPr>
            <p:spPr>
              <a:xfrm>
                <a:off x="346710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6" name="Rectangle 66"/>
              <p:cNvSpPr/>
              <p:nvPr/>
            </p:nvSpPr>
            <p:spPr>
              <a:xfrm>
                <a:off x="394335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7" name="Rectangle 67"/>
              <p:cNvSpPr/>
              <p:nvPr/>
            </p:nvSpPr>
            <p:spPr>
              <a:xfrm>
                <a:off x="441960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8" name="Rectangle 68"/>
              <p:cNvSpPr/>
              <p:nvPr/>
            </p:nvSpPr>
            <p:spPr>
              <a:xfrm>
                <a:off x="489585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69" name="Rectangle 69"/>
              <p:cNvSpPr/>
              <p:nvPr/>
            </p:nvSpPr>
            <p:spPr>
              <a:xfrm>
                <a:off x="537210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0" name="Rectangle 70"/>
              <p:cNvSpPr/>
              <p:nvPr/>
            </p:nvSpPr>
            <p:spPr>
              <a:xfrm>
                <a:off x="5848350" y="401955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</p:grpSp>
        <p:grpSp>
          <p:nvGrpSpPr>
            <p:cNvPr id="84" name="pile-row-6"/>
            <p:cNvGrpSpPr/>
            <p:nvPr/>
          </p:nvGrpSpPr>
          <p:grpSpPr>
            <a:xfrm>
              <a:off x="609600" y="4381500"/>
              <a:ext cx="5619750" cy="266700"/>
              <a:chOff x="609600" y="4381500"/>
              <a:chExt cx="5619750" cy="266700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60960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3" name="Rectangle 73"/>
              <p:cNvSpPr/>
              <p:nvPr/>
            </p:nvSpPr>
            <p:spPr>
              <a:xfrm>
                <a:off x="108585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4" name="Rectangle 74"/>
              <p:cNvSpPr/>
              <p:nvPr/>
            </p:nvSpPr>
            <p:spPr>
              <a:xfrm>
                <a:off x="156210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5" name="Rectangle 75"/>
              <p:cNvSpPr/>
              <p:nvPr/>
            </p:nvSpPr>
            <p:spPr>
              <a:xfrm>
                <a:off x="203835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6" name="Rectangle 76"/>
              <p:cNvSpPr/>
              <p:nvPr/>
            </p:nvSpPr>
            <p:spPr>
              <a:xfrm>
                <a:off x="251460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7" name="Rectangle 77"/>
              <p:cNvSpPr/>
              <p:nvPr/>
            </p:nvSpPr>
            <p:spPr>
              <a:xfrm>
                <a:off x="299085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8" name="Rectangle 78"/>
              <p:cNvSpPr/>
              <p:nvPr/>
            </p:nvSpPr>
            <p:spPr>
              <a:xfrm>
                <a:off x="346710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394335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80" name="Rectangle 80"/>
              <p:cNvSpPr/>
              <p:nvPr/>
            </p:nvSpPr>
            <p:spPr>
              <a:xfrm>
                <a:off x="441960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81" name="Rectangle 81"/>
              <p:cNvSpPr/>
              <p:nvPr/>
            </p:nvSpPr>
            <p:spPr>
              <a:xfrm>
                <a:off x="489585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82" name="Rectangle 82"/>
              <p:cNvSpPr/>
              <p:nvPr/>
            </p:nvSpPr>
            <p:spPr>
              <a:xfrm>
                <a:off x="537210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  <p:sp>
            <p:nvSpPr>
              <p:cNvPr id="83" name="Rectangle 83"/>
              <p:cNvSpPr/>
              <p:nvPr/>
            </p:nvSpPr>
            <p:spPr>
              <a:xfrm>
                <a:off x="5848350" y="43815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DCD3C4"/>
              </a:solidFill>
              <a:ln>
                <a:noFill/>
              </a:ln>
            </p:spPr>
          </p:sp>
        </p:grpSp>
        <p:grpSp>
          <p:nvGrpSpPr>
            <p:cNvPr id="87" name="pile-replies"/>
            <p:cNvGrpSpPr/>
            <p:nvPr/>
          </p:nvGrpSpPr>
          <p:grpSpPr>
            <a:xfrm>
              <a:off x="2038350" y="2933700"/>
              <a:ext cx="3238500" cy="990600"/>
              <a:chOff x="2038350" y="2933700"/>
              <a:chExt cx="3238500" cy="990600"/>
            </a:xfrm>
          </p:grpSpPr>
          <p:sp>
            <p:nvSpPr>
              <p:cNvPr id="85" name="Rectangle 85"/>
              <p:cNvSpPr/>
              <p:nvPr/>
            </p:nvSpPr>
            <p:spPr>
              <a:xfrm>
                <a:off x="2038350" y="29337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A8743A"/>
              </a:solidFill>
              <a:ln>
                <a:noFill/>
              </a:ln>
            </p:spPr>
          </p:sp>
          <p:sp>
            <p:nvSpPr>
              <p:cNvPr id="86" name="Rectangle 86"/>
              <p:cNvSpPr/>
              <p:nvPr/>
            </p:nvSpPr>
            <p:spPr>
              <a:xfrm>
                <a:off x="4895850" y="3657600"/>
                <a:ext cx="381000" cy="266700"/>
              </a:xfrm>
              <a:prstGeom prst="roundRect">
                <a:avLst>
                  <a:gd name="adj" fmla="val 10714"/>
                </a:avLst>
              </a:prstGeom>
              <a:solidFill>
                <a:srgbClr val="A8743A"/>
              </a:solidFill>
              <a:ln>
                <a:noFill/>
              </a:ln>
            </p:spPr>
          </p:sp>
        </p:grpSp>
        <p:sp>
          <p:nvSpPr>
            <p:cNvPr id="88" name="Rectangle 88"/>
            <p:cNvSpPr/>
            <p:nvPr/>
          </p:nvSpPr>
          <p:spPr>
            <a:xfrm>
              <a:off x="609600" y="4953000"/>
              <a:ext cx="114300" cy="114300"/>
            </a:xfrm>
            <a:prstGeom prst="roundRect">
              <a:avLst>
                <a:gd name="adj" fmla="val 16667"/>
              </a:avLst>
            </a:prstGeom>
            <a:solidFill>
              <a:srgbClr val="A8743A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812673" y="4905375"/>
              <a:ext cx="411131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A reply. Most applications never get one.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04647" y="5321300"/>
              <a:ext cx="34895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Illustration of the pattern, not measured data.</a:t>
              </a:r>
            </a:p>
          </p:txBody>
        </p:sp>
      </p:grpSp>
      <p:sp>
        <p:nvSpPr>
          <p:cNvPr id="92" name="divider"/>
          <p:cNvSpPr/>
          <p:nvPr/>
        </p:nvSpPr>
        <p:spPr>
          <a:xfrm>
            <a:off x="7239000" y="2209800"/>
            <a:ext cx="19050" cy="3619500"/>
          </a:xfrm>
          <a:prstGeom prst="rect">
            <a:avLst/>
          </a:prstGeom>
          <a:solidFill>
            <a:srgbClr val="A8743A"/>
          </a:solidFill>
          <a:ln>
            <a:noFill/>
          </a:ln>
        </p:spPr>
      </p:sp>
      <p:grpSp>
        <p:nvGrpSpPr>
          <p:cNvPr id="96" name="insight"/>
          <p:cNvGrpSpPr/>
          <p:nvPr/>
        </p:nvGrpSpPr>
        <p:grpSpPr>
          <a:xfrm>
            <a:off x="7564374" y="2279650"/>
            <a:ext cx="3032493" cy="3590417"/>
            <a:chOff x="7564374" y="2279650"/>
            <a:chExt cx="3032493" cy="3590417"/>
          </a:xfrm>
        </p:grpSpPr>
        <p:sp>
          <p:nvSpPr>
            <p:cNvPr id="93" name="TextBox 93"/>
            <p:cNvSpPr txBox="1"/>
            <p:nvPr/>
          </p:nvSpPr>
          <p:spPr>
            <a:xfrm>
              <a:off x="7574280" y="2279650"/>
              <a:ext cx="3968733" cy="117919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Each application joins a queue</a:t>
              </a:r>
              <a:b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with hundreds of others.</a:t>
              </a:r>
              <a:b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Filters read it before a person does.</a:t>
              </a:r>
              <a:b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Strong candidates go unheard.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7564374" y="4070350"/>
              <a:ext cx="2713258" cy="120815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4200"/>
                </a:lnSpc>
              </a:pPr>
              <a:r>
                <a:rPr lang="en" sz="345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People hire</a:t>
              </a:r>
              <a:br>
                <a:rPr lang="en" sz="345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</a:br>
              <a:r>
                <a:rPr lang="en" sz="345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people.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7575423" y="5619750"/>
              <a:ext cx="319457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b="1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The way in is a conversation.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97" name="TextBox 97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99" name="Line 99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8727719" cy="1118870"/>
            <a:chOff x="594360" y="565150"/>
            <a:chExt cx="8727719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3448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02 WHAT ALREADY WORKS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110014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Warm conversations open doors that forms do not.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93791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Referrals and introductions are read with far more attention than cold applications.</a:t>
              </a:r>
            </a:p>
          </p:txBody>
        </p:sp>
      </p:grpSp>
      <p:grpSp>
        <p:nvGrpSpPr>
          <p:cNvPr id="20" name="cold-path"/>
          <p:cNvGrpSpPr/>
          <p:nvPr/>
        </p:nvGrpSpPr>
        <p:grpSpPr>
          <a:xfrm>
            <a:off x="609600" y="1943100"/>
            <a:ext cx="5143500" cy="4171950"/>
            <a:chOff x="609600" y="1943100"/>
            <a:chExt cx="5143500" cy="4171950"/>
          </a:xfrm>
        </p:grpSpPr>
        <p:sp>
          <p:nvSpPr>
            <p:cNvPr id="6" name="Rectangle 6"/>
            <p:cNvSpPr/>
            <p:nvPr/>
          </p:nvSpPr>
          <p:spPr>
            <a:xfrm>
              <a:off x="609600" y="1943100"/>
              <a:ext cx="5143500" cy="4171950"/>
            </a:xfrm>
            <a:prstGeom prst="roundRect">
              <a:avLst>
                <a:gd name="adj" fmla="val 1370"/>
              </a:avLst>
            </a:prstGeom>
            <a:solidFill>
              <a:srgbClr val="EDE6D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6785" y="2279650"/>
              <a:ext cx="25740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COLD APPLICATION</a:t>
              </a:r>
            </a:p>
          </p:txBody>
        </p:sp>
        <p:grpSp>
          <p:nvGrpSpPr>
            <p:cNvPr id="19" name="cold-steps"/>
            <p:cNvGrpSpPr/>
            <p:nvPr/>
          </p:nvGrpSpPr>
          <p:grpSpPr>
            <a:xfrm>
              <a:off x="990600" y="2828925"/>
              <a:ext cx="2970005" cy="2594991"/>
              <a:chOff x="990600" y="2828925"/>
              <a:chExt cx="2970005" cy="2594991"/>
            </a:xfrm>
          </p:grpSpPr>
          <p:sp>
            <p:nvSpPr>
              <p:cNvPr id="8" name="Ellipse 8"/>
              <p:cNvSpPr/>
              <p:nvPr/>
            </p:nvSpPr>
            <p:spPr>
              <a:xfrm>
                <a:off x="990600" y="2876550"/>
                <a:ext cx="152400" cy="152400"/>
              </a:xfrm>
              <a:prstGeom prst="ellipse">
                <a:avLst/>
              </a:prstGeom>
              <a:noFill/>
              <a:ln w="19050">
                <a:solidFill>
                  <a:srgbClr val="B9AE9C"/>
                </a:solidFill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1325499" y="2828925"/>
                <a:ext cx="3484382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A form submitted to a portal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1066800" y="3105150"/>
                <a:ext cx="1" cy="419100"/>
              </a:xfrm>
              <a:prstGeom prst="line">
                <a:avLst/>
              </a:prstGeom>
              <a:noFill/>
              <a:ln w="19050">
                <a:solidFill>
                  <a:srgbClr val="B9AE9C"/>
                </a:solidFill>
                <a:tailEnd type="triangle" w="lg" len="lg"/>
              </a:ln>
            </p:spPr>
          </p:sp>
          <p:sp>
            <p:nvSpPr>
              <p:cNvPr id="11" name="Ellipse 11"/>
              <p:cNvSpPr/>
              <p:nvPr/>
            </p:nvSpPr>
            <p:spPr>
              <a:xfrm>
                <a:off x="990600" y="3638550"/>
                <a:ext cx="152400" cy="152400"/>
              </a:xfrm>
              <a:prstGeom prst="ellipse">
                <a:avLst/>
              </a:prstGeom>
              <a:noFill/>
              <a:ln w="19050">
                <a:solidFill>
                  <a:srgbClr val="B9AE9C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325499" y="3590925"/>
                <a:ext cx="2908706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Screened by keywords</a:t>
                </a:r>
              </a:p>
            </p:txBody>
          </p:sp>
          <p:sp>
            <p:nvSpPr>
              <p:cNvPr id="13" name="Line 13"/>
              <p:cNvSpPr/>
              <p:nvPr/>
            </p:nvSpPr>
            <p:spPr>
              <a:xfrm>
                <a:off x="1066800" y="3867150"/>
                <a:ext cx="1" cy="419100"/>
              </a:xfrm>
              <a:prstGeom prst="line">
                <a:avLst/>
              </a:prstGeom>
              <a:noFill/>
              <a:ln w="19050">
                <a:solidFill>
                  <a:srgbClr val="B9AE9C"/>
                </a:solidFill>
                <a:tailEnd type="triangle" w="lg" len="lg"/>
              </a:ln>
            </p:spPr>
          </p:sp>
          <p:sp>
            <p:nvSpPr>
              <p:cNvPr id="14" name="Ellipse 14"/>
              <p:cNvSpPr/>
              <p:nvPr/>
            </p:nvSpPr>
            <p:spPr>
              <a:xfrm>
                <a:off x="990600" y="4400550"/>
                <a:ext cx="152400" cy="152400"/>
              </a:xfrm>
              <a:prstGeom prst="ellipse">
                <a:avLst/>
              </a:prstGeom>
              <a:noFill/>
              <a:ln w="19050">
                <a:solidFill>
                  <a:srgbClr val="B9AE9C"/>
                </a:solidFill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1325499" y="4352925"/>
                <a:ext cx="2776091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Waits in a long queue</a:t>
                </a:r>
              </a:p>
            </p:txBody>
          </p:sp>
          <p:sp>
            <p:nvSpPr>
              <p:cNvPr id="16" name="Line 16"/>
              <p:cNvSpPr/>
              <p:nvPr/>
            </p:nvSpPr>
            <p:spPr>
              <a:xfrm>
                <a:off x="1066800" y="4629150"/>
                <a:ext cx="1" cy="419100"/>
              </a:xfrm>
              <a:prstGeom prst="line">
                <a:avLst/>
              </a:prstGeom>
              <a:noFill/>
              <a:ln w="19050">
                <a:solidFill>
                  <a:srgbClr val="B9AE9C"/>
                </a:solidFill>
                <a:tailEnd type="triangle" w="lg" len="lg"/>
              </a:ln>
            </p:spPr>
          </p:sp>
          <p:sp>
            <p:nvSpPr>
              <p:cNvPr id="17" name="Ellipse 17"/>
              <p:cNvSpPr/>
              <p:nvPr/>
            </p:nvSpPr>
            <p:spPr>
              <a:xfrm>
                <a:off x="990600" y="5162550"/>
                <a:ext cx="152400" cy="152400"/>
              </a:xfrm>
              <a:prstGeom prst="ellipse">
                <a:avLst/>
              </a:prstGeom>
              <a:solidFill>
                <a:srgbClr val="B9AE9C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325499" y="5114925"/>
                <a:ext cx="2597842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i="1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Often, no reply at all</a:t>
                </a:r>
              </a:p>
            </p:txBody>
          </p:sp>
        </p:grpSp>
      </p:grpSp>
      <p:grpSp>
        <p:nvGrpSpPr>
          <p:cNvPr id="36" name="warm-path"/>
          <p:cNvGrpSpPr/>
          <p:nvPr/>
        </p:nvGrpSpPr>
        <p:grpSpPr>
          <a:xfrm>
            <a:off x="6134100" y="1943100"/>
            <a:ext cx="5448300" cy="4171950"/>
            <a:chOff x="6134100" y="1943100"/>
            <a:chExt cx="5448300" cy="4171950"/>
          </a:xfrm>
        </p:grpSpPr>
        <p:sp>
          <p:nvSpPr>
            <p:cNvPr id="21" name="Rectangle 21"/>
            <p:cNvSpPr/>
            <p:nvPr/>
          </p:nvSpPr>
          <p:spPr>
            <a:xfrm>
              <a:off x="6134100" y="1943100"/>
              <a:ext cx="5448300" cy="4171950"/>
            </a:xfrm>
            <a:prstGeom prst="roundRect">
              <a:avLst>
                <a:gd name="adj" fmla="val 1370"/>
              </a:avLst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71285" y="2279650"/>
              <a:ext cx="29325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C9A063"/>
                  </a:solidFill>
                  <a:latin typeface="+mn-lt"/>
                  <a:ea typeface="+mn-ea"/>
                  <a:cs typeface="+mn-cs"/>
                </a:rPr>
                <a:t>WARM CONVERSATION</a:t>
              </a:r>
            </a:p>
          </p:txBody>
        </p:sp>
        <p:grpSp>
          <p:nvGrpSpPr>
            <p:cNvPr id="34" name="warm-steps"/>
            <p:cNvGrpSpPr/>
            <p:nvPr/>
          </p:nvGrpSpPr>
          <p:grpSpPr>
            <a:xfrm>
              <a:off x="6486525" y="2828925"/>
              <a:ext cx="2892036" cy="2594991"/>
              <a:chOff x="6486525" y="2828925"/>
              <a:chExt cx="2892036" cy="2594991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6515100" y="2876550"/>
                <a:ext cx="152400" cy="152400"/>
              </a:xfrm>
              <a:prstGeom prst="ellipse">
                <a:avLst/>
              </a:prstGeom>
              <a:solidFill>
                <a:srgbClr val="C9A063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6849999" y="2828925"/>
                <a:ext cx="2909080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dirty="0">
                    <a:solidFill>
                      <a:srgbClr val="F6F2EA"/>
                    </a:solidFill>
                    <a:latin typeface="+mn-lt"/>
                    <a:ea typeface="+mn-ea"/>
                    <a:cs typeface="+mn-cs"/>
                  </a:rPr>
                  <a:t>A note to a real person</a:t>
                </a:r>
              </a:p>
            </p:txBody>
          </p:sp>
          <p:sp>
            <p:nvSpPr>
              <p:cNvPr id="25" name="Line 25"/>
              <p:cNvSpPr/>
              <p:nvPr/>
            </p:nvSpPr>
            <p:spPr>
              <a:xfrm>
                <a:off x="6591300" y="3105150"/>
                <a:ext cx="1" cy="419100"/>
              </a:xfrm>
              <a:prstGeom prst="line">
                <a:avLst/>
              </a:prstGeom>
              <a:noFill/>
              <a:ln w="19050">
                <a:solidFill>
                  <a:srgbClr val="C9A063"/>
                </a:solidFill>
                <a:tailEnd type="triangle" w="lg" len="lg"/>
              </a:ln>
            </p:spPr>
          </p:sp>
          <p:sp>
            <p:nvSpPr>
              <p:cNvPr id="26" name="Ellipse 26"/>
              <p:cNvSpPr/>
              <p:nvPr/>
            </p:nvSpPr>
            <p:spPr>
              <a:xfrm>
                <a:off x="6515100" y="3638550"/>
                <a:ext cx="152400" cy="152400"/>
              </a:xfrm>
              <a:prstGeom prst="ellipse">
                <a:avLst/>
              </a:prstGeom>
              <a:solidFill>
                <a:srgbClr val="C9A063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6849999" y="3590925"/>
                <a:ext cx="3086235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dirty="0">
                    <a:solidFill>
                      <a:srgbClr val="F6F2EA"/>
                    </a:solidFill>
                    <a:latin typeface="+mn-lt"/>
                    <a:ea typeface="+mn-ea"/>
                    <a:cs typeface="+mn-cs"/>
                  </a:rPr>
                  <a:t>A genuine reason to talk</a:t>
                </a:r>
              </a:p>
            </p:txBody>
          </p:sp>
          <p:sp>
            <p:nvSpPr>
              <p:cNvPr id="28" name="Line 28"/>
              <p:cNvSpPr/>
              <p:nvPr/>
            </p:nvSpPr>
            <p:spPr>
              <a:xfrm>
                <a:off x="6591300" y="3867150"/>
                <a:ext cx="1" cy="419100"/>
              </a:xfrm>
              <a:prstGeom prst="line">
                <a:avLst/>
              </a:prstGeom>
              <a:noFill/>
              <a:ln w="19050">
                <a:solidFill>
                  <a:srgbClr val="C9A063"/>
                </a:solidFill>
                <a:tailEnd type="triangle" w="lg" len="lg"/>
              </a:ln>
            </p:spPr>
          </p:sp>
          <p:sp>
            <p:nvSpPr>
              <p:cNvPr id="29" name="Ellipse 29"/>
              <p:cNvSpPr/>
              <p:nvPr/>
            </p:nvSpPr>
            <p:spPr>
              <a:xfrm>
                <a:off x="6515100" y="4400550"/>
                <a:ext cx="152400" cy="152400"/>
              </a:xfrm>
              <a:prstGeom prst="ellipse">
                <a:avLst/>
              </a:prstGeom>
              <a:solidFill>
                <a:srgbClr val="C9A063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6849999" y="4352925"/>
                <a:ext cx="2494072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dirty="0">
                    <a:solidFill>
                      <a:srgbClr val="F6F2EA"/>
                    </a:solidFill>
                    <a:latin typeface="+mn-lt"/>
                    <a:ea typeface="+mn-ea"/>
                    <a:cs typeface="+mn-cs"/>
                  </a:rPr>
                  <a:t>A real conversation</a:t>
                </a:r>
              </a:p>
            </p:txBody>
          </p:sp>
          <p:sp>
            <p:nvSpPr>
              <p:cNvPr id="31" name="Line 31"/>
              <p:cNvSpPr/>
              <p:nvPr/>
            </p:nvSpPr>
            <p:spPr>
              <a:xfrm>
                <a:off x="6591300" y="4629150"/>
                <a:ext cx="1" cy="419100"/>
              </a:xfrm>
              <a:prstGeom prst="line">
                <a:avLst/>
              </a:prstGeom>
              <a:noFill/>
              <a:ln w="19050">
                <a:solidFill>
                  <a:srgbClr val="C9A063"/>
                </a:solidFill>
                <a:tailEnd type="triangle" w="lg" len="lg"/>
              </a:ln>
            </p:spPr>
          </p:sp>
          <p:sp>
            <p:nvSpPr>
              <p:cNvPr id="32" name="Ellipse 32"/>
              <p:cNvSpPr/>
              <p:nvPr/>
            </p:nvSpPr>
            <p:spPr>
              <a:xfrm>
                <a:off x="6486525" y="5133975"/>
                <a:ext cx="209550" cy="209550"/>
              </a:xfrm>
              <a:prstGeom prst="ellipse">
                <a:avLst/>
              </a:prstGeom>
              <a:solidFill>
                <a:srgbClr val="C9A063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6849999" y="5114925"/>
                <a:ext cx="3351202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E9C98C"/>
                    </a:solidFill>
                    <a:latin typeface="+mn-lt"/>
                    <a:ea typeface="+mn-ea"/>
                    <a:cs typeface="+mn-cs"/>
                  </a:rPr>
                  <a:t>A referral or an interview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6470523" y="5695950"/>
              <a:ext cx="655523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Someone inside vouches for you. That changes how you are read.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37" name="TextBox 37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8488172" cy="1118870"/>
            <a:chOff x="594360" y="565150"/>
            <a:chExt cx="8488172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29373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03 WHAT KNOCK DOES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08007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We do the outreach. The student stays in control.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59849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Four steps, run by people, supported by good tools.</a:t>
              </a:r>
            </a:p>
          </p:txBody>
        </p:sp>
      </p:grpSp>
      <p:grpSp>
        <p:nvGrpSpPr>
          <p:cNvPr id="10" name="step-1"/>
          <p:cNvGrpSpPr/>
          <p:nvPr/>
        </p:nvGrpSpPr>
        <p:grpSpPr>
          <a:xfrm>
            <a:off x="600456" y="2133600"/>
            <a:ext cx="2866644" cy="2283333"/>
            <a:chOff x="600456" y="2133600"/>
            <a:chExt cx="2866644" cy="2283333"/>
          </a:xfrm>
        </p:grpSpPr>
        <p:sp>
          <p:nvSpPr>
            <p:cNvPr id="6" name="Freeform 6"/>
            <p:cNvSpPr/>
            <p:nvPr/>
          </p:nvSpPr>
          <p:spPr>
            <a:xfrm>
              <a:off x="609600" y="2133600"/>
              <a:ext cx="2857500" cy="800100"/>
            </a:xfrm>
            <a:prstGeom prst="homePlate">
              <a:avLst/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64870" y="2349500"/>
              <a:ext cx="619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2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0456" y="3251200"/>
              <a:ext cx="21377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Choose targets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2742" y="3638550"/>
              <a:ext cx="2649950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The student picks the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companies and roles they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want. We agree the brief.</a:t>
              </a:r>
            </a:p>
          </p:txBody>
        </p:sp>
      </p:grpSp>
      <p:grpSp>
        <p:nvGrpSpPr>
          <p:cNvPr id="15" name="step-2"/>
          <p:cNvGrpSpPr/>
          <p:nvPr/>
        </p:nvGrpSpPr>
        <p:grpSpPr>
          <a:xfrm>
            <a:off x="3314700" y="2133600"/>
            <a:ext cx="2857500" cy="2283333"/>
            <a:chOff x="3314700" y="2133600"/>
            <a:chExt cx="2857500" cy="2283333"/>
          </a:xfrm>
        </p:grpSpPr>
        <p:sp>
          <p:nvSpPr>
            <p:cNvPr id="11" name="Freeform 11"/>
            <p:cNvSpPr/>
            <p:nvPr/>
          </p:nvSpPr>
          <p:spPr>
            <a:xfrm>
              <a:off x="3314700" y="2133600"/>
              <a:ext cx="2857500" cy="800100"/>
            </a:xfrm>
            <a:prstGeom prst="chevron">
              <a:avLst/>
            </a:prstGeom>
            <a:solidFill>
              <a:srgbClr val="2C514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93820" y="2349500"/>
              <a:ext cx="619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2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91306" y="3251200"/>
              <a:ext cx="29206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Find the right people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93592" y="3638550"/>
              <a:ext cx="291166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Hiring managers, team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members, alumni and senior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people who can introduce.</a:t>
              </a:r>
            </a:p>
          </p:txBody>
        </p:sp>
      </p:grpSp>
      <p:grpSp>
        <p:nvGrpSpPr>
          <p:cNvPr id="20" name="step-3"/>
          <p:cNvGrpSpPr/>
          <p:nvPr/>
        </p:nvGrpSpPr>
        <p:grpSpPr>
          <a:xfrm>
            <a:off x="6019800" y="2133600"/>
            <a:ext cx="2857500" cy="2283333"/>
            <a:chOff x="6019800" y="2133600"/>
            <a:chExt cx="2857500" cy="2283333"/>
          </a:xfrm>
        </p:grpSpPr>
        <p:sp>
          <p:nvSpPr>
            <p:cNvPr id="16" name="Freeform 16"/>
            <p:cNvSpPr/>
            <p:nvPr/>
          </p:nvSpPr>
          <p:spPr>
            <a:xfrm>
              <a:off x="6019800" y="2133600"/>
              <a:ext cx="2857500" cy="800100"/>
            </a:xfrm>
            <a:prstGeom prst="chevron">
              <a:avLst/>
            </a:prstGeom>
            <a:solidFill>
              <a:srgbClr val="42695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98920" y="2349500"/>
              <a:ext cx="619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2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96406" y="3251200"/>
              <a:ext cx="26699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Write the first note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98692" y="3638550"/>
              <a:ext cx="279289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One personal message per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person, built on something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genuinely shared.</a:t>
              </a:r>
            </a:p>
          </p:txBody>
        </p:sp>
      </p:grpSp>
      <p:grpSp>
        <p:nvGrpSpPr>
          <p:cNvPr id="25" name="step-4"/>
          <p:cNvGrpSpPr/>
          <p:nvPr/>
        </p:nvGrpSpPr>
        <p:grpSpPr>
          <a:xfrm>
            <a:off x="8724900" y="2133600"/>
            <a:ext cx="2857500" cy="2283333"/>
            <a:chOff x="8724900" y="2133600"/>
            <a:chExt cx="2857500" cy="2283333"/>
          </a:xfrm>
        </p:grpSpPr>
        <p:sp>
          <p:nvSpPr>
            <p:cNvPr id="21" name="Freeform 21"/>
            <p:cNvSpPr/>
            <p:nvPr/>
          </p:nvSpPr>
          <p:spPr>
            <a:xfrm>
              <a:off x="8724900" y="2133600"/>
              <a:ext cx="2857500" cy="800100"/>
            </a:xfrm>
            <a:prstGeom prst="chevron">
              <a:avLst/>
            </a:prstGeom>
            <a:solidFill>
              <a:srgbClr val="A874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304020" y="2349500"/>
              <a:ext cx="619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2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01506" y="3251200"/>
              <a:ext cx="25567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Guide every reply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03792" y="3638550"/>
              <a:ext cx="263730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From the first answer to a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referral or an interview,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one reply at a time.</a:t>
              </a:r>
            </a:p>
          </p:txBody>
        </p:sp>
      </p:grpSp>
      <p:grpSp>
        <p:nvGrpSpPr>
          <p:cNvPr id="30" name="control-band"/>
          <p:cNvGrpSpPr/>
          <p:nvPr/>
        </p:nvGrpSpPr>
        <p:grpSpPr>
          <a:xfrm>
            <a:off x="609600" y="5372100"/>
            <a:ext cx="10972800" cy="723900"/>
            <a:chOff x="609600" y="5372100"/>
            <a:chExt cx="10972800" cy="723900"/>
          </a:xfrm>
        </p:grpSpPr>
        <p:sp>
          <p:nvSpPr>
            <p:cNvPr id="26" name="Rectangle 26"/>
            <p:cNvSpPr/>
            <p:nvPr/>
          </p:nvSpPr>
          <p:spPr>
            <a:xfrm>
              <a:off x="609600" y="5372100"/>
              <a:ext cx="10972800" cy="723900"/>
            </a:xfrm>
            <a:prstGeom prst="roundRect">
              <a:avLst>
                <a:gd name="adj" fmla="val 7895"/>
              </a:avLst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914400" y="5581650"/>
              <a:ext cx="304800" cy="304800"/>
            </a:xfrm>
            <a:prstGeom prst="ellipse">
              <a:avLst/>
            </a:prstGeom>
            <a:noFill/>
            <a:ln w="23812">
              <a:solidFill>
                <a:srgbClr val="C9A063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990600" y="5676900"/>
              <a:ext cx="161925" cy="114300"/>
            </a:xfrm>
            <a:custGeom>
              <a:avLst/>
              <a:gdLst/>
              <a:ahLst/>
              <a:cxnLst/>
              <a:rect l="l" t="t" r="r" b="b"/>
              <a:pathLst>
                <a:path w="161925" h="114300">
                  <a:moveTo>
                    <a:pt x="0" y="57150"/>
                  </a:moveTo>
                  <a:lnTo>
                    <a:pt x="57150" y="114300"/>
                  </a:lnTo>
                  <a:lnTo>
                    <a:pt x="161925" y="0"/>
                  </a:lnTo>
                </a:path>
              </a:pathLst>
            </a:custGeom>
            <a:noFill/>
            <a:ln w="23812">
              <a:solidFill>
                <a:srgbClr val="C9A063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82268" y="5607050"/>
              <a:ext cx="10477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E9C98C"/>
                  </a:solidFill>
                  <a:latin typeface="+mn-lt"/>
                  <a:ea typeface="+mn-ea"/>
                  <a:cs typeface="+mn-cs"/>
                </a:rPr>
                <a:t>The student approves every message.</a:t>
              </a:r>
              <a:r>
                <a:rPr lang="en" sz="1650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  <a:t xml:space="preserve"> It is sent from their own LinkedIn account.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31" name="TextBox 31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8119560" cy="1118870"/>
            <a:chOff x="594360" y="565150"/>
            <a:chExt cx="8119560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41623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04 AN EXAMPLE FIRST MESSAGE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033995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Every first message starts from something real.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7310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Short, specific and easy to answer. Written for one person only.</a:t>
              </a:r>
            </a:p>
          </p:txBody>
        </p:sp>
      </p:grpSp>
      <p:grpSp>
        <p:nvGrpSpPr>
          <p:cNvPr id="11" name="message"/>
          <p:cNvGrpSpPr/>
          <p:nvPr/>
        </p:nvGrpSpPr>
        <p:grpSpPr>
          <a:xfrm>
            <a:off x="609600" y="1943100"/>
            <a:ext cx="6667500" cy="3680778"/>
            <a:chOff x="609600" y="1943100"/>
            <a:chExt cx="6667500" cy="3680778"/>
          </a:xfrm>
        </p:grpSpPr>
        <p:sp>
          <p:nvSpPr>
            <p:cNvPr id="6" name="Freeform 6"/>
            <p:cNvSpPr/>
            <p:nvPr/>
          </p:nvSpPr>
          <p:spPr>
            <a:xfrm>
              <a:off x="609600" y="1943100"/>
              <a:ext cx="6667500" cy="2857500"/>
            </a:xfrm>
            <a:prstGeom prst="wedgeRoundRectCallout">
              <a:avLst>
                <a:gd name="adj1" fmla="val -38000"/>
                <a:gd name="adj2" fmla="val 64000"/>
                <a:gd name="adj3" fmla="val 8000"/>
              </a:avLst>
            </a:prstGeom>
            <a:solidFill>
              <a:srgbClr val="FFFFFF"/>
            </a:solidFill>
            <a:ln w="14288">
              <a:solidFill>
                <a:srgbClr val="D9CFBF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7166" y="2216150"/>
              <a:ext cx="36233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050" b="1" spc="1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TO RAHUL · PRODUCT, ZEPTO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495550"/>
              <a:ext cx="5981700" cy="9525"/>
            </a:xfrm>
            <a:custGeom>
              <a:avLst/>
              <a:gdLst/>
              <a:ahLst/>
              <a:cxnLst/>
              <a:rect l="l" t="t" r="r" b="b"/>
              <a:pathLst>
                <a:path w="5981700" h="9525">
                  <a:moveTo>
                    <a:pt x="0" y="0"/>
                  </a:moveTo>
                  <a:lnTo>
                    <a:pt x="5981700" y="0"/>
                  </a:lnTo>
                </a:path>
              </a:pathLst>
            </a:custGeom>
            <a:noFill/>
            <a:ln w="9525">
              <a:solidFill>
                <a:srgbClr val="E6DED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42594" y="2622550"/>
              <a:ext cx="5650067" cy="1905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en" sz="195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 xml:space="preserve">Hey Rahul, saw you </a:t>
              </a:r>
              <a: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  <a:t>moved from Flipkart</a:t>
              </a:r>
              <a:b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</a:br>
              <a: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  <a:t>into product at Zepto.</a:t>
              </a:r>
              <a:r>
                <a:rPr lang="en" sz="195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 xml:space="preserve"> I'm making a</a:t>
              </a:r>
              <a:br>
                <a:rPr lang="en" sz="195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</a:br>
              <a: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  <a:t>similar jump from brand management.</a:t>
              </a:r>
              <a:b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</a:br>
              <a:r>
                <a:rPr lang="en" sz="195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 xml:space="preserve">Curious, </a:t>
              </a:r>
              <a: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  <a:t>what was the biggest adjustment</a:t>
              </a:r>
              <a:b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</a:br>
              <a:r>
                <a:rPr lang="en" sz="1950" b="1" dirty="0">
                  <a:solidFill>
                    <a:srgbClr val="8A5A24"/>
                  </a:solidFill>
                  <a:latin typeface="+mj-lt"/>
                  <a:ea typeface="+mj-ea"/>
                  <a:cs typeface="+mj-cs"/>
                </a:rPr>
                <a:t>for you?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1185" y="5403850"/>
              <a:ext cx="46444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Drafted by Knock. Approved and sent by the student.</a:t>
              </a:r>
            </a:p>
          </p:txBody>
        </p:sp>
      </p:grpSp>
      <p:grpSp>
        <p:nvGrpSpPr>
          <p:cNvPr id="30" name="why-it-works"/>
          <p:cNvGrpSpPr/>
          <p:nvPr/>
        </p:nvGrpSpPr>
        <p:grpSpPr>
          <a:xfrm>
            <a:off x="7804785" y="2012950"/>
            <a:ext cx="3777615" cy="3631692"/>
            <a:chOff x="7804785" y="2012950"/>
            <a:chExt cx="3777615" cy="3631692"/>
          </a:xfrm>
        </p:grpSpPr>
        <p:sp>
          <p:nvSpPr>
            <p:cNvPr id="12" name="TextBox 12"/>
            <p:cNvSpPr txBox="1"/>
            <p:nvPr/>
          </p:nvSpPr>
          <p:spPr>
            <a:xfrm>
              <a:off x="7804785" y="2012950"/>
              <a:ext cx="2013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16302B"/>
                  </a:solidFill>
                  <a:latin typeface="+mn-lt"/>
                  <a:ea typeface="+mn-ea"/>
                  <a:cs typeface="+mn-cs"/>
                </a:rPr>
                <a:t>WHY IT WORKS</a:t>
              </a:r>
            </a:p>
          </p:txBody>
        </p:sp>
        <p:grpSp>
          <p:nvGrpSpPr>
            <p:cNvPr id="17" name="note-1"/>
            <p:cNvGrpSpPr/>
            <p:nvPr/>
          </p:nvGrpSpPr>
          <p:grpSpPr>
            <a:xfrm>
              <a:off x="7810500" y="2393950"/>
              <a:ext cx="2431073" cy="774192"/>
              <a:chOff x="7810500" y="2393950"/>
              <a:chExt cx="2431073" cy="774192"/>
            </a:xfrm>
          </p:grpSpPr>
          <p:sp>
            <p:nvSpPr>
              <p:cNvPr id="13" name="Ellipse 13"/>
              <p:cNvSpPr/>
              <p:nvPr/>
            </p:nvSpPr>
            <p:spPr>
              <a:xfrm>
                <a:off x="7810500" y="2419350"/>
                <a:ext cx="342900" cy="342900"/>
              </a:xfrm>
              <a:prstGeom prst="ellipse">
                <a:avLst/>
              </a:prstGeom>
              <a:solidFill>
                <a:srgbClr val="16302B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7814533" y="2479675"/>
                <a:ext cx="33483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" sz="1420" dirty="0">
                    <a:solidFill>
                      <a:srgbClr val="F6F2EA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298561" y="2393950"/>
                <a:ext cx="261926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42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A specific, true detail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299323" y="2679700"/>
                <a:ext cx="2556050" cy="4884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875"/>
                  </a:lnSpc>
                </a:pPr>
                <a: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It shows we read his path,</a:t>
                </a:r>
                <a:b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not a list of names.</a:t>
                </a:r>
              </a:p>
            </p:txBody>
          </p:sp>
        </p:grpSp>
        <p:sp>
          <p:nvSpPr>
            <p:cNvPr id="18" name="Line 18"/>
            <p:cNvSpPr/>
            <p:nvPr/>
          </p:nvSpPr>
          <p:spPr>
            <a:xfrm>
              <a:off x="7810500" y="3371850"/>
              <a:ext cx="3771900" cy="9525"/>
            </a:xfrm>
            <a:custGeom>
              <a:avLst/>
              <a:gdLst/>
              <a:ahLst/>
              <a:cxnLst/>
              <a:rect l="l" t="t" r="r" b="b"/>
              <a:pathLst>
                <a:path w="3771900" h="9525">
                  <a:moveTo>
                    <a:pt x="0" y="0"/>
                  </a:moveTo>
                  <a:lnTo>
                    <a:pt x="37719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23" name="note-2"/>
            <p:cNvGrpSpPr/>
            <p:nvPr/>
          </p:nvGrpSpPr>
          <p:grpSpPr>
            <a:xfrm>
              <a:off x="7810500" y="3632200"/>
              <a:ext cx="2622918" cy="774192"/>
              <a:chOff x="7810500" y="3632200"/>
              <a:chExt cx="2622918" cy="774192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7810500" y="3657600"/>
                <a:ext cx="342900" cy="342900"/>
              </a:xfrm>
              <a:prstGeom prst="ellipse">
                <a:avLst/>
              </a:prstGeom>
              <a:solidFill>
                <a:srgbClr val="16302B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7814533" y="3717925"/>
                <a:ext cx="33483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" sz="1420" dirty="0">
                    <a:solidFill>
                      <a:srgbClr val="F6F2EA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298561" y="3632200"/>
                <a:ext cx="2859071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42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A shared reason to talk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299323" y="3917950"/>
                <a:ext cx="2375161" cy="4884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875"/>
                  </a:lnSpc>
                </a:pPr>
                <a: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The same kind of move,</a:t>
                </a:r>
                <a:b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one step behind him.</a:t>
                </a:r>
              </a:p>
            </p:txBody>
          </p:sp>
        </p:grpSp>
        <p:sp>
          <p:nvSpPr>
            <p:cNvPr id="24" name="Line 24"/>
            <p:cNvSpPr/>
            <p:nvPr/>
          </p:nvSpPr>
          <p:spPr>
            <a:xfrm>
              <a:off x="7810500" y="4610100"/>
              <a:ext cx="3771900" cy="9525"/>
            </a:xfrm>
            <a:custGeom>
              <a:avLst/>
              <a:gdLst/>
              <a:ahLst/>
              <a:cxnLst/>
              <a:rect l="l" t="t" r="r" b="b"/>
              <a:pathLst>
                <a:path w="3771900" h="9525">
                  <a:moveTo>
                    <a:pt x="0" y="0"/>
                  </a:moveTo>
                  <a:lnTo>
                    <a:pt x="37719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29" name="note-3"/>
            <p:cNvGrpSpPr/>
            <p:nvPr/>
          </p:nvGrpSpPr>
          <p:grpSpPr>
            <a:xfrm>
              <a:off x="7810500" y="4870450"/>
              <a:ext cx="2803950" cy="774192"/>
              <a:chOff x="7810500" y="4870450"/>
              <a:chExt cx="2803950" cy="774192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7810500" y="4895850"/>
                <a:ext cx="342900" cy="342900"/>
              </a:xfrm>
              <a:prstGeom prst="ellipse">
                <a:avLst/>
              </a:prstGeom>
              <a:solidFill>
                <a:srgbClr val="16302B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7814533" y="4956175"/>
                <a:ext cx="33483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" sz="1420" dirty="0">
                    <a:solidFill>
                      <a:srgbClr val="F6F2EA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8298561" y="4870450"/>
                <a:ext cx="3085361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42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An easy question, no ask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8299323" y="5156200"/>
                <a:ext cx="2533007" cy="4884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875"/>
                  </a:lnSpc>
                </a:pPr>
                <a: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No request for a job or a</a:t>
                </a:r>
                <a:b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28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referral. That comes later.</a:t>
                </a:r>
              </a:p>
            </p:txBody>
          </p:sp>
        </p:grpSp>
      </p:grpSp>
      <p:grpSp>
        <p:nvGrpSpPr>
          <p:cNvPr id="35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31" name="TextBox 31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8068788" cy="1118870"/>
            <a:chOff x="594360" y="565150"/>
            <a:chExt cx="8068788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30616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05 WHY IT IS NOT SPAM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027648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Built to protect your batch's name, not to blast.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8621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Fewer, better conversations. Every one of them carries the student's name.</a:t>
              </a:r>
            </a:p>
          </p:txBody>
        </p:sp>
      </p:grpSp>
      <p:grpSp>
        <p:nvGrpSpPr>
          <p:cNvPr id="11" name="hero-number"/>
          <p:cNvGrpSpPr/>
          <p:nvPr/>
        </p:nvGrpSpPr>
        <p:grpSpPr>
          <a:xfrm>
            <a:off x="609600" y="1943100"/>
            <a:ext cx="4000500" cy="4114800"/>
            <a:chOff x="609600" y="1943100"/>
            <a:chExt cx="4000500" cy="4114800"/>
          </a:xfrm>
        </p:grpSpPr>
        <p:sp>
          <p:nvSpPr>
            <p:cNvPr id="6" name="Rectangle 6"/>
            <p:cNvSpPr/>
            <p:nvPr/>
          </p:nvSpPr>
          <p:spPr>
            <a:xfrm>
              <a:off x="609600" y="1943100"/>
              <a:ext cx="4000500" cy="4114800"/>
            </a:xfrm>
            <a:prstGeom prst="roundRect">
              <a:avLst>
                <a:gd name="adj" fmla="val 1429"/>
              </a:avLst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71550" y="2152650"/>
              <a:ext cx="2771775" cy="2733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4250" dirty="0">
                  <a:solidFill>
                    <a:srgbClr val="C9A063"/>
                  </a:solidFill>
                  <a:latin typeface="+mj-lt"/>
                  <a:ea typeface="+mj-ea"/>
                  <a:cs typeface="+mj-cs"/>
                </a:rPr>
                <a:t>60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19556" y="4248150"/>
              <a:ext cx="2961417" cy="6568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" sz="1800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  <a:t>hand-picked people</a:t>
              </a:r>
              <a:br>
                <a:rPr lang="en" sz="1800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</a:br>
              <a:r>
                <a:rPr lang="en" sz="1800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  <a:t>per student, per week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028700" y="5143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9050">
              <a:solidFill>
                <a:srgbClr val="C9A06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22604" y="5346700"/>
              <a:ext cx="2101138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" sz="120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Chosen one by one.</a:t>
              </a:r>
              <a:br>
                <a:rPr lang="en" sz="120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</a:br>
              <a:r>
                <a:rPr lang="en" sz="120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Never scraped in bulk.</a:t>
              </a:r>
            </a:p>
          </p:txBody>
        </p:sp>
      </p:grpSp>
      <p:grpSp>
        <p:nvGrpSpPr>
          <p:cNvPr id="31" name="guardrails"/>
          <p:cNvGrpSpPr/>
          <p:nvPr/>
        </p:nvGrpSpPr>
        <p:grpSpPr>
          <a:xfrm>
            <a:off x="5058918" y="2044700"/>
            <a:ext cx="6523482" cy="3731133"/>
            <a:chOff x="5058918" y="2044700"/>
            <a:chExt cx="6523482" cy="3731133"/>
          </a:xfrm>
        </p:grpSpPr>
        <p:grpSp>
          <p:nvGrpSpPr>
            <p:cNvPr id="15" name="rule-1"/>
            <p:cNvGrpSpPr/>
            <p:nvPr/>
          </p:nvGrpSpPr>
          <p:grpSpPr>
            <a:xfrm>
              <a:off x="5058918" y="2044700"/>
              <a:ext cx="5337876" cy="587883"/>
              <a:chOff x="5058918" y="2044700"/>
              <a:chExt cx="5337876" cy="587883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5058918" y="2044700"/>
                <a:ext cx="29295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rgbClr val="A8743A"/>
                    </a:solidFill>
                    <a:latin typeface="+mj-lt"/>
                    <a:ea typeface="+mj-ea"/>
                    <a:cs typeface="+mj-cs"/>
                  </a:rPr>
                  <a:t>i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440299" y="2057400"/>
                <a:ext cx="3633435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Every message is personal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5441442" y="2368550"/>
                <a:ext cx="63846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No template with a name swapped in. Written for one person.</a:t>
                </a:r>
              </a:p>
            </p:txBody>
          </p:sp>
        </p:grpSp>
        <p:sp>
          <p:nvSpPr>
            <p:cNvPr id="16" name="Line 16"/>
            <p:cNvSpPr/>
            <p:nvPr/>
          </p:nvSpPr>
          <p:spPr>
            <a:xfrm>
              <a:off x="5067300" y="2857500"/>
              <a:ext cx="6515100" cy="9525"/>
            </a:xfrm>
            <a:custGeom>
              <a:avLst/>
              <a:gdLst/>
              <a:ahLst/>
              <a:cxnLst/>
              <a:rect l="l" t="t" r="r" b="b"/>
              <a:pathLst>
                <a:path w="6515100" h="9525">
                  <a:moveTo>
                    <a:pt x="0" y="0"/>
                  </a:moveTo>
                  <a:lnTo>
                    <a:pt x="65151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20" name="rule-2"/>
            <p:cNvGrpSpPr/>
            <p:nvPr/>
          </p:nvGrpSpPr>
          <p:grpSpPr>
            <a:xfrm>
              <a:off x="5058918" y="3092450"/>
              <a:ext cx="5711564" cy="587883"/>
              <a:chOff x="5058918" y="3092450"/>
              <a:chExt cx="5711564" cy="587883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5058918" y="3092450"/>
                <a:ext cx="37445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rgbClr val="A8743A"/>
                    </a:solidFill>
                    <a:latin typeface="+mj-lt"/>
                    <a:ea typeface="+mj-ea"/>
                    <a:cs typeface="+mj-cs"/>
                  </a:rPr>
                  <a:t>ii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440299" y="3105150"/>
                <a:ext cx="4876756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Sent from the student's own account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441442" y="3416300"/>
                <a:ext cx="685180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Only after they approve it. Nothing goes out in their name unseen.</a:t>
                </a:r>
              </a:p>
            </p:txBody>
          </p:sp>
        </p:grpSp>
        <p:sp>
          <p:nvSpPr>
            <p:cNvPr id="21" name="Line 21"/>
            <p:cNvSpPr/>
            <p:nvPr/>
          </p:nvSpPr>
          <p:spPr>
            <a:xfrm>
              <a:off x="5067300" y="3905250"/>
              <a:ext cx="6515100" cy="9525"/>
            </a:xfrm>
            <a:custGeom>
              <a:avLst/>
              <a:gdLst/>
              <a:ahLst/>
              <a:cxnLst/>
              <a:rect l="l" t="t" r="r" b="b"/>
              <a:pathLst>
                <a:path w="6515100" h="9525">
                  <a:moveTo>
                    <a:pt x="0" y="0"/>
                  </a:moveTo>
                  <a:lnTo>
                    <a:pt x="65151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25" name="rule-3"/>
            <p:cNvGrpSpPr/>
            <p:nvPr/>
          </p:nvGrpSpPr>
          <p:grpSpPr>
            <a:xfrm>
              <a:off x="5058918" y="4140200"/>
              <a:ext cx="5433453" cy="587883"/>
              <a:chOff x="5058918" y="4140200"/>
              <a:chExt cx="5433453" cy="587883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5058918" y="4140200"/>
                <a:ext cx="45595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rgbClr val="A8743A"/>
                    </a:solidFill>
                    <a:latin typeface="+mj-lt"/>
                    <a:ea typeface="+mj-ea"/>
                    <a:cs typeface="+mj-cs"/>
                  </a:rPr>
                  <a:t>iii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440299" y="4152900"/>
                <a:ext cx="3740540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Well under LinkedIn's limits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441442" y="4464050"/>
                <a:ext cx="650416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The pace stays human, so the account stays in good standing.</a:t>
                </a:r>
              </a:p>
            </p:txBody>
          </p:sp>
        </p:grpSp>
        <p:sp>
          <p:nvSpPr>
            <p:cNvPr id="26" name="Line 26"/>
            <p:cNvSpPr/>
            <p:nvPr/>
          </p:nvSpPr>
          <p:spPr>
            <a:xfrm>
              <a:off x="5067300" y="4953000"/>
              <a:ext cx="6515100" cy="9525"/>
            </a:xfrm>
            <a:custGeom>
              <a:avLst/>
              <a:gdLst/>
              <a:ahLst/>
              <a:cxnLst/>
              <a:rect l="l" t="t" r="r" b="b"/>
              <a:pathLst>
                <a:path w="6515100" h="9525">
                  <a:moveTo>
                    <a:pt x="0" y="0"/>
                  </a:moveTo>
                  <a:lnTo>
                    <a:pt x="65151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30" name="rule-4"/>
            <p:cNvGrpSpPr/>
            <p:nvPr/>
          </p:nvGrpSpPr>
          <p:grpSpPr>
            <a:xfrm>
              <a:off x="5058918" y="5187950"/>
              <a:ext cx="5058997" cy="587883"/>
              <a:chOff x="5058918" y="5187950"/>
              <a:chExt cx="5058997" cy="587883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5058918" y="5187950"/>
                <a:ext cx="43963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rgbClr val="A8743A"/>
                    </a:solidFill>
                    <a:latin typeface="+mj-lt"/>
                    <a:ea typeface="+mj-ea"/>
                    <a:cs typeface="+mj-cs"/>
                  </a:rPr>
                  <a:t>iv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0299" y="5200650"/>
                <a:ext cx="4193201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Conversation first, the ask later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441442" y="5511800"/>
                <a:ext cx="603609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A referral is requested only once there is a real exchange.</a:t>
                </a:r>
              </a:p>
            </p:txBody>
          </p:sp>
        </p:grpSp>
      </p:grpSp>
      <p:grpSp>
        <p:nvGrpSpPr>
          <p:cNvPr id="36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32" name="TextBox 32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7494818" cy="1118870"/>
            <a:chOff x="594360" y="565150"/>
            <a:chExt cx="7494818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1876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06 PACKAGES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955902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Four packages, at founding-member prices.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8145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 xml:space="preserve">Every member of </a:t>
              </a:r>
              <a:r>
                <a:rPr lang="en" sz="1500" b="1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&lt;Club name&gt;</a:t>
              </a:r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 xml:space="preserve"> gets the founding price. Prices in INR.</a:t>
              </a:r>
            </a:p>
          </p:txBody>
        </p:sp>
      </p:grpSp>
      <p:grpSp>
        <p:nvGrpSpPr>
          <p:cNvPr id="14" name="pkg-sprint"/>
          <p:cNvGrpSpPr/>
          <p:nvPr/>
        </p:nvGrpSpPr>
        <p:grpSpPr>
          <a:xfrm>
            <a:off x="609600" y="1943100"/>
            <a:ext cx="2571750" cy="2857500"/>
            <a:chOff x="609600" y="1943100"/>
            <a:chExt cx="2571750" cy="2857500"/>
          </a:xfrm>
        </p:grpSpPr>
        <p:sp>
          <p:nvSpPr>
            <p:cNvPr id="6" name="Rectangle 6"/>
            <p:cNvSpPr/>
            <p:nvPr/>
          </p:nvSpPr>
          <p:spPr>
            <a:xfrm>
              <a:off x="609600" y="1943100"/>
              <a:ext cx="2571750" cy="2857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rgbClr val="D9CFBF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943100"/>
              <a:ext cx="2571750" cy="47625"/>
            </a:xfrm>
            <a:prstGeom prst="rect">
              <a:avLst/>
            </a:prstGeom>
            <a:solidFill>
              <a:srgbClr val="A8743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65632" y="2184400"/>
              <a:ext cx="11626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Sprint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9823" y="2590800"/>
              <a:ext cx="210465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A focused first push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1822" y="3168650"/>
              <a:ext cx="222832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850" b="1" dirty="0">
                  <a:solidFill>
                    <a:srgbClr val="16302B"/>
                  </a:solidFill>
                  <a:latin typeface="+mn-lt"/>
                  <a:ea typeface="+mn-ea"/>
                  <a:cs typeface="+mn-cs"/>
                </a:rPr>
                <a:t>Rs 2,499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876300" y="3829050"/>
              <a:ext cx="2038350" cy="9525"/>
            </a:xfrm>
            <a:custGeom>
              <a:avLst/>
              <a:gdLst/>
              <a:ahLst/>
              <a:cxnLst/>
              <a:rect l="l" t="t" r="r" b="b"/>
              <a:pathLst>
                <a:path w="2038350" h="9525">
                  <a:moveTo>
                    <a:pt x="0" y="0"/>
                  </a:moveTo>
                  <a:lnTo>
                    <a:pt x="2038350" y="0"/>
                  </a:lnTo>
                </a:path>
              </a:pathLst>
            </a:custGeom>
            <a:noFill/>
            <a:ln w="9525">
              <a:solidFill>
                <a:srgbClr val="E6DED0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8680" y="4000500"/>
              <a:ext cx="9532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7</a:t>
              </a: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 xml:space="preserve"> days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8680" y="4324350"/>
              <a:ext cx="1318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60</a:t>
              </a: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 xml:space="preserve"> people</a:t>
              </a:r>
            </a:p>
          </p:txBody>
        </p:sp>
      </p:grpSp>
      <p:grpSp>
        <p:nvGrpSpPr>
          <p:cNvPr id="23" name="pkg-standard"/>
          <p:cNvGrpSpPr/>
          <p:nvPr/>
        </p:nvGrpSpPr>
        <p:grpSpPr>
          <a:xfrm>
            <a:off x="3409950" y="1943100"/>
            <a:ext cx="2571750" cy="2857500"/>
            <a:chOff x="3409950" y="1943100"/>
            <a:chExt cx="2571750" cy="2857500"/>
          </a:xfrm>
        </p:grpSpPr>
        <p:sp>
          <p:nvSpPr>
            <p:cNvPr id="15" name="Rectangle 15"/>
            <p:cNvSpPr/>
            <p:nvPr/>
          </p:nvSpPr>
          <p:spPr>
            <a:xfrm>
              <a:off x="3409950" y="1943100"/>
              <a:ext cx="2571750" cy="2857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rgbClr val="D9CFB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09950" y="1943100"/>
              <a:ext cx="2571750" cy="47625"/>
            </a:xfrm>
            <a:prstGeom prst="rect">
              <a:avLst/>
            </a:prstGeom>
            <a:solidFill>
              <a:srgbClr val="A8743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65982" y="2184400"/>
              <a:ext cx="157993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Standard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0173" y="2590800"/>
              <a:ext cx="246347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Time for replies to grow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62172" y="3168650"/>
              <a:ext cx="222832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850" b="1" dirty="0">
                  <a:solidFill>
                    <a:srgbClr val="16302B"/>
                  </a:solidFill>
                  <a:latin typeface="+mn-lt"/>
                  <a:ea typeface="+mn-ea"/>
                  <a:cs typeface="+mn-cs"/>
                </a:rPr>
                <a:t>Rs 3,999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76650" y="3829050"/>
              <a:ext cx="2038350" cy="9525"/>
            </a:xfrm>
            <a:custGeom>
              <a:avLst/>
              <a:gdLst/>
              <a:ahLst/>
              <a:cxnLst/>
              <a:rect l="l" t="t" r="r" b="b"/>
              <a:pathLst>
                <a:path w="2038350" h="9525">
                  <a:moveTo>
                    <a:pt x="0" y="0"/>
                  </a:moveTo>
                  <a:lnTo>
                    <a:pt x="2038350" y="0"/>
                  </a:lnTo>
                </a:path>
              </a:pathLst>
            </a:custGeom>
            <a:noFill/>
            <a:ln w="9525">
              <a:solidFill>
                <a:srgbClr val="E6DED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69030" y="4000500"/>
              <a:ext cx="1093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14</a:t>
              </a: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 xml:space="preserve"> days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69030" y="4324350"/>
              <a:ext cx="14588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120</a:t>
              </a: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 xml:space="preserve"> people</a:t>
              </a:r>
            </a:p>
          </p:txBody>
        </p:sp>
      </p:grpSp>
      <p:grpSp>
        <p:nvGrpSpPr>
          <p:cNvPr id="32" name="pkg-full"/>
          <p:cNvGrpSpPr/>
          <p:nvPr/>
        </p:nvGrpSpPr>
        <p:grpSpPr>
          <a:xfrm>
            <a:off x="6210300" y="1943100"/>
            <a:ext cx="2571750" cy="2857500"/>
            <a:chOff x="6210300" y="1943100"/>
            <a:chExt cx="25717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210300" y="1943100"/>
              <a:ext cx="2571750" cy="2857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rgbClr val="D9CFB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10300" y="1943100"/>
              <a:ext cx="2571750" cy="47625"/>
            </a:xfrm>
            <a:prstGeom prst="rect">
              <a:avLst/>
            </a:prstGeom>
            <a:solidFill>
              <a:srgbClr val="A874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66332" y="2184400"/>
              <a:ext cx="190112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Full search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70523" y="2590800"/>
              <a:ext cx="25477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A complete search cycle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62522" y="3168650"/>
              <a:ext cx="222832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850" b="1" dirty="0">
                  <a:solidFill>
                    <a:srgbClr val="16302B"/>
                  </a:solidFill>
                  <a:latin typeface="+mn-lt"/>
                  <a:ea typeface="+mn-ea"/>
                  <a:cs typeface="+mn-cs"/>
                </a:rPr>
                <a:t>Rs 5,499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477000" y="3829050"/>
              <a:ext cx="2038350" cy="9525"/>
            </a:xfrm>
            <a:custGeom>
              <a:avLst/>
              <a:gdLst/>
              <a:ahLst/>
              <a:cxnLst/>
              <a:rect l="l" t="t" r="r" b="b"/>
              <a:pathLst>
                <a:path w="2038350" h="9525">
                  <a:moveTo>
                    <a:pt x="0" y="0"/>
                  </a:moveTo>
                  <a:lnTo>
                    <a:pt x="2038350" y="0"/>
                  </a:lnTo>
                </a:path>
              </a:pathLst>
            </a:custGeom>
            <a:noFill/>
            <a:ln w="9525">
              <a:solidFill>
                <a:srgbClr val="E6DED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69380" y="4000500"/>
              <a:ext cx="1093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21</a:t>
              </a: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 xml:space="preserve"> days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69380" y="4324350"/>
              <a:ext cx="14588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180</a:t>
              </a:r>
              <a:r>
                <a:rPr lang="en" sz="150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 xml:space="preserve"> people</a:t>
              </a:r>
            </a:p>
          </p:txBody>
        </p:sp>
      </p:grpSp>
      <p:grpSp>
        <p:nvGrpSpPr>
          <p:cNvPr id="41" name="pkg-concierge"/>
          <p:cNvGrpSpPr/>
          <p:nvPr/>
        </p:nvGrpSpPr>
        <p:grpSpPr>
          <a:xfrm>
            <a:off x="9010650" y="1943100"/>
            <a:ext cx="2571750" cy="2857500"/>
            <a:chOff x="9010650" y="1943100"/>
            <a:chExt cx="2571750" cy="2857500"/>
          </a:xfrm>
        </p:grpSpPr>
        <p:sp>
          <p:nvSpPr>
            <p:cNvPr id="33" name="Rectangle 33"/>
            <p:cNvSpPr/>
            <p:nvPr/>
          </p:nvSpPr>
          <p:spPr>
            <a:xfrm>
              <a:off x="9010650" y="1943100"/>
              <a:ext cx="2571750" cy="2857500"/>
            </a:xfrm>
            <a:prstGeom prst="roundRect">
              <a:avLst>
                <a:gd name="adj" fmla="val 2222"/>
              </a:avLst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9010650" y="1943100"/>
              <a:ext cx="2571750" cy="47625"/>
            </a:xfrm>
            <a:prstGeom prst="rect">
              <a:avLst/>
            </a:prstGeom>
            <a:solidFill>
              <a:srgbClr val="C9A06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66682" y="2184400"/>
              <a:ext cx="231400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Done-for-you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70873" y="2590800"/>
              <a:ext cx="233188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Full concierge support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71254" y="2990850"/>
              <a:ext cx="6096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C9A063"/>
                  </a:solidFill>
                  <a:latin typeface="+mn-lt"/>
                  <a:ea typeface="+mn-ea"/>
                  <a:cs typeface="+mn-cs"/>
                </a:rPr>
                <a:t>from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262872" y="3168650"/>
              <a:ext cx="250261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850" b="1" dirty="0">
                  <a:solidFill>
                    <a:srgbClr val="E9C98C"/>
                  </a:solidFill>
                  <a:latin typeface="+mn-lt"/>
                  <a:ea typeface="+mn-ea"/>
                  <a:cs typeface="+mn-cs"/>
                </a:rPr>
                <a:t>Rs 14,999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9277350" y="3829050"/>
              <a:ext cx="2038350" cy="9525"/>
            </a:xfrm>
            <a:custGeom>
              <a:avLst/>
              <a:gdLst/>
              <a:ahLst/>
              <a:cxnLst/>
              <a:rect l="l" t="t" r="r" b="b"/>
              <a:pathLst>
                <a:path w="2038350" h="9525">
                  <a:moveTo>
                    <a:pt x="0" y="0"/>
                  </a:moveTo>
                  <a:lnTo>
                    <a:pt x="2038350" y="0"/>
                  </a:lnTo>
                </a:path>
              </a:pathLst>
            </a:custGeom>
            <a:noFill/>
            <a:ln w="9525">
              <a:solidFill>
                <a:srgbClr val="2F5A50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69730" y="3937000"/>
              <a:ext cx="2460068" cy="617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" sz="1500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  <a:t>Scoped to the search</a:t>
              </a:r>
              <a:br>
                <a:rPr lang="en" sz="1500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rgbClr val="F6F2EA"/>
                  </a:solidFill>
                  <a:latin typeface="+mn-lt"/>
                  <a:ea typeface="+mn-ea"/>
                  <a:cs typeface="+mn-cs"/>
                </a:rPr>
                <a:t>we run together</a:t>
              </a:r>
            </a:p>
          </p:txBody>
        </p:sp>
      </p:grpSp>
      <p:grpSp>
        <p:nvGrpSpPr>
          <p:cNvPr id="45" name="included"/>
          <p:cNvGrpSpPr/>
          <p:nvPr/>
        </p:nvGrpSpPr>
        <p:grpSpPr>
          <a:xfrm>
            <a:off x="609600" y="5029200"/>
            <a:ext cx="10972800" cy="838200"/>
            <a:chOff x="609600" y="5029200"/>
            <a:chExt cx="10972800" cy="838200"/>
          </a:xfrm>
        </p:grpSpPr>
        <p:sp>
          <p:nvSpPr>
            <p:cNvPr id="42" name="Rectangle 42"/>
            <p:cNvSpPr/>
            <p:nvPr/>
          </p:nvSpPr>
          <p:spPr>
            <a:xfrm>
              <a:off x="609600" y="5029200"/>
              <a:ext cx="10972800" cy="838200"/>
            </a:xfrm>
            <a:prstGeom prst="roundRect">
              <a:avLst>
                <a:gd name="adj" fmla="val 6818"/>
              </a:avLst>
            </a:prstGeom>
            <a:solidFill>
              <a:srgbClr val="EDE6D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70966" y="5207000"/>
              <a:ext cx="24607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05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IN EVERY PACKAGE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69061" y="5441950"/>
              <a:ext cx="110546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42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Research on each person, a personal first message, and reply guidance until a referral or an interview.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46" name="TextBox 46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8221726" cy="1118870"/>
            <a:chOff x="594360" y="565150"/>
            <a:chExt cx="8221726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3706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07 THE PARTNERSHIP OFFER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046765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Four things for your members. Two small asks.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59002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Most of the value goes to the club and its students.</a:t>
              </a:r>
            </a:p>
          </p:txBody>
        </p:sp>
      </p:grpSp>
      <p:grpSp>
        <p:nvGrpSpPr>
          <p:cNvPr id="25" name="club-gets"/>
          <p:cNvGrpSpPr/>
          <p:nvPr/>
        </p:nvGrpSpPr>
        <p:grpSpPr>
          <a:xfrm>
            <a:off x="609600" y="1943100"/>
            <a:ext cx="7429500" cy="4171950"/>
            <a:chOff x="609600" y="1943100"/>
            <a:chExt cx="7429500" cy="4171950"/>
          </a:xfrm>
        </p:grpSpPr>
        <p:sp>
          <p:nvSpPr>
            <p:cNvPr id="6" name="Rectangle 6"/>
            <p:cNvSpPr/>
            <p:nvPr/>
          </p:nvSpPr>
          <p:spPr>
            <a:xfrm>
              <a:off x="609600" y="1943100"/>
              <a:ext cx="7429500" cy="4171950"/>
            </a:xfrm>
            <a:prstGeom prst="roundRect">
              <a:avLst>
                <a:gd name="adj" fmla="val 1370"/>
              </a:avLst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6785" y="2260600"/>
              <a:ext cx="34155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C9A063"/>
                  </a:solidFill>
                  <a:latin typeface="+mn-lt"/>
                  <a:ea typeface="+mn-ea"/>
                  <a:cs typeface="+mn-cs"/>
                </a:rPr>
                <a:t>WHAT &lt;CLUB NAME&gt; GETS</a:t>
              </a:r>
            </a:p>
          </p:txBody>
        </p:sp>
        <p:grpSp>
          <p:nvGrpSpPr>
            <p:cNvPr id="11" name="gets-1"/>
            <p:cNvGrpSpPr/>
            <p:nvPr/>
          </p:nvGrpSpPr>
          <p:grpSpPr>
            <a:xfrm>
              <a:off x="939546" y="2730500"/>
              <a:ext cx="1649204" cy="1305433"/>
              <a:chOff x="939546" y="2730500"/>
              <a:chExt cx="1649204" cy="1305433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939546" y="2730500"/>
                <a:ext cx="676275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2550" dirty="0">
                    <a:solidFill>
                      <a:srgbClr val="C9A063"/>
                    </a:solidFill>
                    <a:latin typeface="+mj-lt"/>
                    <a:ea typeface="+mj-ea"/>
                    <a:cs typeface="+mj-cs"/>
                  </a:rPr>
                  <a:t>01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44499" y="3238500"/>
                <a:ext cx="2138848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F6F2EA"/>
                    </a:solidFill>
                    <a:latin typeface="+mn-lt"/>
                    <a:ea typeface="+mn-ea"/>
                    <a:cs typeface="+mn-cs"/>
                  </a:rPr>
                  <a:t>Founding price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5642" y="3524250"/>
                <a:ext cx="2244385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for every member, on</a:t>
                </a:r>
                <a:b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every package.</a:t>
                </a:r>
              </a:p>
            </p:txBody>
          </p:sp>
        </p:grpSp>
        <p:grpSp>
          <p:nvGrpSpPr>
            <p:cNvPr id="15" name="gets-2"/>
            <p:cNvGrpSpPr/>
            <p:nvPr/>
          </p:nvGrpSpPr>
          <p:grpSpPr>
            <a:xfrm>
              <a:off x="4482846" y="2730500"/>
              <a:ext cx="1659183" cy="1305433"/>
              <a:chOff x="4482846" y="2730500"/>
              <a:chExt cx="1659183" cy="1305433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4482846" y="2730500"/>
                <a:ext cx="676275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2550" dirty="0">
                    <a:solidFill>
                      <a:srgbClr val="C9A063"/>
                    </a:solidFill>
                    <a:latin typeface="+mj-lt"/>
                    <a:ea typeface="+mj-ea"/>
                    <a:cs typeface="+mj-cs"/>
                  </a:rPr>
                  <a:t>02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487799" y="3238500"/>
                <a:ext cx="1606918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F6F2EA"/>
                    </a:solidFill>
                    <a:latin typeface="+mn-lt"/>
                    <a:ea typeface="+mn-ea"/>
                    <a:cs typeface="+mn-cs"/>
                  </a:rPr>
                  <a:t>A free pilot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488942" y="3524250"/>
                <a:ext cx="2256858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for 5 students chosen</a:t>
                </a:r>
                <a:b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by the club.</a:t>
                </a:r>
              </a:p>
            </p:txBody>
          </p:sp>
        </p:grpSp>
        <p:sp>
          <p:nvSpPr>
            <p:cNvPr id="16" name="Line 16"/>
            <p:cNvSpPr/>
            <p:nvPr/>
          </p:nvSpPr>
          <p:spPr>
            <a:xfrm>
              <a:off x="952500" y="42672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9525">
              <a:solidFill>
                <a:srgbClr val="2F5A50"/>
              </a:solidFill>
            </a:ln>
          </p:spPr>
        </p:sp>
        <p:grpSp>
          <p:nvGrpSpPr>
            <p:cNvPr id="20" name="gets-3"/>
            <p:cNvGrpSpPr/>
            <p:nvPr/>
          </p:nvGrpSpPr>
          <p:grpSpPr>
            <a:xfrm>
              <a:off x="939546" y="4502150"/>
              <a:ext cx="1943372" cy="1305433"/>
              <a:chOff x="939546" y="4502150"/>
              <a:chExt cx="1943372" cy="1305433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939546" y="4502150"/>
                <a:ext cx="676275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2550" dirty="0">
                    <a:solidFill>
                      <a:srgbClr val="C9A063"/>
                    </a:solidFill>
                    <a:latin typeface="+mj-lt"/>
                    <a:ea typeface="+mj-ea"/>
                    <a:cs typeface="+mj-cs"/>
                  </a:rPr>
                  <a:t>03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44499" y="5010150"/>
                <a:ext cx="2613523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F6F2EA"/>
                    </a:solidFill>
                    <a:latin typeface="+mn-lt"/>
                    <a:ea typeface="+mn-ea"/>
                    <a:cs typeface="+mn-cs"/>
                  </a:rPr>
                  <a:t>A results summary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45642" y="5295900"/>
                <a:ext cx="2399718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the club can share with</a:t>
                </a:r>
                <a:b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its batch and faculty.</a:t>
                </a:r>
              </a:p>
            </p:txBody>
          </p:sp>
        </p:grpSp>
        <p:grpSp>
          <p:nvGrpSpPr>
            <p:cNvPr id="24" name="gets-4"/>
            <p:cNvGrpSpPr/>
            <p:nvPr/>
          </p:nvGrpSpPr>
          <p:grpSpPr>
            <a:xfrm>
              <a:off x="4482846" y="4502150"/>
              <a:ext cx="2108474" cy="1305433"/>
              <a:chOff x="4482846" y="4502150"/>
              <a:chExt cx="2108474" cy="1305433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4482846" y="4502150"/>
                <a:ext cx="676275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2550" dirty="0">
                    <a:solidFill>
                      <a:srgbClr val="C9A063"/>
                    </a:solidFill>
                    <a:latin typeface="+mj-lt"/>
                    <a:ea typeface="+mj-ea"/>
                    <a:cs typeface="+mj-cs"/>
                  </a:rPr>
                  <a:t>04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487799" y="5010150"/>
                <a:ext cx="2819901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F6F2EA"/>
                    </a:solidFill>
                    <a:latin typeface="+mn-lt"/>
                    <a:ea typeface="+mn-ea"/>
                    <a:cs typeface="+mn-cs"/>
                  </a:rPr>
                  <a:t>A co-hosted session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488942" y="5295900"/>
                <a:ext cx="2507432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on outbound job search,</a:t>
                </a:r>
                <a:b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350" dirty="0">
                    <a:solidFill>
                      <a:srgbClr val="C8CFC9"/>
                    </a:solidFill>
                    <a:latin typeface="+mn-lt"/>
                    <a:ea typeface="+mn-ea"/>
                    <a:cs typeface="+mn-cs"/>
                  </a:rPr>
                  <a:t>open to the batch.</a:t>
                </a:r>
              </a:p>
            </p:txBody>
          </p:sp>
        </p:grpSp>
      </p:grpSp>
      <p:grpSp>
        <p:nvGrpSpPr>
          <p:cNvPr id="37" name="knock-asks"/>
          <p:cNvGrpSpPr/>
          <p:nvPr/>
        </p:nvGrpSpPr>
        <p:grpSpPr>
          <a:xfrm>
            <a:off x="8343900" y="1943100"/>
            <a:ext cx="3238500" cy="4171950"/>
            <a:chOff x="8343900" y="1943100"/>
            <a:chExt cx="3238500" cy="4171950"/>
          </a:xfrm>
        </p:grpSpPr>
        <p:sp>
          <p:nvSpPr>
            <p:cNvPr id="26" name="Rectangle 26"/>
            <p:cNvSpPr/>
            <p:nvPr/>
          </p:nvSpPr>
          <p:spPr>
            <a:xfrm>
              <a:off x="8343900" y="1943100"/>
              <a:ext cx="3238500" cy="4171950"/>
            </a:xfrm>
            <a:prstGeom prst="roundRect">
              <a:avLst>
                <a:gd name="adj" fmla="val 1765"/>
              </a:avLst>
            </a:prstGeom>
            <a:noFill/>
            <a:ln w="14288">
              <a:solidFill>
                <a:srgbClr val="A8743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42985" y="2260600"/>
              <a:ext cx="2569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WHAT KNOCK ASKS</a:t>
              </a:r>
            </a:p>
          </p:txBody>
        </p:sp>
        <p:grpSp>
          <p:nvGrpSpPr>
            <p:cNvPr id="31" name="asks-1"/>
            <p:cNvGrpSpPr/>
            <p:nvPr/>
          </p:nvGrpSpPr>
          <p:grpSpPr>
            <a:xfrm>
              <a:off x="8635746" y="2730500"/>
              <a:ext cx="2013870" cy="1305433"/>
              <a:chOff x="8635746" y="2730500"/>
              <a:chExt cx="2013870" cy="1305433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8635746" y="2730500"/>
                <a:ext cx="676275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2550" dirty="0">
                    <a:solidFill>
                      <a:srgbClr val="A8743A"/>
                    </a:solidFill>
                    <a:latin typeface="+mj-lt"/>
                    <a:ea typeface="+mj-ea"/>
                    <a:cs typeface="+mj-cs"/>
                  </a:rPr>
                  <a:t>01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640699" y="3238500"/>
                <a:ext cx="2701646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One announcement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641842" y="3524250"/>
                <a:ext cx="1971051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to the batch, in the</a:t>
                </a:r>
                <a:b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club's own words.</a:t>
                </a:r>
              </a:p>
            </p:txBody>
          </p:sp>
        </p:grpSp>
        <p:sp>
          <p:nvSpPr>
            <p:cNvPr id="32" name="Line 32"/>
            <p:cNvSpPr/>
            <p:nvPr/>
          </p:nvSpPr>
          <p:spPr>
            <a:xfrm>
              <a:off x="8648700" y="4267200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36" name="asks-2"/>
            <p:cNvGrpSpPr/>
            <p:nvPr/>
          </p:nvGrpSpPr>
          <p:grpSpPr>
            <a:xfrm>
              <a:off x="8635746" y="4502150"/>
              <a:ext cx="1887657" cy="1305433"/>
              <a:chOff x="8635746" y="4502150"/>
              <a:chExt cx="1887657" cy="1305433"/>
            </a:xfrm>
          </p:grpSpPr>
          <p:sp>
            <p:nvSpPr>
              <p:cNvPr id="33" name="TextBox 33"/>
              <p:cNvSpPr txBox="1"/>
              <p:nvPr/>
            </p:nvSpPr>
            <p:spPr>
              <a:xfrm>
                <a:off x="8635746" y="4502150"/>
                <a:ext cx="676275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2550" dirty="0">
                    <a:solidFill>
                      <a:srgbClr val="A8743A"/>
                    </a:solidFill>
                    <a:latin typeface="+mj-lt"/>
                    <a:ea typeface="+mj-ea"/>
                    <a:cs typeface="+mj-cs"/>
                  </a:rPr>
                  <a:t>02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40699" y="5010150"/>
                <a:ext cx="2480031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One feedback call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641842" y="5295900"/>
                <a:ext cx="2542451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after the pilot. Honest</a:t>
                </a:r>
                <a:b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views shape the service.</a:t>
                </a:r>
              </a:p>
            </p:txBody>
          </p:sp>
        </p:grpSp>
      </p:grpSp>
      <p:grpSp>
        <p:nvGrpSpPr>
          <p:cNvPr id="42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38" name="TextBox 38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8782495" cy="1118870"/>
            <a:chOff x="594360" y="565150"/>
            <a:chExt cx="8782495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3978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08 WHY IT IS SAFE TO SAY YES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11686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Low effort for the club. Proof before endorsement.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69646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Your batch's inbox and your club's reputation stay protected.</a:t>
              </a:r>
            </a:p>
          </p:txBody>
        </p:sp>
      </p:grpSp>
      <p:grpSp>
        <p:nvGrpSpPr>
          <p:cNvPr id="8" name="pull-quote"/>
          <p:cNvGrpSpPr/>
          <p:nvPr/>
        </p:nvGrpSpPr>
        <p:grpSpPr>
          <a:xfrm>
            <a:off x="609600" y="2133600"/>
            <a:ext cx="2575312" cy="3619500"/>
            <a:chOff x="609600" y="2133600"/>
            <a:chExt cx="2575312" cy="3619500"/>
          </a:xfrm>
        </p:grpSpPr>
        <p:sp>
          <p:nvSpPr>
            <p:cNvPr id="6" name="Rectangle 6"/>
            <p:cNvSpPr/>
            <p:nvPr/>
          </p:nvSpPr>
          <p:spPr>
            <a:xfrm>
              <a:off x="609600" y="2133600"/>
              <a:ext cx="38100" cy="3619500"/>
            </a:xfrm>
            <a:prstGeom prst="rect">
              <a:avLst/>
            </a:prstGeom>
            <a:solidFill>
              <a:srgbClr val="A8743A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1446" y="2432050"/>
              <a:ext cx="3044832" cy="181317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en" sz="2550" i="1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See the results</a:t>
              </a:r>
              <a:br>
                <a:rPr lang="en" sz="2550" i="1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</a:br>
              <a:r>
                <a:rPr lang="en" sz="2550" i="1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first. Then decide</a:t>
              </a:r>
              <a:br>
                <a:rPr lang="en" sz="2550" i="1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</a:br>
              <a:r>
                <a:rPr lang="en" sz="2550" i="1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whether to</a:t>
              </a:r>
              <a:br>
                <a:rPr lang="en" sz="2550" i="1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</a:br>
              <a:r>
                <a:rPr lang="en" sz="2550" i="1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recommend us.</a:t>
              </a:r>
            </a:p>
          </p:txBody>
        </p:sp>
      </p:grpSp>
      <p:grpSp>
        <p:nvGrpSpPr>
          <p:cNvPr id="28" name="reasons"/>
          <p:cNvGrpSpPr/>
          <p:nvPr/>
        </p:nvGrpSpPr>
        <p:grpSpPr>
          <a:xfrm>
            <a:off x="4490085" y="2190750"/>
            <a:ext cx="7092315" cy="3604133"/>
            <a:chOff x="4490085" y="2190750"/>
            <a:chExt cx="7092315" cy="3604133"/>
          </a:xfrm>
        </p:grpSpPr>
        <p:grpSp>
          <p:nvGrpSpPr>
            <p:cNvPr id="12" name="reason-1"/>
            <p:cNvGrpSpPr/>
            <p:nvPr/>
          </p:nvGrpSpPr>
          <p:grpSpPr>
            <a:xfrm>
              <a:off x="4490085" y="2190750"/>
              <a:ext cx="5244992" cy="575183"/>
              <a:chOff x="4490085" y="2190750"/>
              <a:chExt cx="5244992" cy="575183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4490085" y="2241550"/>
                <a:ext cx="94213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120" b="1" spc="150" dirty="0">
                    <a:solidFill>
                      <a:srgbClr val="8A5A24"/>
                    </a:solidFill>
                    <a:latin typeface="+mn-lt"/>
                    <a:ea typeface="+mn-ea"/>
                    <a:cs typeface="+mn-cs"/>
                  </a:rPr>
                  <a:t>INBOX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6087999" y="2190750"/>
                <a:ext cx="4661181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One announcement. Nothing more.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089142" y="2501900"/>
                <a:ext cx="4747918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No mailing lists, no repeat posts to the batch.</a:t>
                </a:r>
              </a:p>
            </p:txBody>
          </p:sp>
        </p:grpSp>
        <p:sp>
          <p:nvSpPr>
            <p:cNvPr id="13" name="Line 13"/>
            <p:cNvSpPr/>
            <p:nvPr/>
          </p:nvSpPr>
          <p:spPr>
            <a:xfrm>
              <a:off x="4495800" y="2990850"/>
              <a:ext cx="7086600" cy="9525"/>
            </a:xfrm>
            <a:custGeom>
              <a:avLst/>
              <a:gdLst/>
              <a:ahLst/>
              <a:cxnLst/>
              <a:rect l="l" t="t" r="r" b="b"/>
              <a:pathLst>
                <a:path w="7086600" h="9525">
                  <a:moveTo>
                    <a:pt x="0" y="0"/>
                  </a:moveTo>
                  <a:lnTo>
                    <a:pt x="70866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17" name="reason-2"/>
            <p:cNvGrpSpPr/>
            <p:nvPr/>
          </p:nvGrpSpPr>
          <p:grpSpPr>
            <a:xfrm>
              <a:off x="4490085" y="3200400"/>
              <a:ext cx="5680454" cy="575183"/>
              <a:chOff x="4490085" y="3200400"/>
              <a:chExt cx="5680454" cy="575183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4490085" y="3251200"/>
                <a:ext cx="8379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120" b="1" spc="150" dirty="0">
                    <a:solidFill>
                      <a:srgbClr val="8A5A24"/>
                    </a:solidFill>
                    <a:latin typeface="+mn-lt"/>
                    <a:ea typeface="+mn-ea"/>
                    <a:cs typeface="+mn-cs"/>
                  </a:rPr>
                  <a:t>COST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087999" y="3200400"/>
                <a:ext cx="2257417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The pilot is free.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089142" y="3511550"/>
                <a:ext cx="529224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No fee to the club and none to the 5 pilot students.</a:t>
                </a:r>
              </a:p>
            </p:txBody>
          </p:sp>
        </p:grpSp>
        <p:sp>
          <p:nvSpPr>
            <p:cNvPr id="18" name="Line 18"/>
            <p:cNvSpPr/>
            <p:nvPr/>
          </p:nvSpPr>
          <p:spPr>
            <a:xfrm>
              <a:off x="4495800" y="4000500"/>
              <a:ext cx="7086600" cy="9525"/>
            </a:xfrm>
            <a:custGeom>
              <a:avLst/>
              <a:gdLst/>
              <a:ahLst/>
              <a:cxnLst/>
              <a:rect l="l" t="t" r="r" b="b"/>
              <a:pathLst>
                <a:path w="7086600" h="9525">
                  <a:moveTo>
                    <a:pt x="0" y="0"/>
                  </a:moveTo>
                  <a:lnTo>
                    <a:pt x="70866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22" name="reason-3"/>
            <p:cNvGrpSpPr/>
            <p:nvPr/>
          </p:nvGrpSpPr>
          <p:grpSpPr>
            <a:xfrm>
              <a:off x="4490085" y="4210050"/>
              <a:ext cx="5387075" cy="575183"/>
              <a:chOff x="4490085" y="4210050"/>
              <a:chExt cx="5387075" cy="575183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4490085" y="4260850"/>
                <a:ext cx="134929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120" b="1" spc="150" dirty="0">
                    <a:solidFill>
                      <a:srgbClr val="8A5A24"/>
                    </a:solidFill>
                    <a:latin typeface="+mn-lt"/>
                    <a:ea typeface="+mn-ea"/>
                    <a:cs typeface="+mn-cs"/>
                  </a:rPr>
                  <a:t>CONTROL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087999" y="4210050"/>
                <a:ext cx="4519825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Students approve every message.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089142" y="4521200"/>
                <a:ext cx="492552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Sent from their own account, at a human pace.</a:t>
                </a:r>
              </a:p>
            </p:txBody>
          </p:sp>
        </p:grpSp>
        <p:sp>
          <p:nvSpPr>
            <p:cNvPr id="23" name="Line 23"/>
            <p:cNvSpPr/>
            <p:nvPr/>
          </p:nvSpPr>
          <p:spPr>
            <a:xfrm>
              <a:off x="4495800" y="5010150"/>
              <a:ext cx="7086600" cy="9525"/>
            </a:xfrm>
            <a:custGeom>
              <a:avLst/>
              <a:gdLst/>
              <a:ahLst/>
              <a:cxnLst/>
              <a:rect l="l" t="t" r="r" b="b"/>
              <a:pathLst>
                <a:path w="7086600" h="9525">
                  <a:moveTo>
                    <a:pt x="0" y="0"/>
                  </a:moveTo>
                  <a:lnTo>
                    <a:pt x="7086600" y="0"/>
                  </a:lnTo>
                </a:path>
              </a:pathLst>
            </a:custGeom>
            <a:noFill/>
            <a:ln w="9525">
              <a:solidFill>
                <a:srgbClr val="D9CFBF"/>
              </a:solidFill>
            </a:ln>
          </p:spPr>
        </p:sp>
        <p:grpSp>
          <p:nvGrpSpPr>
            <p:cNvPr id="27" name="reason-4"/>
            <p:cNvGrpSpPr/>
            <p:nvPr/>
          </p:nvGrpSpPr>
          <p:grpSpPr>
            <a:xfrm>
              <a:off x="4490085" y="5219700"/>
              <a:ext cx="5810710" cy="575183"/>
              <a:chOff x="4490085" y="5219700"/>
              <a:chExt cx="5810710" cy="575183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4490085" y="5270500"/>
                <a:ext cx="140954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120" b="1" spc="150" dirty="0">
                    <a:solidFill>
                      <a:srgbClr val="8A5A24"/>
                    </a:solidFill>
                    <a:latin typeface="+mn-lt"/>
                    <a:ea typeface="+mn-ea"/>
                    <a:cs typeface="+mn-cs"/>
                  </a:rPr>
                  <a:t>EVIDENCE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087999" y="5219700"/>
                <a:ext cx="3336741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580" b="1" dirty="0">
                    <a:solidFill>
                      <a:srgbClr val="1D2624"/>
                    </a:solidFill>
                    <a:latin typeface="+mn-lt"/>
                    <a:ea typeface="+mn-ea"/>
                    <a:cs typeface="+mn-cs"/>
                  </a:rPr>
                  <a:t>You choose who tests it.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089142" y="5530850"/>
                <a:ext cx="545506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" sz="1350" dirty="0">
                    <a:solidFill>
                      <a:srgbClr val="5C6461"/>
                    </a:solidFill>
                    <a:latin typeface="+mn-lt"/>
                    <a:ea typeface="+mn-ea"/>
                    <a:cs typeface="+mn-cs"/>
                  </a:rPr>
                  <a:t>The club picks the pilot group and sees every result.</a:t>
                </a:r>
              </a:p>
            </p:txBody>
          </p:sp>
        </p:grpSp>
      </p:grpSp>
      <p:grpSp>
        <p:nvGrpSpPr>
          <p:cNvPr id="33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29" name="TextBox 29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8181077" cy="1118870"/>
            <a:chOff x="594360" y="565150"/>
            <a:chExt cx="8181077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4053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09 HOW WE MEASURE SUCCESS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1041684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Success is counted in interviews, not messages.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8335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No promised numbers before the pilot. We report what actually happens.</a:t>
              </a:r>
            </a:p>
          </p:txBody>
        </p:sp>
      </p:grpSp>
      <p:grpSp>
        <p:nvGrpSpPr>
          <p:cNvPr id="12" name="metric"/>
          <p:cNvGrpSpPr/>
          <p:nvPr/>
        </p:nvGrpSpPr>
        <p:grpSpPr>
          <a:xfrm>
            <a:off x="609600" y="1943100"/>
            <a:ext cx="5905500" cy="4171950"/>
            <a:chOff x="609600" y="1943100"/>
            <a:chExt cx="5905500" cy="4171950"/>
          </a:xfrm>
        </p:grpSpPr>
        <p:sp>
          <p:nvSpPr>
            <p:cNvPr id="6" name="Rectangle 6"/>
            <p:cNvSpPr/>
            <p:nvPr/>
          </p:nvSpPr>
          <p:spPr>
            <a:xfrm>
              <a:off x="609600" y="1943100"/>
              <a:ext cx="5905500" cy="4171950"/>
            </a:xfrm>
            <a:prstGeom prst="roundRect">
              <a:avLst>
                <a:gd name="adj" fmla="val 1370"/>
              </a:avLst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84885" y="2298700"/>
              <a:ext cx="2365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C9A063"/>
                  </a:solidFill>
                  <a:latin typeface="+mn-lt"/>
                  <a:ea typeface="+mn-ea"/>
                  <a:cs typeface="+mn-cs"/>
                </a:rPr>
                <a:t>THE ONE NUMBER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73074" y="2844800"/>
              <a:ext cx="4887577" cy="124625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4500"/>
                </a:lnSpc>
              </a:pPr>
              <a:r>
                <a:rPr lang="en" sz="34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Interviews per</a:t>
              </a:r>
              <a:br>
                <a:rPr lang="en" sz="34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</a:br>
              <a:r>
                <a:rPr lang="en" sz="3450" dirty="0">
                  <a:solidFill>
                    <a:srgbClr val="E9C98C"/>
                  </a:solidFill>
                  <a:latin typeface="+mj-lt"/>
                  <a:ea typeface="+mj-ea"/>
                  <a:cs typeface="+mj-cs"/>
                </a:rPr>
                <a:t>100 people contacted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90600" y="430530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2F5A50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3361" y="4559300"/>
              <a:ext cx="5070835" cy="54540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42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Interviews secured, divided by people contacted,</a:t>
              </a:r>
              <a:br>
                <a:rPr lang="en" sz="142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</a:br>
              <a:r>
                <a:rPr lang="en" sz="142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times 100. Simple to check, hard to inflate.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504" y="5562600"/>
              <a:ext cx="44996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C9A063"/>
                  </a:solidFill>
                  <a:latin typeface="+mn-lt"/>
                  <a:ea typeface="+mn-ea"/>
                  <a:cs typeface="+mn-cs"/>
                </a:rPr>
                <a:t>Replies and referrals are tracked along the way.</a:t>
              </a:r>
            </a:p>
          </p:txBody>
        </p:sp>
      </p:grpSp>
      <p:grpSp>
        <p:nvGrpSpPr>
          <p:cNvPr id="17" name="per-student"/>
          <p:cNvGrpSpPr/>
          <p:nvPr/>
        </p:nvGrpSpPr>
        <p:grpSpPr>
          <a:xfrm>
            <a:off x="6896100" y="1943100"/>
            <a:ext cx="4686300" cy="1924050"/>
            <a:chOff x="6896100" y="1943100"/>
            <a:chExt cx="4686300" cy="1924050"/>
          </a:xfrm>
        </p:grpSpPr>
        <p:sp>
          <p:nvSpPr>
            <p:cNvPr id="13" name="Rectangle 13"/>
            <p:cNvSpPr/>
            <p:nvPr/>
          </p:nvSpPr>
          <p:spPr>
            <a:xfrm>
              <a:off x="6896100" y="1943100"/>
              <a:ext cx="4686300" cy="1924050"/>
            </a:xfrm>
            <a:prstGeom prst="roundRect">
              <a:avLst>
                <a:gd name="adj" fmla="val 2970"/>
              </a:avLst>
            </a:prstGeom>
            <a:solidFill>
              <a:srgbClr val="FFFFFF"/>
            </a:solidFill>
            <a:ln w="9525">
              <a:solidFill>
                <a:srgbClr val="D9CFBF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33285" y="2260600"/>
              <a:ext cx="18766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PER STUDENT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29856" y="2565400"/>
              <a:ext cx="3801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Each student sees their own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32142" y="3009900"/>
              <a:ext cx="39365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People contacted, replies, referrals and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interviews, in one private summary.</a:t>
              </a:r>
            </a:p>
          </p:txBody>
        </p:sp>
      </p:grpSp>
      <p:grpSp>
        <p:nvGrpSpPr>
          <p:cNvPr id="22" name="aggregate"/>
          <p:cNvGrpSpPr/>
          <p:nvPr/>
        </p:nvGrpSpPr>
        <p:grpSpPr>
          <a:xfrm>
            <a:off x="6896100" y="4191000"/>
            <a:ext cx="4686300" cy="1924050"/>
            <a:chOff x="6896100" y="4191000"/>
            <a:chExt cx="4686300" cy="1924050"/>
          </a:xfrm>
        </p:grpSpPr>
        <p:sp>
          <p:nvSpPr>
            <p:cNvPr id="18" name="Rectangle 18"/>
            <p:cNvSpPr/>
            <p:nvPr/>
          </p:nvSpPr>
          <p:spPr>
            <a:xfrm>
              <a:off x="6896100" y="4191000"/>
              <a:ext cx="4686300" cy="1924050"/>
            </a:xfrm>
            <a:prstGeom prst="roundRect">
              <a:avLst>
                <a:gd name="adj" fmla="val 2970"/>
              </a:avLst>
            </a:prstGeom>
            <a:solidFill>
              <a:srgbClr val="FFFFFF"/>
            </a:solidFill>
            <a:ln w="9525">
              <a:solidFill>
                <a:srgbClr val="D9CFB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233285" y="4508500"/>
              <a:ext cx="20360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IN AGGREGATE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29856" y="4813300"/>
              <a:ext cx="398835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The club sees the whole pilot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32142" y="5257800"/>
              <a:ext cx="37221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One combined number for the group,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ready to share with the batch.</a:t>
              </a:r>
            </a:p>
          </p:txBody>
        </p:sp>
      </p:grpSp>
      <p:grpSp>
        <p:nvGrpSpPr>
          <p:cNvPr id="27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23" name="TextBox 23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4360" y="565150"/>
            <a:ext cx="7422213" cy="1118870"/>
            <a:chOff x="594360" y="565150"/>
            <a:chExt cx="7422213" cy="1118870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65150"/>
              <a:ext cx="18148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10 THE PILOT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850900"/>
              <a:ext cx="946826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30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A three-week pilot, from kickoff to results.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1980" y="1390650"/>
              <a:ext cx="57537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Five students chosen by the club. Free of charge.</a:t>
              </a:r>
            </a:p>
          </p:txBody>
        </p:sp>
      </p:grpSp>
      <p:grpSp>
        <p:nvGrpSpPr>
          <p:cNvPr id="12" name="week-0"/>
          <p:cNvGrpSpPr/>
          <p:nvPr/>
        </p:nvGrpSpPr>
        <p:grpSpPr>
          <a:xfrm>
            <a:off x="600456" y="2019300"/>
            <a:ext cx="2714244" cy="3073908"/>
            <a:chOff x="600456" y="2019300"/>
            <a:chExt cx="2714244" cy="3073908"/>
          </a:xfrm>
        </p:grpSpPr>
        <p:sp>
          <p:nvSpPr>
            <p:cNvPr id="6" name="Freeform 6"/>
            <p:cNvSpPr/>
            <p:nvPr/>
          </p:nvSpPr>
          <p:spPr>
            <a:xfrm>
              <a:off x="609600" y="2019300"/>
              <a:ext cx="2705100" cy="723900"/>
            </a:xfrm>
            <a:prstGeom prst="homePlate">
              <a:avLst/>
            </a:prstGeom>
            <a:solidFill>
              <a:srgbClr val="163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9056" y="2241550"/>
              <a:ext cx="12523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Week 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0456" y="2965450"/>
              <a:ext cx="1239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Kickoff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2742" y="3333750"/>
              <a:ext cx="29714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Each student sets target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companies and roles with us.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4266" y="4349750"/>
              <a:ext cx="17180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05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CLUB'S PART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2742" y="4572000"/>
              <a:ext cx="2662423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Choose the 5 students.</a:t>
              </a:r>
              <a:br>
                <a:rPr lang="en" sz="135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Send one announcement.</a:t>
              </a:r>
            </a:p>
          </p:txBody>
        </p:sp>
      </p:grpSp>
      <p:grpSp>
        <p:nvGrpSpPr>
          <p:cNvPr id="19" name="week-1-2"/>
          <p:cNvGrpSpPr/>
          <p:nvPr/>
        </p:nvGrpSpPr>
        <p:grpSpPr>
          <a:xfrm>
            <a:off x="3390900" y="2019300"/>
            <a:ext cx="5410200" cy="2842133"/>
            <a:chOff x="3390900" y="2019300"/>
            <a:chExt cx="5410200" cy="2842133"/>
          </a:xfrm>
        </p:grpSpPr>
        <p:sp>
          <p:nvSpPr>
            <p:cNvPr id="13" name="Freeform 13"/>
            <p:cNvSpPr/>
            <p:nvPr/>
          </p:nvSpPr>
          <p:spPr>
            <a:xfrm>
              <a:off x="3390900" y="2019300"/>
              <a:ext cx="5410200" cy="723900"/>
            </a:xfrm>
            <a:prstGeom prst="homePlate">
              <a:avLst/>
            </a:prstGeom>
            <a:solidFill>
              <a:srgbClr val="2C514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10356" y="2241550"/>
              <a:ext cx="19444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Weeks 1 to 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10356" y="2965450"/>
              <a:ext cx="14175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Outreach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2642" y="3333750"/>
              <a:ext cx="572362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We find the people and draft each first message. Students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approve and send. We guide every reply as it comes in.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14166" y="4349750"/>
              <a:ext cx="17180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05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CLUB'S PART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2642" y="4597400"/>
              <a:ext cx="44734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35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Nothing. Students and Knock do the work.</a:t>
              </a:r>
            </a:p>
          </p:txBody>
        </p:sp>
      </p:grpSp>
      <p:grpSp>
        <p:nvGrpSpPr>
          <p:cNvPr id="26" name="week-3"/>
          <p:cNvGrpSpPr/>
          <p:nvPr/>
        </p:nvGrpSpPr>
        <p:grpSpPr>
          <a:xfrm>
            <a:off x="8877300" y="2019300"/>
            <a:ext cx="2705100" cy="3073908"/>
            <a:chOff x="8877300" y="2019300"/>
            <a:chExt cx="2705100" cy="3073908"/>
          </a:xfrm>
        </p:grpSpPr>
        <p:sp>
          <p:nvSpPr>
            <p:cNvPr id="20" name="Freeform 20"/>
            <p:cNvSpPr/>
            <p:nvPr/>
          </p:nvSpPr>
          <p:spPr>
            <a:xfrm>
              <a:off x="8877300" y="2019300"/>
              <a:ext cx="2705100" cy="723900"/>
            </a:xfrm>
            <a:prstGeom prst="homePlate">
              <a:avLst/>
            </a:prstGeom>
            <a:solidFill>
              <a:srgbClr val="A8743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96756" y="2241550"/>
              <a:ext cx="12523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Week 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096756" y="2965450"/>
              <a:ext cx="21377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800" dirty="0">
                  <a:solidFill>
                    <a:srgbClr val="1D2624"/>
                  </a:solidFill>
                  <a:latin typeface="+mj-lt"/>
                  <a:ea typeface="+mj-ea"/>
                  <a:cs typeface="+mj-cs"/>
                </a:rPr>
                <a:t>Results review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99042" y="3333750"/>
              <a:ext cx="269757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Per-student and pilot-wide</a:t>
              </a:r>
              <a:b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results, shared openly.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100566" y="4349750"/>
              <a:ext cx="17180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050" b="1" spc="150" dirty="0">
                  <a:solidFill>
                    <a:srgbClr val="8A5A24"/>
                  </a:solidFill>
                  <a:latin typeface="+mn-lt"/>
                  <a:ea typeface="+mn-ea"/>
                  <a:cs typeface="+mn-cs"/>
                </a:rPr>
                <a:t>CLUB'S PART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99042" y="4572000"/>
              <a:ext cx="24236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" sz="135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One feedback call.</a:t>
              </a:r>
              <a:br>
                <a:rPr lang="en" sz="135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</a:br>
              <a:r>
                <a:rPr lang="en" sz="1350" dirty="0">
                  <a:solidFill>
                    <a:srgbClr val="1D2624"/>
                  </a:solidFill>
                  <a:latin typeface="+mn-lt"/>
                  <a:ea typeface="+mn-ea"/>
                  <a:cs typeface="+mn-cs"/>
                </a:rPr>
                <a:t>Then decide what next.</a:t>
              </a:r>
            </a:p>
          </p:txBody>
        </p:sp>
      </p:grpSp>
      <p:sp>
        <p:nvSpPr>
          <p:cNvPr id="27" name="lane-rule"/>
          <p:cNvSpPr/>
          <p:nvPr/>
        </p:nvSpPr>
        <p:spPr>
          <a:xfrm>
            <a:off x="609600" y="4095750"/>
            <a:ext cx="10972800" cy="9525"/>
          </a:xfrm>
          <a:prstGeom prst="rect">
            <a:avLst/>
          </a:prstGeom>
          <a:solidFill>
            <a:srgbClr val="D9CFBF"/>
          </a:solidFill>
          <a:ln>
            <a:noFill/>
          </a:ln>
        </p:spPr>
      </p:sp>
      <p:grpSp>
        <p:nvGrpSpPr>
          <p:cNvPr id="32" name="footer"/>
          <p:cNvGrpSpPr/>
          <p:nvPr/>
        </p:nvGrpSpPr>
        <p:grpSpPr>
          <a:xfrm>
            <a:off x="603123" y="6419850"/>
            <a:ext cx="10985754" cy="250317"/>
            <a:chOff x="603123" y="6419850"/>
            <a:chExt cx="10985754" cy="250317"/>
          </a:xfrm>
        </p:grpSpPr>
        <p:sp>
          <p:nvSpPr>
            <p:cNvPr id="28" name="TextBox 28"/>
            <p:cNvSpPr txBox="1"/>
            <p:nvPr/>
          </p:nvSpPr>
          <p:spPr>
            <a:xfrm>
              <a:off x="603123" y="6419850"/>
              <a:ext cx="839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95197" y="6435725"/>
              <a:ext cx="270720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980" dirty="0">
                  <a:solidFill>
                    <a:srgbClr val="5C6461"/>
                  </a:solidFill>
                  <a:latin typeface="+mn-lt"/>
                  <a:ea typeface="+mn-ea"/>
                  <a:cs typeface="+mn-cs"/>
                </a:rPr>
                <a:t>Partner proposal for &lt;Club name&gt;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11068050" y="65151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rgbClr val="A8743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1154601" y="6419850"/>
              <a:ext cx="4342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" sz="1280" dirty="0">
                  <a:solidFill>
                    <a:srgbClr val="16302B"/>
                  </a:solidFill>
                  <a:latin typeface="+mj-lt"/>
                  <a:ea typeface="+mj-ea"/>
                  <a:cs typeface="+mj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close-message"/>
          <p:cNvGrpSpPr/>
          <p:nvPr/>
        </p:nvGrpSpPr>
        <p:grpSpPr>
          <a:xfrm>
            <a:off x="590550" y="1441450"/>
            <a:ext cx="4744864" cy="2957957"/>
            <a:chOff x="590550" y="1441450"/>
            <a:chExt cx="4744864" cy="2957957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1441450"/>
              <a:ext cx="2244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120" b="1" spc="225" dirty="0">
                  <a:solidFill>
                    <a:srgbClr val="C9A063"/>
                  </a:solidFill>
                  <a:latin typeface="+mn-lt"/>
                  <a:ea typeface="+mn-ea"/>
                  <a:cs typeface="+mn-cs"/>
                </a:rPr>
                <a:t>THE NEXT STEP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609600" y="1771650"/>
              <a:ext cx="533400" cy="28575"/>
            </a:xfrm>
            <a:prstGeom prst="rect">
              <a:avLst/>
            </a:prstGeom>
            <a:solidFill>
              <a:srgbClr val="C9A063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90550" y="2108200"/>
              <a:ext cx="4916410" cy="15335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5400"/>
                </a:lnSpc>
              </a:pPr>
              <a:r>
                <a:rPr lang="en" sz="43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Pick 5 students</a:t>
              </a:r>
              <a:br>
                <a:rPr lang="en" sz="43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</a:br>
              <a:r>
                <a:rPr lang="en" sz="4350" dirty="0">
                  <a:solidFill>
                    <a:srgbClr val="F6F2EA"/>
                  </a:solidFill>
                  <a:latin typeface="+mj-lt"/>
                  <a:ea typeface="+mj-ea"/>
                  <a:cs typeface="+mj-cs"/>
                </a:rPr>
                <a:t>for the free pilot.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1218" y="3771900"/>
              <a:ext cx="6108245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" sz="165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We start the week you choose. You see the results</a:t>
              </a:r>
              <a:br>
                <a:rPr lang="en" sz="165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three weeks later, and decide from there.</a:t>
              </a:r>
            </a:p>
          </p:txBody>
        </p:sp>
      </p:grpSp>
      <p:grpSp>
        <p:nvGrpSpPr>
          <p:cNvPr id="10" name="close-contact"/>
          <p:cNvGrpSpPr/>
          <p:nvPr/>
        </p:nvGrpSpPr>
        <p:grpSpPr>
          <a:xfrm>
            <a:off x="598170" y="5219700"/>
            <a:ext cx="6450330" cy="898017"/>
            <a:chOff x="598170" y="5219700"/>
            <a:chExt cx="6450330" cy="898017"/>
          </a:xfrm>
        </p:grpSpPr>
        <p:sp>
          <p:nvSpPr>
            <p:cNvPr id="7" name="Line 7"/>
            <p:cNvSpPr/>
            <p:nvPr/>
          </p:nvSpPr>
          <p:spPr>
            <a:xfrm>
              <a:off x="609600" y="5219700"/>
              <a:ext cx="6438900" cy="9525"/>
            </a:xfrm>
            <a:custGeom>
              <a:avLst/>
              <a:gdLst/>
              <a:ahLst/>
              <a:cxnLst/>
              <a:rect l="l" t="t" r="r" b="b"/>
              <a:pathLst>
                <a:path w="6438900" h="9525">
                  <a:moveTo>
                    <a:pt x="0" y="0"/>
                  </a:moveTo>
                  <a:lnTo>
                    <a:pt x="6438900" y="0"/>
                  </a:lnTo>
                </a:path>
              </a:pathLst>
            </a:custGeom>
            <a:noFill/>
            <a:ln w="9525">
              <a:solidFill>
                <a:srgbClr val="2F5A50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8170" y="5397500"/>
              <a:ext cx="359729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2250" dirty="0">
                  <a:solidFill>
                    <a:srgbClr val="E9C98C"/>
                  </a:solidFill>
                  <a:latin typeface="+mj-lt"/>
                  <a:ea typeface="+mj-ea"/>
                  <a:cs typeface="+mj-cs"/>
                </a:rPr>
                <a:t>hello@knock.careers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3123" y="5867400"/>
              <a:ext cx="322623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" sz="1280" dirty="0">
                  <a:solidFill>
                    <a:srgbClr val="C8CFC9"/>
                  </a:solidFill>
                  <a:latin typeface="+mn-lt"/>
                  <a:ea typeface="+mn-ea"/>
                  <a:cs typeface="+mn-cs"/>
                </a:rPr>
                <a:t>Knock. Knock on the right door.</a:t>
              </a:r>
            </a:p>
          </p:txBody>
        </p:sp>
      </p:grpSp>
      <p:grpSp>
        <p:nvGrpSpPr>
          <p:cNvPr id="16" name="open-door"/>
          <p:cNvGrpSpPr/>
          <p:nvPr/>
        </p:nvGrpSpPr>
        <p:grpSpPr>
          <a:xfrm>
            <a:off x="8058150" y="1066800"/>
            <a:ext cx="3562350" cy="5295900"/>
            <a:chOff x="8058150" y="1066800"/>
            <a:chExt cx="3562350" cy="5295900"/>
          </a:xfrm>
        </p:grpSpPr>
        <p:sp>
          <p:nvSpPr>
            <p:cNvPr id="11" name="Freeform 11"/>
            <p:cNvSpPr/>
            <p:nvPr/>
          </p:nvSpPr>
          <p:spPr>
            <a:xfrm>
              <a:off x="8058150" y="5829300"/>
              <a:ext cx="3562350" cy="533400"/>
            </a:xfrm>
            <a:custGeom>
              <a:avLst/>
              <a:gdLst/>
              <a:ahLst/>
              <a:cxnLst/>
              <a:rect l="l" t="t" r="r" b="b"/>
              <a:pathLst>
                <a:path w="3562350" h="533400">
                  <a:moveTo>
                    <a:pt x="381000" y="0"/>
                  </a:moveTo>
                  <a:lnTo>
                    <a:pt x="2743200" y="0"/>
                  </a:lnTo>
                  <a:lnTo>
                    <a:pt x="3562350" y="533400"/>
                  </a:lnTo>
                  <a:lnTo>
                    <a:pt x="0" y="533400"/>
                  </a:lnTo>
                  <a:close/>
                </a:path>
              </a:pathLst>
            </a:custGeom>
            <a:gradFill>
              <a:gsLst>
                <a:gs pos="0">
                  <a:srgbClr val="E9C98C">
                    <a:alpha val="45000"/>
                  </a:srgbClr>
                </a:gs>
                <a:gs pos="100000">
                  <a:srgbClr val="E9C98C">
                    <a:alpha val="0"/>
                  </a:srgbClr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8439150" y="1238250"/>
              <a:ext cx="2362200" cy="4591050"/>
            </a:xfrm>
            <a:custGeom>
              <a:avLst/>
              <a:gdLst/>
              <a:ahLst/>
              <a:cxnLst/>
              <a:rect l="l" t="t" r="r" b="b"/>
              <a:pathLst>
                <a:path w="2362200" h="4591050">
                  <a:moveTo>
                    <a:pt x="0" y="1181100"/>
                  </a:moveTo>
                  <a:cubicBezTo>
                    <a:pt x="0" y="528796"/>
                    <a:pt x="528796" y="0"/>
                    <a:pt x="1181100" y="0"/>
                  </a:cubicBezTo>
                  <a:cubicBezTo>
                    <a:pt x="1833404" y="0"/>
                    <a:pt x="2362200" y="528796"/>
                    <a:pt x="2362200" y="1181100"/>
                  </a:cubicBezTo>
                  <a:lnTo>
                    <a:pt x="2362200" y="4591050"/>
                  </a:lnTo>
                  <a:lnTo>
                    <a:pt x="0" y="4591050"/>
                  </a:lnTo>
                  <a:close/>
                </a:path>
              </a:pathLst>
            </a:custGeom>
            <a:gradFill>
              <a:gsLst>
                <a:gs pos="0">
                  <a:srgbClr val="F3DDB0"/>
                </a:gs>
                <a:gs pos="100000">
                  <a:srgbClr val="C9A063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8267700" y="1066800"/>
              <a:ext cx="2705100" cy="4762500"/>
            </a:xfrm>
            <a:prstGeom prst="round2SameRect">
              <a:avLst>
                <a:gd name="adj1" fmla="val 50000"/>
                <a:gd name="adj2" fmla="val 0"/>
              </a:avLst>
            </a:prstGeom>
            <a:noFill/>
            <a:ln w="28575">
              <a:solidFill>
                <a:srgbClr val="C9A063"/>
              </a:solidFill>
            </a:ln>
          </p:spPr>
        </p:sp>
        <p:sp>
          <p:nvSpPr>
            <p:cNvPr id="14" name="Polygon 14"/>
            <p:cNvSpPr/>
            <p:nvPr/>
          </p:nvSpPr>
          <p:spPr>
            <a:xfrm>
              <a:off x="8439150" y="2152650"/>
              <a:ext cx="666750" cy="3981450"/>
            </a:xfrm>
            <a:custGeom>
              <a:avLst/>
              <a:gdLst/>
              <a:ahLst/>
              <a:cxnLst/>
              <a:rect l="l" t="t" r="r" b="b"/>
              <a:pathLst>
                <a:path w="666750" h="3981450">
                  <a:moveTo>
                    <a:pt x="0" y="266700"/>
                  </a:moveTo>
                  <a:lnTo>
                    <a:pt x="666750" y="0"/>
                  </a:lnTo>
                  <a:lnTo>
                    <a:pt x="666750" y="3981450"/>
                  </a:lnTo>
                  <a:lnTo>
                    <a:pt x="0" y="3676650"/>
                  </a:lnTo>
                  <a:close/>
                </a:path>
              </a:pathLst>
            </a:custGeom>
            <a:solidFill>
              <a:srgbClr val="21443C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8896350" y="4133850"/>
              <a:ext cx="114300" cy="114300"/>
            </a:xfrm>
            <a:prstGeom prst="ellipse">
              <a:avLst/>
            </a:prstGeom>
            <a:solidFill>
              <a:srgbClr val="C9A063"/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knock">
  <a:themeElements>
    <a:clrScheme name="knock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nock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no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2026-10-04T19:27:39Z</dcterms:created>
  <dcterms:modified xsi:type="dcterms:W3CDTF">2026-10-04T19:27:39Z</dcterms:modified>
  <cp:category/>
  <cp:contentStatus/>
</cp:coreProperties>
</file>