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ccdeebb-2edb-d276-1c4a-979195cab4a7}">
          <p14:sldIdLst>
            <p14:sldId id="256"/>
          </p14:sldIdLst>
        </p14:section>
        <p14:section name="The problem" id="{c0266267-2760-cd51-19ae-ff12c300e2ec}">
          <p14:sldIdLst>
            <p14:sldId id="257"/>
            <p14:sldId id="258"/>
          </p14:sldIdLst>
        </p14:section>
        <p14:section name="What Knock does" id="{61a43181-7a05-c244-04d8-7d264c19849a}">
          <p14:sldIdLst>
            <p14:sldId id="259"/>
            <p14:sldId id="260"/>
            <p14:sldId id="261"/>
          </p14:sldIdLst>
        </p14:section>
        <p14:section name="Trust and packages" id="{e4a15bf3-4403-c725-f3c6-d9d7733403ce}">
          <p14:sldIdLst>
            <p14:sldId id="262"/>
            <p14:sldId id="263"/>
          </p14:sldIdLst>
        </p14:section>
        <p14:section name="The partnership" id="{591f6a3b-4424-17ed-528e-ed623601757a}">
          <p14:sldIdLst>
            <p14:sldId id="264"/>
            <p14:sldId id="265"/>
            <p14:sldId id="266"/>
          </p14:sldIdLst>
        </p14:section>
        <p14:section name="Next step" id="{f3a3bb59-0798-cb9d-256e-ab49bd501f9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This is a partner proposal: we want to offer Knock to your batch at a founding-member price, starting with a free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your batch's off-campus and lateral searches run through portals. The effort is high and the replies are rare. Hiring still starts with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Referrals and warm conversations convert far better than cold applications. We are not quoting a number; everyone in the room has seen it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 stays in control. We do the research, the writing and the follow-up thinking. They approve and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scraped list. A small set of people chosen per company, each with a reason to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message aloud. It sounds like a person because a person wrote it, for one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the committee's real worry. Nothing here looks or behaves like spam.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means hand-picked contacts researched and messaged. Club members get these founding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all we ask. The club keeps full control of how Knock is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not quote conversion rates we do not have yet. This is the metric we will report,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weeks, five students, no cost to the club. At the end you decide, with data, whether to announce Knock to the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five names. Leave the email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68096" y="46817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  |  Partner proposal for &lt;Club name&gt;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orstep"/>
          <p:cNvSpPr/>
          <p:nvPr/>
        </p:nvSpPr>
        <p:spPr>
          <a:xfrm>
            <a:off x="5669280" y="4370832"/>
            <a:ext cx="2377440" cy="128016"/>
          </a:xfrm>
          <a:prstGeom prst="roundRect">
            <a:avLst>
              <a:gd name="adj" fmla="val 28571"/>
            </a:avLst>
          </a:prstGeom>
          <a:solidFill>
            <a:schemeClr val="accent6"/>
          </a:solidFill>
          <a:ln/>
        </p:spPr>
      </p:sp>
      <p:sp>
        <p:nvSpPr>
          <p:cNvPr id="3" name="door frame arch"/>
          <p:cNvSpPr/>
          <p:nvPr/>
        </p:nvSpPr>
        <p:spPr>
          <a:xfrm rot="16200000">
            <a:off x="6414516" y="361188"/>
            <a:ext cx="886968" cy="1773936"/>
          </a:xfrm>
          <a:prstGeom prst="flowChartDelay">
            <a:avLst/>
          </a:prstGeom>
          <a:solidFill>
            <a:schemeClr val="accent1"/>
          </a:solidFill>
          <a:ln/>
        </p:spPr>
      </p:sp>
      <p:sp>
        <p:nvSpPr>
          <p:cNvPr id="4" name="door frame"/>
          <p:cNvSpPr/>
          <p:nvPr/>
        </p:nvSpPr>
        <p:spPr>
          <a:xfrm>
            <a:off x="5971032" y="1682496"/>
            <a:ext cx="1773936" cy="2688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door arch"/>
          <p:cNvSpPr/>
          <p:nvPr/>
        </p:nvSpPr>
        <p:spPr>
          <a:xfrm rot="16200000">
            <a:off x="6469380" y="525780"/>
            <a:ext cx="777240" cy="1554480"/>
          </a:xfrm>
          <a:prstGeom prst="flowChartDelay">
            <a:avLst/>
          </a:prstGeom>
          <a:solidFill>
            <a:schemeClr val="accent2"/>
          </a:solidFill>
          <a:ln/>
        </p:spPr>
      </p:sp>
      <p:sp>
        <p:nvSpPr>
          <p:cNvPr id="6" name="door leaf"/>
          <p:cNvSpPr/>
          <p:nvPr/>
        </p:nvSpPr>
        <p:spPr>
          <a:xfrm>
            <a:off x="6080760" y="1682496"/>
            <a:ext cx="1554480" cy="26883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door panel top"/>
          <p:cNvSpPr/>
          <p:nvPr/>
        </p:nvSpPr>
        <p:spPr>
          <a:xfrm>
            <a:off x="6329477" y="1341882"/>
            <a:ext cx="1057046" cy="1232428"/>
          </a:xfrm>
          <a:prstGeom prst="roundRect">
            <a:avLst>
              <a:gd name="adj" fmla="val 4325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8" name="door panel bottom"/>
          <p:cNvSpPr/>
          <p:nvPr/>
        </p:nvSpPr>
        <p:spPr>
          <a:xfrm>
            <a:off x="6329477" y="2760848"/>
            <a:ext cx="1057046" cy="1125261"/>
          </a:xfrm>
          <a:prstGeom prst="roundRect">
            <a:avLst>
              <a:gd name="adj" fmla="val 4325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9" name="knocker mount"/>
          <p:cNvSpPr/>
          <p:nvPr/>
        </p:nvSpPr>
        <p:spPr>
          <a:xfrm>
            <a:off x="6785250" y="1824137"/>
            <a:ext cx="145499" cy="145499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nocker ring"/>
          <p:cNvSpPr/>
          <p:nvPr/>
        </p:nvSpPr>
        <p:spPr>
          <a:xfrm>
            <a:off x="6655918" y="1921136"/>
            <a:ext cx="404165" cy="404165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1" name="door handle"/>
          <p:cNvSpPr/>
          <p:nvPr/>
        </p:nvSpPr>
        <p:spPr>
          <a:xfrm>
            <a:off x="7324344" y="3084820"/>
            <a:ext cx="108814" cy="10881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logo ring"/>
          <p:cNvSpPr/>
          <p:nvPr/>
        </p:nvSpPr>
        <p:spPr>
          <a:xfrm>
            <a:off x="640080" y="685800"/>
            <a:ext cx="310896" cy="31089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658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Knock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08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Knock on the right door.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26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career outbound service for your students and alumni.</a:t>
            </a:r>
            <a:endParaRPr lang="en-US" sz="1600" dirty="0"/>
          </a:p>
        </p:txBody>
      </p:sp>
      <p:sp>
        <p:nvSpPr>
          <p:cNvPr id="16" name="club pill"/>
          <p:cNvSpPr/>
          <p:nvPr/>
        </p:nvSpPr>
        <p:spPr>
          <a:xfrm>
            <a:off x="640080" y="3840480"/>
            <a:ext cx="3566160" cy="457200"/>
          </a:xfrm>
          <a:prstGeom prst="roundRect">
            <a:avLst>
              <a:gd name="adj" fmla="val 50000"/>
            </a:avLst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proposal for &lt;Club name&gt;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Off-campus and lateral searches have become a numbers game nobody wins</a:t>
            </a:r>
            <a:endParaRPr lang="en-US" sz="2800" dirty="0"/>
          </a:p>
        </p:txBody>
      </p:sp>
      <p:sp>
        <p:nvSpPr>
          <p:cNvPr id="3" name="application"/>
          <p:cNvSpPr/>
          <p:nvPr/>
        </p:nvSpPr>
        <p:spPr>
          <a:xfrm>
            <a:off x="548640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" name="application"/>
          <p:cNvSpPr/>
          <p:nvPr/>
        </p:nvSpPr>
        <p:spPr>
          <a:xfrm>
            <a:off x="896112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" name="application"/>
          <p:cNvSpPr/>
          <p:nvPr/>
        </p:nvSpPr>
        <p:spPr>
          <a:xfrm>
            <a:off x="1243584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" name="application"/>
          <p:cNvSpPr/>
          <p:nvPr/>
        </p:nvSpPr>
        <p:spPr>
          <a:xfrm>
            <a:off x="1591056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" name="application"/>
          <p:cNvSpPr/>
          <p:nvPr/>
        </p:nvSpPr>
        <p:spPr>
          <a:xfrm>
            <a:off x="1938528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" name="application"/>
          <p:cNvSpPr/>
          <p:nvPr/>
        </p:nvSpPr>
        <p:spPr>
          <a:xfrm>
            <a:off x="2286000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9" name="application"/>
          <p:cNvSpPr/>
          <p:nvPr/>
        </p:nvSpPr>
        <p:spPr>
          <a:xfrm>
            <a:off x="2633472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0" name="application"/>
          <p:cNvSpPr/>
          <p:nvPr/>
        </p:nvSpPr>
        <p:spPr>
          <a:xfrm>
            <a:off x="2980944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1" name="application"/>
          <p:cNvSpPr/>
          <p:nvPr/>
        </p:nvSpPr>
        <p:spPr>
          <a:xfrm>
            <a:off x="3328416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2" name="application"/>
          <p:cNvSpPr/>
          <p:nvPr/>
        </p:nvSpPr>
        <p:spPr>
          <a:xfrm>
            <a:off x="3675888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3" name="application"/>
          <p:cNvSpPr/>
          <p:nvPr/>
        </p:nvSpPr>
        <p:spPr>
          <a:xfrm>
            <a:off x="4023360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4" name="application"/>
          <p:cNvSpPr/>
          <p:nvPr/>
        </p:nvSpPr>
        <p:spPr>
          <a:xfrm>
            <a:off x="4370832" y="14630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5" name="application"/>
          <p:cNvSpPr/>
          <p:nvPr/>
        </p:nvSpPr>
        <p:spPr>
          <a:xfrm>
            <a:off x="548640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6" name="application"/>
          <p:cNvSpPr/>
          <p:nvPr/>
        </p:nvSpPr>
        <p:spPr>
          <a:xfrm>
            <a:off x="896112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7" name="application"/>
          <p:cNvSpPr/>
          <p:nvPr/>
        </p:nvSpPr>
        <p:spPr>
          <a:xfrm>
            <a:off x="1243584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8" name="application"/>
          <p:cNvSpPr/>
          <p:nvPr/>
        </p:nvSpPr>
        <p:spPr>
          <a:xfrm>
            <a:off x="1591056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9" name="application"/>
          <p:cNvSpPr/>
          <p:nvPr/>
        </p:nvSpPr>
        <p:spPr>
          <a:xfrm>
            <a:off x="1938528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0" name="application"/>
          <p:cNvSpPr/>
          <p:nvPr/>
        </p:nvSpPr>
        <p:spPr>
          <a:xfrm>
            <a:off x="2286000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1" name="application"/>
          <p:cNvSpPr/>
          <p:nvPr/>
        </p:nvSpPr>
        <p:spPr>
          <a:xfrm>
            <a:off x="2633472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2" name="application"/>
          <p:cNvSpPr/>
          <p:nvPr/>
        </p:nvSpPr>
        <p:spPr>
          <a:xfrm>
            <a:off x="2980944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3" name="application"/>
          <p:cNvSpPr/>
          <p:nvPr/>
        </p:nvSpPr>
        <p:spPr>
          <a:xfrm>
            <a:off x="3328416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4" name="application"/>
          <p:cNvSpPr/>
          <p:nvPr/>
        </p:nvSpPr>
        <p:spPr>
          <a:xfrm>
            <a:off x="3675888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5" name="application"/>
          <p:cNvSpPr/>
          <p:nvPr/>
        </p:nvSpPr>
        <p:spPr>
          <a:xfrm>
            <a:off x="4023360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6" name="application"/>
          <p:cNvSpPr/>
          <p:nvPr/>
        </p:nvSpPr>
        <p:spPr>
          <a:xfrm>
            <a:off x="4370832" y="181051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7" name="application"/>
          <p:cNvSpPr/>
          <p:nvPr/>
        </p:nvSpPr>
        <p:spPr>
          <a:xfrm>
            <a:off x="548640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8" name="application"/>
          <p:cNvSpPr/>
          <p:nvPr/>
        </p:nvSpPr>
        <p:spPr>
          <a:xfrm>
            <a:off x="896112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9" name="application"/>
          <p:cNvSpPr/>
          <p:nvPr/>
        </p:nvSpPr>
        <p:spPr>
          <a:xfrm>
            <a:off x="1243584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0" name="application"/>
          <p:cNvSpPr/>
          <p:nvPr/>
        </p:nvSpPr>
        <p:spPr>
          <a:xfrm>
            <a:off x="1591056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1" name="application"/>
          <p:cNvSpPr/>
          <p:nvPr/>
        </p:nvSpPr>
        <p:spPr>
          <a:xfrm>
            <a:off x="1938528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2" name="application"/>
          <p:cNvSpPr/>
          <p:nvPr/>
        </p:nvSpPr>
        <p:spPr>
          <a:xfrm>
            <a:off x="2286000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3" name="application"/>
          <p:cNvSpPr/>
          <p:nvPr/>
        </p:nvSpPr>
        <p:spPr>
          <a:xfrm>
            <a:off x="2633472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4" name="application"/>
          <p:cNvSpPr/>
          <p:nvPr/>
        </p:nvSpPr>
        <p:spPr>
          <a:xfrm>
            <a:off x="2980944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5" name="application"/>
          <p:cNvSpPr/>
          <p:nvPr/>
        </p:nvSpPr>
        <p:spPr>
          <a:xfrm>
            <a:off x="3328416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6" name="reply"/>
          <p:cNvSpPr/>
          <p:nvPr/>
        </p:nvSpPr>
        <p:spPr>
          <a:xfrm>
            <a:off x="3675888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7" name="application"/>
          <p:cNvSpPr/>
          <p:nvPr/>
        </p:nvSpPr>
        <p:spPr>
          <a:xfrm>
            <a:off x="4023360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8" name="application"/>
          <p:cNvSpPr/>
          <p:nvPr/>
        </p:nvSpPr>
        <p:spPr>
          <a:xfrm>
            <a:off x="4370832" y="2157984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39" name="application"/>
          <p:cNvSpPr/>
          <p:nvPr/>
        </p:nvSpPr>
        <p:spPr>
          <a:xfrm>
            <a:off x="548640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0" name="application"/>
          <p:cNvSpPr/>
          <p:nvPr/>
        </p:nvSpPr>
        <p:spPr>
          <a:xfrm>
            <a:off x="896112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1" name="application"/>
          <p:cNvSpPr/>
          <p:nvPr/>
        </p:nvSpPr>
        <p:spPr>
          <a:xfrm>
            <a:off x="1243584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2" name="application"/>
          <p:cNvSpPr/>
          <p:nvPr/>
        </p:nvSpPr>
        <p:spPr>
          <a:xfrm>
            <a:off x="1591056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3" name="application"/>
          <p:cNvSpPr/>
          <p:nvPr/>
        </p:nvSpPr>
        <p:spPr>
          <a:xfrm>
            <a:off x="1938528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4" name="application"/>
          <p:cNvSpPr/>
          <p:nvPr/>
        </p:nvSpPr>
        <p:spPr>
          <a:xfrm>
            <a:off x="2286000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5" name="application"/>
          <p:cNvSpPr/>
          <p:nvPr/>
        </p:nvSpPr>
        <p:spPr>
          <a:xfrm>
            <a:off x="2633472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6" name="application"/>
          <p:cNvSpPr/>
          <p:nvPr/>
        </p:nvSpPr>
        <p:spPr>
          <a:xfrm>
            <a:off x="2980944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7" name="application"/>
          <p:cNvSpPr/>
          <p:nvPr/>
        </p:nvSpPr>
        <p:spPr>
          <a:xfrm>
            <a:off x="3328416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8" name="application"/>
          <p:cNvSpPr/>
          <p:nvPr/>
        </p:nvSpPr>
        <p:spPr>
          <a:xfrm>
            <a:off x="3675888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9" name="application"/>
          <p:cNvSpPr/>
          <p:nvPr/>
        </p:nvSpPr>
        <p:spPr>
          <a:xfrm>
            <a:off x="4023360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0" name="application"/>
          <p:cNvSpPr/>
          <p:nvPr/>
        </p:nvSpPr>
        <p:spPr>
          <a:xfrm>
            <a:off x="4370832" y="2505456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1" name="application"/>
          <p:cNvSpPr/>
          <p:nvPr/>
        </p:nvSpPr>
        <p:spPr>
          <a:xfrm>
            <a:off x="548640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2" name="application"/>
          <p:cNvSpPr/>
          <p:nvPr/>
        </p:nvSpPr>
        <p:spPr>
          <a:xfrm>
            <a:off x="896112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3" name="application"/>
          <p:cNvSpPr/>
          <p:nvPr/>
        </p:nvSpPr>
        <p:spPr>
          <a:xfrm>
            <a:off x="1243584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4" name="application"/>
          <p:cNvSpPr/>
          <p:nvPr/>
        </p:nvSpPr>
        <p:spPr>
          <a:xfrm>
            <a:off x="1591056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5" name="application"/>
          <p:cNvSpPr/>
          <p:nvPr/>
        </p:nvSpPr>
        <p:spPr>
          <a:xfrm>
            <a:off x="1938528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6" name="application"/>
          <p:cNvSpPr/>
          <p:nvPr/>
        </p:nvSpPr>
        <p:spPr>
          <a:xfrm>
            <a:off x="2286000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7" name="application"/>
          <p:cNvSpPr/>
          <p:nvPr/>
        </p:nvSpPr>
        <p:spPr>
          <a:xfrm>
            <a:off x="2633472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8" name="application"/>
          <p:cNvSpPr/>
          <p:nvPr/>
        </p:nvSpPr>
        <p:spPr>
          <a:xfrm>
            <a:off x="2980944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9" name="application"/>
          <p:cNvSpPr/>
          <p:nvPr/>
        </p:nvSpPr>
        <p:spPr>
          <a:xfrm>
            <a:off x="3328416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0" name="application"/>
          <p:cNvSpPr/>
          <p:nvPr/>
        </p:nvSpPr>
        <p:spPr>
          <a:xfrm>
            <a:off x="3675888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1" name="application"/>
          <p:cNvSpPr/>
          <p:nvPr/>
        </p:nvSpPr>
        <p:spPr>
          <a:xfrm>
            <a:off x="4023360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2" name="application"/>
          <p:cNvSpPr/>
          <p:nvPr/>
        </p:nvSpPr>
        <p:spPr>
          <a:xfrm>
            <a:off x="4370832" y="2852928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3" name="application"/>
          <p:cNvSpPr/>
          <p:nvPr/>
        </p:nvSpPr>
        <p:spPr>
          <a:xfrm>
            <a:off x="548640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4" name="application"/>
          <p:cNvSpPr/>
          <p:nvPr/>
        </p:nvSpPr>
        <p:spPr>
          <a:xfrm>
            <a:off x="896112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5" name="application"/>
          <p:cNvSpPr/>
          <p:nvPr/>
        </p:nvSpPr>
        <p:spPr>
          <a:xfrm>
            <a:off x="1243584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6" name="reply"/>
          <p:cNvSpPr/>
          <p:nvPr/>
        </p:nvSpPr>
        <p:spPr>
          <a:xfrm>
            <a:off x="1591056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67" name="application"/>
          <p:cNvSpPr/>
          <p:nvPr/>
        </p:nvSpPr>
        <p:spPr>
          <a:xfrm>
            <a:off x="1938528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8" name="application"/>
          <p:cNvSpPr/>
          <p:nvPr/>
        </p:nvSpPr>
        <p:spPr>
          <a:xfrm>
            <a:off x="2286000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69" name="application"/>
          <p:cNvSpPr/>
          <p:nvPr/>
        </p:nvSpPr>
        <p:spPr>
          <a:xfrm>
            <a:off x="2633472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0" name="application"/>
          <p:cNvSpPr/>
          <p:nvPr/>
        </p:nvSpPr>
        <p:spPr>
          <a:xfrm>
            <a:off x="2980944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1" name="application"/>
          <p:cNvSpPr/>
          <p:nvPr/>
        </p:nvSpPr>
        <p:spPr>
          <a:xfrm>
            <a:off x="3328416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2" name="application"/>
          <p:cNvSpPr/>
          <p:nvPr/>
        </p:nvSpPr>
        <p:spPr>
          <a:xfrm>
            <a:off x="3675888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3" name="application"/>
          <p:cNvSpPr/>
          <p:nvPr/>
        </p:nvSpPr>
        <p:spPr>
          <a:xfrm>
            <a:off x="4023360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4" name="application"/>
          <p:cNvSpPr/>
          <p:nvPr/>
        </p:nvSpPr>
        <p:spPr>
          <a:xfrm>
            <a:off x="4370832" y="320040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5" name="application"/>
          <p:cNvSpPr/>
          <p:nvPr/>
        </p:nvSpPr>
        <p:spPr>
          <a:xfrm>
            <a:off x="548640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6" name="application"/>
          <p:cNvSpPr/>
          <p:nvPr/>
        </p:nvSpPr>
        <p:spPr>
          <a:xfrm>
            <a:off x="896112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7" name="application"/>
          <p:cNvSpPr/>
          <p:nvPr/>
        </p:nvSpPr>
        <p:spPr>
          <a:xfrm>
            <a:off x="1243584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8" name="application"/>
          <p:cNvSpPr/>
          <p:nvPr/>
        </p:nvSpPr>
        <p:spPr>
          <a:xfrm>
            <a:off x="1591056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9" name="application"/>
          <p:cNvSpPr/>
          <p:nvPr/>
        </p:nvSpPr>
        <p:spPr>
          <a:xfrm>
            <a:off x="1938528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0" name="application"/>
          <p:cNvSpPr/>
          <p:nvPr/>
        </p:nvSpPr>
        <p:spPr>
          <a:xfrm>
            <a:off x="2286000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1" name="application"/>
          <p:cNvSpPr/>
          <p:nvPr/>
        </p:nvSpPr>
        <p:spPr>
          <a:xfrm>
            <a:off x="2633472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2" name="application"/>
          <p:cNvSpPr/>
          <p:nvPr/>
        </p:nvSpPr>
        <p:spPr>
          <a:xfrm>
            <a:off x="2980944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3" name="application"/>
          <p:cNvSpPr/>
          <p:nvPr/>
        </p:nvSpPr>
        <p:spPr>
          <a:xfrm>
            <a:off x="3328416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4" name="application"/>
          <p:cNvSpPr/>
          <p:nvPr/>
        </p:nvSpPr>
        <p:spPr>
          <a:xfrm>
            <a:off x="3675888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5" name="application"/>
          <p:cNvSpPr/>
          <p:nvPr/>
        </p:nvSpPr>
        <p:spPr>
          <a:xfrm>
            <a:off x="4023360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6" name="application"/>
          <p:cNvSpPr/>
          <p:nvPr/>
        </p:nvSpPr>
        <p:spPr>
          <a:xfrm>
            <a:off x="4370832" y="3547872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87" name="Shape 85"/>
          <p:cNvSpPr/>
          <p:nvPr/>
        </p:nvSpPr>
        <p:spPr>
          <a:xfrm>
            <a:off x="548640" y="4041648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77240" y="4005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sent through portals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063240" y="4041648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3291840" y="4005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3730752" y="4005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 reward volume</a:t>
            </a:r>
            <a:endParaRPr lang="en-US" sz="1500" dirty="0"/>
          </a:p>
        </p:txBody>
      </p:sp>
      <p:sp>
        <p:nvSpPr>
          <p:cNvPr id="93" name="Text 91"/>
          <p:cNvSpPr txBox="1"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applications go out. Few get a reply.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5120640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the queue</a:t>
            </a:r>
            <a:endParaRPr lang="en-US" sz="1500" dirty="0"/>
          </a:p>
        </p:txBody>
      </p:sp>
      <p:sp>
        <p:nvSpPr>
          <p:cNvPr id="95" name="Text 93"/>
          <p:cNvSpPr txBox="1"/>
          <p:nvPr/>
        </p:nvSpPr>
        <p:spPr>
          <a:xfrm>
            <a:off x="512064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resume waits behind filters and a busy inbox.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12064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gets lost</a:t>
            </a:r>
            <a:endParaRPr lang="en-US" sz="1500" dirty="0"/>
          </a:p>
        </p:txBody>
      </p:sp>
      <p:sp>
        <p:nvSpPr>
          <p:cNvPr id="97" name="Text 95"/>
          <p:cNvSpPr txBox="1"/>
          <p:nvPr/>
        </p:nvSpPr>
        <p:spPr>
          <a:xfrm>
            <a:off x="5120640" y="31638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profile reads like every other form.</a:t>
            </a:r>
            <a:endParaRPr lang="en-US" sz="1300" dirty="0"/>
          </a:p>
        </p:txBody>
      </p:sp>
      <p:sp>
        <p:nvSpPr>
          <p:cNvPr id="98" name="key line"/>
          <p:cNvSpPr/>
          <p:nvPr/>
        </p:nvSpPr>
        <p:spPr>
          <a:xfrm>
            <a:off x="5120640" y="3657600"/>
            <a:ext cx="347472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5349240" y="3657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hire people.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conversations open doors that cold applications rarely do</a:t>
            </a:r>
            <a:endParaRPr lang="en-US" sz="2800" dirty="0"/>
          </a:p>
        </p:txBody>
      </p:sp>
      <p:sp>
        <p:nvSpPr>
          <p:cNvPr id="3" name="cold card"/>
          <p:cNvSpPr/>
          <p:nvPr/>
        </p:nvSpPr>
        <p:spPr>
          <a:xfrm>
            <a:off x="548640" y="1417320"/>
            <a:ext cx="3840480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4" name="warm card"/>
          <p:cNvSpPr/>
          <p:nvPr/>
        </p:nvSpPr>
        <p:spPr>
          <a:xfrm>
            <a:off x="4754880" y="1417320"/>
            <a:ext cx="3840480" cy="2788920"/>
          </a:xfrm>
          <a:prstGeom prst="roundRect">
            <a:avLst>
              <a:gd name="adj" fmla="val 327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 application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conversation</a:t>
            </a:r>
            <a:endParaRPr lang="en-US" sz="2000" dirty="0"/>
          </a:p>
        </p:txBody>
      </p:sp>
      <p:sp>
        <p:nvSpPr>
          <p:cNvPr id="7" name="warm ring"/>
          <p:cNvSpPr/>
          <p:nvPr/>
        </p:nvSpPr>
        <p:spPr>
          <a:xfrm>
            <a:off x="8001000" y="1719072"/>
            <a:ext cx="292608" cy="292608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86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filter and a queue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286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with context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STARTS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and a resume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STARTS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reason to talk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Silence, more often than not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Advice, a referral, an interview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seniors already know this. The hard part is doing it well, at scale, without becoming spam.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Knock turns a target list into real conversations, in four steps</a:t>
            </a:r>
            <a:endParaRPr lang="en-US" sz="2800" dirty="0"/>
          </a:p>
        </p:txBody>
      </p:sp>
      <p:sp>
        <p:nvSpPr>
          <p:cNvPr id="3" name="step connector"/>
          <p:cNvSpPr/>
          <p:nvPr/>
        </p:nvSpPr>
        <p:spPr>
          <a:xfrm>
            <a:off x="804672" y="1719072"/>
            <a:ext cx="622706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4" name="step ring 1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pick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companies and roles you actually want.</a:t>
            </a:r>
            <a:endParaRPr lang="en-US" sz="1300" dirty="0"/>
          </a:p>
        </p:txBody>
      </p:sp>
      <p:sp>
        <p:nvSpPr>
          <p:cNvPr id="8" name="step ring 2"/>
          <p:cNvSpPr/>
          <p:nvPr/>
        </p:nvSpPr>
        <p:spPr>
          <a:xfrm>
            <a:off x="2624328" y="1463040"/>
            <a:ext cx="512064" cy="51206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find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560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people at each company: hiring managers, team members, alumni, senior people who can introduce.</a:t>
            </a:r>
            <a:endParaRPr lang="en-US" sz="1300" dirty="0"/>
          </a:p>
        </p:txBody>
      </p:sp>
      <p:sp>
        <p:nvSpPr>
          <p:cNvPr id="12" name="step ring 3"/>
          <p:cNvSpPr/>
          <p:nvPr/>
        </p:nvSpPr>
        <p:spPr>
          <a:xfrm>
            <a:off x="4700016" y="1463040"/>
            <a:ext cx="512064" cy="51206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write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2560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personal first message for each, built on something genuinely shared.</a:t>
            </a:r>
            <a:endParaRPr lang="en-US" sz="1300" dirty="0"/>
          </a:p>
        </p:txBody>
      </p:sp>
      <p:sp>
        <p:nvSpPr>
          <p:cNvPr id="16" name="step ring 4"/>
          <p:cNvSpPr/>
          <p:nvPr/>
        </p:nvSpPr>
        <p:spPr>
          <a:xfrm>
            <a:off x="6775704" y="1463040"/>
            <a:ext cx="512064" cy="51206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75704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75704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guide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75704" y="2560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reply, until it becomes a referral or an interview.</a:t>
            </a:r>
            <a:endParaRPr lang="en-US" sz="1300" dirty="0"/>
          </a:p>
        </p:txBody>
      </p:sp>
      <p:sp>
        <p:nvSpPr>
          <p:cNvPr id="20" name="approval band"/>
          <p:cNvSpPr/>
          <p:nvPr/>
        </p:nvSpPr>
        <p:spPr>
          <a:xfrm>
            <a:off x="548640" y="388620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1" name="ring"/>
          <p:cNvSpPr/>
          <p:nvPr/>
        </p:nvSpPr>
        <p:spPr>
          <a:xfrm>
            <a:off x="777240" y="4005072"/>
            <a:ext cx="265176" cy="26517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3886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message. 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sent from your own LinkedIn, in your name.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look for the people who can actually open a door</a:t>
            </a:r>
            <a:endParaRPr lang="en-US" sz="2800" dirty="0"/>
          </a:p>
        </p:txBody>
      </p:sp>
      <p:sp>
        <p:nvSpPr>
          <p:cNvPr id="3" name="door frame arch"/>
          <p:cNvSpPr/>
          <p:nvPr/>
        </p:nvSpPr>
        <p:spPr>
          <a:xfrm rot="16200000">
            <a:off x="1168146" y="1172718"/>
            <a:ext cx="635508" cy="1271016"/>
          </a:xfrm>
          <a:prstGeom prst="flowChartDelay">
            <a:avLst/>
          </a:prstGeom>
          <a:solidFill>
            <a:schemeClr val="accent1"/>
          </a:solidFill>
          <a:ln/>
        </p:spPr>
      </p:sp>
      <p:sp>
        <p:nvSpPr>
          <p:cNvPr id="4" name="door frame"/>
          <p:cNvSpPr/>
          <p:nvPr/>
        </p:nvSpPr>
        <p:spPr>
          <a:xfrm>
            <a:off x="850392" y="2116836"/>
            <a:ext cx="1271016" cy="18608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door arch"/>
          <p:cNvSpPr/>
          <p:nvPr/>
        </p:nvSpPr>
        <p:spPr>
          <a:xfrm rot="16200000">
            <a:off x="1223010" y="1337310"/>
            <a:ext cx="525780" cy="1051560"/>
          </a:xfrm>
          <a:prstGeom prst="flowChartDelay">
            <a:avLst/>
          </a:prstGeom>
          <a:solidFill>
            <a:schemeClr val="accent2"/>
          </a:solidFill>
          <a:ln/>
        </p:spPr>
      </p:sp>
      <p:sp>
        <p:nvSpPr>
          <p:cNvPr id="6" name="door leaf"/>
          <p:cNvSpPr/>
          <p:nvPr/>
        </p:nvSpPr>
        <p:spPr>
          <a:xfrm>
            <a:off x="960120" y="2116836"/>
            <a:ext cx="1051560" cy="18608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door panel top"/>
          <p:cNvSpPr/>
          <p:nvPr/>
        </p:nvSpPr>
        <p:spPr>
          <a:xfrm>
            <a:off x="1128370" y="1889379"/>
            <a:ext cx="715061" cy="851764"/>
          </a:xfrm>
          <a:prstGeom prst="roundRect">
            <a:avLst>
              <a:gd name="adj" fmla="val 6394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8" name="door panel bottom"/>
          <p:cNvSpPr/>
          <p:nvPr/>
        </p:nvSpPr>
        <p:spPr>
          <a:xfrm>
            <a:off x="1128370" y="2867330"/>
            <a:ext cx="715061" cy="777697"/>
          </a:xfrm>
          <a:prstGeom prst="roundRect">
            <a:avLst>
              <a:gd name="adj" fmla="val 6394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9" name="knocker mount"/>
          <p:cNvSpPr/>
          <p:nvPr/>
        </p:nvSpPr>
        <p:spPr>
          <a:xfrm>
            <a:off x="1436687" y="2222678"/>
            <a:ext cx="98426" cy="9842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nocker ring"/>
          <p:cNvSpPr/>
          <p:nvPr/>
        </p:nvSpPr>
        <p:spPr>
          <a:xfrm>
            <a:off x="1349197" y="2288295"/>
            <a:ext cx="273406" cy="27340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1" name="door handle"/>
          <p:cNvSpPr/>
          <p:nvPr/>
        </p:nvSpPr>
        <p:spPr>
          <a:xfrm>
            <a:off x="1801368" y="3088843"/>
            <a:ext cx="73609" cy="73609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is researched before we write a word.</a:t>
            </a:r>
            <a:endParaRPr lang="en-US" sz="1200" dirty="0"/>
          </a:p>
        </p:txBody>
      </p:sp>
      <p:sp>
        <p:nvSpPr>
          <p:cNvPr id="13" name="who tile 1"/>
          <p:cNvSpPr/>
          <p:nvPr/>
        </p:nvSpPr>
        <p:spPr>
          <a:xfrm>
            <a:off x="3108960" y="1417320"/>
            <a:ext cx="2651760" cy="1298448"/>
          </a:xfrm>
          <a:prstGeom prst="roundRect">
            <a:avLst>
              <a:gd name="adj" fmla="val 5634"/>
            </a:avLst>
          </a:prstGeom>
          <a:solidFill>
            <a:schemeClr val="tx2"/>
          </a:solidFill>
          <a:ln/>
        </p:spPr>
      </p:sp>
      <p:sp>
        <p:nvSpPr>
          <p:cNvPr id="14" name="ring"/>
          <p:cNvSpPr/>
          <p:nvPr/>
        </p:nvSpPr>
        <p:spPr>
          <a:xfrm>
            <a:off x="3383280" y="1691640"/>
            <a:ext cx="237744" cy="237744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49040" y="16550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Hiring managers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0756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who owns the role and the decision.</a:t>
            </a:r>
            <a:endParaRPr lang="en-US" sz="1300" dirty="0"/>
          </a:p>
        </p:txBody>
      </p:sp>
      <p:sp>
        <p:nvSpPr>
          <p:cNvPr id="17" name="who tile 2"/>
          <p:cNvSpPr/>
          <p:nvPr/>
        </p:nvSpPr>
        <p:spPr>
          <a:xfrm>
            <a:off x="5943600" y="1417320"/>
            <a:ext cx="2651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18" name="ring"/>
          <p:cNvSpPr/>
          <p:nvPr/>
        </p:nvSpPr>
        <p:spPr>
          <a:xfrm>
            <a:off x="6217920" y="1691640"/>
            <a:ext cx="237744" cy="237744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6550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0756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peers who know what the work really needs.</a:t>
            </a:r>
            <a:endParaRPr lang="en-US" sz="1300" dirty="0"/>
          </a:p>
        </p:txBody>
      </p:sp>
      <p:sp>
        <p:nvSpPr>
          <p:cNvPr id="21" name="who tile 3"/>
          <p:cNvSpPr/>
          <p:nvPr/>
        </p:nvSpPr>
        <p:spPr>
          <a:xfrm>
            <a:off x="3108960" y="2898648"/>
            <a:ext cx="2651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22" name="ring"/>
          <p:cNvSpPr/>
          <p:nvPr/>
        </p:nvSpPr>
        <p:spPr>
          <a:xfrm>
            <a:off x="3383280" y="3172968"/>
            <a:ext cx="237744" cy="237744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0" y="3136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Alumni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5570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from the same campus who remember being in your seat.</a:t>
            </a:r>
            <a:endParaRPr lang="en-US" sz="1300" dirty="0"/>
          </a:p>
        </p:txBody>
      </p:sp>
      <p:sp>
        <p:nvSpPr>
          <p:cNvPr id="25" name="who tile 4"/>
          <p:cNvSpPr/>
          <p:nvPr/>
        </p:nvSpPr>
        <p:spPr>
          <a:xfrm>
            <a:off x="5943600" y="2898648"/>
            <a:ext cx="2651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26" name="ring"/>
          <p:cNvSpPr/>
          <p:nvPr/>
        </p:nvSpPr>
        <p:spPr>
          <a:xfrm>
            <a:off x="6217920" y="3172968"/>
            <a:ext cx="237744" cy="237744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3136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Senior introducers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5570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who can point you to the right person.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good first message is short, specific and easy to answer</a:t>
            </a:r>
            <a:endParaRPr lang="en-US" sz="2800" dirty="0"/>
          </a:p>
        </p:txBody>
      </p:sp>
      <p:sp>
        <p:nvSpPr>
          <p:cNvPr id="3" name="message frame"/>
          <p:cNvSpPr/>
          <p:nvPr/>
        </p:nvSpPr>
        <p:spPr>
          <a:xfrm>
            <a:off x="548640" y="1417320"/>
            <a:ext cx="429768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avatar"/>
          <p:cNvSpPr/>
          <p:nvPr/>
        </p:nvSpPr>
        <p:spPr>
          <a:xfrm>
            <a:off x="822960" y="16733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Rahul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110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Zepto  |  previously Flipkart</a:t>
            </a:r>
            <a:endParaRPr lang="en-US" sz="1100" dirty="0"/>
          </a:p>
        </p:txBody>
      </p:sp>
      <p:sp>
        <p:nvSpPr>
          <p:cNvPr id="8" name="message bubble"/>
          <p:cNvSpPr/>
          <p:nvPr/>
        </p:nvSpPr>
        <p:spPr>
          <a:xfrm>
            <a:off x="822960" y="2331720"/>
            <a:ext cx="37490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24688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 Rahul, saw you moved from Flipkart into product at Zepto. I'm making a similar jump from brand management. Curious, what was the biggest adjustment for you?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05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first message</a:t>
            </a:r>
            <a:endParaRPr lang="en-US" sz="1000" dirty="0"/>
          </a:p>
        </p:txBody>
      </p:sp>
      <p:sp>
        <p:nvSpPr>
          <p:cNvPr id="11" name="step ring 1"/>
          <p:cNvSpPr/>
          <p:nvPr/>
        </p:nvSpPr>
        <p:spPr>
          <a:xfrm>
            <a:off x="5257800" y="1463040"/>
            <a:ext cx="402336" cy="40233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24728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specific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24728" y="1755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names his real move, Flipkart to Zepto. It could not be sent to anyone else.</a:t>
            </a:r>
            <a:endParaRPr lang="en-US" sz="1250" dirty="0"/>
          </a:p>
        </p:txBody>
      </p:sp>
      <p:sp>
        <p:nvSpPr>
          <p:cNvPr id="15" name="step ring 2"/>
          <p:cNvSpPr/>
          <p:nvPr/>
        </p:nvSpPr>
        <p:spPr>
          <a:xfrm>
            <a:off x="5257800" y="2404872"/>
            <a:ext cx="402336" cy="40233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24728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shares a reason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24728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sender is making a similar jump, so the question is honest.</a:t>
            </a:r>
            <a:endParaRPr lang="en-US" sz="1250" dirty="0"/>
          </a:p>
        </p:txBody>
      </p:sp>
      <p:sp>
        <p:nvSpPr>
          <p:cNvPr id="19" name="step ring 3"/>
          <p:cNvSpPr/>
          <p:nvPr/>
        </p:nvSpPr>
        <p:spPr>
          <a:xfrm>
            <a:off x="5257800" y="3346704"/>
            <a:ext cx="402336" cy="40233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24728" y="3346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nothing yet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24728" y="3639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curious question that takes a minute to answer. The ask comes later.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to protect your batch's inbox and reputation</a:t>
            </a:r>
            <a:endParaRPr lang="en-US" sz="2800" dirty="0"/>
          </a:p>
        </p:txBody>
      </p:sp>
      <p:sp>
        <p:nvSpPr>
          <p:cNvPr id="3" name="stat panel"/>
          <p:cNvSpPr/>
          <p:nvPr/>
        </p:nvSpPr>
        <p:spPr>
          <a:xfrm>
            <a:off x="548640" y="1417320"/>
            <a:ext cx="2743200" cy="28803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hand-picked people per week, per student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mass blast. A short list, chosen with care.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453896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ring"/>
          <p:cNvSpPr/>
          <p:nvPr/>
        </p:nvSpPr>
        <p:spPr>
          <a:xfrm>
            <a:off x="3730752" y="1527048"/>
            <a:ext cx="164592" cy="164592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14173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is personal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one person, based on something genuinely shared.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185416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ring"/>
          <p:cNvSpPr/>
          <p:nvPr/>
        </p:nvSpPr>
        <p:spPr>
          <a:xfrm>
            <a:off x="3730752" y="2258568"/>
            <a:ext cx="164592" cy="164592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60520" y="2148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from the student's own account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423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them first. Nothing goes out in their name without a yes.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2916936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ring"/>
          <p:cNvSpPr/>
          <p:nvPr/>
        </p:nvSpPr>
        <p:spPr>
          <a:xfrm>
            <a:off x="3730752" y="2990088"/>
            <a:ext cx="164592" cy="164592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0520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under LinkedIn's limits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Paced like a thoughtful person, not a tool.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3648456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ring"/>
          <p:cNvSpPr/>
          <p:nvPr/>
        </p:nvSpPr>
        <p:spPr>
          <a:xfrm>
            <a:off x="3730752" y="3721608"/>
            <a:ext cx="164592" cy="164592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60520" y="3611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first, the ask later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3886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the referral. We never open with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packages, at founding-member prices for your members</a:t>
            </a:r>
            <a:endParaRPr lang="en-US" sz="2800" dirty="0"/>
          </a:p>
        </p:txBody>
      </p:sp>
      <p:sp>
        <p:nvSpPr>
          <p:cNvPr id="3" name="package Sprint"/>
          <p:cNvSpPr/>
          <p:nvPr/>
        </p:nvSpPr>
        <p:spPr>
          <a:xfrm>
            <a:off x="548640" y="1417320"/>
            <a:ext cx="1856232" cy="2606040"/>
          </a:xfrm>
          <a:prstGeom prst="roundRect">
            <a:avLst>
              <a:gd name="adj" fmla="val 4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8424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people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2,499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13990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004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push on a short list of companies.</a:t>
            </a:r>
            <a:endParaRPr lang="en-US" sz="1250" dirty="0"/>
          </a:p>
        </p:txBody>
      </p:sp>
      <p:sp>
        <p:nvSpPr>
          <p:cNvPr id="9" name="package Standard"/>
          <p:cNvSpPr/>
          <p:nvPr/>
        </p:nvSpPr>
        <p:spPr>
          <a:xfrm>
            <a:off x="2606040" y="1417320"/>
            <a:ext cx="1856232" cy="2606040"/>
          </a:xfrm>
          <a:prstGeom prst="roundRect">
            <a:avLst>
              <a:gd name="adj" fmla="val 492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645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98424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people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468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3,999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834640" y="3063240"/>
            <a:ext cx="13990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32004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full weeks of outreach and guided replies.</a:t>
            </a:r>
            <a:endParaRPr lang="en-US" sz="1250" dirty="0"/>
          </a:p>
        </p:txBody>
      </p:sp>
      <p:sp>
        <p:nvSpPr>
          <p:cNvPr id="15" name="package Full search"/>
          <p:cNvSpPr/>
          <p:nvPr/>
        </p:nvSpPr>
        <p:spPr>
          <a:xfrm>
            <a:off x="4663440" y="1417320"/>
            <a:ext cx="1856232" cy="2606040"/>
          </a:xfrm>
          <a:prstGeom prst="roundRect">
            <a:avLst>
              <a:gd name="adj" fmla="val 492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645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search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8424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people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468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5,499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892040" y="3063240"/>
            <a:ext cx="13990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weeks across a wider set of targets.</a:t>
            </a:r>
            <a:endParaRPr lang="en-US" sz="1250" dirty="0"/>
          </a:p>
        </p:txBody>
      </p:sp>
      <p:sp>
        <p:nvSpPr>
          <p:cNvPr id="21" name="package Done-for-you"/>
          <p:cNvSpPr/>
          <p:nvPr/>
        </p:nvSpPr>
        <p:spPr>
          <a:xfrm>
            <a:off x="6720840" y="1417320"/>
            <a:ext cx="1856232" cy="2606040"/>
          </a:xfrm>
          <a:prstGeom prst="roundRect">
            <a:avLst>
              <a:gd name="adj" fmla="val 4926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0" y="1645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Done-for-you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98424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together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468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Rs 14,999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3063240"/>
            <a:ext cx="139903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32004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the search with you, end to end.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8046720" cy="32918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2062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Founding-member pricing, INR. </a:t>
            </a:r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&lt;Club name&gt; member gets the founding price.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partnership is simple: real value for your batch, two small asks</a:t>
            </a:r>
            <a:endParaRPr lang="en-US" sz="2800" dirty="0"/>
          </a:p>
        </p:txBody>
      </p:sp>
      <p:sp>
        <p:nvSpPr>
          <p:cNvPr id="3" name="club gets"/>
          <p:cNvSpPr/>
          <p:nvPr/>
        </p:nvSpPr>
        <p:spPr>
          <a:xfrm>
            <a:off x="548640" y="1417320"/>
            <a:ext cx="4754880" cy="28803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73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&lt;Club name&gt; gets</a:t>
            </a:r>
            <a:endParaRPr lang="en-US" sz="1900" dirty="0"/>
          </a:p>
        </p:txBody>
      </p:sp>
      <p:sp>
        <p:nvSpPr>
          <p:cNvPr id="5" name="ring"/>
          <p:cNvSpPr/>
          <p:nvPr/>
        </p:nvSpPr>
        <p:spPr>
          <a:xfrm>
            <a:off x="868680" y="2322576"/>
            <a:ext cx="219456" cy="21945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16152" y="2286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price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member and alum</a:t>
            </a:r>
            <a:endParaRPr lang="en-US" sz="1250" dirty="0"/>
          </a:p>
        </p:txBody>
      </p:sp>
      <p:sp>
        <p:nvSpPr>
          <p:cNvPr id="8" name="ring"/>
          <p:cNvSpPr/>
          <p:nvPr/>
        </p:nvSpPr>
        <p:spPr>
          <a:xfrm>
            <a:off x="3108960" y="2322576"/>
            <a:ext cx="219456" cy="21945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6432" y="2286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pilot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5 students the club chooses</a:t>
            </a:r>
            <a:endParaRPr lang="en-US" sz="1250" dirty="0"/>
          </a:p>
        </p:txBody>
      </p:sp>
      <p:sp>
        <p:nvSpPr>
          <p:cNvPr id="11" name="ring"/>
          <p:cNvSpPr/>
          <p:nvPr/>
        </p:nvSpPr>
        <p:spPr>
          <a:xfrm>
            <a:off x="868680" y="3236976"/>
            <a:ext cx="219456" cy="21945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16152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results summary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club can share with the batch</a:t>
            </a:r>
            <a:endParaRPr lang="en-US" sz="1250" dirty="0"/>
          </a:p>
        </p:txBody>
      </p:sp>
      <p:sp>
        <p:nvSpPr>
          <p:cNvPr id="14" name="ring"/>
          <p:cNvSpPr/>
          <p:nvPr/>
        </p:nvSpPr>
        <p:spPr>
          <a:xfrm>
            <a:off x="3108960" y="3236976"/>
            <a:ext cx="219456" cy="219456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56432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co-hosted session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outbound job search</a:t>
            </a:r>
            <a:endParaRPr lang="en-US" sz="1250" dirty="0"/>
          </a:p>
        </p:txBody>
      </p:sp>
      <p:sp>
        <p:nvSpPr>
          <p:cNvPr id="17" name="knock asks"/>
          <p:cNvSpPr/>
          <p:nvPr/>
        </p:nvSpPr>
        <p:spPr>
          <a:xfrm>
            <a:off x="5577840" y="1417320"/>
            <a:ext cx="301752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Knock asks</a:t>
            </a:r>
            <a:endParaRPr lang="en-US" sz="1900" dirty="0"/>
          </a:p>
        </p:txBody>
      </p:sp>
      <p:sp>
        <p:nvSpPr>
          <p:cNvPr id="19" name="step ring 1"/>
          <p:cNvSpPr/>
          <p:nvPr/>
        </p:nvSpPr>
        <p:spPr>
          <a:xfrm>
            <a:off x="5852160" y="2286000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announcement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batch, in the club's words</a:t>
            </a:r>
            <a:endParaRPr lang="en-US" sz="1250" dirty="0"/>
          </a:p>
        </p:txBody>
      </p:sp>
      <p:sp>
        <p:nvSpPr>
          <p:cNvPr id="23" name="step ring 2"/>
          <p:cNvSpPr/>
          <p:nvPr/>
        </p:nvSpPr>
        <p:spPr>
          <a:xfrm>
            <a:off x="5852160" y="3200400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feedback call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493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pilot, 30 minutes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measure one honest number: interviews per 100 people contacted</a:t>
            </a:r>
            <a:endParaRPr lang="en-US" sz="2800" dirty="0"/>
          </a:p>
        </p:txBody>
      </p:sp>
      <p:sp>
        <p:nvSpPr>
          <p:cNvPr id="3" name="numerator"/>
          <p:cNvSpPr/>
          <p:nvPr/>
        </p:nvSpPr>
        <p:spPr>
          <a:xfrm>
            <a:off x="548640" y="150876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Interviews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from Knock conversations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087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3000" dirty="0"/>
          </a:p>
        </p:txBody>
      </p:sp>
      <p:sp>
        <p:nvSpPr>
          <p:cNvPr id="7" name="denominator"/>
          <p:cNvSpPr/>
          <p:nvPr/>
        </p:nvSpPr>
        <p:spPr>
          <a:xfrm>
            <a:off x="3749040" y="150876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77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contacted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hand-picked and messaged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5087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student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5409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pilot student gets a private report: who was contacted, who replied, which conversations became referrals or interviews.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aggregate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5409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club gets an anonymised summary across the pilot group, ready to share with the batch.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promised numbers. The pilot tells us, and you see the same data we 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pilot takes three weeks from kickoff to results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milestone 1"/>
          <p:cNvSpPr/>
          <p:nvPr/>
        </p:nvSpPr>
        <p:spPr>
          <a:xfrm>
            <a:off x="594360" y="155448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</a:t>
            </a:r>
            <a:endParaRPr lang="en-US" sz="1100" dirty="0"/>
          </a:p>
        </p:txBody>
      </p:sp>
      <p:sp>
        <p:nvSpPr>
          <p:cNvPr id="6" name="phase 1"/>
          <p:cNvSpPr/>
          <p:nvPr/>
        </p:nvSpPr>
        <p:spPr>
          <a:xfrm>
            <a:off x="548640" y="205740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Kickoff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picks 5 students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sets target companies and roles with us</a:t>
            </a:r>
            <a:endParaRPr lang="en-US" sz="1300" dirty="0"/>
          </a:p>
        </p:txBody>
      </p:sp>
      <p:sp>
        <p:nvSpPr>
          <p:cNvPr id="9" name="milestone 2"/>
          <p:cNvSpPr/>
          <p:nvPr/>
        </p:nvSpPr>
        <p:spPr>
          <a:xfrm>
            <a:off x="3337560" y="15544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143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 TO 2</a:t>
            </a:r>
            <a:endParaRPr lang="en-US" sz="1100" dirty="0"/>
          </a:p>
        </p:txBody>
      </p:sp>
      <p:sp>
        <p:nvSpPr>
          <p:cNvPr id="11" name="phase 2"/>
          <p:cNvSpPr/>
          <p:nvPr/>
        </p:nvSpPr>
        <p:spPr>
          <a:xfrm>
            <a:off x="3291840" y="205740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Outreach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hand-picked people per student, per week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reply guided toward a referral or interview</a:t>
            </a:r>
            <a:endParaRPr lang="en-US" sz="1300" dirty="0"/>
          </a:p>
        </p:txBody>
      </p:sp>
      <p:sp>
        <p:nvSpPr>
          <p:cNvPr id="14" name="milestone 3"/>
          <p:cNvSpPr/>
          <p:nvPr/>
        </p:nvSpPr>
        <p:spPr>
          <a:xfrm>
            <a:off x="6080760" y="155448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143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16" name="phase 3"/>
          <p:cNvSpPr/>
          <p:nvPr/>
        </p:nvSpPr>
        <p:spPr>
          <a:xfrm>
            <a:off x="6035040" y="205740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review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Per-student reports and a club summary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call with the committee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orstep"/>
          <p:cNvSpPr/>
          <p:nvPr/>
        </p:nvSpPr>
        <p:spPr>
          <a:xfrm>
            <a:off x="5669280" y="4370832"/>
            <a:ext cx="2377440" cy="128016"/>
          </a:xfrm>
          <a:prstGeom prst="roundRect">
            <a:avLst>
              <a:gd name="adj" fmla="val 28571"/>
            </a:avLst>
          </a:prstGeom>
          <a:solidFill>
            <a:schemeClr val="accent6"/>
          </a:solidFill>
          <a:ln/>
        </p:spPr>
      </p:sp>
      <p:sp>
        <p:nvSpPr>
          <p:cNvPr id="3" name="door frame arch"/>
          <p:cNvSpPr/>
          <p:nvPr/>
        </p:nvSpPr>
        <p:spPr>
          <a:xfrm rot="16200000">
            <a:off x="6414516" y="361188"/>
            <a:ext cx="886968" cy="1773936"/>
          </a:xfrm>
          <a:prstGeom prst="flowChartDelay">
            <a:avLst/>
          </a:prstGeom>
          <a:solidFill>
            <a:schemeClr val="accent1"/>
          </a:solidFill>
          <a:ln/>
        </p:spPr>
      </p:sp>
      <p:sp>
        <p:nvSpPr>
          <p:cNvPr id="4" name="door frame"/>
          <p:cNvSpPr/>
          <p:nvPr/>
        </p:nvSpPr>
        <p:spPr>
          <a:xfrm>
            <a:off x="5971032" y="1682496"/>
            <a:ext cx="1773936" cy="2688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door arch"/>
          <p:cNvSpPr/>
          <p:nvPr/>
        </p:nvSpPr>
        <p:spPr>
          <a:xfrm rot="16200000">
            <a:off x="6469380" y="525780"/>
            <a:ext cx="777240" cy="1554480"/>
          </a:xfrm>
          <a:prstGeom prst="flowChartDelay">
            <a:avLst/>
          </a:prstGeom>
          <a:solidFill>
            <a:schemeClr val="accent2"/>
          </a:solidFill>
          <a:ln/>
        </p:spPr>
      </p:sp>
      <p:sp>
        <p:nvSpPr>
          <p:cNvPr id="6" name="door leaf"/>
          <p:cNvSpPr/>
          <p:nvPr/>
        </p:nvSpPr>
        <p:spPr>
          <a:xfrm>
            <a:off x="6080760" y="1682496"/>
            <a:ext cx="1554480" cy="26883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door panel top"/>
          <p:cNvSpPr/>
          <p:nvPr/>
        </p:nvSpPr>
        <p:spPr>
          <a:xfrm>
            <a:off x="6329477" y="1341882"/>
            <a:ext cx="1057046" cy="1232428"/>
          </a:xfrm>
          <a:prstGeom prst="roundRect">
            <a:avLst>
              <a:gd name="adj" fmla="val 4325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8" name="door panel bottom"/>
          <p:cNvSpPr/>
          <p:nvPr/>
        </p:nvSpPr>
        <p:spPr>
          <a:xfrm>
            <a:off x="6329477" y="2760848"/>
            <a:ext cx="1057046" cy="1125261"/>
          </a:xfrm>
          <a:prstGeom prst="roundRect">
            <a:avLst>
              <a:gd name="adj" fmla="val 4325"/>
            </a:avLst>
          </a:prstGeom>
          <a:ln w="15875">
            <a:solidFill>
              <a:schemeClr val="tx2">
                <a:alpha val="60000"/>
              </a:schemeClr>
            </a:solidFill>
            <a:prstDash val="solid"/>
          </a:ln>
        </p:spPr>
      </p:sp>
      <p:sp>
        <p:nvSpPr>
          <p:cNvPr id="9" name="knocker mount"/>
          <p:cNvSpPr/>
          <p:nvPr/>
        </p:nvSpPr>
        <p:spPr>
          <a:xfrm>
            <a:off x="6785250" y="1824137"/>
            <a:ext cx="145499" cy="145499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nocker ring"/>
          <p:cNvSpPr/>
          <p:nvPr/>
        </p:nvSpPr>
        <p:spPr>
          <a:xfrm>
            <a:off x="6655918" y="1921136"/>
            <a:ext cx="404165" cy="404165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1" name="door handle"/>
          <p:cNvSpPr/>
          <p:nvPr/>
        </p:nvSpPr>
        <p:spPr>
          <a:xfrm>
            <a:off x="7324344" y="3084820"/>
            <a:ext cx="108814" cy="10881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280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5 students for the free pilot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within a week of hearing from you. Results in three weeks.</a:t>
            </a:r>
            <a:endParaRPr lang="en-US" sz="1500" dirty="0"/>
          </a:p>
        </p:txBody>
      </p:sp>
      <p:sp>
        <p:nvSpPr>
          <p:cNvPr id="15" name="ring"/>
          <p:cNvSpPr/>
          <p:nvPr/>
        </p:nvSpPr>
        <p:spPr>
          <a:xfrm>
            <a:off x="640080" y="3703320"/>
            <a:ext cx="274320" cy="27432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639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hello@knock.careers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 on the right door.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 Door">
  <a:themeElements>
    <a:clrScheme name="Brass Door">
      <a:dk1>
        <a:srgbClr val="1E2A26"/>
      </a:dk1>
      <a:lt1>
        <a:srgbClr val="FFFFFF"/>
      </a:lt1>
      <a:dk2>
        <a:srgbClr val="21423A"/>
      </a:dk2>
      <a:lt2>
        <a:srgbClr val="F2F0EB"/>
      </a:lt2>
      <a:accent1>
        <a:srgbClr val="B08A4F"/>
      </a:accent1>
      <a:accent2>
        <a:srgbClr val="5E7D72"/>
      </a:accent2>
      <a:accent3>
        <a:srgbClr val="E3D8C4"/>
      </a:accent3>
      <a:accent4>
        <a:srgbClr val="8E9A95"/>
      </a:accent4>
      <a:accent5>
        <a:srgbClr val="E7EDEA"/>
      </a:accent5>
      <a:accent6>
        <a:srgbClr val="7A5A2E"/>
      </a:accent6>
      <a:hlink>
        <a:srgbClr val="B08A4F"/>
      </a:hlink>
      <a:folHlink>
        <a:srgbClr val="7A5A2E"/>
      </a:folHlink>
    </a:clrScheme>
    <a:fontScheme name="Brass Door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Knock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Knock partner proposal</dc:title>
  <dc:subject>PptxGenJS Presentation</dc:subject>
  <dc:creator>Knock</dc:creator>
  <cp:lastModifiedBy>Knock</cp:lastModifiedBy>
  <cp:revision>1</cp:revision>
  <dcterms:created xsi:type="dcterms:W3CDTF">2026-10-04T19:39:02Z</dcterms:created>
  <dcterms:modified xsi:type="dcterms:W3CDTF">2026-10-04T19:39:02Z</dcterms:modified>
</cp:coreProperties>
</file>