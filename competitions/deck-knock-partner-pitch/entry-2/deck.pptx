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62444b2-2da6-be73-99d7-de2e8fe10d03}">
          <p14:sldIdLst>
            <p14:sldId id="256"/>
          </p14:sldIdLst>
        </p14:section>
        <p14:section name="The problem" id="{91772577-a0de-57ba-8a2b-ba15202c4727}">
          <p14:sldIdLst>
            <p14:sldId id="257"/>
            <p14:sldId id="258"/>
          </p14:sldIdLst>
        </p14:section>
        <p14:section name="What Knock does" id="{5aa692a3-a09c-7361-03b7-1eaf393f3071}">
          <p14:sldIdLst>
            <p14:sldId id="259"/>
            <p14:sldId id="260"/>
            <p14:sldId id="261"/>
          </p14:sldIdLst>
        </p14:section>
        <p14:section name="The offer" id="{9adbb9c0-d34e-ff96-4a80-e4d4efb6ae2a}">
          <p14:sldIdLst>
            <p14:sldId id="262"/>
            <p14:sldId id="263"/>
            <p14:sldId id="264"/>
          </p14:sldIdLst>
        </p14:section>
        <p14:section name="Next steps" id="{4a5456b8-1238-36f7-1a87-7ef0f13bad9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the time. Knock is a career outbound service. In ten minutes I want to show what we do, why it is safe for your batch, and propose a free pilot for five of your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committee here knows this. Placements cover part of the batch. Off-campus and lateral searches still go through portals. The common thread: hiring decisions are made by people, and portals keep candidates away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invented numbers here. Ask any senior in the room how they got their last role: most will describe a conversation, not an application. Knock exists to make that kind of conversation happen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service, not software. A person on our team does the research and writing. The student only approves and replies, with our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style of every first message. Short, specific, honest. It starts a conversation; it does not ask for a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Committees protect the batch's inbox and reputation. So do we. Low volume, real personalisation, the student's own name on every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Founding-member prices. Club members lock these in. Most students would start with a Sprint or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trade is deliberately lopsided. You get a free pilot, a price for members, a shareable summary and a session. We ask for one announcement and one feedback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a new service with no customers yet, so we will not quote numbers. We will measure one thing transparently and share it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weeks, start to finish. Week zero is setup, two weeks of outreach, and a review in week three where we share the numbers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simple. Choose five students who are actively searching, and email hello@knock.careers. We take it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4980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Knock  ·  Partner proposal for &lt;Club name&gt;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Knock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6"/>
                </a:solidFill>
              </a:rPr>
              <a:t>Knock on the right door.</a:t>
            </a:r>
            <a:endParaRPr lang="en-US" sz="24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</a:t>
            </a:r>
            <a:endParaRPr lang="en-US" sz="24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Partner proposal for &lt;Club name&gt;</a:t>
            </a:r>
            <a:endParaRPr lang="en-US" sz="2400" dirty="0"/>
          </a:p>
        </p:txBody>
      </p:sp>
      <p:sp>
        <p:nvSpPr>
          <p:cNvPr id="4" name="Title door frame"/>
          <p:cNvSpPr/>
          <p:nvPr/>
        </p:nvSpPr>
        <p:spPr>
          <a:xfrm>
            <a:off x="8650224" y="1106424"/>
            <a:ext cx="2359152" cy="433425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itle door leaf"/>
          <p:cNvSpPr/>
          <p:nvPr/>
        </p:nvSpPr>
        <p:spPr>
          <a:xfrm>
            <a:off x="8778240" y="1234440"/>
            <a:ext cx="2103120" cy="4206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6" name="Title door panel top"/>
          <p:cNvSpPr/>
          <p:nvPr/>
        </p:nvSpPr>
        <p:spPr>
          <a:xfrm>
            <a:off x="9006840" y="1508760"/>
            <a:ext cx="1645920" cy="1691640"/>
          </a:xfrm>
          <a:prstGeom prst="rect">
            <a:avLst/>
          </a:prstGeom>
          <a:ln w="15875">
            <a:solidFill>
              <a:schemeClr val="accent2"/>
            </a:solidFill>
            <a:prstDash val="solid"/>
          </a:ln>
        </p:spPr>
      </p:sp>
      <p:sp>
        <p:nvSpPr>
          <p:cNvPr id="7" name="Title door panel bottom"/>
          <p:cNvSpPr/>
          <p:nvPr/>
        </p:nvSpPr>
        <p:spPr>
          <a:xfrm>
            <a:off x="9006840" y="3474720"/>
            <a:ext cx="1645920" cy="1691640"/>
          </a:xfrm>
          <a:prstGeom prst="rect">
            <a:avLst/>
          </a:prstGeom>
          <a:ln w="15875">
            <a:solidFill>
              <a:schemeClr val="accent2"/>
            </a:solidFill>
            <a:prstDash val="solid"/>
          </a:ln>
        </p:spPr>
      </p:sp>
      <p:sp>
        <p:nvSpPr>
          <p:cNvPr id="8" name="Title door knocker"/>
          <p:cNvSpPr/>
          <p:nvPr/>
        </p:nvSpPr>
        <p:spPr>
          <a:xfrm>
            <a:off x="9628632" y="2697480"/>
            <a:ext cx="402336" cy="402336"/>
          </a:xfrm>
          <a:prstGeom prst="donut">
            <a:avLst/>
          </a:prstGeom>
          <a:solidFill>
            <a:schemeClr val="accent1"/>
          </a:solidFill>
          <a:ln/>
        </p:spPr>
      </p:sp>
      <p:sp>
        <p:nvSpPr>
          <p:cNvPr id="9" name="Title door knob"/>
          <p:cNvSpPr/>
          <p:nvPr/>
        </p:nvSpPr>
        <p:spPr>
          <a:xfrm>
            <a:off x="10497312" y="3337560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hreshold"/>
          <p:cNvSpPr/>
          <p:nvPr/>
        </p:nvSpPr>
        <p:spPr>
          <a:xfrm>
            <a:off x="8138160" y="5440680"/>
            <a:ext cx="3383280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private career outbound service for MBA students and alumni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Portals reduce job search to volume</a:t>
            </a:r>
            <a:endParaRPr lang="en-US" sz="3600" dirty="0"/>
          </a:p>
        </p:txBody>
      </p:sp>
      <p:sp>
        <p:nvSpPr>
          <p:cNvPr id="3" name="Applications panel"/>
          <p:cNvSpPr/>
          <p:nvPr/>
        </p:nvSpPr>
        <p:spPr>
          <a:xfrm>
            <a:off x="548640" y="1600200"/>
            <a:ext cx="548640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typical portal search</a:t>
            </a:r>
            <a:endParaRPr lang="en-US" sz="1600" dirty="0"/>
          </a:p>
        </p:txBody>
      </p:sp>
      <p:sp>
        <p:nvSpPr>
          <p:cNvPr id="5" name="Application dot 1"/>
          <p:cNvSpPr/>
          <p:nvPr/>
        </p:nvSpPr>
        <p:spPr>
          <a:xfrm>
            <a:off x="8961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Application dot 2"/>
          <p:cNvSpPr/>
          <p:nvPr/>
        </p:nvSpPr>
        <p:spPr>
          <a:xfrm>
            <a:off x="12390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Application dot 3"/>
          <p:cNvSpPr/>
          <p:nvPr/>
        </p:nvSpPr>
        <p:spPr>
          <a:xfrm>
            <a:off x="15819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Application dot 4"/>
          <p:cNvSpPr/>
          <p:nvPr/>
        </p:nvSpPr>
        <p:spPr>
          <a:xfrm>
            <a:off x="19248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Application dot 5"/>
          <p:cNvSpPr/>
          <p:nvPr/>
        </p:nvSpPr>
        <p:spPr>
          <a:xfrm>
            <a:off x="22677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Application dot 6"/>
          <p:cNvSpPr/>
          <p:nvPr/>
        </p:nvSpPr>
        <p:spPr>
          <a:xfrm>
            <a:off x="26106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Application dot 7"/>
          <p:cNvSpPr/>
          <p:nvPr/>
        </p:nvSpPr>
        <p:spPr>
          <a:xfrm>
            <a:off x="29535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Application dot 8"/>
          <p:cNvSpPr/>
          <p:nvPr/>
        </p:nvSpPr>
        <p:spPr>
          <a:xfrm>
            <a:off x="32964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Application dot 9"/>
          <p:cNvSpPr/>
          <p:nvPr/>
        </p:nvSpPr>
        <p:spPr>
          <a:xfrm>
            <a:off x="36393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Application dot 10"/>
          <p:cNvSpPr/>
          <p:nvPr/>
        </p:nvSpPr>
        <p:spPr>
          <a:xfrm>
            <a:off x="39822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Application dot 11"/>
          <p:cNvSpPr/>
          <p:nvPr/>
        </p:nvSpPr>
        <p:spPr>
          <a:xfrm>
            <a:off x="43251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Application dot 12"/>
          <p:cNvSpPr/>
          <p:nvPr/>
        </p:nvSpPr>
        <p:spPr>
          <a:xfrm>
            <a:off x="46680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Application dot 13"/>
          <p:cNvSpPr/>
          <p:nvPr/>
        </p:nvSpPr>
        <p:spPr>
          <a:xfrm>
            <a:off x="50109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Application dot 14"/>
          <p:cNvSpPr/>
          <p:nvPr/>
        </p:nvSpPr>
        <p:spPr>
          <a:xfrm>
            <a:off x="5353812" y="23774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Application dot 15"/>
          <p:cNvSpPr/>
          <p:nvPr/>
        </p:nvSpPr>
        <p:spPr>
          <a:xfrm>
            <a:off x="8961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Application dot 16"/>
          <p:cNvSpPr/>
          <p:nvPr/>
        </p:nvSpPr>
        <p:spPr>
          <a:xfrm>
            <a:off x="12390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Application dot 17"/>
          <p:cNvSpPr/>
          <p:nvPr/>
        </p:nvSpPr>
        <p:spPr>
          <a:xfrm>
            <a:off x="15819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Application dot 18"/>
          <p:cNvSpPr/>
          <p:nvPr/>
        </p:nvSpPr>
        <p:spPr>
          <a:xfrm>
            <a:off x="19248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Application dot 19"/>
          <p:cNvSpPr/>
          <p:nvPr/>
        </p:nvSpPr>
        <p:spPr>
          <a:xfrm>
            <a:off x="2267712" y="272034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Application dot 20"/>
          <p:cNvSpPr/>
          <p:nvPr/>
        </p:nvSpPr>
        <p:spPr>
          <a:xfrm>
            <a:off x="26106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Application dot 21"/>
          <p:cNvSpPr/>
          <p:nvPr/>
        </p:nvSpPr>
        <p:spPr>
          <a:xfrm>
            <a:off x="29535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Application dot 22"/>
          <p:cNvSpPr/>
          <p:nvPr/>
        </p:nvSpPr>
        <p:spPr>
          <a:xfrm>
            <a:off x="32964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Application dot 23"/>
          <p:cNvSpPr/>
          <p:nvPr/>
        </p:nvSpPr>
        <p:spPr>
          <a:xfrm>
            <a:off x="36393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Application dot 24"/>
          <p:cNvSpPr/>
          <p:nvPr/>
        </p:nvSpPr>
        <p:spPr>
          <a:xfrm>
            <a:off x="39822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9" name="Application dot 25"/>
          <p:cNvSpPr/>
          <p:nvPr/>
        </p:nvSpPr>
        <p:spPr>
          <a:xfrm>
            <a:off x="43251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Application dot 26"/>
          <p:cNvSpPr/>
          <p:nvPr/>
        </p:nvSpPr>
        <p:spPr>
          <a:xfrm>
            <a:off x="46680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1" name="Application dot 27"/>
          <p:cNvSpPr/>
          <p:nvPr/>
        </p:nvSpPr>
        <p:spPr>
          <a:xfrm>
            <a:off x="50109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2" name="Application dot 28"/>
          <p:cNvSpPr/>
          <p:nvPr/>
        </p:nvSpPr>
        <p:spPr>
          <a:xfrm>
            <a:off x="5353812" y="27203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Application dot 29"/>
          <p:cNvSpPr/>
          <p:nvPr/>
        </p:nvSpPr>
        <p:spPr>
          <a:xfrm>
            <a:off x="8961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4" name="Application dot 30"/>
          <p:cNvSpPr/>
          <p:nvPr/>
        </p:nvSpPr>
        <p:spPr>
          <a:xfrm>
            <a:off x="12390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5" name="Application dot 31"/>
          <p:cNvSpPr/>
          <p:nvPr/>
        </p:nvSpPr>
        <p:spPr>
          <a:xfrm>
            <a:off x="15819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Application dot 32"/>
          <p:cNvSpPr/>
          <p:nvPr/>
        </p:nvSpPr>
        <p:spPr>
          <a:xfrm>
            <a:off x="19248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Application dot 33"/>
          <p:cNvSpPr/>
          <p:nvPr/>
        </p:nvSpPr>
        <p:spPr>
          <a:xfrm>
            <a:off x="22677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8" name="Application dot 34"/>
          <p:cNvSpPr/>
          <p:nvPr/>
        </p:nvSpPr>
        <p:spPr>
          <a:xfrm>
            <a:off x="26106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9" name="Application dot 35"/>
          <p:cNvSpPr/>
          <p:nvPr/>
        </p:nvSpPr>
        <p:spPr>
          <a:xfrm>
            <a:off x="29535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0" name="Application dot 36"/>
          <p:cNvSpPr/>
          <p:nvPr/>
        </p:nvSpPr>
        <p:spPr>
          <a:xfrm>
            <a:off x="32964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1" name="Application dot 37"/>
          <p:cNvSpPr/>
          <p:nvPr/>
        </p:nvSpPr>
        <p:spPr>
          <a:xfrm>
            <a:off x="36393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2" name="Application dot 38"/>
          <p:cNvSpPr/>
          <p:nvPr/>
        </p:nvSpPr>
        <p:spPr>
          <a:xfrm>
            <a:off x="39822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3" name="Application dot 39"/>
          <p:cNvSpPr/>
          <p:nvPr/>
        </p:nvSpPr>
        <p:spPr>
          <a:xfrm>
            <a:off x="43251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4" name="Application dot 40"/>
          <p:cNvSpPr/>
          <p:nvPr/>
        </p:nvSpPr>
        <p:spPr>
          <a:xfrm>
            <a:off x="46680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5" name="Application dot 41"/>
          <p:cNvSpPr/>
          <p:nvPr/>
        </p:nvSpPr>
        <p:spPr>
          <a:xfrm>
            <a:off x="50109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Application dot 42"/>
          <p:cNvSpPr/>
          <p:nvPr/>
        </p:nvSpPr>
        <p:spPr>
          <a:xfrm>
            <a:off x="5353812" y="30632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7" name="Application dot 43"/>
          <p:cNvSpPr/>
          <p:nvPr/>
        </p:nvSpPr>
        <p:spPr>
          <a:xfrm>
            <a:off x="8961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8" name="Application dot 44"/>
          <p:cNvSpPr/>
          <p:nvPr/>
        </p:nvSpPr>
        <p:spPr>
          <a:xfrm>
            <a:off x="12390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9" name="Application dot 45"/>
          <p:cNvSpPr/>
          <p:nvPr/>
        </p:nvSpPr>
        <p:spPr>
          <a:xfrm>
            <a:off x="15819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0" name="Application dot 46"/>
          <p:cNvSpPr/>
          <p:nvPr/>
        </p:nvSpPr>
        <p:spPr>
          <a:xfrm>
            <a:off x="19248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1" name="Application dot 47"/>
          <p:cNvSpPr/>
          <p:nvPr/>
        </p:nvSpPr>
        <p:spPr>
          <a:xfrm>
            <a:off x="22677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2" name="Application dot 48"/>
          <p:cNvSpPr/>
          <p:nvPr/>
        </p:nvSpPr>
        <p:spPr>
          <a:xfrm>
            <a:off x="26106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3" name="Application dot 49"/>
          <p:cNvSpPr/>
          <p:nvPr/>
        </p:nvSpPr>
        <p:spPr>
          <a:xfrm>
            <a:off x="29535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4" name="Application dot 50"/>
          <p:cNvSpPr/>
          <p:nvPr/>
        </p:nvSpPr>
        <p:spPr>
          <a:xfrm>
            <a:off x="32964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5" name="Application dot 51"/>
          <p:cNvSpPr/>
          <p:nvPr/>
        </p:nvSpPr>
        <p:spPr>
          <a:xfrm>
            <a:off x="36393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6" name="Application dot 52"/>
          <p:cNvSpPr/>
          <p:nvPr/>
        </p:nvSpPr>
        <p:spPr>
          <a:xfrm>
            <a:off x="39822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7" name="Application dot 53"/>
          <p:cNvSpPr/>
          <p:nvPr/>
        </p:nvSpPr>
        <p:spPr>
          <a:xfrm>
            <a:off x="43251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8" name="Application dot 54"/>
          <p:cNvSpPr/>
          <p:nvPr/>
        </p:nvSpPr>
        <p:spPr>
          <a:xfrm>
            <a:off x="46680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9" name="Application dot 55"/>
          <p:cNvSpPr/>
          <p:nvPr/>
        </p:nvSpPr>
        <p:spPr>
          <a:xfrm>
            <a:off x="50109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0" name="Application dot 56"/>
          <p:cNvSpPr/>
          <p:nvPr/>
        </p:nvSpPr>
        <p:spPr>
          <a:xfrm>
            <a:off x="5353812" y="34061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1" name="Application dot 57"/>
          <p:cNvSpPr/>
          <p:nvPr/>
        </p:nvSpPr>
        <p:spPr>
          <a:xfrm>
            <a:off x="8961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2" name="Application dot 58"/>
          <p:cNvSpPr/>
          <p:nvPr/>
        </p:nvSpPr>
        <p:spPr>
          <a:xfrm>
            <a:off x="12390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3" name="Application dot 59"/>
          <p:cNvSpPr/>
          <p:nvPr/>
        </p:nvSpPr>
        <p:spPr>
          <a:xfrm>
            <a:off x="15819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4" name="Application dot 60"/>
          <p:cNvSpPr/>
          <p:nvPr/>
        </p:nvSpPr>
        <p:spPr>
          <a:xfrm>
            <a:off x="19248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5" name="Application dot 61"/>
          <p:cNvSpPr/>
          <p:nvPr/>
        </p:nvSpPr>
        <p:spPr>
          <a:xfrm>
            <a:off x="22677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6" name="Application dot 62"/>
          <p:cNvSpPr/>
          <p:nvPr/>
        </p:nvSpPr>
        <p:spPr>
          <a:xfrm>
            <a:off x="2610612" y="374904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7" name="Application dot 63"/>
          <p:cNvSpPr/>
          <p:nvPr/>
        </p:nvSpPr>
        <p:spPr>
          <a:xfrm>
            <a:off x="29535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8" name="Application dot 64"/>
          <p:cNvSpPr/>
          <p:nvPr/>
        </p:nvSpPr>
        <p:spPr>
          <a:xfrm>
            <a:off x="32964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9" name="Application dot 65"/>
          <p:cNvSpPr/>
          <p:nvPr/>
        </p:nvSpPr>
        <p:spPr>
          <a:xfrm>
            <a:off x="36393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0" name="Application dot 66"/>
          <p:cNvSpPr/>
          <p:nvPr/>
        </p:nvSpPr>
        <p:spPr>
          <a:xfrm>
            <a:off x="39822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1" name="Application dot 67"/>
          <p:cNvSpPr/>
          <p:nvPr/>
        </p:nvSpPr>
        <p:spPr>
          <a:xfrm>
            <a:off x="43251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2" name="Application dot 68"/>
          <p:cNvSpPr/>
          <p:nvPr/>
        </p:nvSpPr>
        <p:spPr>
          <a:xfrm>
            <a:off x="46680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3" name="Application dot 69"/>
          <p:cNvSpPr/>
          <p:nvPr/>
        </p:nvSpPr>
        <p:spPr>
          <a:xfrm>
            <a:off x="50109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4" name="Application dot 70"/>
          <p:cNvSpPr/>
          <p:nvPr/>
        </p:nvSpPr>
        <p:spPr>
          <a:xfrm>
            <a:off x="5353812" y="37490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5" name="Application dot 71"/>
          <p:cNvSpPr/>
          <p:nvPr/>
        </p:nvSpPr>
        <p:spPr>
          <a:xfrm>
            <a:off x="8961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6" name="Application dot 72"/>
          <p:cNvSpPr/>
          <p:nvPr/>
        </p:nvSpPr>
        <p:spPr>
          <a:xfrm>
            <a:off x="12390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7" name="Application dot 73"/>
          <p:cNvSpPr/>
          <p:nvPr/>
        </p:nvSpPr>
        <p:spPr>
          <a:xfrm>
            <a:off x="15819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8" name="Application dot 74"/>
          <p:cNvSpPr/>
          <p:nvPr/>
        </p:nvSpPr>
        <p:spPr>
          <a:xfrm>
            <a:off x="19248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9" name="Application dot 75"/>
          <p:cNvSpPr/>
          <p:nvPr/>
        </p:nvSpPr>
        <p:spPr>
          <a:xfrm>
            <a:off x="22677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0" name="Application dot 76"/>
          <p:cNvSpPr/>
          <p:nvPr/>
        </p:nvSpPr>
        <p:spPr>
          <a:xfrm>
            <a:off x="26106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1" name="Application dot 77"/>
          <p:cNvSpPr/>
          <p:nvPr/>
        </p:nvSpPr>
        <p:spPr>
          <a:xfrm>
            <a:off x="29535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2" name="Application dot 78"/>
          <p:cNvSpPr/>
          <p:nvPr/>
        </p:nvSpPr>
        <p:spPr>
          <a:xfrm>
            <a:off x="32964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3" name="Application dot 79"/>
          <p:cNvSpPr/>
          <p:nvPr/>
        </p:nvSpPr>
        <p:spPr>
          <a:xfrm>
            <a:off x="36393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4" name="Application dot 80"/>
          <p:cNvSpPr/>
          <p:nvPr/>
        </p:nvSpPr>
        <p:spPr>
          <a:xfrm>
            <a:off x="39822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5" name="Application dot 81"/>
          <p:cNvSpPr/>
          <p:nvPr/>
        </p:nvSpPr>
        <p:spPr>
          <a:xfrm>
            <a:off x="43251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6" name="Application dot 82"/>
          <p:cNvSpPr/>
          <p:nvPr/>
        </p:nvSpPr>
        <p:spPr>
          <a:xfrm>
            <a:off x="46680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7" name="Application dot 83"/>
          <p:cNvSpPr/>
          <p:nvPr/>
        </p:nvSpPr>
        <p:spPr>
          <a:xfrm>
            <a:off x="5010912" y="40919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8" name="Application dot 84"/>
          <p:cNvSpPr/>
          <p:nvPr/>
        </p:nvSpPr>
        <p:spPr>
          <a:xfrm>
            <a:off x="5353812" y="409194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9" name="Application dot 85"/>
          <p:cNvSpPr/>
          <p:nvPr/>
        </p:nvSpPr>
        <p:spPr>
          <a:xfrm>
            <a:off x="8961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0" name="Application dot 86"/>
          <p:cNvSpPr/>
          <p:nvPr/>
        </p:nvSpPr>
        <p:spPr>
          <a:xfrm>
            <a:off x="12390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1" name="Application dot 87"/>
          <p:cNvSpPr/>
          <p:nvPr/>
        </p:nvSpPr>
        <p:spPr>
          <a:xfrm>
            <a:off x="15819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2" name="Application dot 88"/>
          <p:cNvSpPr/>
          <p:nvPr/>
        </p:nvSpPr>
        <p:spPr>
          <a:xfrm>
            <a:off x="19248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3" name="Application dot 89"/>
          <p:cNvSpPr/>
          <p:nvPr/>
        </p:nvSpPr>
        <p:spPr>
          <a:xfrm>
            <a:off x="22677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4" name="Application dot 90"/>
          <p:cNvSpPr/>
          <p:nvPr/>
        </p:nvSpPr>
        <p:spPr>
          <a:xfrm>
            <a:off x="26106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5" name="Application dot 91"/>
          <p:cNvSpPr/>
          <p:nvPr/>
        </p:nvSpPr>
        <p:spPr>
          <a:xfrm>
            <a:off x="29535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6" name="Application dot 92"/>
          <p:cNvSpPr/>
          <p:nvPr/>
        </p:nvSpPr>
        <p:spPr>
          <a:xfrm>
            <a:off x="32964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7" name="Application dot 93"/>
          <p:cNvSpPr/>
          <p:nvPr/>
        </p:nvSpPr>
        <p:spPr>
          <a:xfrm>
            <a:off x="36393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8" name="Application dot 94"/>
          <p:cNvSpPr/>
          <p:nvPr/>
        </p:nvSpPr>
        <p:spPr>
          <a:xfrm>
            <a:off x="39822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9" name="Application dot 95"/>
          <p:cNvSpPr/>
          <p:nvPr/>
        </p:nvSpPr>
        <p:spPr>
          <a:xfrm>
            <a:off x="43251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0" name="Application dot 96"/>
          <p:cNvSpPr/>
          <p:nvPr/>
        </p:nvSpPr>
        <p:spPr>
          <a:xfrm>
            <a:off x="46680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1" name="Application dot 97"/>
          <p:cNvSpPr/>
          <p:nvPr/>
        </p:nvSpPr>
        <p:spPr>
          <a:xfrm>
            <a:off x="50109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2" name="Application dot 98"/>
          <p:cNvSpPr/>
          <p:nvPr/>
        </p:nvSpPr>
        <p:spPr>
          <a:xfrm>
            <a:off x="5353812" y="4434840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3" name="Legend dot grey"/>
          <p:cNvSpPr/>
          <p:nvPr/>
        </p:nvSpPr>
        <p:spPr>
          <a:xfrm>
            <a:off x="896112" y="5001768"/>
            <a:ext cx="182880" cy="1828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1170432" y="4965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sent</a:t>
            </a:r>
            <a:endParaRPr lang="en-US" sz="1200" dirty="0"/>
          </a:p>
        </p:txBody>
      </p:sp>
      <p:sp>
        <p:nvSpPr>
          <p:cNvPr id="105" name="Legend dot brass"/>
          <p:cNvSpPr/>
          <p:nvPr/>
        </p:nvSpPr>
        <p:spPr>
          <a:xfrm>
            <a:off x="2926080" y="500176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200400" y="4965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reply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896112" y="5440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Illustration, not data</a:t>
            </a:r>
            <a:endParaRPr lang="en-US" sz="1100" dirty="0"/>
          </a:p>
        </p:txBody>
      </p:sp>
      <p:sp>
        <p:nvSpPr>
          <p:cNvPr id="108" name="Problem marker 1"/>
          <p:cNvSpPr/>
          <p:nvPr/>
        </p:nvSpPr>
        <p:spPr>
          <a:xfrm>
            <a:off x="658368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65836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7269480" y="167335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run through portals</a:t>
            </a:r>
            <a:endParaRPr lang="en-US" sz="1700" dirty="0"/>
          </a:p>
        </p:txBody>
      </p:sp>
      <p:sp>
        <p:nvSpPr>
          <p:cNvPr id="111" name="Text 109"/>
          <p:cNvSpPr txBox="1"/>
          <p:nvPr/>
        </p:nvSpPr>
        <p:spPr>
          <a:xfrm>
            <a:off x="7269480" y="202082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Off-campus and lateral candidates send hundreds of applications through the same channels as everyone else.</a:t>
            </a:r>
            <a:endParaRPr lang="en-US" sz="1400" dirty="0"/>
          </a:p>
        </p:txBody>
      </p:sp>
      <p:sp>
        <p:nvSpPr>
          <p:cNvPr id="112" name="Problem marker 2"/>
          <p:cNvSpPr/>
          <p:nvPr/>
        </p:nvSpPr>
        <p:spPr>
          <a:xfrm>
            <a:off x="6583680" y="277063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4" name="Text 112"/>
          <p:cNvSpPr txBox="1"/>
          <p:nvPr/>
        </p:nvSpPr>
        <p:spPr>
          <a:xfrm>
            <a:off x="7269480" y="275234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replies, fewer conversations</a:t>
            </a:r>
            <a:endParaRPr lang="en-US" sz="1700" dirty="0"/>
          </a:p>
        </p:txBody>
      </p:sp>
      <p:sp>
        <p:nvSpPr>
          <p:cNvPr id="115" name="Text 113"/>
          <p:cNvSpPr txBox="1"/>
          <p:nvPr/>
        </p:nvSpPr>
        <p:spPr>
          <a:xfrm>
            <a:off x="7269480" y="3099816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applications end in silence. No one at the company ever reads the name.</a:t>
            </a:r>
            <a:endParaRPr lang="en-US" sz="1400" dirty="0"/>
          </a:p>
        </p:txBody>
      </p:sp>
      <p:sp>
        <p:nvSpPr>
          <p:cNvPr id="116" name="Problem marker 3"/>
          <p:cNvSpPr/>
          <p:nvPr/>
        </p:nvSpPr>
        <p:spPr>
          <a:xfrm>
            <a:off x="6583680" y="38496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58368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8" name="Text 116"/>
          <p:cNvSpPr txBox="1"/>
          <p:nvPr/>
        </p:nvSpPr>
        <p:spPr>
          <a:xfrm>
            <a:off x="7269480" y="383133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batch spends weeks on volume</a:t>
            </a:r>
            <a:endParaRPr lang="en-US" sz="1700" dirty="0"/>
          </a:p>
        </p:txBody>
      </p:sp>
      <p:sp>
        <p:nvSpPr>
          <p:cNvPr id="119" name="Text 117"/>
          <p:cNvSpPr txBox="1"/>
          <p:nvPr/>
        </p:nvSpPr>
        <p:spPr>
          <a:xfrm>
            <a:off x="7269480" y="4178808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goes into forms and filters instead of talking to the people who decide.</a:t>
            </a:r>
            <a:endParaRPr lang="en-US" sz="1400" dirty="0"/>
          </a:p>
        </p:txBody>
      </p:sp>
      <p:sp>
        <p:nvSpPr>
          <p:cNvPr id="120" name="Text 118"/>
          <p:cNvSpPr txBox="1"/>
          <p:nvPr/>
        </p:nvSpPr>
        <p:spPr>
          <a:xfrm>
            <a:off x="6583680" y="5120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hire people.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Warm conversations beat cold applications</a:t>
            </a:r>
            <a:endParaRPr lang="en-US" sz="3600" dirty="0"/>
          </a:p>
        </p:txBody>
      </p:sp>
      <p:sp>
        <p:nvSpPr>
          <p:cNvPr id="3" name="Cold column"/>
          <p:cNvSpPr/>
          <p:nvPr/>
        </p:nvSpPr>
        <p:spPr>
          <a:xfrm>
            <a:off x="3566160" y="1600200"/>
            <a:ext cx="3840480" cy="4206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4" name="Warm column"/>
          <p:cNvSpPr/>
          <p:nvPr/>
        </p:nvSpPr>
        <p:spPr>
          <a:xfrm>
            <a:off x="7772400" y="1600200"/>
            <a:ext cx="3840480" cy="420624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8404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 application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04672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conversation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sees it first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560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filter or a shared inbox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2560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at the company</a:t>
            </a:r>
            <a:endParaRPr lang="en-US" sz="1600" dirty="0"/>
          </a:p>
        </p:txBody>
      </p:sp>
      <p:sp>
        <p:nvSpPr>
          <p:cNvPr id="10" name="Row rule 1"/>
          <p:cNvSpPr/>
          <p:nvPr/>
        </p:nvSpPr>
        <p:spPr>
          <a:xfrm>
            <a:off x="548640" y="3438144"/>
            <a:ext cx="274320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844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it stand out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5844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on a CV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5844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 shared reason to talk</a:t>
            </a:r>
            <a:endParaRPr lang="en-US" sz="1600" dirty="0"/>
          </a:p>
        </p:txBody>
      </p:sp>
      <p:sp>
        <p:nvSpPr>
          <p:cNvPr id="14" name="Row rule 2"/>
          <p:cNvSpPr/>
          <p:nvPr/>
        </p:nvSpPr>
        <p:spPr>
          <a:xfrm>
            <a:off x="548640" y="4462272"/>
            <a:ext cx="274320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60857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usually leads to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460857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Silence or a template rejection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460857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Advice, a referral, an interview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Referrals and introductions already work on every campus. Knock makes them systematic, without inventing any shortcuts.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Four steps, every message approved</a:t>
            </a:r>
            <a:endParaRPr lang="en-US" sz="3600" dirty="0"/>
          </a:p>
        </p:txBody>
      </p:sp>
      <p:sp>
        <p:nvSpPr>
          <p:cNvPr id="3" name="Step connector"/>
          <p:cNvSpPr/>
          <p:nvPr/>
        </p:nvSpPr>
        <p:spPr>
          <a:xfrm>
            <a:off x="868680" y="2057400"/>
            <a:ext cx="855055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4" name="Step marker 1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tep card 1"/>
          <p:cNvSpPr/>
          <p:nvPr/>
        </p:nvSpPr>
        <p:spPr>
          <a:xfrm>
            <a:off x="548640" y="2651760"/>
            <a:ext cx="251460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pick the targets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576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companies and roles you want. We agree the search together.</a:t>
            </a:r>
            <a:endParaRPr lang="en-US" sz="1400" dirty="0"/>
          </a:p>
        </p:txBody>
      </p:sp>
      <p:sp>
        <p:nvSpPr>
          <p:cNvPr id="9" name="Step marker 2"/>
          <p:cNvSpPr/>
          <p:nvPr/>
        </p:nvSpPr>
        <p:spPr>
          <a:xfrm>
            <a:off x="3398825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98825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tep card 2"/>
          <p:cNvSpPr/>
          <p:nvPr/>
        </p:nvSpPr>
        <p:spPr>
          <a:xfrm>
            <a:off x="3398825" y="2651760"/>
            <a:ext cx="251460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27425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find the right people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36576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managers, team members, alumni and seniors who can introduce.</a:t>
            </a:r>
            <a:endParaRPr lang="en-US" sz="1400" dirty="0"/>
          </a:p>
        </p:txBody>
      </p:sp>
      <p:sp>
        <p:nvSpPr>
          <p:cNvPr id="14" name="Step marker 3"/>
          <p:cNvSpPr/>
          <p:nvPr/>
        </p:nvSpPr>
        <p:spPr>
          <a:xfrm>
            <a:off x="624901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4901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tep card 3"/>
          <p:cNvSpPr/>
          <p:nvPr/>
        </p:nvSpPr>
        <p:spPr>
          <a:xfrm>
            <a:off x="6249010" y="2651760"/>
            <a:ext cx="251460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77610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write a personal first message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7610" y="36576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built on something you genuinely share with that person.</a:t>
            </a:r>
            <a:endParaRPr lang="en-US" sz="1400" dirty="0"/>
          </a:p>
        </p:txBody>
      </p:sp>
      <p:sp>
        <p:nvSpPr>
          <p:cNvPr id="19" name="Step marker 4"/>
          <p:cNvSpPr/>
          <p:nvPr/>
        </p:nvSpPr>
        <p:spPr>
          <a:xfrm>
            <a:off x="909919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99194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Step card 4"/>
          <p:cNvSpPr/>
          <p:nvPr/>
        </p:nvSpPr>
        <p:spPr>
          <a:xfrm>
            <a:off x="9099194" y="2651760"/>
            <a:ext cx="251460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27794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guide every reply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27794" y="36576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help on each conversation until it becomes a referral or an interview.</a:t>
            </a:r>
            <a:endParaRPr lang="en-US" sz="1400" dirty="0"/>
          </a:p>
        </p:txBody>
      </p:sp>
      <p:sp>
        <p:nvSpPr>
          <p:cNvPr id="24" name="Control panel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5" name="Control check"/>
          <p:cNvSpPr/>
          <p:nvPr/>
        </p:nvSpPr>
        <p:spPr>
          <a:xfrm>
            <a:off x="822960" y="53218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321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12064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stay in control.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goes out without the student's approval, and every message is sent from their own LinkedIn.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first message about them, not the job</a:t>
            </a:r>
            <a:endParaRPr lang="en-US" sz="3600" dirty="0"/>
          </a:p>
        </p:txBody>
      </p:sp>
      <p:sp>
        <p:nvSpPr>
          <p:cNvPr id="3" name="Message mock card"/>
          <p:cNvSpPr/>
          <p:nvPr/>
        </p:nvSpPr>
        <p:spPr>
          <a:xfrm>
            <a:off x="548640" y="1600200"/>
            <a:ext cx="576072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4" name="Recipient avatar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901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Rahul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219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Product, Zepto  ·  previously Flipkart</a:t>
            </a:r>
            <a:endParaRPr lang="en-US" sz="1200" dirty="0"/>
          </a:p>
        </p:txBody>
      </p:sp>
      <p:sp>
        <p:nvSpPr>
          <p:cNvPr id="8" name="Message divider"/>
          <p:cNvSpPr/>
          <p:nvPr/>
        </p:nvSpPr>
        <p:spPr>
          <a:xfrm>
            <a:off x="868680" y="274320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9" name="Message bubble"/>
          <p:cNvSpPr/>
          <p:nvPr/>
        </p:nvSpPr>
        <p:spPr>
          <a:xfrm>
            <a:off x="868680" y="297180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15468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 Rahul, saw you moved from Flipkart into product at Zepto. I'm making a similar jump from brand management. Curious, what was the biggest adjustment for you?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3492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from the student's own LinkedIn, after their approval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works</a:t>
            </a:r>
            <a:endParaRPr lang="en-US" sz="2000" dirty="0"/>
          </a:p>
        </p:txBody>
      </p:sp>
      <p:sp>
        <p:nvSpPr>
          <p:cNvPr id="13" name="Why marker 1"/>
          <p:cNvSpPr/>
          <p:nvPr/>
        </p:nvSpPr>
        <p:spPr>
          <a:xfrm>
            <a:off x="6858000" y="2286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26771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specific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43800" y="262432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names his real move, Flipkart to Zepto. It could only be written to him.</a:t>
            </a:r>
            <a:endParaRPr lang="en-US" sz="1400" dirty="0"/>
          </a:p>
        </p:txBody>
      </p:sp>
      <p:sp>
        <p:nvSpPr>
          <p:cNvPr id="17" name="Why marker 2"/>
          <p:cNvSpPr/>
          <p:nvPr/>
        </p:nvSpPr>
        <p:spPr>
          <a:xfrm>
            <a:off x="6858000" y="3474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34564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genuinely shared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381304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student is making the same kind of jump, so the question is honest.</a:t>
            </a:r>
            <a:endParaRPr lang="en-US" sz="1400" dirty="0"/>
          </a:p>
        </p:txBody>
      </p:sp>
      <p:sp>
        <p:nvSpPr>
          <p:cNvPr id="21" name="Why marker 3"/>
          <p:cNvSpPr/>
          <p:nvPr/>
        </p:nvSpPr>
        <p:spPr>
          <a:xfrm>
            <a:off x="6858000" y="4663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464515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easy to answer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500176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curious question and no ask. The referral comes later, if it fits.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Built to protect your batch's inbox</a:t>
            </a:r>
            <a:endParaRPr lang="en-US" sz="3600" dirty="0"/>
          </a:p>
        </p:txBody>
      </p:sp>
      <p:sp>
        <p:nvSpPr>
          <p:cNvPr id="3" name="Stat panel"/>
          <p:cNvSpPr/>
          <p:nvPr/>
        </p:nvSpPr>
        <p:spPr>
          <a:xfrm>
            <a:off x="548640" y="1600200"/>
            <a:ext cx="4023360" cy="434340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103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hand-picked people per student, per week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937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one by one, not scraped in bulk.</a:t>
            </a:r>
            <a:endParaRPr lang="en-US" sz="1400" dirty="0"/>
          </a:p>
        </p:txBody>
      </p:sp>
      <p:sp>
        <p:nvSpPr>
          <p:cNvPr id="7" name="Safeguard card 1"/>
          <p:cNvSpPr/>
          <p:nvPr/>
        </p:nvSpPr>
        <p:spPr>
          <a:xfrm>
            <a:off x="5029200" y="1600200"/>
            <a:ext cx="3108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8" name="Safeguard check 1"/>
          <p:cNvSpPr/>
          <p:nvPr/>
        </p:nvSpPr>
        <p:spPr>
          <a:xfrm>
            <a:off x="530352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24231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message is personal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30175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for one person, based on something real you share.</a:t>
            </a:r>
            <a:endParaRPr lang="en-US" sz="1300" dirty="0"/>
          </a:p>
        </p:txBody>
      </p:sp>
      <p:sp>
        <p:nvSpPr>
          <p:cNvPr id="12" name="Safeguard card 2"/>
          <p:cNvSpPr/>
          <p:nvPr/>
        </p:nvSpPr>
        <p:spPr>
          <a:xfrm>
            <a:off x="8412480" y="1600200"/>
            <a:ext cx="3108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3" name="Safeguard check 2"/>
          <p:cNvSpPr/>
          <p:nvPr/>
        </p:nvSpPr>
        <p:spPr>
          <a:xfrm>
            <a:off x="868680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24231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from the student's own account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30175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bots, no shared sender, no fake profiles.</a:t>
            </a:r>
            <a:endParaRPr lang="en-US" sz="1300" dirty="0"/>
          </a:p>
        </p:txBody>
      </p:sp>
      <p:sp>
        <p:nvSpPr>
          <p:cNvPr id="17" name="Safeguard card 3"/>
          <p:cNvSpPr/>
          <p:nvPr/>
        </p:nvSpPr>
        <p:spPr>
          <a:xfrm>
            <a:off x="5029200" y="3840480"/>
            <a:ext cx="3108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8" name="Safeguard check 3"/>
          <p:cNvSpPr/>
          <p:nvPr/>
        </p:nvSpPr>
        <p:spPr>
          <a:xfrm>
            <a:off x="5303520" y="41148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46634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 under LinkedIn's limits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5257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pace a thoughtful person could keep by hand.</a:t>
            </a:r>
            <a:endParaRPr lang="en-US" sz="1300" dirty="0"/>
          </a:p>
        </p:txBody>
      </p:sp>
      <p:sp>
        <p:nvSpPr>
          <p:cNvPr id="22" name="Safeguard card 4"/>
          <p:cNvSpPr/>
          <p:nvPr/>
        </p:nvSpPr>
        <p:spPr>
          <a:xfrm>
            <a:off x="8412480" y="3840480"/>
            <a:ext cx="3108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23" name="Safeguard check 4"/>
          <p:cNvSpPr/>
          <p:nvPr/>
        </p:nvSpPr>
        <p:spPr>
          <a:xfrm>
            <a:off x="8686800" y="41148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0" y="46634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first, ask later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5257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earn the reply before anyone mentions a referral.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Founding prices for every club member</a:t>
            </a:r>
            <a:endParaRPr lang="en-US" sz="3600" dirty="0"/>
          </a:p>
        </p:txBody>
      </p:sp>
      <p:sp>
        <p:nvSpPr>
          <p:cNvPr id="3" name="Package card Sprint"/>
          <p:cNvSpPr/>
          <p:nvPr/>
        </p:nvSpPr>
        <p:spPr>
          <a:xfrm>
            <a:off x="548640" y="160020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days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people</a:t>
            </a:r>
            <a:endParaRPr lang="en-US" sz="1500" dirty="0"/>
          </a:p>
        </p:txBody>
      </p:sp>
      <p:sp>
        <p:nvSpPr>
          <p:cNvPr id="7" name="Package rule 1"/>
          <p:cNvSpPr/>
          <p:nvPr/>
        </p:nvSpPr>
        <p:spPr>
          <a:xfrm>
            <a:off x="822960" y="3383280"/>
            <a:ext cx="2011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price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2,499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548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messages approved by you</a:t>
            </a:r>
            <a:endParaRPr lang="en-US" sz="1200" dirty="0"/>
          </a:p>
        </p:txBody>
      </p:sp>
      <p:sp>
        <p:nvSpPr>
          <p:cNvPr id="11" name="Package card Standard"/>
          <p:cNvSpPr/>
          <p:nvPr/>
        </p:nvSpPr>
        <p:spPr>
          <a:xfrm>
            <a:off x="3383280" y="160020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57600" y="1874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days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people</a:t>
            </a:r>
            <a:endParaRPr lang="en-US" sz="1500" dirty="0"/>
          </a:p>
        </p:txBody>
      </p:sp>
      <p:sp>
        <p:nvSpPr>
          <p:cNvPr id="15" name="Package rule 2"/>
          <p:cNvSpPr/>
          <p:nvPr/>
        </p:nvSpPr>
        <p:spPr>
          <a:xfrm>
            <a:off x="3657600" y="3383280"/>
            <a:ext cx="2011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price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886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3,999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47548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messages approved by you</a:t>
            </a:r>
            <a:endParaRPr lang="en-US" sz="1200" dirty="0"/>
          </a:p>
        </p:txBody>
      </p:sp>
      <p:sp>
        <p:nvSpPr>
          <p:cNvPr id="19" name="Package card Full search"/>
          <p:cNvSpPr/>
          <p:nvPr/>
        </p:nvSpPr>
        <p:spPr>
          <a:xfrm>
            <a:off x="6217920" y="160020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92240" y="1874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search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days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people</a:t>
            </a:r>
            <a:endParaRPr lang="en-US" sz="1500" dirty="0"/>
          </a:p>
        </p:txBody>
      </p:sp>
      <p:sp>
        <p:nvSpPr>
          <p:cNvPr id="23" name="Package rule 3"/>
          <p:cNvSpPr/>
          <p:nvPr/>
        </p:nvSpPr>
        <p:spPr>
          <a:xfrm>
            <a:off x="6492240" y="3383280"/>
            <a:ext cx="2011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price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886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5,499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7548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messages approved by you</a:t>
            </a:r>
            <a:endParaRPr lang="en-US" sz="1200" dirty="0"/>
          </a:p>
        </p:txBody>
      </p:sp>
      <p:sp>
        <p:nvSpPr>
          <p:cNvPr id="27" name="Package card Done-for-you"/>
          <p:cNvSpPr/>
          <p:nvPr/>
        </p:nvSpPr>
        <p:spPr>
          <a:xfrm>
            <a:off x="9052560" y="1600200"/>
            <a:ext cx="2560320" cy="393192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326880" y="1874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Done-for-you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managed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 the search</a:t>
            </a:r>
            <a:endParaRPr lang="en-US" sz="1500" dirty="0"/>
          </a:p>
        </p:txBody>
      </p:sp>
      <p:sp>
        <p:nvSpPr>
          <p:cNvPr id="31" name="Package rule 4"/>
          <p:cNvSpPr/>
          <p:nvPr/>
        </p:nvSpPr>
        <p:spPr>
          <a:xfrm>
            <a:off x="9326880" y="3383280"/>
            <a:ext cx="201168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0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3886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14,999</a:t>
            </a:r>
            <a:endParaRPr lang="en-US" sz="2800" dirty="0"/>
          </a:p>
        </p:txBody>
      </p:sp>
      <p:sp>
        <p:nvSpPr>
          <p:cNvPr id="34" name="Text 32"/>
          <p:cNvSpPr txBox="1"/>
          <p:nvPr/>
        </p:nvSpPr>
        <p:spPr>
          <a:xfrm>
            <a:off x="9326880" y="47548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the whole search end to end</a:t>
            </a:r>
            <a:endParaRPr lang="en-US" sz="1200" dirty="0"/>
          </a:p>
        </p:txBody>
      </p:sp>
      <p:sp>
        <p:nvSpPr>
          <p:cNvPr id="35" name="Price note panel"/>
          <p:cNvSpPr/>
          <p:nvPr/>
        </p:nvSpPr>
        <p:spPr>
          <a:xfrm>
            <a:off x="548640" y="5715000"/>
            <a:ext cx="110642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members get the founding price. 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prices in INR. One person in the package means one researched, personal first message.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free pilot for one announcement</a:t>
            </a:r>
            <a:endParaRPr lang="en-US" sz="3600" dirty="0"/>
          </a:p>
        </p:txBody>
      </p:sp>
      <p:sp>
        <p:nvSpPr>
          <p:cNvPr id="3" name="Club gets panel"/>
          <p:cNvSpPr/>
          <p:nvPr/>
        </p:nvSpPr>
        <p:spPr>
          <a:xfrm>
            <a:off x="548640" y="1600200"/>
            <a:ext cx="694944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club gets</a:t>
            </a:r>
            <a:endParaRPr lang="en-US" sz="2200" dirty="0"/>
          </a:p>
        </p:txBody>
      </p:sp>
      <p:sp>
        <p:nvSpPr>
          <p:cNvPr id="5" name="Gets marker 1"/>
          <p:cNvSpPr/>
          <p:nvPr/>
        </p:nvSpPr>
        <p:spPr>
          <a:xfrm>
            <a:off x="868680" y="2560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pilot for 5 students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the club. Full service, no cost.</a:t>
            </a:r>
            <a:endParaRPr lang="en-US" sz="1300" dirty="0"/>
          </a:p>
        </p:txBody>
      </p:sp>
      <p:sp>
        <p:nvSpPr>
          <p:cNvPr id="9" name="Gets marker 2"/>
          <p:cNvSpPr/>
          <p:nvPr/>
        </p:nvSpPr>
        <p:spPr>
          <a:xfrm>
            <a:off x="4160520" y="2560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6052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price for members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in for students and alumni.</a:t>
            </a:r>
            <a:endParaRPr lang="en-US" sz="1300" dirty="0"/>
          </a:p>
        </p:txBody>
      </p:sp>
      <p:sp>
        <p:nvSpPr>
          <p:cNvPr id="13" name="Gets marker 3"/>
          <p:cNvSpPr/>
          <p:nvPr/>
        </p:nvSpPr>
        <p:spPr>
          <a:xfrm>
            <a:off x="86868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27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shareable results summary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numbers from the pilot, yours to publish.</a:t>
            </a:r>
            <a:endParaRPr lang="en-US" sz="1300" dirty="0"/>
          </a:p>
        </p:txBody>
      </p:sp>
      <p:sp>
        <p:nvSpPr>
          <p:cNvPr id="17" name="Gets marker 4"/>
          <p:cNvSpPr/>
          <p:nvPr/>
        </p:nvSpPr>
        <p:spPr>
          <a:xfrm>
            <a:off x="416052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16052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4727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co-hosted session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outbound job search, for the whole batch.</a:t>
            </a:r>
            <a:endParaRPr lang="en-US" sz="1300" dirty="0"/>
          </a:p>
        </p:txBody>
      </p:sp>
      <p:sp>
        <p:nvSpPr>
          <p:cNvPr id="21" name="Knock asks panel"/>
          <p:cNvSpPr/>
          <p:nvPr/>
        </p:nvSpPr>
        <p:spPr>
          <a:xfrm>
            <a:off x="7863840" y="1600200"/>
            <a:ext cx="3749040" cy="4434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8388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Knock asks</a:t>
            </a:r>
            <a:endParaRPr lang="en-US" sz="2200" dirty="0"/>
          </a:p>
        </p:txBody>
      </p:sp>
      <p:sp>
        <p:nvSpPr>
          <p:cNvPr id="23" name="Ask marker 1"/>
          <p:cNvSpPr/>
          <p:nvPr/>
        </p:nvSpPr>
        <p:spPr>
          <a:xfrm>
            <a:off x="8183880" y="2560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838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announcement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520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batch, in your words.</a:t>
            </a:r>
            <a:endParaRPr lang="en-US" sz="1300" dirty="0"/>
          </a:p>
        </p:txBody>
      </p:sp>
      <p:sp>
        <p:nvSpPr>
          <p:cNvPr id="27" name="Ask marker 2"/>
          <p:cNvSpPr/>
          <p:nvPr/>
        </p:nvSpPr>
        <p:spPr>
          <a:xfrm>
            <a:off x="818388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838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feedback call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5120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pilot, about 30 minutes.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We report interviews per 100 contacted</a:t>
            </a:r>
            <a:endParaRPr lang="en-US" sz="3600" dirty="0"/>
          </a:p>
        </p:txBody>
      </p:sp>
      <p:sp>
        <p:nvSpPr>
          <p:cNvPr id="3" name="Formula interviews"/>
          <p:cNvSpPr/>
          <p:nvPr/>
        </p:nvSpPr>
        <p:spPr>
          <a:xfrm>
            <a:off x="548640" y="1783080"/>
            <a:ext cx="301752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with a target company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8308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</a:t>
            </a:r>
            <a:endParaRPr lang="en-US" sz="4000" dirty="0"/>
          </a:p>
        </p:txBody>
      </p:sp>
      <p:sp>
        <p:nvSpPr>
          <p:cNvPr id="7" name="Formula people"/>
          <p:cNvSpPr/>
          <p:nvPr/>
        </p:nvSpPr>
        <p:spPr>
          <a:xfrm>
            <a:off x="4389120" y="1783080"/>
            <a:ext cx="3017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8912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contacted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hand-picked, first message sent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178308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9189720" y="18745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honest number that a committee can compare across students and over time.</a:t>
            </a:r>
            <a:endParaRPr lang="en-US" sz="1400" dirty="0"/>
          </a:p>
        </p:txBody>
      </p:sp>
      <p:sp>
        <p:nvSpPr>
          <p:cNvPr id="12" name="Measure card 1"/>
          <p:cNvSpPr/>
          <p:nvPr/>
        </p:nvSpPr>
        <p:spPr>
          <a:xfrm>
            <a:off x="548640" y="3657600"/>
            <a:ext cx="347472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3" name="Measure marker 1"/>
          <p:cNvSpPr/>
          <p:nvPr/>
        </p:nvSpPr>
        <p:spPr>
          <a:xfrm>
            <a:off x="82296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526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student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920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pilot student sees their own rate, along with replies and referrals, every week.</a:t>
            </a:r>
            <a:endParaRPr lang="en-US" sz="1300" dirty="0"/>
          </a:p>
        </p:txBody>
      </p:sp>
      <p:sp>
        <p:nvSpPr>
          <p:cNvPr id="17" name="Measure card 2"/>
          <p:cNvSpPr/>
          <p:nvPr/>
        </p:nvSpPr>
        <p:spPr>
          <a:xfrm>
            <a:off x="4343400" y="3657600"/>
            <a:ext cx="347472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8" name="Measure marker 2"/>
          <p:cNvSpPr/>
          <p:nvPr/>
        </p:nvSpPr>
        <p:spPr>
          <a:xfrm>
            <a:off x="461772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177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4526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aggregate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48920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club gets one summary across the pilot, ready to share with the batch if you choose.</a:t>
            </a:r>
            <a:endParaRPr lang="en-US" sz="1300" dirty="0"/>
          </a:p>
        </p:txBody>
      </p:sp>
      <p:sp>
        <p:nvSpPr>
          <p:cNvPr id="22" name="Measure card 3"/>
          <p:cNvSpPr/>
          <p:nvPr/>
        </p:nvSpPr>
        <p:spPr>
          <a:xfrm>
            <a:off x="8138160" y="3657600"/>
            <a:ext cx="347472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23" name="Measure marker 3"/>
          <p:cNvSpPr/>
          <p:nvPr/>
        </p:nvSpPr>
        <p:spPr>
          <a:xfrm>
            <a:off x="841248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4526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promises yet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8920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no results to quote. The pilot sets the baseline, and we report it as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three-week pilot with a clear review</a:t>
            </a:r>
            <a:endParaRPr lang="en-US" sz="3600" dirty="0"/>
          </a:p>
        </p:txBody>
      </p:sp>
      <p:sp>
        <p:nvSpPr>
          <p:cNvPr id="3" name="Timeline axis"/>
          <p:cNvSpPr/>
          <p:nvPr/>
        </p:nvSpPr>
        <p:spPr>
          <a:xfrm>
            <a:off x="548640" y="2148840"/>
            <a:ext cx="110642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Timeline marker 1"/>
          <p:cNvSpPr/>
          <p:nvPr/>
        </p:nvSpPr>
        <p:spPr>
          <a:xfrm>
            <a:off x="548640" y="1874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56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30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Kickoff</a:t>
            </a:r>
            <a:endParaRPr lang="en-US" sz="2000" dirty="0"/>
          </a:p>
        </p:txBody>
      </p:sp>
      <p:sp>
        <p:nvSpPr>
          <p:cNvPr id="8" name="Timeline card 1"/>
          <p:cNvSpPr/>
          <p:nvPr/>
        </p:nvSpPr>
        <p:spPr>
          <a:xfrm>
            <a:off x="548640" y="2788920"/>
            <a:ext cx="3474720" cy="3063240"/>
          </a:xfrm>
          <a:prstGeom prst="roundRect">
            <a:avLst>
              <a:gd name="adj" fmla="val 3582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06324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club picks 5 students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companies and roles agreed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 reviewed with each student</a:t>
            </a:r>
            <a:endParaRPr lang="en-US" sz="1500" dirty="0"/>
          </a:p>
        </p:txBody>
      </p:sp>
      <p:sp>
        <p:nvSpPr>
          <p:cNvPr id="10" name="Timeline marker 2"/>
          <p:cNvSpPr/>
          <p:nvPr/>
        </p:nvSpPr>
        <p:spPr>
          <a:xfrm>
            <a:off x="4343400" y="1874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34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856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 to 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2130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2000" dirty="0"/>
          </a:p>
        </p:txBody>
      </p:sp>
      <p:sp>
        <p:nvSpPr>
          <p:cNvPr id="14" name="Timeline card 2"/>
          <p:cNvSpPr/>
          <p:nvPr/>
        </p:nvSpPr>
        <p:spPr>
          <a:xfrm>
            <a:off x="4343400" y="2788920"/>
            <a:ext cx="3474720" cy="3063240"/>
          </a:xfrm>
          <a:prstGeom prst="roundRect">
            <a:avLst>
              <a:gd name="adj" fmla="val 3582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306324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60 hand-picked people per student, per week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approve every message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Replies guided daily</a:t>
            </a:r>
            <a:endParaRPr lang="en-US" sz="1500" dirty="0"/>
          </a:p>
        </p:txBody>
      </p:sp>
      <p:sp>
        <p:nvSpPr>
          <p:cNvPr id="16" name="Timeline marker 3"/>
          <p:cNvSpPr/>
          <p:nvPr/>
        </p:nvSpPr>
        <p:spPr>
          <a:xfrm>
            <a:off x="813816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381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1856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2130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review</a:t>
            </a:r>
            <a:endParaRPr lang="en-US" sz="2000" dirty="0"/>
          </a:p>
        </p:txBody>
      </p:sp>
      <p:sp>
        <p:nvSpPr>
          <p:cNvPr id="20" name="Timeline card 3"/>
          <p:cNvSpPr/>
          <p:nvPr/>
        </p:nvSpPr>
        <p:spPr>
          <a:xfrm>
            <a:off x="8138160" y="2788920"/>
            <a:ext cx="347472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27000" dist="38100" dir="5400000">
              <a:srgbClr val="1B2925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12480" y="306324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Interviews per 100 people contacted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shared with the club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call with the committee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Pick 5 students for the free pilot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Write to us and we set up the kickoff.</a:t>
            </a:r>
            <a:endParaRPr lang="en-US" sz="24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hello@knock.careers</a:t>
            </a:r>
            <a:endParaRPr lang="en-US" sz="2400" dirty="0"/>
          </a:p>
        </p:txBody>
      </p:sp>
      <p:sp>
        <p:nvSpPr>
          <p:cNvPr id="4" name="Open door frame"/>
          <p:cNvSpPr/>
          <p:nvPr/>
        </p:nvSpPr>
        <p:spPr>
          <a:xfrm>
            <a:off x="8650224" y="1106424"/>
            <a:ext cx="2359152" cy="433425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Open door light"/>
          <p:cNvSpPr/>
          <p:nvPr/>
        </p:nvSpPr>
        <p:spPr>
          <a:xfrm>
            <a:off x="8778240" y="1234440"/>
            <a:ext cx="2103120" cy="420624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Open door light spill"/>
          <p:cNvSpPr/>
          <p:nvPr/>
        </p:nvSpPr>
        <p:spPr>
          <a:xfrm>
            <a:off x="7955280" y="5440680"/>
            <a:ext cx="3749040" cy="502920"/>
          </a:xfrm>
          <a:prstGeom prst="trapezoid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7" name="Open door leaf"/>
          <p:cNvSpPr/>
          <p:nvPr/>
        </p:nvSpPr>
        <p:spPr>
          <a:xfrm>
            <a:off x="8778240" y="1234440"/>
            <a:ext cx="588874" cy="4206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8" name="Threshold close"/>
          <p:cNvSpPr/>
          <p:nvPr/>
        </p:nvSpPr>
        <p:spPr>
          <a:xfrm>
            <a:off x="8138160" y="5440680"/>
            <a:ext cx="3383280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Knock on the right door.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nock Concierge">
  <a:themeElements>
    <a:clrScheme name="Knock Concierge">
      <a:dk1>
        <a:srgbClr val="1B2925"/>
      </a:dk1>
      <a:lt1>
        <a:srgbClr val="FFFFFF"/>
      </a:lt1>
      <a:dk2>
        <a:srgbClr val="1F3B35"/>
      </a:dk2>
      <a:lt2>
        <a:srgbClr val="EEF2F0"/>
      </a:lt2>
      <a:accent1>
        <a:srgbClr val="B8893F"/>
      </a:accent1>
      <a:accent2>
        <a:srgbClr val="2F5D52"/>
      </a:accent2>
      <a:accent3>
        <a:srgbClr val="5F6F6A"/>
      </a:accent3>
      <a:accent4>
        <a:srgbClr val="DCE4E0"/>
      </a:accent4>
      <a:accent5>
        <a:srgbClr val="8FA89F"/>
      </a:accent5>
      <a:accent6>
        <a:srgbClr val="E9DCC4"/>
      </a:accent6>
      <a:hlink>
        <a:srgbClr val="B8893F"/>
      </a:hlink>
      <a:folHlink>
        <a:srgbClr val="5F6F6A"/>
      </a:folHlink>
    </a:clrScheme>
    <a:fontScheme name="Knock Concier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Knock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Knock partner proposal</dc:title>
  <dc:subject>PptxGenJS Presentation</dc:subject>
  <dc:creator>Knock</dc:creator>
  <cp:lastModifiedBy>Knock</cp:lastModifiedBy>
  <cp:revision>1</cp:revision>
  <dcterms:created xsi:type="dcterms:W3CDTF">2026-10-04T17:49:19Z</dcterms:created>
  <dcterms:modified xsi:type="dcterms:W3CDTF">2026-10-04T17:49:19Z</dcterms:modified>
</cp:coreProperties>
</file>