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e89abcd-5430-a11c-301b-c2ea4378aa69}">
          <p14:sldIdLst>
            <p14:sldId id="256"/>
          </p14:sldIdLst>
        </p14:section>
        <p14:section name="The problem" id="{e929bffc-904b-2e71-200e-e7d8913bc55a}">
          <p14:sldIdLst>
            <p14:sldId id="257"/>
            <p14:sldId id="258"/>
          </p14:sldIdLst>
        </p14:section>
        <p14:section name="How Knock works" id="{0cbe940a-7b12-d582-963b-796cdd6c47a4}">
          <p14:sldIdLst>
            <p14:sldId id="259"/>
            <p14:sldId id="260"/>
          </p14:sldIdLst>
        </p14:section>
        <p14:section name="Trust" id="{15966ada-55ba-9460-005c-8dc92af6d1ef}">
          <p14:sldIdLst>
            <p14:sldId id="261"/>
            <p14:sldId id="262"/>
          </p14:sldIdLst>
        </p14:section>
        <p14:section name="The offer" id="{46522421-0a8e-070d-ad95-3290300170b1}">
          <p14:sldIdLst>
            <p14:sldId id="263"/>
            <p14:sldId id="264"/>
          </p14:sldIdLst>
        </p14:section>
        <p14:section name="Pilot" id="{d7bd64da-2f11-6ce8-6480-ea35ff841661}">
          <p14:sldIdLst>
            <p14:sldId id="265"/>
            <p14:sldId id="266"/>
          </p14:sldIdLst>
        </p14:section>
        <p14:section name="Next step" id="{3ff207b8-4a29-dd66-f4c6-d04de00671ae}">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Knock helps your students reach the right people at the companies they want, instead of sending applications into portals. In the next ten minutes: the problem, how Knock works, and a simple partnership with a free pilot for five of your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committee head here has seen this. Off-campus and lateral searches run through portals. Students apply widely and hear back rarely. The illustration is not data; it is the feeling every batch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claiming a number here, and we will not. You already know referrals and warm introductions convert far better than cold applications. The gap is that only well-connected students get them. Knock closes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student picks targets. We find the right people. We write a short personal first note for each one. We guide every reply. Nothing goes out without the student's approval, and it always goes from their own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kind of message Knock writes. It is specific to Rahul, grounded in something the student genuinely shares with him, and it ends with a question that is easy to answer. There is no ask in the first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matters most to a committee. Knock is not a mass outreach tool. Sixty hand-picked people a week, every message personal, sent from the student's own account, well under LinkedIn's limits. Conversations come first; the ask comes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seen many AI job tool pitches. Knock is the opposite. People choose the contacts, people write the messages, the student sends them, and we stay with the student through every reply. Technology helps us research; it does not replace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simple and fixed. Sprint, Standard and Full search scale by days and number of people. Done-for-you starts at fourteen thousand nine hundred ninety-nine. Members of your club get the founding price on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deal. The club gets the founding price for members, a free pilot for five students you choose, a results summary you can share, and a co-hosted session on outbound job search. We ask for one announcement to the batch and one feedback call after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measure interviews per hundred people contacted, for each student and for the group. We have no customers yet, so we will not promise a number. The pilot exists to produce an honest one, and you will see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is three weeks. Week zero is kickoff with the five students you pick. Weeks one and two are outreach. Week three is the results review, with a summary for the club and a feedback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decision today: pick five students for the free pilot. We can start the week you choose them. Write to hello@knock.careers.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949440" cy="164592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548640" y="3611880"/>
            <a:ext cx="6583680" cy="1463040"/>
          </a:xfrm>
          <a:prstGeom prst="rect">
            <a:avLst/>
          </a:prstGeom>
          <a:noFill/>
          <a:ln/>
        </p:spPr>
        <p:txBody>
          <a:bodyPr wrap="square" rtlCol="0"/>
          <a:lstStyle>
            <a:lvl1pPr indent="0" marL="0">
              <a:buNone/>
              <a:defRPr lang="en-US" sz="2200" dirty="0">
                <a:solidFill>
                  <a:schemeClr val="accent3"/>
                </a:solidFill>
                <a:latin typeface="Calibri" pitchFamily="34" charset="0"/>
                <a:ea typeface="Calibri" pitchFamily="34" charset="-122"/>
                <a:cs typeface="Calibri" pitchFamily="34" charset="-120"/>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6949440" cy="19202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3611880"/>
            <a:ext cx="6583680" cy="1463040"/>
          </a:xfrm>
          <a:prstGeom prst="rect">
            <a:avLst/>
          </a:prstGeom>
          <a:noFill/>
          <a:ln/>
        </p:spPr>
        <p:txBody>
          <a:bodyPr wrap="square" rtlCol="0"/>
          <a:lstStyle>
            <a:lvl1pPr indent="0" marL="0">
              <a:buNone/>
              <a:defRPr lang="en-US" sz="2200" dirty="0">
                <a:solidFill>
                  <a:schemeClr val="accent3"/>
                </a:solidFill>
                <a:latin typeface="Calibri" pitchFamily="34" charset="0"/>
                <a:ea typeface="Calibri" pitchFamily="34" charset="-122"/>
                <a:cs typeface="Calibri" pitchFamily="34" charset="-120"/>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2"/>
                </a:solidFill>
                <a:latin typeface="Calibri" pitchFamily="34" charset="0"/>
                <a:ea typeface="Calibri" pitchFamily="34" charset="-122"/>
                <a:cs typeface="Calibri" pitchFamily="34" charset="-120"/>
              </a:rPr>
              <a:t>Knock  |  Partner proposal</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Mis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2"/>
                </a:solidFill>
                <a:latin typeface="Calibri" pitchFamily="34" charset="0"/>
                <a:ea typeface="Calibri" pitchFamily="34" charset="-122"/>
                <a:cs typeface="Calibri" pitchFamily="34" charset="-120"/>
              </a:rPr>
              <a:t>Knock  |  Partner proposal</a:t>
            </a:r>
            <a:endParaRPr lang="en-US" sz="10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5486400" cy="365760"/>
          </a:xfrm>
          <a:prstGeom prst="rect">
            <a:avLst/>
          </a:prstGeom>
          <a:noFill/>
          <a:ln/>
        </p:spPr>
        <p:txBody>
          <a:bodyPr wrap="square" lIns="0" tIns="0" rIns="0" bIns="0" rtlCol="0" anchor="t"/>
          <a:lstStyle/>
          <a:p>
            <a:pPr indent="0" marL="0">
              <a:buNone/>
            </a:pPr>
            <a:r>
              <a:rPr lang="en-US" sz="1400" b="1" spc="400" kern="0" dirty="0">
                <a:solidFill>
                  <a:schemeClr val="accent1"/>
                </a:solidFill>
                <a:latin typeface="Calibri" pitchFamily="34" charset="0"/>
                <a:ea typeface="Calibri" pitchFamily="34" charset="-122"/>
                <a:cs typeface="Calibri" pitchFamily="34" charset="-120"/>
              </a:rPr>
              <a:t>PARTNER PROPOSAL</a:t>
            </a:r>
            <a:endParaRPr lang="en-US" sz="1400" dirty="0"/>
          </a:p>
        </p:txBody>
      </p:sp>
      <p:sp>
        <p:nvSpPr>
          <p:cNvPr id="3" name="Text 0"/>
          <p:cNvSpPr/>
          <p:nvPr>
            <p:ph idx="100" type="title" hasCustomPrompt="1"/>
          </p:nvPr>
        </p:nvSpPr>
        <p:spPr>
          <a:xfrm>
            <a:off x="548640" y="1828800"/>
            <a:ext cx="6949440" cy="164592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Knock</a:t>
            </a:r>
            <a:endParaRPr lang="en-US" sz="6000" dirty="0"/>
          </a:p>
        </p:txBody>
      </p:sp>
      <p:sp>
        <p:nvSpPr>
          <p:cNvPr id="4" name="Text 0"/>
          <p:cNvSpPr/>
          <p:nvPr>
            <p:ph idx="101" type="body" hasCustomPrompt="1"/>
          </p:nvPr>
        </p:nvSpPr>
        <p:spPr>
          <a:xfrm>
            <a:off x="548640" y="3611880"/>
            <a:ext cx="6583680" cy="1463040"/>
          </a:xfrm>
          <a:prstGeom prst="rect">
            <a:avLst/>
          </a:prstGeom>
          <a:noFill/>
          <a:ln/>
        </p:spPr>
        <p:txBody>
          <a:bodyPr wrap="square" lIns="0" tIns="0" rIns="0" bIns="0" rtlCol="0" anchor="t"/>
          <a:lstStyle/>
          <a:p>
            <a:pPr indent="0" marL="0">
              <a:buNone/>
            </a:pPr>
            <a:r>
              <a:rPr lang="en-US" sz="2200" i="1" dirty="0">
                <a:solidFill>
                  <a:schemeClr val="accent3"/>
                </a:solidFill>
                <a:latin typeface="Cambria" pitchFamily="34" charset="0"/>
                <a:ea typeface="Cambria" pitchFamily="34" charset="-122"/>
                <a:cs typeface="Cambria" pitchFamily="34" charset="-120"/>
              </a:rPr>
              <a:t>Knock on the right door.</a:t>
            </a:r>
            <a:endParaRPr lang="en-US" sz="2200" dirty="0"/>
          </a:p>
          <a:p>
            <a:pPr indent="0" marL="0">
              <a:buNone/>
            </a:pPr>
            <a:r>
              <a:rPr lang="en-US" sz="1800" dirty="0">
                <a:solidFill>
                  <a:schemeClr val="accent5"/>
                </a:solidFill>
                <a:latin typeface="Calibri" pitchFamily="34" charset="0"/>
                <a:ea typeface="Calibri" pitchFamily="34" charset="-122"/>
                <a:cs typeface="Calibri" pitchFamily="34" charset="-120"/>
              </a:rPr>
              <a:t>A proposal for &lt;Club name&gt;</a:t>
            </a:r>
            <a:endParaRPr lang="en-US" sz="2200" dirty="0"/>
          </a:p>
        </p:txBody>
      </p:sp>
      <p:sp>
        <p:nvSpPr>
          <p:cNvPr id="5" name="Hero door light"/>
          <p:cNvSpPr/>
          <p:nvPr/>
        </p:nvSpPr>
        <p:spPr>
          <a:xfrm>
            <a:off x="8364017" y="1276502"/>
            <a:ext cx="1971446" cy="4301338"/>
          </a:xfrm>
          <a:prstGeom prst="rect">
            <a:avLst/>
          </a:prstGeom>
          <a:solidFill>
            <a:schemeClr val="accent6"/>
          </a:solidFill>
          <a:ln/>
        </p:spPr>
      </p:sp>
      <p:sp>
        <p:nvSpPr>
          <p:cNvPr id="6" name="Hero door frame"/>
          <p:cNvSpPr/>
          <p:nvPr/>
        </p:nvSpPr>
        <p:spPr>
          <a:xfrm>
            <a:off x="8229600" y="1097280"/>
            <a:ext cx="2240280" cy="4480560"/>
          </a:xfrm>
          <a:prstGeom prst="roundRect">
            <a:avLst>
              <a:gd name="adj" fmla="val 6122"/>
            </a:avLst>
          </a:prstGeom>
          <a:ln w="38100">
            <a:solidFill>
              <a:schemeClr val="accent1"/>
            </a:solidFill>
            <a:prstDash val="solid"/>
          </a:ln>
        </p:spPr>
      </p:sp>
      <p:sp>
        <p:nvSpPr>
          <p:cNvPr id="7" name="Hero door panel"/>
          <p:cNvSpPr/>
          <p:nvPr/>
        </p:nvSpPr>
        <p:spPr>
          <a:xfrm>
            <a:off x="8364017" y="1276502"/>
            <a:ext cx="1388974" cy="4301338"/>
          </a:xfrm>
          <a:prstGeom prst="rect">
            <a:avLst/>
          </a:prstGeom>
          <a:solidFill>
            <a:schemeClr val="accent4"/>
          </a:solidFill>
          <a:ln/>
        </p:spPr>
      </p:sp>
      <p:sp>
        <p:nvSpPr>
          <p:cNvPr id="8" name="Hero door knob"/>
          <p:cNvSpPr/>
          <p:nvPr/>
        </p:nvSpPr>
        <p:spPr>
          <a:xfrm>
            <a:off x="9309415" y="3561588"/>
            <a:ext cx="201625" cy="201625"/>
          </a:xfrm>
          <a:prstGeom prst="ellipse">
            <a:avLst/>
          </a:prstGeom>
          <a:solidFill>
            <a:schemeClr val="accent1"/>
          </a:solidFill>
          <a:ln/>
        </p:spPr>
      </p:sp>
      <p:sp>
        <p:nvSpPr>
          <p:cNvPr id="9" name="Floor line"/>
          <p:cNvSpPr/>
          <p:nvPr/>
        </p:nvSpPr>
        <p:spPr>
          <a:xfrm>
            <a:off x="7680960" y="5577840"/>
            <a:ext cx="3931920" cy="18288"/>
          </a:xfrm>
          <a:prstGeom prst="rect">
            <a:avLst/>
          </a:prstGeom>
          <a:solidFill>
            <a:schemeClr val="accent2"/>
          </a:solidFill>
          <a:ln/>
        </p:spPr>
      </p:sp>
      <p:sp>
        <p:nvSpPr>
          <p:cNvPr id="10" name="Text 8"/>
          <p:cNvSpPr txBox="1"/>
          <p:nvPr/>
        </p:nvSpPr>
        <p:spPr>
          <a:xfrm>
            <a:off x="548640" y="6035040"/>
            <a:ext cx="4572000" cy="2743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hello@knock.careers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Off-campus and lateral searches are a numbers game that students lose</a:t>
            </a:r>
            <a:endParaRPr lang="en-US" sz="3400" dirty="0"/>
          </a:p>
        </p:txBody>
      </p:sp>
      <p:sp>
        <p:nvSpPr>
          <p:cNvPr id="3" name="Text 1"/>
          <p:cNvSpPr txBox="1"/>
          <p:nvPr/>
        </p:nvSpPr>
        <p:spPr>
          <a:xfrm>
            <a:off x="548640" y="1920240"/>
            <a:ext cx="4754880" cy="3474720"/>
          </a:xfrm>
          <a:prstGeom prst="rect">
            <a:avLst/>
          </a:prstGeom>
          <a:noFill/>
          <a:ln/>
        </p:spPr>
        <p:txBody>
          <a:bodyPr wrap="square" lIns="0" tIns="0" rIns="0" bIns="0" rtlCol="0" anchor="t"/>
          <a:lstStyle/>
          <a:p>
            <a:pPr indent="0" marL="0">
              <a:spcAft>
                <a:spcPts val="400"/>
              </a:spcAft>
              <a:buNone/>
            </a:pPr>
            <a:r>
              <a:rPr lang="en-US" sz="2000" b="1" dirty="0">
                <a:solidFill>
                  <a:schemeClr val="tx2"/>
                </a:solidFill>
                <a:latin typeface="Calibri" pitchFamily="34" charset="0"/>
                <a:ea typeface="Calibri" pitchFamily="34" charset="-122"/>
                <a:cs typeface="Calibri" pitchFamily="34" charset="-120"/>
              </a:rPr>
              <a:t>Portals reward volume, not fit.</a:t>
            </a:r>
            <a:endParaRPr lang="en-US" sz="2000" dirty="0"/>
          </a:p>
          <a:p>
            <a:pPr indent="0" marL="0">
              <a:spcAft>
                <a:spcPts val="400"/>
              </a:spcAft>
              <a:buNone/>
            </a:pPr>
            <a:r>
              <a:rPr lang="en-US" sz="1600" dirty="0">
                <a:solidFill>
                  <a:schemeClr val="tx1"/>
                </a:solidFill>
                <a:latin typeface="Calibri" pitchFamily="34" charset="0"/>
                <a:ea typeface="Calibri" pitchFamily="34" charset="-122"/>
                <a:cs typeface="Calibri" pitchFamily="34" charset="-120"/>
              </a:rPr>
              <a:t>Students send hundreds of applications into systems that filter on keywords. Most get no reply at all.</a:t>
            </a:r>
            <a:endParaRPr lang="en-US" sz="2000" dirty="0"/>
          </a:p>
          <a:p>
            <a:pPr indent="0" marL="0">
              <a:spcAft>
                <a:spcPts val="400"/>
              </a:spcAft>
              <a:buNone/>
            </a:pPr>
            <a:r>
              <a:rPr lang="en-US" sz="1000" dirty="0">
                <a:solidFill>
                  <a:schemeClr val="tx1"/>
                </a:solidFill>
                <a:latin typeface="Calibri" pitchFamily="34" charset="0"/>
                <a:ea typeface="Calibri" pitchFamily="34" charset="-122"/>
                <a:cs typeface="Calibri" pitchFamily="34" charset="-120"/>
              </a:rPr>
              <a:t> </a:t>
            </a:r>
            <a:endParaRPr lang="en-US" sz="2000" dirty="0"/>
          </a:p>
          <a:p>
            <a:pPr indent="0" marL="0">
              <a:spcAft>
                <a:spcPts val="400"/>
              </a:spcAft>
              <a:buNone/>
            </a:pPr>
            <a:r>
              <a:rPr lang="en-US" sz="2000" b="1" dirty="0">
                <a:solidFill>
                  <a:schemeClr val="tx2"/>
                </a:solidFill>
                <a:latin typeface="Calibri" pitchFamily="34" charset="0"/>
                <a:ea typeface="Calibri" pitchFamily="34" charset="-122"/>
                <a:cs typeface="Calibri" pitchFamily="34" charset="-120"/>
              </a:rPr>
              <a:t>Hiring still runs on people.</a:t>
            </a:r>
            <a:endParaRPr lang="en-US" sz="2000" dirty="0"/>
          </a:p>
          <a:p>
            <a:pPr indent="0" marL="0">
              <a:spcAft>
                <a:spcPts val="400"/>
              </a:spcAft>
              <a:buNone/>
            </a:pPr>
            <a:r>
              <a:rPr lang="en-US" sz="1600" dirty="0">
                <a:solidFill>
                  <a:schemeClr val="tx1"/>
                </a:solidFill>
                <a:latin typeface="Calibri" pitchFamily="34" charset="0"/>
                <a:ea typeface="Calibri" pitchFamily="34" charset="-122"/>
                <a:cs typeface="Calibri" pitchFamily="34" charset="-120"/>
              </a:rPr>
              <a:t>A hiring manager remembers the person who spoke to them, not the PDF that arrived with four hundred others.</a:t>
            </a:r>
            <a:endParaRPr lang="en-US" sz="2000" dirty="0"/>
          </a:p>
        </p:txBody>
      </p:sp>
      <p:sp>
        <p:nvSpPr>
          <p:cNvPr id="4" name="Application"/>
          <p:cNvSpPr/>
          <p:nvPr/>
        </p:nvSpPr>
        <p:spPr>
          <a:xfrm>
            <a:off x="6035040" y="1874520"/>
            <a:ext cx="384048" cy="274320"/>
          </a:xfrm>
          <a:prstGeom prst="roundRect">
            <a:avLst>
              <a:gd name="adj" fmla="val 16667"/>
            </a:avLst>
          </a:prstGeom>
          <a:solidFill>
            <a:schemeClr val="bg2"/>
          </a:solidFill>
          <a:ln w="9525">
            <a:solidFill>
              <a:schemeClr val="accent3"/>
            </a:solidFill>
            <a:prstDash val="solid"/>
          </a:ln>
        </p:spPr>
      </p:sp>
      <p:sp>
        <p:nvSpPr>
          <p:cNvPr id="5" name="Application"/>
          <p:cNvSpPr/>
          <p:nvPr/>
        </p:nvSpPr>
        <p:spPr>
          <a:xfrm>
            <a:off x="6528816" y="1874520"/>
            <a:ext cx="384048" cy="274320"/>
          </a:xfrm>
          <a:prstGeom prst="roundRect">
            <a:avLst>
              <a:gd name="adj" fmla="val 16667"/>
            </a:avLst>
          </a:prstGeom>
          <a:solidFill>
            <a:schemeClr val="bg2"/>
          </a:solidFill>
          <a:ln w="9525">
            <a:solidFill>
              <a:schemeClr val="accent3"/>
            </a:solidFill>
            <a:prstDash val="solid"/>
          </a:ln>
        </p:spPr>
      </p:sp>
      <p:sp>
        <p:nvSpPr>
          <p:cNvPr id="6" name="Application"/>
          <p:cNvSpPr/>
          <p:nvPr/>
        </p:nvSpPr>
        <p:spPr>
          <a:xfrm>
            <a:off x="7022592" y="1874520"/>
            <a:ext cx="384048" cy="274320"/>
          </a:xfrm>
          <a:prstGeom prst="roundRect">
            <a:avLst>
              <a:gd name="adj" fmla="val 16667"/>
            </a:avLst>
          </a:prstGeom>
          <a:solidFill>
            <a:schemeClr val="bg2"/>
          </a:solidFill>
          <a:ln w="9525">
            <a:solidFill>
              <a:schemeClr val="accent3"/>
            </a:solidFill>
            <a:prstDash val="solid"/>
          </a:ln>
        </p:spPr>
      </p:sp>
      <p:sp>
        <p:nvSpPr>
          <p:cNvPr id="7" name="Application"/>
          <p:cNvSpPr/>
          <p:nvPr/>
        </p:nvSpPr>
        <p:spPr>
          <a:xfrm>
            <a:off x="7516368" y="1874520"/>
            <a:ext cx="384048" cy="274320"/>
          </a:xfrm>
          <a:prstGeom prst="roundRect">
            <a:avLst>
              <a:gd name="adj" fmla="val 16667"/>
            </a:avLst>
          </a:prstGeom>
          <a:solidFill>
            <a:schemeClr val="bg2"/>
          </a:solidFill>
          <a:ln w="9525">
            <a:solidFill>
              <a:schemeClr val="accent3"/>
            </a:solidFill>
            <a:prstDash val="solid"/>
          </a:ln>
        </p:spPr>
      </p:sp>
      <p:sp>
        <p:nvSpPr>
          <p:cNvPr id="8" name="Application"/>
          <p:cNvSpPr/>
          <p:nvPr/>
        </p:nvSpPr>
        <p:spPr>
          <a:xfrm>
            <a:off x="8010144" y="1874520"/>
            <a:ext cx="384048" cy="274320"/>
          </a:xfrm>
          <a:prstGeom prst="roundRect">
            <a:avLst>
              <a:gd name="adj" fmla="val 16667"/>
            </a:avLst>
          </a:prstGeom>
          <a:solidFill>
            <a:schemeClr val="bg2"/>
          </a:solidFill>
          <a:ln w="9525">
            <a:solidFill>
              <a:schemeClr val="accent3"/>
            </a:solidFill>
            <a:prstDash val="solid"/>
          </a:ln>
        </p:spPr>
      </p:sp>
      <p:sp>
        <p:nvSpPr>
          <p:cNvPr id="9" name="Application"/>
          <p:cNvSpPr/>
          <p:nvPr/>
        </p:nvSpPr>
        <p:spPr>
          <a:xfrm>
            <a:off x="8503920" y="1874520"/>
            <a:ext cx="384048" cy="274320"/>
          </a:xfrm>
          <a:prstGeom prst="roundRect">
            <a:avLst>
              <a:gd name="adj" fmla="val 16667"/>
            </a:avLst>
          </a:prstGeom>
          <a:solidFill>
            <a:schemeClr val="bg2"/>
          </a:solidFill>
          <a:ln w="9525">
            <a:solidFill>
              <a:schemeClr val="accent3"/>
            </a:solidFill>
            <a:prstDash val="solid"/>
          </a:ln>
        </p:spPr>
      </p:sp>
      <p:sp>
        <p:nvSpPr>
          <p:cNvPr id="10" name="Application"/>
          <p:cNvSpPr/>
          <p:nvPr/>
        </p:nvSpPr>
        <p:spPr>
          <a:xfrm>
            <a:off x="8997696" y="1874520"/>
            <a:ext cx="384048" cy="274320"/>
          </a:xfrm>
          <a:prstGeom prst="roundRect">
            <a:avLst>
              <a:gd name="adj" fmla="val 16667"/>
            </a:avLst>
          </a:prstGeom>
          <a:solidFill>
            <a:schemeClr val="bg2"/>
          </a:solidFill>
          <a:ln w="9525">
            <a:solidFill>
              <a:schemeClr val="accent3"/>
            </a:solidFill>
            <a:prstDash val="solid"/>
          </a:ln>
        </p:spPr>
      </p:sp>
      <p:sp>
        <p:nvSpPr>
          <p:cNvPr id="11" name="Application"/>
          <p:cNvSpPr/>
          <p:nvPr/>
        </p:nvSpPr>
        <p:spPr>
          <a:xfrm>
            <a:off x="9491472" y="1874520"/>
            <a:ext cx="384048" cy="274320"/>
          </a:xfrm>
          <a:prstGeom prst="roundRect">
            <a:avLst>
              <a:gd name="adj" fmla="val 16667"/>
            </a:avLst>
          </a:prstGeom>
          <a:solidFill>
            <a:schemeClr val="bg2"/>
          </a:solidFill>
          <a:ln w="9525">
            <a:solidFill>
              <a:schemeClr val="accent3"/>
            </a:solidFill>
            <a:prstDash val="solid"/>
          </a:ln>
        </p:spPr>
      </p:sp>
      <p:sp>
        <p:nvSpPr>
          <p:cNvPr id="12" name="Application"/>
          <p:cNvSpPr/>
          <p:nvPr/>
        </p:nvSpPr>
        <p:spPr>
          <a:xfrm>
            <a:off x="9985248" y="1874520"/>
            <a:ext cx="384048" cy="274320"/>
          </a:xfrm>
          <a:prstGeom prst="roundRect">
            <a:avLst>
              <a:gd name="adj" fmla="val 16667"/>
            </a:avLst>
          </a:prstGeom>
          <a:solidFill>
            <a:schemeClr val="bg2"/>
          </a:solidFill>
          <a:ln w="9525">
            <a:solidFill>
              <a:schemeClr val="accent3"/>
            </a:solidFill>
            <a:prstDash val="solid"/>
          </a:ln>
        </p:spPr>
      </p:sp>
      <p:sp>
        <p:nvSpPr>
          <p:cNvPr id="13" name="Application"/>
          <p:cNvSpPr/>
          <p:nvPr/>
        </p:nvSpPr>
        <p:spPr>
          <a:xfrm>
            <a:off x="10479024" y="1874520"/>
            <a:ext cx="384048" cy="274320"/>
          </a:xfrm>
          <a:prstGeom prst="roundRect">
            <a:avLst>
              <a:gd name="adj" fmla="val 16667"/>
            </a:avLst>
          </a:prstGeom>
          <a:solidFill>
            <a:schemeClr val="bg2"/>
          </a:solidFill>
          <a:ln w="9525">
            <a:solidFill>
              <a:schemeClr val="accent3"/>
            </a:solidFill>
            <a:prstDash val="solid"/>
          </a:ln>
        </p:spPr>
      </p:sp>
      <p:sp>
        <p:nvSpPr>
          <p:cNvPr id="14" name="Application"/>
          <p:cNvSpPr/>
          <p:nvPr/>
        </p:nvSpPr>
        <p:spPr>
          <a:xfrm>
            <a:off x="10972800" y="1874520"/>
            <a:ext cx="384048" cy="274320"/>
          </a:xfrm>
          <a:prstGeom prst="roundRect">
            <a:avLst>
              <a:gd name="adj" fmla="val 16667"/>
            </a:avLst>
          </a:prstGeom>
          <a:solidFill>
            <a:schemeClr val="bg2"/>
          </a:solidFill>
          <a:ln w="9525">
            <a:solidFill>
              <a:schemeClr val="accent3"/>
            </a:solidFill>
            <a:prstDash val="solid"/>
          </a:ln>
        </p:spPr>
      </p:sp>
      <p:sp>
        <p:nvSpPr>
          <p:cNvPr id="15" name="Application"/>
          <p:cNvSpPr/>
          <p:nvPr/>
        </p:nvSpPr>
        <p:spPr>
          <a:xfrm>
            <a:off x="11466576" y="1874520"/>
            <a:ext cx="384048" cy="274320"/>
          </a:xfrm>
          <a:prstGeom prst="roundRect">
            <a:avLst>
              <a:gd name="adj" fmla="val 16667"/>
            </a:avLst>
          </a:prstGeom>
          <a:solidFill>
            <a:schemeClr val="bg2"/>
          </a:solidFill>
          <a:ln w="9525">
            <a:solidFill>
              <a:schemeClr val="accent3"/>
            </a:solidFill>
            <a:prstDash val="solid"/>
          </a:ln>
        </p:spPr>
      </p:sp>
      <p:sp>
        <p:nvSpPr>
          <p:cNvPr id="16" name="Application"/>
          <p:cNvSpPr/>
          <p:nvPr/>
        </p:nvSpPr>
        <p:spPr>
          <a:xfrm>
            <a:off x="6035040" y="2258568"/>
            <a:ext cx="384048" cy="274320"/>
          </a:xfrm>
          <a:prstGeom prst="roundRect">
            <a:avLst>
              <a:gd name="adj" fmla="val 16667"/>
            </a:avLst>
          </a:prstGeom>
          <a:solidFill>
            <a:schemeClr val="bg2"/>
          </a:solidFill>
          <a:ln w="9525">
            <a:solidFill>
              <a:schemeClr val="accent3"/>
            </a:solidFill>
            <a:prstDash val="solid"/>
          </a:ln>
        </p:spPr>
      </p:sp>
      <p:sp>
        <p:nvSpPr>
          <p:cNvPr id="17" name="Application"/>
          <p:cNvSpPr/>
          <p:nvPr/>
        </p:nvSpPr>
        <p:spPr>
          <a:xfrm>
            <a:off x="6528816" y="2258568"/>
            <a:ext cx="384048" cy="274320"/>
          </a:xfrm>
          <a:prstGeom prst="roundRect">
            <a:avLst>
              <a:gd name="adj" fmla="val 16667"/>
            </a:avLst>
          </a:prstGeom>
          <a:solidFill>
            <a:schemeClr val="bg2"/>
          </a:solidFill>
          <a:ln w="9525">
            <a:solidFill>
              <a:schemeClr val="accent3"/>
            </a:solidFill>
            <a:prstDash val="solid"/>
          </a:ln>
        </p:spPr>
      </p:sp>
      <p:sp>
        <p:nvSpPr>
          <p:cNvPr id="18" name="Application"/>
          <p:cNvSpPr/>
          <p:nvPr/>
        </p:nvSpPr>
        <p:spPr>
          <a:xfrm>
            <a:off x="7022592" y="2258568"/>
            <a:ext cx="384048" cy="274320"/>
          </a:xfrm>
          <a:prstGeom prst="roundRect">
            <a:avLst>
              <a:gd name="adj" fmla="val 16667"/>
            </a:avLst>
          </a:prstGeom>
          <a:solidFill>
            <a:schemeClr val="bg2"/>
          </a:solidFill>
          <a:ln w="9525">
            <a:solidFill>
              <a:schemeClr val="accent3"/>
            </a:solidFill>
            <a:prstDash val="solid"/>
          </a:ln>
        </p:spPr>
      </p:sp>
      <p:sp>
        <p:nvSpPr>
          <p:cNvPr id="19" name="Application"/>
          <p:cNvSpPr/>
          <p:nvPr/>
        </p:nvSpPr>
        <p:spPr>
          <a:xfrm>
            <a:off x="7516368" y="2258568"/>
            <a:ext cx="384048" cy="274320"/>
          </a:xfrm>
          <a:prstGeom prst="roundRect">
            <a:avLst>
              <a:gd name="adj" fmla="val 16667"/>
            </a:avLst>
          </a:prstGeom>
          <a:solidFill>
            <a:schemeClr val="bg2"/>
          </a:solidFill>
          <a:ln w="9525">
            <a:solidFill>
              <a:schemeClr val="accent3"/>
            </a:solidFill>
            <a:prstDash val="solid"/>
          </a:ln>
        </p:spPr>
      </p:sp>
      <p:sp>
        <p:nvSpPr>
          <p:cNvPr id="20" name="Application"/>
          <p:cNvSpPr/>
          <p:nvPr/>
        </p:nvSpPr>
        <p:spPr>
          <a:xfrm>
            <a:off x="8010144" y="2258568"/>
            <a:ext cx="384048" cy="274320"/>
          </a:xfrm>
          <a:prstGeom prst="roundRect">
            <a:avLst>
              <a:gd name="adj" fmla="val 16667"/>
            </a:avLst>
          </a:prstGeom>
          <a:solidFill>
            <a:schemeClr val="bg2"/>
          </a:solidFill>
          <a:ln w="9525">
            <a:solidFill>
              <a:schemeClr val="accent3"/>
            </a:solidFill>
            <a:prstDash val="solid"/>
          </a:ln>
        </p:spPr>
      </p:sp>
      <p:sp>
        <p:nvSpPr>
          <p:cNvPr id="21" name="Application"/>
          <p:cNvSpPr/>
          <p:nvPr/>
        </p:nvSpPr>
        <p:spPr>
          <a:xfrm>
            <a:off x="8503920" y="2258568"/>
            <a:ext cx="384048" cy="274320"/>
          </a:xfrm>
          <a:prstGeom prst="roundRect">
            <a:avLst>
              <a:gd name="adj" fmla="val 16667"/>
            </a:avLst>
          </a:prstGeom>
          <a:solidFill>
            <a:schemeClr val="bg2"/>
          </a:solidFill>
          <a:ln w="9525">
            <a:solidFill>
              <a:schemeClr val="accent3"/>
            </a:solidFill>
            <a:prstDash val="solid"/>
          </a:ln>
        </p:spPr>
      </p:sp>
      <p:sp>
        <p:nvSpPr>
          <p:cNvPr id="22" name="Application"/>
          <p:cNvSpPr/>
          <p:nvPr/>
        </p:nvSpPr>
        <p:spPr>
          <a:xfrm>
            <a:off x="8997696" y="2258568"/>
            <a:ext cx="384048" cy="274320"/>
          </a:xfrm>
          <a:prstGeom prst="roundRect">
            <a:avLst>
              <a:gd name="adj" fmla="val 16667"/>
            </a:avLst>
          </a:prstGeom>
          <a:solidFill>
            <a:schemeClr val="bg2"/>
          </a:solidFill>
          <a:ln w="9525">
            <a:solidFill>
              <a:schemeClr val="accent3"/>
            </a:solidFill>
            <a:prstDash val="solid"/>
          </a:ln>
        </p:spPr>
      </p:sp>
      <p:sp>
        <p:nvSpPr>
          <p:cNvPr id="23" name="Application"/>
          <p:cNvSpPr/>
          <p:nvPr/>
        </p:nvSpPr>
        <p:spPr>
          <a:xfrm>
            <a:off x="9491472" y="2258568"/>
            <a:ext cx="384048" cy="274320"/>
          </a:xfrm>
          <a:prstGeom prst="roundRect">
            <a:avLst>
              <a:gd name="adj" fmla="val 16667"/>
            </a:avLst>
          </a:prstGeom>
          <a:solidFill>
            <a:schemeClr val="bg2"/>
          </a:solidFill>
          <a:ln w="9525">
            <a:solidFill>
              <a:schemeClr val="accent3"/>
            </a:solidFill>
            <a:prstDash val="solid"/>
          </a:ln>
        </p:spPr>
      </p:sp>
      <p:sp>
        <p:nvSpPr>
          <p:cNvPr id="24" name="Application"/>
          <p:cNvSpPr/>
          <p:nvPr/>
        </p:nvSpPr>
        <p:spPr>
          <a:xfrm>
            <a:off x="9985248" y="2258568"/>
            <a:ext cx="384048" cy="274320"/>
          </a:xfrm>
          <a:prstGeom prst="roundRect">
            <a:avLst>
              <a:gd name="adj" fmla="val 16667"/>
            </a:avLst>
          </a:prstGeom>
          <a:solidFill>
            <a:schemeClr val="bg2"/>
          </a:solidFill>
          <a:ln w="9525">
            <a:solidFill>
              <a:schemeClr val="accent3"/>
            </a:solidFill>
            <a:prstDash val="solid"/>
          </a:ln>
        </p:spPr>
      </p:sp>
      <p:sp>
        <p:nvSpPr>
          <p:cNvPr id="25" name="Application"/>
          <p:cNvSpPr/>
          <p:nvPr/>
        </p:nvSpPr>
        <p:spPr>
          <a:xfrm>
            <a:off x="10479024" y="2258568"/>
            <a:ext cx="384048" cy="274320"/>
          </a:xfrm>
          <a:prstGeom prst="roundRect">
            <a:avLst>
              <a:gd name="adj" fmla="val 16667"/>
            </a:avLst>
          </a:prstGeom>
          <a:solidFill>
            <a:schemeClr val="bg2"/>
          </a:solidFill>
          <a:ln w="9525">
            <a:solidFill>
              <a:schemeClr val="accent3"/>
            </a:solidFill>
            <a:prstDash val="solid"/>
          </a:ln>
        </p:spPr>
      </p:sp>
      <p:sp>
        <p:nvSpPr>
          <p:cNvPr id="26" name="Application"/>
          <p:cNvSpPr/>
          <p:nvPr/>
        </p:nvSpPr>
        <p:spPr>
          <a:xfrm>
            <a:off x="10972800" y="2258568"/>
            <a:ext cx="384048" cy="274320"/>
          </a:xfrm>
          <a:prstGeom prst="roundRect">
            <a:avLst>
              <a:gd name="adj" fmla="val 16667"/>
            </a:avLst>
          </a:prstGeom>
          <a:solidFill>
            <a:schemeClr val="bg2"/>
          </a:solidFill>
          <a:ln w="9525">
            <a:solidFill>
              <a:schemeClr val="accent3"/>
            </a:solidFill>
            <a:prstDash val="solid"/>
          </a:ln>
        </p:spPr>
      </p:sp>
      <p:sp>
        <p:nvSpPr>
          <p:cNvPr id="27" name="Application"/>
          <p:cNvSpPr/>
          <p:nvPr/>
        </p:nvSpPr>
        <p:spPr>
          <a:xfrm>
            <a:off x="11466576" y="2258568"/>
            <a:ext cx="384048" cy="274320"/>
          </a:xfrm>
          <a:prstGeom prst="roundRect">
            <a:avLst>
              <a:gd name="adj" fmla="val 16667"/>
            </a:avLst>
          </a:prstGeom>
          <a:solidFill>
            <a:schemeClr val="bg2"/>
          </a:solidFill>
          <a:ln w="9525">
            <a:solidFill>
              <a:schemeClr val="accent3"/>
            </a:solidFill>
            <a:prstDash val="solid"/>
          </a:ln>
        </p:spPr>
      </p:sp>
      <p:sp>
        <p:nvSpPr>
          <p:cNvPr id="28" name="Application"/>
          <p:cNvSpPr/>
          <p:nvPr/>
        </p:nvSpPr>
        <p:spPr>
          <a:xfrm>
            <a:off x="6035040" y="2642616"/>
            <a:ext cx="384048" cy="274320"/>
          </a:xfrm>
          <a:prstGeom prst="roundRect">
            <a:avLst>
              <a:gd name="adj" fmla="val 16667"/>
            </a:avLst>
          </a:prstGeom>
          <a:solidFill>
            <a:schemeClr val="bg2"/>
          </a:solidFill>
          <a:ln w="9525">
            <a:solidFill>
              <a:schemeClr val="accent3"/>
            </a:solidFill>
            <a:prstDash val="solid"/>
          </a:ln>
        </p:spPr>
      </p:sp>
      <p:sp>
        <p:nvSpPr>
          <p:cNvPr id="29" name="Application"/>
          <p:cNvSpPr/>
          <p:nvPr/>
        </p:nvSpPr>
        <p:spPr>
          <a:xfrm>
            <a:off x="6528816" y="2642616"/>
            <a:ext cx="384048" cy="274320"/>
          </a:xfrm>
          <a:prstGeom prst="roundRect">
            <a:avLst>
              <a:gd name="adj" fmla="val 16667"/>
            </a:avLst>
          </a:prstGeom>
          <a:solidFill>
            <a:schemeClr val="bg2"/>
          </a:solidFill>
          <a:ln w="9525">
            <a:solidFill>
              <a:schemeClr val="accent3"/>
            </a:solidFill>
            <a:prstDash val="solid"/>
          </a:ln>
        </p:spPr>
      </p:sp>
      <p:sp>
        <p:nvSpPr>
          <p:cNvPr id="30" name="Application"/>
          <p:cNvSpPr/>
          <p:nvPr/>
        </p:nvSpPr>
        <p:spPr>
          <a:xfrm>
            <a:off x="7022592" y="2642616"/>
            <a:ext cx="384048" cy="274320"/>
          </a:xfrm>
          <a:prstGeom prst="roundRect">
            <a:avLst>
              <a:gd name="adj" fmla="val 16667"/>
            </a:avLst>
          </a:prstGeom>
          <a:solidFill>
            <a:schemeClr val="bg2"/>
          </a:solidFill>
          <a:ln w="9525">
            <a:solidFill>
              <a:schemeClr val="accent3"/>
            </a:solidFill>
            <a:prstDash val="solid"/>
          </a:ln>
        </p:spPr>
      </p:sp>
      <p:sp>
        <p:nvSpPr>
          <p:cNvPr id="31" name="Application"/>
          <p:cNvSpPr/>
          <p:nvPr/>
        </p:nvSpPr>
        <p:spPr>
          <a:xfrm>
            <a:off x="7516368" y="2642616"/>
            <a:ext cx="384048" cy="274320"/>
          </a:xfrm>
          <a:prstGeom prst="roundRect">
            <a:avLst>
              <a:gd name="adj" fmla="val 16667"/>
            </a:avLst>
          </a:prstGeom>
          <a:solidFill>
            <a:schemeClr val="bg2"/>
          </a:solidFill>
          <a:ln w="9525">
            <a:solidFill>
              <a:schemeClr val="accent3"/>
            </a:solidFill>
            <a:prstDash val="solid"/>
          </a:ln>
        </p:spPr>
      </p:sp>
      <p:sp>
        <p:nvSpPr>
          <p:cNvPr id="32" name="Application"/>
          <p:cNvSpPr/>
          <p:nvPr/>
        </p:nvSpPr>
        <p:spPr>
          <a:xfrm>
            <a:off x="8010144" y="2642616"/>
            <a:ext cx="384048" cy="274320"/>
          </a:xfrm>
          <a:prstGeom prst="roundRect">
            <a:avLst>
              <a:gd name="adj" fmla="val 16667"/>
            </a:avLst>
          </a:prstGeom>
          <a:solidFill>
            <a:schemeClr val="bg2"/>
          </a:solidFill>
          <a:ln w="9525">
            <a:solidFill>
              <a:schemeClr val="accent3"/>
            </a:solidFill>
            <a:prstDash val="solid"/>
          </a:ln>
        </p:spPr>
      </p:sp>
      <p:sp>
        <p:nvSpPr>
          <p:cNvPr id="33" name="Application"/>
          <p:cNvSpPr/>
          <p:nvPr/>
        </p:nvSpPr>
        <p:spPr>
          <a:xfrm>
            <a:off x="8503920" y="2642616"/>
            <a:ext cx="384048" cy="274320"/>
          </a:xfrm>
          <a:prstGeom prst="roundRect">
            <a:avLst>
              <a:gd name="adj" fmla="val 16667"/>
            </a:avLst>
          </a:prstGeom>
          <a:solidFill>
            <a:schemeClr val="bg2"/>
          </a:solidFill>
          <a:ln w="9525">
            <a:solidFill>
              <a:schemeClr val="accent3"/>
            </a:solidFill>
            <a:prstDash val="solid"/>
          </a:ln>
        </p:spPr>
      </p:sp>
      <p:sp>
        <p:nvSpPr>
          <p:cNvPr id="34" name="Application"/>
          <p:cNvSpPr/>
          <p:nvPr/>
        </p:nvSpPr>
        <p:spPr>
          <a:xfrm>
            <a:off x="8997696" y="2642616"/>
            <a:ext cx="384048" cy="274320"/>
          </a:xfrm>
          <a:prstGeom prst="roundRect">
            <a:avLst>
              <a:gd name="adj" fmla="val 16667"/>
            </a:avLst>
          </a:prstGeom>
          <a:solidFill>
            <a:schemeClr val="bg2"/>
          </a:solidFill>
          <a:ln w="9525">
            <a:solidFill>
              <a:schemeClr val="accent3"/>
            </a:solidFill>
            <a:prstDash val="solid"/>
          </a:ln>
        </p:spPr>
      </p:sp>
      <p:sp>
        <p:nvSpPr>
          <p:cNvPr id="35" name="Application"/>
          <p:cNvSpPr/>
          <p:nvPr/>
        </p:nvSpPr>
        <p:spPr>
          <a:xfrm>
            <a:off x="9491472" y="2642616"/>
            <a:ext cx="384048" cy="274320"/>
          </a:xfrm>
          <a:prstGeom prst="roundRect">
            <a:avLst>
              <a:gd name="adj" fmla="val 16667"/>
            </a:avLst>
          </a:prstGeom>
          <a:solidFill>
            <a:schemeClr val="bg2"/>
          </a:solidFill>
          <a:ln w="9525">
            <a:solidFill>
              <a:schemeClr val="accent3"/>
            </a:solidFill>
            <a:prstDash val="solid"/>
          </a:ln>
        </p:spPr>
      </p:sp>
      <p:sp>
        <p:nvSpPr>
          <p:cNvPr id="36" name="Reply"/>
          <p:cNvSpPr/>
          <p:nvPr/>
        </p:nvSpPr>
        <p:spPr>
          <a:xfrm>
            <a:off x="9985248" y="2642616"/>
            <a:ext cx="384048" cy="274320"/>
          </a:xfrm>
          <a:prstGeom prst="roundRect">
            <a:avLst>
              <a:gd name="adj" fmla="val 16667"/>
            </a:avLst>
          </a:prstGeom>
          <a:solidFill>
            <a:schemeClr val="accent1"/>
          </a:solidFill>
          <a:ln w="9525">
            <a:solidFill>
              <a:schemeClr val="accent1"/>
            </a:solidFill>
            <a:prstDash val="solid"/>
          </a:ln>
        </p:spPr>
      </p:sp>
      <p:sp>
        <p:nvSpPr>
          <p:cNvPr id="37" name="Application"/>
          <p:cNvSpPr/>
          <p:nvPr/>
        </p:nvSpPr>
        <p:spPr>
          <a:xfrm>
            <a:off x="10479024" y="2642616"/>
            <a:ext cx="384048" cy="274320"/>
          </a:xfrm>
          <a:prstGeom prst="roundRect">
            <a:avLst>
              <a:gd name="adj" fmla="val 16667"/>
            </a:avLst>
          </a:prstGeom>
          <a:solidFill>
            <a:schemeClr val="bg2"/>
          </a:solidFill>
          <a:ln w="9525">
            <a:solidFill>
              <a:schemeClr val="accent3"/>
            </a:solidFill>
            <a:prstDash val="solid"/>
          </a:ln>
        </p:spPr>
      </p:sp>
      <p:sp>
        <p:nvSpPr>
          <p:cNvPr id="38" name="Application"/>
          <p:cNvSpPr/>
          <p:nvPr/>
        </p:nvSpPr>
        <p:spPr>
          <a:xfrm>
            <a:off x="10972800" y="2642616"/>
            <a:ext cx="384048" cy="274320"/>
          </a:xfrm>
          <a:prstGeom prst="roundRect">
            <a:avLst>
              <a:gd name="adj" fmla="val 16667"/>
            </a:avLst>
          </a:prstGeom>
          <a:solidFill>
            <a:schemeClr val="bg2"/>
          </a:solidFill>
          <a:ln w="9525">
            <a:solidFill>
              <a:schemeClr val="accent3"/>
            </a:solidFill>
            <a:prstDash val="solid"/>
          </a:ln>
        </p:spPr>
      </p:sp>
      <p:sp>
        <p:nvSpPr>
          <p:cNvPr id="39" name="Application"/>
          <p:cNvSpPr/>
          <p:nvPr/>
        </p:nvSpPr>
        <p:spPr>
          <a:xfrm>
            <a:off x="11466576" y="2642616"/>
            <a:ext cx="384048" cy="274320"/>
          </a:xfrm>
          <a:prstGeom prst="roundRect">
            <a:avLst>
              <a:gd name="adj" fmla="val 16667"/>
            </a:avLst>
          </a:prstGeom>
          <a:solidFill>
            <a:schemeClr val="bg2"/>
          </a:solidFill>
          <a:ln w="9525">
            <a:solidFill>
              <a:schemeClr val="accent3"/>
            </a:solidFill>
            <a:prstDash val="solid"/>
          </a:ln>
        </p:spPr>
      </p:sp>
      <p:sp>
        <p:nvSpPr>
          <p:cNvPr id="40" name="Application"/>
          <p:cNvSpPr/>
          <p:nvPr/>
        </p:nvSpPr>
        <p:spPr>
          <a:xfrm>
            <a:off x="6035040" y="3026664"/>
            <a:ext cx="384048" cy="274320"/>
          </a:xfrm>
          <a:prstGeom prst="roundRect">
            <a:avLst>
              <a:gd name="adj" fmla="val 16667"/>
            </a:avLst>
          </a:prstGeom>
          <a:solidFill>
            <a:schemeClr val="bg2"/>
          </a:solidFill>
          <a:ln w="9525">
            <a:solidFill>
              <a:schemeClr val="accent3"/>
            </a:solidFill>
            <a:prstDash val="solid"/>
          </a:ln>
        </p:spPr>
      </p:sp>
      <p:sp>
        <p:nvSpPr>
          <p:cNvPr id="41" name="Application"/>
          <p:cNvSpPr/>
          <p:nvPr/>
        </p:nvSpPr>
        <p:spPr>
          <a:xfrm>
            <a:off x="6528816" y="3026664"/>
            <a:ext cx="384048" cy="274320"/>
          </a:xfrm>
          <a:prstGeom prst="roundRect">
            <a:avLst>
              <a:gd name="adj" fmla="val 16667"/>
            </a:avLst>
          </a:prstGeom>
          <a:solidFill>
            <a:schemeClr val="bg2"/>
          </a:solidFill>
          <a:ln w="9525">
            <a:solidFill>
              <a:schemeClr val="accent3"/>
            </a:solidFill>
            <a:prstDash val="solid"/>
          </a:ln>
        </p:spPr>
      </p:sp>
      <p:sp>
        <p:nvSpPr>
          <p:cNvPr id="42" name="Application"/>
          <p:cNvSpPr/>
          <p:nvPr/>
        </p:nvSpPr>
        <p:spPr>
          <a:xfrm>
            <a:off x="7022592" y="3026664"/>
            <a:ext cx="384048" cy="274320"/>
          </a:xfrm>
          <a:prstGeom prst="roundRect">
            <a:avLst>
              <a:gd name="adj" fmla="val 16667"/>
            </a:avLst>
          </a:prstGeom>
          <a:solidFill>
            <a:schemeClr val="bg2"/>
          </a:solidFill>
          <a:ln w="9525">
            <a:solidFill>
              <a:schemeClr val="accent3"/>
            </a:solidFill>
            <a:prstDash val="solid"/>
          </a:ln>
        </p:spPr>
      </p:sp>
      <p:sp>
        <p:nvSpPr>
          <p:cNvPr id="43" name="Application"/>
          <p:cNvSpPr/>
          <p:nvPr/>
        </p:nvSpPr>
        <p:spPr>
          <a:xfrm>
            <a:off x="7516368" y="3026664"/>
            <a:ext cx="384048" cy="274320"/>
          </a:xfrm>
          <a:prstGeom prst="roundRect">
            <a:avLst>
              <a:gd name="adj" fmla="val 16667"/>
            </a:avLst>
          </a:prstGeom>
          <a:solidFill>
            <a:schemeClr val="bg2"/>
          </a:solidFill>
          <a:ln w="9525">
            <a:solidFill>
              <a:schemeClr val="accent3"/>
            </a:solidFill>
            <a:prstDash val="solid"/>
          </a:ln>
        </p:spPr>
      </p:sp>
      <p:sp>
        <p:nvSpPr>
          <p:cNvPr id="44" name="Application"/>
          <p:cNvSpPr/>
          <p:nvPr/>
        </p:nvSpPr>
        <p:spPr>
          <a:xfrm>
            <a:off x="8010144" y="3026664"/>
            <a:ext cx="384048" cy="274320"/>
          </a:xfrm>
          <a:prstGeom prst="roundRect">
            <a:avLst>
              <a:gd name="adj" fmla="val 16667"/>
            </a:avLst>
          </a:prstGeom>
          <a:solidFill>
            <a:schemeClr val="bg2"/>
          </a:solidFill>
          <a:ln w="9525">
            <a:solidFill>
              <a:schemeClr val="accent3"/>
            </a:solidFill>
            <a:prstDash val="solid"/>
          </a:ln>
        </p:spPr>
      </p:sp>
      <p:sp>
        <p:nvSpPr>
          <p:cNvPr id="45" name="Application"/>
          <p:cNvSpPr/>
          <p:nvPr/>
        </p:nvSpPr>
        <p:spPr>
          <a:xfrm>
            <a:off x="8503920" y="3026664"/>
            <a:ext cx="384048" cy="274320"/>
          </a:xfrm>
          <a:prstGeom prst="roundRect">
            <a:avLst>
              <a:gd name="adj" fmla="val 16667"/>
            </a:avLst>
          </a:prstGeom>
          <a:solidFill>
            <a:schemeClr val="bg2"/>
          </a:solidFill>
          <a:ln w="9525">
            <a:solidFill>
              <a:schemeClr val="accent3"/>
            </a:solidFill>
            <a:prstDash val="solid"/>
          </a:ln>
        </p:spPr>
      </p:sp>
      <p:sp>
        <p:nvSpPr>
          <p:cNvPr id="46" name="Application"/>
          <p:cNvSpPr/>
          <p:nvPr/>
        </p:nvSpPr>
        <p:spPr>
          <a:xfrm>
            <a:off x="8997696" y="3026664"/>
            <a:ext cx="384048" cy="274320"/>
          </a:xfrm>
          <a:prstGeom prst="roundRect">
            <a:avLst>
              <a:gd name="adj" fmla="val 16667"/>
            </a:avLst>
          </a:prstGeom>
          <a:solidFill>
            <a:schemeClr val="bg2"/>
          </a:solidFill>
          <a:ln w="9525">
            <a:solidFill>
              <a:schemeClr val="accent3"/>
            </a:solidFill>
            <a:prstDash val="solid"/>
          </a:ln>
        </p:spPr>
      </p:sp>
      <p:sp>
        <p:nvSpPr>
          <p:cNvPr id="47" name="Application"/>
          <p:cNvSpPr/>
          <p:nvPr/>
        </p:nvSpPr>
        <p:spPr>
          <a:xfrm>
            <a:off x="9491472" y="3026664"/>
            <a:ext cx="384048" cy="274320"/>
          </a:xfrm>
          <a:prstGeom prst="roundRect">
            <a:avLst>
              <a:gd name="adj" fmla="val 16667"/>
            </a:avLst>
          </a:prstGeom>
          <a:solidFill>
            <a:schemeClr val="bg2"/>
          </a:solidFill>
          <a:ln w="9525">
            <a:solidFill>
              <a:schemeClr val="accent3"/>
            </a:solidFill>
            <a:prstDash val="solid"/>
          </a:ln>
        </p:spPr>
      </p:sp>
      <p:sp>
        <p:nvSpPr>
          <p:cNvPr id="48" name="Application"/>
          <p:cNvSpPr/>
          <p:nvPr/>
        </p:nvSpPr>
        <p:spPr>
          <a:xfrm>
            <a:off x="9985248" y="3026664"/>
            <a:ext cx="384048" cy="274320"/>
          </a:xfrm>
          <a:prstGeom prst="roundRect">
            <a:avLst>
              <a:gd name="adj" fmla="val 16667"/>
            </a:avLst>
          </a:prstGeom>
          <a:solidFill>
            <a:schemeClr val="bg2"/>
          </a:solidFill>
          <a:ln w="9525">
            <a:solidFill>
              <a:schemeClr val="accent3"/>
            </a:solidFill>
            <a:prstDash val="solid"/>
          </a:ln>
        </p:spPr>
      </p:sp>
      <p:sp>
        <p:nvSpPr>
          <p:cNvPr id="49" name="Application"/>
          <p:cNvSpPr/>
          <p:nvPr/>
        </p:nvSpPr>
        <p:spPr>
          <a:xfrm>
            <a:off x="10479024" y="3026664"/>
            <a:ext cx="384048" cy="274320"/>
          </a:xfrm>
          <a:prstGeom prst="roundRect">
            <a:avLst>
              <a:gd name="adj" fmla="val 16667"/>
            </a:avLst>
          </a:prstGeom>
          <a:solidFill>
            <a:schemeClr val="bg2"/>
          </a:solidFill>
          <a:ln w="9525">
            <a:solidFill>
              <a:schemeClr val="accent3"/>
            </a:solidFill>
            <a:prstDash val="solid"/>
          </a:ln>
        </p:spPr>
      </p:sp>
      <p:sp>
        <p:nvSpPr>
          <p:cNvPr id="50" name="Application"/>
          <p:cNvSpPr/>
          <p:nvPr/>
        </p:nvSpPr>
        <p:spPr>
          <a:xfrm>
            <a:off x="10972800" y="3026664"/>
            <a:ext cx="384048" cy="274320"/>
          </a:xfrm>
          <a:prstGeom prst="roundRect">
            <a:avLst>
              <a:gd name="adj" fmla="val 16667"/>
            </a:avLst>
          </a:prstGeom>
          <a:solidFill>
            <a:schemeClr val="bg2"/>
          </a:solidFill>
          <a:ln w="9525">
            <a:solidFill>
              <a:schemeClr val="accent3"/>
            </a:solidFill>
            <a:prstDash val="solid"/>
          </a:ln>
        </p:spPr>
      </p:sp>
      <p:sp>
        <p:nvSpPr>
          <p:cNvPr id="51" name="Application"/>
          <p:cNvSpPr/>
          <p:nvPr/>
        </p:nvSpPr>
        <p:spPr>
          <a:xfrm>
            <a:off x="11466576" y="3026664"/>
            <a:ext cx="384048" cy="274320"/>
          </a:xfrm>
          <a:prstGeom prst="roundRect">
            <a:avLst>
              <a:gd name="adj" fmla="val 16667"/>
            </a:avLst>
          </a:prstGeom>
          <a:solidFill>
            <a:schemeClr val="bg2"/>
          </a:solidFill>
          <a:ln w="9525">
            <a:solidFill>
              <a:schemeClr val="accent3"/>
            </a:solidFill>
            <a:prstDash val="solid"/>
          </a:ln>
        </p:spPr>
      </p:sp>
      <p:sp>
        <p:nvSpPr>
          <p:cNvPr id="52" name="Application"/>
          <p:cNvSpPr/>
          <p:nvPr/>
        </p:nvSpPr>
        <p:spPr>
          <a:xfrm>
            <a:off x="6035040" y="3410712"/>
            <a:ext cx="384048" cy="274320"/>
          </a:xfrm>
          <a:prstGeom prst="roundRect">
            <a:avLst>
              <a:gd name="adj" fmla="val 16667"/>
            </a:avLst>
          </a:prstGeom>
          <a:solidFill>
            <a:schemeClr val="bg2"/>
          </a:solidFill>
          <a:ln w="9525">
            <a:solidFill>
              <a:schemeClr val="accent3"/>
            </a:solidFill>
            <a:prstDash val="solid"/>
          </a:ln>
        </p:spPr>
      </p:sp>
      <p:sp>
        <p:nvSpPr>
          <p:cNvPr id="53" name="Application"/>
          <p:cNvSpPr/>
          <p:nvPr/>
        </p:nvSpPr>
        <p:spPr>
          <a:xfrm>
            <a:off x="6528816" y="3410712"/>
            <a:ext cx="384048" cy="274320"/>
          </a:xfrm>
          <a:prstGeom prst="roundRect">
            <a:avLst>
              <a:gd name="adj" fmla="val 16667"/>
            </a:avLst>
          </a:prstGeom>
          <a:solidFill>
            <a:schemeClr val="bg2"/>
          </a:solidFill>
          <a:ln w="9525">
            <a:solidFill>
              <a:schemeClr val="accent3"/>
            </a:solidFill>
            <a:prstDash val="solid"/>
          </a:ln>
        </p:spPr>
      </p:sp>
      <p:sp>
        <p:nvSpPr>
          <p:cNvPr id="54" name="Application"/>
          <p:cNvSpPr/>
          <p:nvPr/>
        </p:nvSpPr>
        <p:spPr>
          <a:xfrm>
            <a:off x="7022592" y="3410712"/>
            <a:ext cx="384048" cy="274320"/>
          </a:xfrm>
          <a:prstGeom prst="roundRect">
            <a:avLst>
              <a:gd name="adj" fmla="val 16667"/>
            </a:avLst>
          </a:prstGeom>
          <a:solidFill>
            <a:schemeClr val="bg2"/>
          </a:solidFill>
          <a:ln w="9525">
            <a:solidFill>
              <a:schemeClr val="accent3"/>
            </a:solidFill>
            <a:prstDash val="solid"/>
          </a:ln>
        </p:spPr>
      </p:sp>
      <p:sp>
        <p:nvSpPr>
          <p:cNvPr id="55" name="Application"/>
          <p:cNvSpPr/>
          <p:nvPr/>
        </p:nvSpPr>
        <p:spPr>
          <a:xfrm>
            <a:off x="7516368" y="3410712"/>
            <a:ext cx="384048" cy="274320"/>
          </a:xfrm>
          <a:prstGeom prst="roundRect">
            <a:avLst>
              <a:gd name="adj" fmla="val 16667"/>
            </a:avLst>
          </a:prstGeom>
          <a:solidFill>
            <a:schemeClr val="bg2"/>
          </a:solidFill>
          <a:ln w="9525">
            <a:solidFill>
              <a:schemeClr val="accent3"/>
            </a:solidFill>
            <a:prstDash val="solid"/>
          </a:ln>
        </p:spPr>
      </p:sp>
      <p:sp>
        <p:nvSpPr>
          <p:cNvPr id="56" name="Application"/>
          <p:cNvSpPr/>
          <p:nvPr/>
        </p:nvSpPr>
        <p:spPr>
          <a:xfrm>
            <a:off x="8010144" y="3410712"/>
            <a:ext cx="384048" cy="274320"/>
          </a:xfrm>
          <a:prstGeom prst="roundRect">
            <a:avLst>
              <a:gd name="adj" fmla="val 16667"/>
            </a:avLst>
          </a:prstGeom>
          <a:solidFill>
            <a:schemeClr val="bg2"/>
          </a:solidFill>
          <a:ln w="9525">
            <a:solidFill>
              <a:schemeClr val="accent3"/>
            </a:solidFill>
            <a:prstDash val="solid"/>
          </a:ln>
        </p:spPr>
      </p:sp>
      <p:sp>
        <p:nvSpPr>
          <p:cNvPr id="57" name="Application"/>
          <p:cNvSpPr/>
          <p:nvPr/>
        </p:nvSpPr>
        <p:spPr>
          <a:xfrm>
            <a:off x="8503920" y="3410712"/>
            <a:ext cx="384048" cy="274320"/>
          </a:xfrm>
          <a:prstGeom prst="roundRect">
            <a:avLst>
              <a:gd name="adj" fmla="val 16667"/>
            </a:avLst>
          </a:prstGeom>
          <a:solidFill>
            <a:schemeClr val="bg2"/>
          </a:solidFill>
          <a:ln w="9525">
            <a:solidFill>
              <a:schemeClr val="accent3"/>
            </a:solidFill>
            <a:prstDash val="solid"/>
          </a:ln>
        </p:spPr>
      </p:sp>
      <p:sp>
        <p:nvSpPr>
          <p:cNvPr id="58" name="Application"/>
          <p:cNvSpPr/>
          <p:nvPr/>
        </p:nvSpPr>
        <p:spPr>
          <a:xfrm>
            <a:off x="8997696" y="3410712"/>
            <a:ext cx="384048" cy="274320"/>
          </a:xfrm>
          <a:prstGeom prst="roundRect">
            <a:avLst>
              <a:gd name="adj" fmla="val 16667"/>
            </a:avLst>
          </a:prstGeom>
          <a:solidFill>
            <a:schemeClr val="bg2"/>
          </a:solidFill>
          <a:ln w="9525">
            <a:solidFill>
              <a:schemeClr val="accent3"/>
            </a:solidFill>
            <a:prstDash val="solid"/>
          </a:ln>
        </p:spPr>
      </p:sp>
      <p:sp>
        <p:nvSpPr>
          <p:cNvPr id="59" name="Application"/>
          <p:cNvSpPr/>
          <p:nvPr/>
        </p:nvSpPr>
        <p:spPr>
          <a:xfrm>
            <a:off x="9491472" y="3410712"/>
            <a:ext cx="384048" cy="274320"/>
          </a:xfrm>
          <a:prstGeom prst="roundRect">
            <a:avLst>
              <a:gd name="adj" fmla="val 16667"/>
            </a:avLst>
          </a:prstGeom>
          <a:solidFill>
            <a:schemeClr val="bg2"/>
          </a:solidFill>
          <a:ln w="9525">
            <a:solidFill>
              <a:schemeClr val="accent3"/>
            </a:solidFill>
            <a:prstDash val="solid"/>
          </a:ln>
        </p:spPr>
      </p:sp>
      <p:sp>
        <p:nvSpPr>
          <p:cNvPr id="60" name="Application"/>
          <p:cNvSpPr/>
          <p:nvPr/>
        </p:nvSpPr>
        <p:spPr>
          <a:xfrm>
            <a:off x="9985248" y="3410712"/>
            <a:ext cx="384048" cy="274320"/>
          </a:xfrm>
          <a:prstGeom prst="roundRect">
            <a:avLst>
              <a:gd name="adj" fmla="val 16667"/>
            </a:avLst>
          </a:prstGeom>
          <a:solidFill>
            <a:schemeClr val="bg2"/>
          </a:solidFill>
          <a:ln w="9525">
            <a:solidFill>
              <a:schemeClr val="accent3"/>
            </a:solidFill>
            <a:prstDash val="solid"/>
          </a:ln>
        </p:spPr>
      </p:sp>
      <p:sp>
        <p:nvSpPr>
          <p:cNvPr id="61" name="Application"/>
          <p:cNvSpPr/>
          <p:nvPr/>
        </p:nvSpPr>
        <p:spPr>
          <a:xfrm>
            <a:off x="10479024" y="3410712"/>
            <a:ext cx="384048" cy="274320"/>
          </a:xfrm>
          <a:prstGeom prst="roundRect">
            <a:avLst>
              <a:gd name="adj" fmla="val 16667"/>
            </a:avLst>
          </a:prstGeom>
          <a:solidFill>
            <a:schemeClr val="bg2"/>
          </a:solidFill>
          <a:ln w="9525">
            <a:solidFill>
              <a:schemeClr val="accent3"/>
            </a:solidFill>
            <a:prstDash val="solid"/>
          </a:ln>
        </p:spPr>
      </p:sp>
      <p:sp>
        <p:nvSpPr>
          <p:cNvPr id="62" name="Application"/>
          <p:cNvSpPr/>
          <p:nvPr/>
        </p:nvSpPr>
        <p:spPr>
          <a:xfrm>
            <a:off x="10972800" y="3410712"/>
            <a:ext cx="384048" cy="274320"/>
          </a:xfrm>
          <a:prstGeom prst="roundRect">
            <a:avLst>
              <a:gd name="adj" fmla="val 16667"/>
            </a:avLst>
          </a:prstGeom>
          <a:solidFill>
            <a:schemeClr val="bg2"/>
          </a:solidFill>
          <a:ln w="9525">
            <a:solidFill>
              <a:schemeClr val="accent3"/>
            </a:solidFill>
            <a:prstDash val="solid"/>
          </a:ln>
        </p:spPr>
      </p:sp>
      <p:sp>
        <p:nvSpPr>
          <p:cNvPr id="63" name="Application"/>
          <p:cNvSpPr/>
          <p:nvPr/>
        </p:nvSpPr>
        <p:spPr>
          <a:xfrm>
            <a:off x="11466576" y="3410712"/>
            <a:ext cx="384048" cy="274320"/>
          </a:xfrm>
          <a:prstGeom prst="roundRect">
            <a:avLst>
              <a:gd name="adj" fmla="val 16667"/>
            </a:avLst>
          </a:prstGeom>
          <a:solidFill>
            <a:schemeClr val="bg2"/>
          </a:solidFill>
          <a:ln w="9525">
            <a:solidFill>
              <a:schemeClr val="accent3"/>
            </a:solidFill>
            <a:prstDash val="solid"/>
          </a:ln>
        </p:spPr>
      </p:sp>
      <p:sp>
        <p:nvSpPr>
          <p:cNvPr id="64" name="Application"/>
          <p:cNvSpPr/>
          <p:nvPr/>
        </p:nvSpPr>
        <p:spPr>
          <a:xfrm>
            <a:off x="6035040" y="3794760"/>
            <a:ext cx="384048" cy="274320"/>
          </a:xfrm>
          <a:prstGeom prst="roundRect">
            <a:avLst>
              <a:gd name="adj" fmla="val 16667"/>
            </a:avLst>
          </a:prstGeom>
          <a:solidFill>
            <a:schemeClr val="bg2"/>
          </a:solidFill>
          <a:ln w="9525">
            <a:solidFill>
              <a:schemeClr val="accent3"/>
            </a:solidFill>
            <a:prstDash val="solid"/>
          </a:ln>
        </p:spPr>
      </p:sp>
      <p:sp>
        <p:nvSpPr>
          <p:cNvPr id="65" name="Application"/>
          <p:cNvSpPr/>
          <p:nvPr/>
        </p:nvSpPr>
        <p:spPr>
          <a:xfrm>
            <a:off x="6528816" y="3794760"/>
            <a:ext cx="384048" cy="274320"/>
          </a:xfrm>
          <a:prstGeom prst="roundRect">
            <a:avLst>
              <a:gd name="adj" fmla="val 16667"/>
            </a:avLst>
          </a:prstGeom>
          <a:solidFill>
            <a:schemeClr val="bg2"/>
          </a:solidFill>
          <a:ln w="9525">
            <a:solidFill>
              <a:schemeClr val="accent3"/>
            </a:solidFill>
            <a:prstDash val="solid"/>
          </a:ln>
        </p:spPr>
      </p:sp>
      <p:sp>
        <p:nvSpPr>
          <p:cNvPr id="66" name="Application"/>
          <p:cNvSpPr/>
          <p:nvPr/>
        </p:nvSpPr>
        <p:spPr>
          <a:xfrm>
            <a:off x="7022592" y="3794760"/>
            <a:ext cx="384048" cy="274320"/>
          </a:xfrm>
          <a:prstGeom prst="roundRect">
            <a:avLst>
              <a:gd name="adj" fmla="val 16667"/>
            </a:avLst>
          </a:prstGeom>
          <a:solidFill>
            <a:schemeClr val="bg2"/>
          </a:solidFill>
          <a:ln w="9525">
            <a:solidFill>
              <a:schemeClr val="accent3"/>
            </a:solidFill>
            <a:prstDash val="solid"/>
          </a:ln>
        </p:spPr>
      </p:sp>
      <p:sp>
        <p:nvSpPr>
          <p:cNvPr id="67" name="Application"/>
          <p:cNvSpPr/>
          <p:nvPr/>
        </p:nvSpPr>
        <p:spPr>
          <a:xfrm>
            <a:off x="7516368" y="3794760"/>
            <a:ext cx="384048" cy="274320"/>
          </a:xfrm>
          <a:prstGeom prst="roundRect">
            <a:avLst>
              <a:gd name="adj" fmla="val 16667"/>
            </a:avLst>
          </a:prstGeom>
          <a:solidFill>
            <a:schemeClr val="bg2"/>
          </a:solidFill>
          <a:ln w="9525">
            <a:solidFill>
              <a:schemeClr val="accent3"/>
            </a:solidFill>
            <a:prstDash val="solid"/>
          </a:ln>
        </p:spPr>
      </p:sp>
      <p:sp>
        <p:nvSpPr>
          <p:cNvPr id="68" name="Application"/>
          <p:cNvSpPr/>
          <p:nvPr/>
        </p:nvSpPr>
        <p:spPr>
          <a:xfrm>
            <a:off x="8010144" y="3794760"/>
            <a:ext cx="384048" cy="274320"/>
          </a:xfrm>
          <a:prstGeom prst="roundRect">
            <a:avLst>
              <a:gd name="adj" fmla="val 16667"/>
            </a:avLst>
          </a:prstGeom>
          <a:solidFill>
            <a:schemeClr val="bg2"/>
          </a:solidFill>
          <a:ln w="9525">
            <a:solidFill>
              <a:schemeClr val="accent3"/>
            </a:solidFill>
            <a:prstDash val="solid"/>
          </a:ln>
        </p:spPr>
      </p:sp>
      <p:sp>
        <p:nvSpPr>
          <p:cNvPr id="69" name="Application"/>
          <p:cNvSpPr/>
          <p:nvPr/>
        </p:nvSpPr>
        <p:spPr>
          <a:xfrm>
            <a:off x="8503920" y="3794760"/>
            <a:ext cx="384048" cy="274320"/>
          </a:xfrm>
          <a:prstGeom prst="roundRect">
            <a:avLst>
              <a:gd name="adj" fmla="val 16667"/>
            </a:avLst>
          </a:prstGeom>
          <a:solidFill>
            <a:schemeClr val="bg2"/>
          </a:solidFill>
          <a:ln w="9525">
            <a:solidFill>
              <a:schemeClr val="accent3"/>
            </a:solidFill>
            <a:prstDash val="solid"/>
          </a:ln>
        </p:spPr>
      </p:sp>
      <p:sp>
        <p:nvSpPr>
          <p:cNvPr id="70" name="Application"/>
          <p:cNvSpPr/>
          <p:nvPr/>
        </p:nvSpPr>
        <p:spPr>
          <a:xfrm>
            <a:off x="8997696" y="3794760"/>
            <a:ext cx="384048" cy="274320"/>
          </a:xfrm>
          <a:prstGeom prst="roundRect">
            <a:avLst>
              <a:gd name="adj" fmla="val 16667"/>
            </a:avLst>
          </a:prstGeom>
          <a:solidFill>
            <a:schemeClr val="bg2"/>
          </a:solidFill>
          <a:ln w="9525">
            <a:solidFill>
              <a:schemeClr val="accent3"/>
            </a:solidFill>
            <a:prstDash val="solid"/>
          </a:ln>
        </p:spPr>
      </p:sp>
      <p:sp>
        <p:nvSpPr>
          <p:cNvPr id="71" name="Application"/>
          <p:cNvSpPr/>
          <p:nvPr/>
        </p:nvSpPr>
        <p:spPr>
          <a:xfrm>
            <a:off x="9491472" y="3794760"/>
            <a:ext cx="384048" cy="274320"/>
          </a:xfrm>
          <a:prstGeom prst="roundRect">
            <a:avLst>
              <a:gd name="adj" fmla="val 16667"/>
            </a:avLst>
          </a:prstGeom>
          <a:solidFill>
            <a:schemeClr val="bg2"/>
          </a:solidFill>
          <a:ln w="9525">
            <a:solidFill>
              <a:schemeClr val="accent3"/>
            </a:solidFill>
            <a:prstDash val="solid"/>
          </a:ln>
        </p:spPr>
      </p:sp>
      <p:sp>
        <p:nvSpPr>
          <p:cNvPr id="72" name="Application"/>
          <p:cNvSpPr/>
          <p:nvPr/>
        </p:nvSpPr>
        <p:spPr>
          <a:xfrm>
            <a:off x="9985248" y="3794760"/>
            <a:ext cx="384048" cy="274320"/>
          </a:xfrm>
          <a:prstGeom prst="roundRect">
            <a:avLst>
              <a:gd name="adj" fmla="val 16667"/>
            </a:avLst>
          </a:prstGeom>
          <a:solidFill>
            <a:schemeClr val="bg2"/>
          </a:solidFill>
          <a:ln w="9525">
            <a:solidFill>
              <a:schemeClr val="accent3"/>
            </a:solidFill>
            <a:prstDash val="solid"/>
          </a:ln>
        </p:spPr>
      </p:sp>
      <p:sp>
        <p:nvSpPr>
          <p:cNvPr id="73" name="Application"/>
          <p:cNvSpPr/>
          <p:nvPr/>
        </p:nvSpPr>
        <p:spPr>
          <a:xfrm>
            <a:off x="10479024" y="3794760"/>
            <a:ext cx="384048" cy="274320"/>
          </a:xfrm>
          <a:prstGeom prst="roundRect">
            <a:avLst>
              <a:gd name="adj" fmla="val 16667"/>
            </a:avLst>
          </a:prstGeom>
          <a:solidFill>
            <a:schemeClr val="bg2"/>
          </a:solidFill>
          <a:ln w="9525">
            <a:solidFill>
              <a:schemeClr val="accent3"/>
            </a:solidFill>
            <a:prstDash val="solid"/>
          </a:ln>
        </p:spPr>
      </p:sp>
      <p:sp>
        <p:nvSpPr>
          <p:cNvPr id="74" name="Application"/>
          <p:cNvSpPr/>
          <p:nvPr/>
        </p:nvSpPr>
        <p:spPr>
          <a:xfrm>
            <a:off x="10972800" y="3794760"/>
            <a:ext cx="384048" cy="274320"/>
          </a:xfrm>
          <a:prstGeom prst="roundRect">
            <a:avLst>
              <a:gd name="adj" fmla="val 16667"/>
            </a:avLst>
          </a:prstGeom>
          <a:solidFill>
            <a:schemeClr val="bg2"/>
          </a:solidFill>
          <a:ln w="9525">
            <a:solidFill>
              <a:schemeClr val="accent3"/>
            </a:solidFill>
            <a:prstDash val="solid"/>
          </a:ln>
        </p:spPr>
      </p:sp>
      <p:sp>
        <p:nvSpPr>
          <p:cNvPr id="75" name="Application"/>
          <p:cNvSpPr/>
          <p:nvPr/>
        </p:nvSpPr>
        <p:spPr>
          <a:xfrm>
            <a:off x="11466576" y="3794760"/>
            <a:ext cx="384048" cy="274320"/>
          </a:xfrm>
          <a:prstGeom prst="roundRect">
            <a:avLst>
              <a:gd name="adj" fmla="val 16667"/>
            </a:avLst>
          </a:prstGeom>
          <a:solidFill>
            <a:schemeClr val="bg2"/>
          </a:solidFill>
          <a:ln w="9525">
            <a:solidFill>
              <a:schemeClr val="accent3"/>
            </a:solidFill>
            <a:prstDash val="solid"/>
          </a:ln>
        </p:spPr>
      </p:sp>
      <p:sp>
        <p:nvSpPr>
          <p:cNvPr id="76" name="Application"/>
          <p:cNvSpPr/>
          <p:nvPr/>
        </p:nvSpPr>
        <p:spPr>
          <a:xfrm>
            <a:off x="6035040" y="4178808"/>
            <a:ext cx="384048" cy="274320"/>
          </a:xfrm>
          <a:prstGeom prst="roundRect">
            <a:avLst>
              <a:gd name="adj" fmla="val 16667"/>
            </a:avLst>
          </a:prstGeom>
          <a:solidFill>
            <a:schemeClr val="bg2"/>
          </a:solidFill>
          <a:ln w="9525">
            <a:solidFill>
              <a:schemeClr val="accent3"/>
            </a:solidFill>
            <a:prstDash val="solid"/>
          </a:ln>
        </p:spPr>
      </p:sp>
      <p:sp>
        <p:nvSpPr>
          <p:cNvPr id="77" name="Application"/>
          <p:cNvSpPr/>
          <p:nvPr/>
        </p:nvSpPr>
        <p:spPr>
          <a:xfrm>
            <a:off x="6528816" y="4178808"/>
            <a:ext cx="384048" cy="274320"/>
          </a:xfrm>
          <a:prstGeom prst="roundRect">
            <a:avLst>
              <a:gd name="adj" fmla="val 16667"/>
            </a:avLst>
          </a:prstGeom>
          <a:solidFill>
            <a:schemeClr val="bg2"/>
          </a:solidFill>
          <a:ln w="9525">
            <a:solidFill>
              <a:schemeClr val="accent3"/>
            </a:solidFill>
            <a:prstDash val="solid"/>
          </a:ln>
        </p:spPr>
      </p:sp>
      <p:sp>
        <p:nvSpPr>
          <p:cNvPr id="78" name="Application"/>
          <p:cNvSpPr/>
          <p:nvPr/>
        </p:nvSpPr>
        <p:spPr>
          <a:xfrm>
            <a:off x="7022592" y="4178808"/>
            <a:ext cx="384048" cy="274320"/>
          </a:xfrm>
          <a:prstGeom prst="roundRect">
            <a:avLst>
              <a:gd name="adj" fmla="val 16667"/>
            </a:avLst>
          </a:prstGeom>
          <a:solidFill>
            <a:schemeClr val="bg2"/>
          </a:solidFill>
          <a:ln w="9525">
            <a:solidFill>
              <a:schemeClr val="accent3"/>
            </a:solidFill>
            <a:prstDash val="solid"/>
          </a:ln>
        </p:spPr>
      </p:sp>
      <p:sp>
        <p:nvSpPr>
          <p:cNvPr id="79" name="Reply"/>
          <p:cNvSpPr/>
          <p:nvPr/>
        </p:nvSpPr>
        <p:spPr>
          <a:xfrm>
            <a:off x="7516368" y="4178808"/>
            <a:ext cx="384048" cy="274320"/>
          </a:xfrm>
          <a:prstGeom prst="roundRect">
            <a:avLst>
              <a:gd name="adj" fmla="val 16667"/>
            </a:avLst>
          </a:prstGeom>
          <a:solidFill>
            <a:schemeClr val="accent1"/>
          </a:solidFill>
          <a:ln w="9525">
            <a:solidFill>
              <a:schemeClr val="accent1"/>
            </a:solidFill>
            <a:prstDash val="solid"/>
          </a:ln>
        </p:spPr>
      </p:sp>
      <p:sp>
        <p:nvSpPr>
          <p:cNvPr id="80" name="Application"/>
          <p:cNvSpPr/>
          <p:nvPr/>
        </p:nvSpPr>
        <p:spPr>
          <a:xfrm>
            <a:off x="8010144" y="4178808"/>
            <a:ext cx="384048" cy="274320"/>
          </a:xfrm>
          <a:prstGeom prst="roundRect">
            <a:avLst>
              <a:gd name="adj" fmla="val 16667"/>
            </a:avLst>
          </a:prstGeom>
          <a:solidFill>
            <a:schemeClr val="bg2"/>
          </a:solidFill>
          <a:ln w="9525">
            <a:solidFill>
              <a:schemeClr val="accent3"/>
            </a:solidFill>
            <a:prstDash val="solid"/>
          </a:ln>
        </p:spPr>
      </p:sp>
      <p:sp>
        <p:nvSpPr>
          <p:cNvPr id="81" name="Application"/>
          <p:cNvSpPr/>
          <p:nvPr/>
        </p:nvSpPr>
        <p:spPr>
          <a:xfrm>
            <a:off x="8503920" y="4178808"/>
            <a:ext cx="384048" cy="274320"/>
          </a:xfrm>
          <a:prstGeom prst="roundRect">
            <a:avLst>
              <a:gd name="adj" fmla="val 16667"/>
            </a:avLst>
          </a:prstGeom>
          <a:solidFill>
            <a:schemeClr val="bg2"/>
          </a:solidFill>
          <a:ln w="9525">
            <a:solidFill>
              <a:schemeClr val="accent3"/>
            </a:solidFill>
            <a:prstDash val="solid"/>
          </a:ln>
        </p:spPr>
      </p:sp>
      <p:sp>
        <p:nvSpPr>
          <p:cNvPr id="82" name="Application"/>
          <p:cNvSpPr/>
          <p:nvPr/>
        </p:nvSpPr>
        <p:spPr>
          <a:xfrm>
            <a:off x="8997696" y="4178808"/>
            <a:ext cx="384048" cy="274320"/>
          </a:xfrm>
          <a:prstGeom prst="roundRect">
            <a:avLst>
              <a:gd name="adj" fmla="val 16667"/>
            </a:avLst>
          </a:prstGeom>
          <a:solidFill>
            <a:schemeClr val="bg2"/>
          </a:solidFill>
          <a:ln w="9525">
            <a:solidFill>
              <a:schemeClr val="accent3"/>
            </a:solidFill>
            <a:prstDash val="solid"/>
          </a:ln>
        </p:spPr>
      </p:sp>
      <p:sp>
        <p:nvSpPr>
          <p:cNvPr id="83" name="Application"/>
          <p:cNvSpPr/>
          <p:nvPr/>
        </p:nvSpPr>
        <p:spPr>
          <a:xfrm>
            <a:off x="9491472" y="4178808"/>
            <a:ext cx="384048" cy="274320"/>
          </a:xfrm>
          <a:prstGeom prst="roundRect">
            <a:avLst>
              <a:gd name="adj" fmla="val 16667"/>
            </a:avLst>
          </a:prstGeom>
          <a:solidFill>
            <a:schemeClr val="bg2"/>
          </a:solidFill>
          <a:ln w="9525">
            <a:solidFill>
              <a:schemeClr val="accent3"/>
            </a:solidFill>
            <a:prstDash val="solid"/>
          </a:ln>
        </p:spPr>
      </p:sp>
      <p:sp>
        <p:nvSpPr>
          <p:cNvPr id="84" name="Application"/>
          <p:cNvSpPr/>
          <p:nvPr/>
        </p:nvSpPr>
        <p:spPr>
          <a:xfrm>
            <a:off x="9985248" y="4178808"/>
            <a:ext cx="384048" cy="274320"/>
          </a:xfrm>
          <a:prstGeom prst="roundRect">
            <a:avLst>
              <a:gd name="adj" fmla="val 16667"/>
            </a:avLst>
          </a:prstGeom>
          <a:solidFill>
            <a:schemeClr val="bg2"/>
          </a:solidFill>
          <a:ln w="9525">
            <a:solidFill>
              <a:schemeClr val="accent3"/>
            </a:solidFill>
            <a:prstDash val="solid"/>
          </a:ln>
        </p:spPr>
      </p:sp>
      <p:sp>
        <p:nvSpPr>
          <p:cNvPr id="85" name="Application"/>
          <p:cNvSpPr/>
          <p:nvPr/>
        </p:nvSpPr>
        <p:spPr>
          <a:xfrm>
            <a:off x="10479024" y="4178808"/>
            <a:ext cx="384048" cy="274320"/>
          </a:xfrm>
          <a:prstGeom prst="roundRect">
            <a:avLst>
              <a:gd name="adj" fmla="val 16667"/>
            </a:avLst>
          </a:prstGeom>
          <a:solidFill>
            <a:schemeClr val="bg2"/>
          </a:solidFill>
          <a:ln w="9525">
            <a:solidFill>
              <a:schemeClr val="accent3"/>
            </a:solidFill>
            <a:prstDash val="solid"/>
          </a:ln>
        </p:spPr>
      </p:sp>
      <p:sp>
        <p:nvSpPr>
          <p:cNvPr id="86" name="Application"/>
          <p:cNvSpPr/>
          <p:nvPr/>
        </p:nvSpPr>
        <p:spPr>
          <a:xfrm>
            <a:off x="10972800" y="4178808"/>
            <a:ext cx="384048" cy="274320"/>
          </a:xfrm>
          <a:prstGeom prst="roundRect">
            <a:avLst>
              <a:gd name="adj" fmla="val 16667"/>
            </a:avLst>
          </a:prstGeom>
          <a:solidFill>
            <a:schemeClr val="bg2"/>
          </a:solidFill>
          <a:ln w="9525">
            <a:solidFill>
              <a:schemeClr val="accent3"/>
            </a:solidFill>
            <a:prstDash val="solid"/>
          </a:ln>
        </p:spPr>
      </p:sp>
      <p:sp>
        <p:nvSpPr>
          <p:cNvPr id="87" name="Application"/>
          <p:cNvSpPr/>
          <p:nvPr/>
        </p:nvSpPr>
        <p:spPr>
          <a:xfrm>
            <a:off x="11466576" y="4178808"/>
            <a:ext cx="384048" cy="274320"/>
          </a:xfrm>
          <a:prstGeom prst="roundRect">
            <a:avLst>
              <a:gd name="adj" fmla="val 16667"/>
            </a:avLst>
          </a:prstGeom>
          <a:solidFill>
            <a:schemeClr val="bg2"/>
          </a:solidFill>
          <a:ln w="9525">
            <a:solidFill>
              <a:schemeClr val="accent3"/>
            </a:solidFill>
            <a:prstDash val="solid"/>
          </a:ln>
        </p:spPr>
      </p:sp>
      <p:sp>
        <p:nvSpPr>
          <p:cNvPr id="88" name="Application"/>
          <p:cNvSpPr/>
          <p:nvPr/>
        </p:nvSpPr>
        <p:spPr>
          <a:xfrm>
            <a:off x="6035040" y="4562856"/>
            <a:ext cx="384048" cy="274320"/>
          </a:xfrm>
          <a:prstGeom prst="roundRect">
            <a:avLst>
              <a:gd name="adj" fmla="val 16667"/>
            </a:avLst>
          </a:prstGeom>
          <a:solidFill>
            <a:schemeClr val="bg2"/>
          </a:solidFill>
          <a:ln w="9525">
            <a:solidFill>
              <a:schemeClr val="accent3"/>
            </a:solidFill>
            <a:prstDash val="solid"/>
          </a:ln>
        </p:spPr>
      </p:sp>
      <p:sp>
        <p:nvSpPr>
          <p:cNvPr id="89" name="Application"/>
          <p:cNvSpPr/>
          <p:nvPr/>
        </p:nvSpPr>
        <p:spPr>
          <a:xfrm>
            <a:off x="6528816" y="4562856"/>
            <a:ext cx="384048" cy="274320"/>
          </a:xfrm>
          <a:prstGeom prst="roundRect">
            <a:avLst>
              <a:gd name="adj" fmla="val 16667"/>
            </a:avLst>
          </a:prstGeom>
          <a:solidFill>
            <a:schemeClr val="bg2"/>
          </a:solidFill>
          <a:ln w="9525">
            <a:solidFill>
              <a:schemeClr val="accent3"/>
            </a:solidFill>
            <a:prstDash val="solid"/>
          </a:ln>
        </p:spPr>
      </p:sp>
      <p:sp>
        <p:nvSpPr>
          <p:cNvPr id="90" name="Application"/>
          <p:cNvSpPr/>
          <p:nvPr/>
        </p:nvSpPr>
        <p:spPr>
          <a:xfrm>
            <a:off x="7022592" y="4562856"/>
            <a:ext cx="384048" cy="274320"/>
          </a:xfrm>
          <a:prstGeom prst="roundRect">
            <a:avLst>
              <a:gd name="adj" fmla="val 16667"/>
            </a:avLst>
          </a:prstGeom>
          <a:solidFill>
            <a:schemeClr val="bg2"/>
          </a:solidFill>
          <a:ln w="9525">
            <a:solidFill>
              <a:schemeClr val="accent3"/>
            </a:solidFill>
            <a:prstDash val="solid"/>
          </a:ln>
        </p:spPr>
      </p:sp>
      <p:sp>
        <p:nvSpPr>
          <p:cNvPr id="91" name="Application"/>
          <p:cNvSpPr/>
          <p:nvPr/>
        </p:nvSpPr>
        <p:spPr>
          <a:xfrm>
            <a:off x="7516368" y="4562856"/>
            <a:ext cx="384048" cy="274320"/>
          </a:xfrm>
          <a:prstGeom prst="roundRect">
            <a:avLst>
              <a:gd name="adj" fmla="val 16667"/>
            </a:avLst>
          </a:prstGeom>
          <a:solidFill>
            <a:schemeClr val="bg2"/>
          </a:solidFill>
          <a:ln w="9525">
            <a:solidFill>
              <a:schemeClr val="accent3"/>
            </a:solidFill>
            <a:prstDash val="solid"/>
          </a:ln>
        </p:spPr>
      </p:sp>
      <p:sp>
        <p:nvSpPr>
          <p:cNvPr id="92" name="Application"/>
          <p:cNvSpPr/>
          <p:nvPr/>
        </p:nvSpPr>
        <p:spPr>
          <a:xfrm>
            <a:off x="8010144" y="4562856"/>
            <a:ext cx="384048" cy="274320"/>
          </a:xfrm>
          <a:prstGeom prst="roundRect">
            <a:avLst>
              <a:gd name="adj" fmla="val 16667"/>
            </a:avLst>
          </a:prstGeom>
          <a:solidFill>
            <a:schemeClr val="bg2"/>
          </a:solidFill>
          <a:ln w="9525">
            <a:solidFill>
              <a:schemeClr val="accent3"/>
            </a:solidFill>
            <a:prstDash val="solid"/>
          </a:ln>
        </p:spPr>
      </p:sp>
      <p:sp>
        <p:nvSpPr>
          <p:cNvPr id="93" name="Application"/>
          <p:cNvSpPr/>
          <p:nvPr/>
        </p:nvSpPr>
        <p:spPr>
          <a:xfrm>
            <a:off x="8503920" y="4562856"/>
            <a:ext cx="384048" cy="274320"/>
          </a:xfrm>
          <a:prstGeom prst="roundRect">
            <a:avLst>
              <a:gd name="adj" fmla="val 16667"/>
            </a:avLst>
          </a:prstGeom>
          <a:solidFill>
            <a:schemeClr val="bg2"/>
          </a:solidFill>
          <a:ln w="9525">
            <a:solidFill>
              <a:schemeClr val="accent3"/>
            </a:solidFill>
            <a:prstDash val="solid"/>
          </a:ln>
        </p:spPr>
      </p:sp>
      <p:sp>
        <p:nvSpPr>
          <p:cNvPr id="94" name="Application"/>
          <p:cNvSpPr/>
          <p:nvPr/>
        </p:nvSpPr>
        <p:spPr>
          <a:xfrm>
            <a:off x="8997696" y="4562856"/>
            <a:ext cx="384048" cy="274320"/>
          </a:xfrm>
          <a:prstGeom prst="roundRect">
            <a:avLst>
              <a:gd name="adj" fmla="val 16667"/>
            </a:avLst>
          </a:prstGeom>
          <a:solidFill>
            <a:schemeClr val="bg2"/>
          </a:solidFill>
          <a:ln w="9525">
            <a:solidFill>
              <a:schemeClr val="accent3"/>
            </a:solidFill>
            <a:prstDash val="solid"/>
          </a:ln>
        </p:spPr>
      </p:sp>
      <p:sp>
        <p:nvSpPr>
          <p:cNvPr id="95" name="Application"/>
          <p:cNvSpPr/>
          <p:nvPr/>
        </p:nvSpPr>
        <p:spPr>
          <a:xfrm>
            <a:off x="9491472" y="4562856"/>
            <a:ext cx="384048" cy="274320"/>
          </a:xfrm>
          <a:prstGeom prst="roundRect">
            <a:avLst>
              <a:gd name="adj" fmla="val 16667"/>
            </a:avLst>
          </a:prstGeom>
          <a:solidFill>
            <a:schemeClr val="bg2"/>
          </a:solidFill>
          <a:ln w="9525">
            <a:solidFill>
              <a:schemeClr val="accent3"/>
            </a:solidFill>
            <a:prstDash val="solid"/>
          </a:ln>
        </p:spPr>
      </p:sp>
      <p:sp>
        <p:nvSpPr>
          <p:cNvPr id="96" name="Application"/>
          <p:cNvSpPr/>
          <p:nvPr/>
        </p:nvSpPr>
        <p:spPr>
          <a:xfrm>
            <a:off x="9985248" y="4562856"/>
            <a:ext cx="384048" cy="274320"/>
          </a:xfrm>
          <a:prstGeom prst="roundRect">
            <a:avLst>
              <a:gd name="adj" fmla="val 16667"/>
            </a:avLst>
          </a:prstGeom>
          <a:solidFill>
            <a:schemeClr val="bg2"/>
          </a:solidFill>
          <a:ln w="9525">
            <a:solidFill>
              <a:schemeClr val="accent3"/>
            </a:solidFill>
            <a:prstDash val="solid"/>
          </a:ln>
        </p:spPr>
      </p:sp>
      <p:sp>
        <p:nvSpPr>
          <p:cNvPr id="97" name="Application"/>
          <p:cNvSpPr/>
          <p:nvPr/>
        </p:nvSpPr>
        <p:spPr>
          <a:xfrm>
            <a:off x="10479024" y="4562856"/>
            <a:ext cx="384048" cy="274320"/>
          </a:xfrm>
          <a:prstGeom prst="roundRect">
            <a:avLst>
              <a:gd name="adj" fmla="val 16667"/>
            </a:avLst>
          </a:prstGeom>
          <a:solidFill>
            <a:schemeClr val="bg2"/>
          </a:solidFill>
          <a:ln w="9525">
            <a:solidFill>
              <a:schemeClr val="accent3"/>
            </a:solidFill>
            <a:prstDash val="solid"/>
          </a:ln>
        </p:spPr>
      </p:sp>
      <p:sp>
        <p:nvSpPr>
          <p:cNvPr id="98" name="Application"/>
          <p:cNvSpPr/>
          <p:nvPr/>
        </p:nvSpPr>
        <p:spPr>
          <a:xfrm>
            <a:off x="10972800" y="4562856"/>
            <a:ext cx="384048" cy="274320"/>
          </a:xfrm>
          <a:prstGeom prst="roundRect">
            <a:avLst>
              <a:gd name="adj" fmla="val 16667"/>
            </a:avLst>
          </a:prstGeom>
          <a:solidFill>
            <a:schemeClr val="bg2"/>
          </a:solidFill>
          <a:ln w="9525">
            <a:solidFill>
              <a:schemeClr val="accent3"/>
            </a:solidFill>
            <a:prstDash val="solid"/>
          </a:ln>
        </p:spPr>
      </p:sp>
      <p:sp>
        <p:nvSpPr>
          <p:cNvPr id="99" name="Application"/>
          <p:cNvSpPr/>
          <p:nvPr/>
        </p:nvSpPr>
        <p:spPr>
          <a:xfrm>
            <a:off x="11466576" y="4562856"/>
            <a:ext cx="384048" cy="274320"/>
          </a:xfrm>
          <a:prstGeom prst="roundRect">
            <a:avLst>
              <a:gd name="adj" fmla="val 16667"/>
            </a:avLst>
          </a:prstGeom>
          <a:solidFill>
            <a:schemeClr val="bg2"/>
          </a:solidFill>
          <a:ln w="9525">
            <a:solidFill>
              <a:schemeClr val="accent3"/>
            </a:solidFill>
            <a:prstDash val="solid"/>
          </a:ln>
        </p:spPr>
      </p:sp>
      <p:sp>
        <p:nvSpPr>
          <p:cNvPr id="100" name="Legend app"/>
          <p:cNvSpPr/>
          <p:nvPr/>
        </p:nvSpPr>
        <p:spPr>
          <a:xfrm>
            <a:off x="6035040" y="5120640"/>
            <a:ext cx="274320" cy="182880"/>
          </a:xfrm>
          <a:prstGeom prst="roundRect">
            <a:avLst>
              <a:gd name="adj" fmla="val 20000"/>
            </a:avLst>
          </a:prstGeom>
          <a:solidFill>
            <a:schemeClr val="bg2"/>
          </a:solidFill>
          <a:ln w="9525">
            <a:solidFill>
              <a:schemeClr val="accent3"/>
            </a:solidFill>
            <a:prstDash val="solid"/>
          </a:ln>
        </p:spPr>
      </p:sp>
      <p:sp>
        <p:nvSpPr>
          <p:cNvPr id="101" name="Text 99"/>
          <p:cNvSpPr txBox="1"/>
          <p:nvPr/>
        </p:nvSpPr>
        <p:spPr>
          <a:xfrm>
            <a:off x="6400800" y="5084064"/>
            <a:ext cx="1828800" cy="274320"/>
          </a:xfrm>
          <a:prstGeom prst="rect">
            <a:avLst/>
          </a:prstGeom>
          <a:noFill/>
          <a:ln/>
        </p:spPr>
        <p:txBody>
          <a:bodyPr wrap="square" lIns="0" tIns="0" rIns="0" bIns="0" rtlCol="0" anchor="ctr"/>
          <a:lstStyle/>
          <a:p>
            <a:pPr indent="0" marL="0">
              <a:buNone/>
            </a:pPr>
            <a:r>
              <a:rPr lang="en-US" sz="1200" dirty="0">
                <a:solidFill>
                  <a:schemeClr val="accent2"/>
                </a:solidFill>
                <a:latin typeface="Calibri" pitchFamily="34" charset="0"/>
                <a:ea typeface="Calibri" pitchFamily="34" charset="-122"/>
                <a:cs typeface="Calibri" pitchFamily="34" charset="-120"/>
              </a:rPr>
              <a:t>Applications sent</a:t>
            </a:r>
            <a:endParaRPr lang="en-US" sz="1200" dirty="0"/>
          </a:p>
        </p:txBody>
      </p:sp>
      <p:sp>
        <p:nvSpPr>
          <p:cNvPr id="102" name="Legend reply"/>
          <p:cNvSpPr/>
          <p:nvPr/>
        </p:nvSpPr>
        <p:spPr>
          <a:xfrm>
            <a:off x="8321040" y="5120640"/>
            <a:ext cx="274320" cy="182880"/>
          </a:xfrm>
          <a:prstGeom prst="roundRect">
            <a:avLst>
              <a:gd name="adj" fmla="val 20000"/>
            </a:avLst>
          </a:prstGeom>
          <a:solidFill>
            <a:schemeClr val="accent1"/>
          </a:solidFill>
          <a:ln/>
        </p:spPr>
      </p:sp>
      <p:sp>
        <p:nvSpPr>
          <p:cNvPr id="103" name="Text 101"/>
          <p:cNvSpPr txBox="1"/>
          <p:nvPr/>
        </p:nvSpPr>
        <p:spPr>
          <a:xfrm>
            <a:off x="8686800" y="5084064"/>
            <a:ext cx="1097280" cy="274320"/>
          </a:xfrm>
          <a:prstGeom prst="rect">
            <a:avLst/>
          </a:prstGeom>
          <a:noFill/>
          <a:ln/>
        </p:spPr>
        <p:txBody>
          <a:bodyPr wrap="square" lIns="0" tIns="0" rIns="0" bIns="0" rtlCol="0" anchor="ctr"/>
          <a:lstStyle/>
          <a:p>
            <a:pPr indent="0" marL="0">
              <a:buNone/>
            </a:pPr>
            <a:r>
              <a:rPr lang="en-US" sz="1200" dirty="0">
                <a:solidFill>
                  <a:schemeClr val="accent2"/>
                </a:solidFill>
                <a:latin typeface="Calibri" pitchFamily="34" charset="0"/>
                <a:ea typeface="Calibri" pitchFamily="34" charset="-122"/>
                <a:cs typeface="Calibri" pitchFamily="34" charset="-120"/>
              </a:rPr>
              <a:t>Replies</a:t>
            </a:r>
            <a:endParaRPr lang="en-US" sz="1200" dirty="0"/>
          </a:p>
        </p:txBody>
      </p:sp>
      <p:sp>
        <p:nvSpPr>
          <p:cNvPr id="104" name="Text 102"/>
          <p:cNvSpPr txBox="1"/>
          <p:nvPr/>
        </p:nvSpPr>
        <p:spPr>
          <a:xfrm>
            <a:off x="9784080" y="5084064"/>
            <a:ext cx="1828800" cy="274320"/>
          </a:xfrm>
          <a:prstGeom prst="rect">
            <a:avLst/>
          </a:prstGeom>
          <a:noFill/>
          <a:ln/>
        </p:spPr>
        <p:txBody>
          <a:bodyPr wrap="square" lIns="0" tIns="0" rIns="0" bIns="0" rtlCol="0" anchor="ctr"/>
          <a:lstStyle/>
          <a:p>
            <a:pPr algn="r" indent="0" marL="0">
              <a:buNone/>
            </a:pPr>
            <a:r>
              <a:rPr lang="en-US" sz="1100" i="1" dirty="0">
                <a:solidFill>
                  <a:schemeClr val="accent5"/>
                </a:solidFill>
                <a:latin typeface="Calibri" pitchFamily="34" charset="0"/>
                <a:ea typeface="Calibri" pitchFamily="34" charset="-122"/>
                <a:cs typeface="Calibri" pitchFamily="34" charset="-120"/>
              </a:rPr>
              <a:t>Illustration, not data</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Referrals and warm conversations already open doors cold applications cannot</a:t>
            </a:r>
            <a:endParaRPr lang="en-US" sz="3400" dirty="0"/>
          </a:p>
        </p:txBody>
      </p:sp>
      <p:sp>
        <p:nvSpPr>
          <p:cNvPr id="3" name="Cold application card"/>
          <p:cNvSpPr/>
          <p:nvPr/>
        </p:nvSpPr>
        <p:spPr>
          <a:xfrm>
            <a:off x="548640" y="1920240"/>
            <a:ext cx="4937760" cy="3657600"/>
          </a:xfrm>
          <a:prstGeom prst="roundRect">
            <a:avLst>
              <a:gd name="adj" fmla="val 3000"/>
            </a:avLst>
          </a:prstGeom>
          <a:solidFill>
            <a:schemeClr val="bg1"/>
          </a:solidFill>
          <a:ln w="12700">
            <a:solidFill>
              <a:schemeClr val="accent3"/>
            </a:solidFill>
            <a:prstDash val="solid"/>
          </a:ln>
          <a:effectLst>
            <a:outerShdw sx="100000" sy="100000" kx="0" ky="0" algn="bl" rotWithShape="0" blurRad="127000" dist="38100" dir="5400000">
              <a:srgbClr val="18231F">
                <a:alpha val="12000"/>
              </a:srgbClr>
            </a:outerShdw>
          </a:effectLst>
        </p:spPr>
      </p:sp>
      <p:sp>
        <p:nvSpPr>
          <p:cNvPr id="4" name="Cold application door frame"/>
          <p:cNvSpPr/>
          <p:nvPr/>
        </p:nvSpPr>
        <p:spPr>
          <a:xfrm>
            <a:off x="960120" y="2240280"/>
            <a:ext cx="411480" cy="822960"/>
          </a:xfrm>
          <a:prstGeom prst="roundRect">
            <a:avLst>
              <a:gd name="adj" fmla="val 12000"/>
            </a:avLst>
          </a:prstGeom>
          <a:ln w="19050">
            <a:solidFill>
              <a:schemeClr val="accent5"/>
            </a:solidFill>
            <a:prstDash val="solid"/>
          </a:ln>
        </p:spPr>
      </p:sp>
      <p:sp>
        <p:nvSpPr>
          <p:cNvPr id="5" name="Cold application door panel"/>
          <p:cNvSpPr/>
          <p:nvPr/>
        </p:nvSpPr>
        <p:spPr>
          <a:xfrm>
            <a:off x="984809" y="2273198"/>
            <a:ext cx="362102" cy="790042"/>
          </a:xfrm>
          <a:prstGeom prst="rect">
            <a:avLst/>
          </a:prstGeom>
          <a:solidFill>
            <a:schemeClr val="accent3"/>
          </a:solidFill>
          <a:ln/>
        </p:spPr>
      </p:sp>
      <p:sp>
        <p:nvSpPr>
          <p:cNvPr id="6" name="Cold application door knob"/>
          <p:cNvSpPr/>
          <p:nvPr/>
        </p:nvSpPr>
        <p:spPr>
          <a:xfrm>
            <a:off x="1185977" y="2692908"/>
            <a:ext cx="73152" cy="73152"/>
          </a:xfrm>
          <a:prstGeom prst="ellipse">
            <a:avLst/>
          </a:prstGeom>
          <a:solidFill>
            <a:schemeClr val="accent1"/>
          </a:solidFill>
          <a:ln/>
        </p:spPr>
      </p:sp>
      <p:sp>
        <p:nvSpPr>
          <p:cNvPr id="7" name="Text 5"/>
          <p:cNvSpPr txBox="1"/>
          <p:nvPr/>
        </p:nvSpPr>
        <p:spPr>
          <a:xfrm>
            <a:off x="1645920" y="2240280"/>
            <a:ext cx="3657600" cy="4572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Cold application</a:t>
            </a:r>
            <a:endParaRPr lang="en-US" sz="2400" dirty="0"/>
          </a:p>
        </p:txBody>
      </p:sp>
      <p:sp>
        <p:nvSpPr>
          <p:cNvPr id="8" name="Text 6"/>
          <p:cNvSpPr txBox="1"/>
          <p:nvPr/>
        </p:nvSpPr>
        <p:spPr>
          <a:xfrm>
            <a:off x="1645920" y="2697480"/>
            <a:ext cx="3657600" cy="365760"/>
          </a:xfrm>
          <a:prstGeom prst="rect">
            <a:avLst/>
          </a:prstGeom>
          <a:noFill/>
          <a:ln/>
        </p:spPr>
        <p:txBody>
          <a:bodyPr wrap="square" lIns="0" tIns="0" rIns="0" bIns="0" rtlCol="0" anchor="t"/>
          <a:lstStyle/>
          <a:p>
            <a:pPr indent="0" marL="0">
              <a:buNone/>
            </a:pPr>
            <a:r>
              <a:rPr lang="en-US" sz="1400" i="1" dirty="0">
                <a:solidFill>
                  <a:schemeClr val="accent2"/>
                </a:solidFill>
                <a:latin typeface="Calibri" pitchFamily="34" charset="0"/>
                <a:ea typeface="Calibri" pitchFamily="34" charset="-122"/>
                <a:cs typeface="Calibri" pitchFamily="34" charset="-120"/>
              </a:rPr>
              <a:t>Sent to a portal</a:t>
            </a:r>
            <a:endParaRPr lang="en-US" sz="1400" dirty="0"/>
          </a:p>
        </p:txBody>
      </p:sp>
      <p:sp>
        <p:nvSpPr>
          <p:cNvPr id="9" name="Text 7"/>
          <p:cNvSpPr txBox="1"/>
          <p:nvPr/>
        </p:nvSpPr>
        <p:spPr>
          <a:xfrm>
            <a:off x="960120" y="3429000"/>
            <a:ext cx="4206240" cy="21945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Read by a filter before a person</a:t>
            </a:r>
            <a:endParaRPr lang="en-US" sz="1600" dirty="0"/>
          </a:p>
          <a:p>
            <a:pPr marL="228600" indent="-2286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Judged on keywords, without context</a:t>
            </a:r>
            <a:endParaRPr lang="en-US" sz="1600" dirty="0"/>
          </a:p>
          <a:p>
            <a:pPr marL="228600" indent="-2286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One of hundreds in the same queue</a:t>
            </a:r>
            <a:endParaRPr lang="en-US" sz="1600" dirty="0"/>
          </a:p>
          <a:p>
            <a:pPr marL="228600" indent="-228600">
              <a:spcAft>
                <a:spcPts val="1000"/>
              </a:spcAft>
              <a:buSzPct val="100000"/>
              <a:buChar char="•"/>
            </a:pPr>
            <a:r>
              <a:rPr lang="en-US" sz="1600" dirty="0">
                <a:solidFill>
                  <a:schemeClr val="tx1"/>
                </a:solidFill>
                <a:latin typeface="Calibri" pitchFamily="34" charset="0"/>
                <a:ea typeface="Calibri" pitchFamily="34" charset="-122"/>
                <a:cs typeface="Calibri" pitchFamily="34" charset="-120"/>
              </a:rPr>
              <a:t>Waits, with no one to follow up with</a:t>
            </a:r>
            <a:endParaRPr lang="en-US" sz="1600" dirty="0"/>
          </a:p>
        </p:txBody>
      </p:sp>
      <p:sp>
        <p:nvSpPr>
          <p:cNvPr id="10" name="Warm conversation card"/>
          <p:cNvSpPr/>
          <p:nvPr/>
        </p:nvSpPr>
        <p:spPr>
          <a:xfrm>
            <a:off x="5971032" y="1920240"/>
            <a:ext cx="4937760" cy="3657600"/>
          </a:xfrm>
          <a:prstGeom prst="roundRect">
            <a:avLst>
              <a:gd name="adj" fmla="val 3000"/>
            </a:avLst>
          </a:prstGeom>
          <a:solidFill>
            <a:schemeClr val="tx2"/>
          </a:solidFill>
          <a:ln w="12700">
            <a:solidFill>
              <a:schemeClr val="tx2"/>
            </a:solidFill>
            <a:prstDash val="solid"/>
          </a:ln>
          <a:effectLst>
            <a:outerShdw sx="100000" sy="100000" kx="0" ky="0" algn="bl" rotWithShape="0" blurRad="127000" dist="38100" dir="5400000">
              <a:srgbClr val="18231F">
                <a:alpha val="12000"/>
              </a:srgbClr>
            </a:outerShdw>
          </a:effectLst>
        </p:spPr>
      </p:sp>
      <p:sp>
        <p:nvSpPr>
          <p:cNvPr id="11" name="Warm conversation door light"/>
          <p:cNvSpPr/>
          <p:nvPr/>
        </p:nvSpPr>
        <p:spPr>
          <a:xfrm>
            <a:off x="6407201" y="2273198"/>
            <a:ext cx="362102" cy="790042"/>
          </a:xfrm>
          <a:prstGeom prst="rect">
            <a:avLst/>
          </a:prstGeom>
          <a:solidFill>
            <a:schemeClr val="accent6"/>
          </a:solidFill>
          <a:ln/>
        </p:spPr>
      </p:sp>
      <p:sp>
        <p:nvSpPr>
          <p:cNvPr id="12" name="Warm conversation door frame"/>
          <p:cNvSpPr/>
          <p:nvPr/>
        </p:nvSpPr>
        <p:spPr>
          <a:xfrm>
            <a:off x="6382512" y="2240280"/>
            <a:ext cx="411480" cy="822960"/>
          </a:xfrm>
          <a:prstGeom prst="roundRect">
            <a:avLst>
              <a:gd name="adj" fmla="val 12000"/>
            </a:avLst>
          </a:prstGeom>
          <a:ln w="19050">
            <a:solidFill>
              <a:schemeClr val="accent1"/>
            </a:solidFill>
            <a:prstDash val="solid"/>
          </a:ln>
        </p:spPr>
      </p:sp>
      <p:sp>
        <p:nvSpPr>
          <p:cNvPr id="13" name="Warm conversation door panel"/>
          <p:cNvSpPr/>
          <p:nvPr/>
        </p:nvSpPr>
        <p:spPr>
          <a:xfrm>
            <a:off x="6407201" y="2273198"/>
            <a:ext cx="255118" cy="790042"/>
          </a:xfrm>
          <a:prstGeom prst="rect">
            <a:avLst/>
          </a:prstGeom>
          <a:solidFill>
            <a:schemeClr val="accent4"/>
          </a:solidFill>
          <a:ln/>
        </p:spPr>
      </p:sp>
      <p:sp>
        <p:nvSpPr>
          <p:cNvPr id="14" name="Warm conversation door knob"/>
          <p:cNvSpPr/>
          <p:nvPr/>
        </p:nvSpPr>
        <p:spPr>
          <a:xfrm>
            <a:off x="6501384" y="2692908"/>
            <a:ext cx="73152" cy="73152"/>
          </a:xfrm>
          <a:prstGeom prst="ellipse">
            <a:avLst/>
          </a:prstGeom>
          <a:solidFill>
            <a:schemeClr val="accent1"/>
          </a:solidFill>
          <a:ln/>
        </p:spPr>
      </p:sp>
      <p:sp>
        <p:nvSpPr>
          <p:cNvPr id="15" name="Text 13"/>
          <p:cNvSpPr txBox="1"/>
          <p:nvPr/>
        </p:nvSpPr>
        <p:spPr>
          <a:xfrm>
            <a:off x="7068312" y="2240280"/>
            <a:ext cx="365760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Warm conversation</a:t>
            </a:r>
            <a:endParaRPr lang="en-US" sz="2400" dirty="0"/>
          </a:p>
        </p:txBody>
      </p:sp>
      <p:sp>
        <p:nvSpPr>
          <p:cNvPr id="16" name="Text 14"/>
          <p:cNvSpPr txBox="1"/>
          <p:nvPr/>
        </p:nvSpPr>
        <p:spPr>
          <a:xfrm>
            <a:off x="7068312" y="2697480"/>
            <a:ext cx="3657600" cy="36576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Started with a person</a:t>
            </a:r>
            <a:endParaRPr lang="en-US" sz="1400" dirty="0"/>
          </a:p>
        </p:txBody>
      </p:sp>
      <p:sp>
        <p:nvSpPr>
          <p:cNvPr id="17" name="Text 15"/>
          <p:cNvSpPr txBox="1"/>
          <p:nvPr/>
        </p:nvSpPr>
        <p:spPr>
          <a:xfrm>
            <a:off x="6382512" y="3429000"/>
            <a:ext cx="4206240" cy="219456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Read by someone who chose to reply</a:t>
            </a:r>
            <a:endParaRPr lang="en-US" sz="1600" dirty="0"/>
          </a:p>
          <a:p>
            <a:pPr marL="228600" indent="-2286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Carries context and common ground</a:t>
            </a:r>
            <a:endParaRPr lang="en-US" sz="1600" dirty="0"/>
          </a:p>
          <a:p>
            <a:pPr marL="228600" indent="-2286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Someone inside can speak for you</a:t>
            </a:r>
            <a:endParaRPr lang="en-US" sz="1600" dirty="0"/>
          </a:p>
          <a:p>
            <a:pPr marL="228600" indent="-228600">
              <a:spcAft>
                <a:spcPts val="1000"/>
              </a:spcAft>
              <a:buSzPct val="100000"/>
              <a:buChar char="•"/>
            </a:pPr>
            <a:r>
              <a:rPr lang="en-US" sz="1600" dirty="0">
                <a:solidFill>
                  <a:schemeClr val="bg1"/>
                </a:solidFill>
                <a:latin typeface="Calibri" pitchFamily="34" charset="0"/>
                <a:ea typeface="Calibri" pitchFamily="34" charset="-122"/>
                <a:cs typeface="Calibri" pitchFamily="34" charset="-120"/>
              </a:rPr>
              <a:t>Moves naturally to a referral or interview</a:t>
            </a:r>
            <a:endParaRPr lang="en-US" sz="1600" dirty="0"/>
          </a:p>
        </p:txBody>
      </p:sp>
      <p:sp>
        <p:nvSpPr>
          <p:cNvPr id="18" name="Arrow"/>
          <p:cNvSpPr/>
          <p:nvPr/>
        </p:nvSpPr>
        <p:spPr>
          <a:xfrm>
            <a:off x="5532120" y="3703320"/>
            <a:ext cx="393192" cy="365760"/>
          </a:xfrm>
          <a:prstGeom prst="rightArrow">
            <a:avLst/>
          </a:prstGeom>
          <a:solidFill>
            <a:schemeClr val="accent1"/>
          </a:solidFill>
          <a:ln/>
        </p:spPr>
      </p:sp>
      <p:sp>
        <p:nvSpPr>
          <p:cNvPr id="19" name="Text 17"/>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Knock makes the warm route repeatable for every student, not only the well-connected ones.</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Knock turns a job search into a handful of real conversations, in four steps</a:t>
            </a:r>
            <a:endParaRPr lang="en-US" sz="3400" dirty="0"/>
          </a:p>
        </p:txBody>
      </p:sp>
      <p:sp>
        <p:nvSpPr>
          <p:cNvPr id="3" name="Step card 1"/>
          <p:cNvSpPr/>
          <p:nvPr/>
        </p:nvSpPr>
        <p:spPr>
          <a:xfrm>
            <a:off x="548640" y="1920240"/>
            <a:ext cx="2542032" cy="2926080"/>
          </a:xfrm>
          <a:prstGeom prst="roundRect">
            <a:avLst>
              <a:gd name="adj" fmla="val 4317"/>
            </a:avLst>
          </a:prstGeom>
          <a:solidFill>
            <a:schemeClr val="bg2"/>
          </a:solidFill>
          <a:ln/>
        </p:spPr>
      </p:sp>
      <p:sp>
        <p:nvSpPr>
          <p:cNvPr id="4" name="Badge 1"/>
          <p:cNvSpPr/>
          <p:nvPr/>
        </p:nvSpPr>
        <p:spPr>
          <a:xfrm>
            <a:off x="822960" y="2194560"/>
            <a:ext cx="548640" cy="548640"/>
          </a:xfrm>
          <a:prstGeom prst="ellipse">
            <a:avLst/>
          </a:prstGeom>
          <a:solidFill>
            <a:schemeClr val="tx2"/>
          </a:solidFill>
          <a:ln/>
        </p:spPr>
      </p:sp>
      <p:sp>
        <p:nvSpPr>
          <p:cNvPr id="5" name="Text 3"/>
          <p:cNvSpPr txBox="1"/>
          <p:nvPr/>
        </p:nvSpPr>
        <p:spPr>
          <a:xfrm>
            <a:off x="822960" y="2194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822960" y="2880360"/>
            <a:ext cx="1993392" cy="77724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Pick targets</a:t>
            </a:r>
            <a:endParaRPr lang="en-US" sz="1900" dirty="0"/>
          </a:p>
        </p:txBody>
      </p:sp>
      <p:sp>
        <p:nvSpPr>
          <p:cNvPr id="7" name="Text 5"/>
          <p:cNvSpPr txBox="1"/>
          <p:nvPr/>
        </p:nvSpPr>
        <p:spPr>
          <a:xfrm>
            <a:off x="822960" y="3749040"/>
            <a:ext cx="199339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student chooses target companies and roles. We agree the shortlist together.</a:t>
            </a:r>
            <a:endParaRPr lang="en-US" sz="1400" dirty="0"/>
          </a:p>
        </p:txBody>
      </p:sp>
      <p:sp>
        <p:nvSpPr>
          <p:cNvPr id="8" name="Step arrow"/>
          <p:cNvSpPr/>
          <p:nvPr/>
        </p:nvSpPr>
        <p:spPr>
          <a:xfrm>
            <a:off x="3127248" y="3246120"/>
            <a:ext cx="201168" cy="274320"/>
          </a:xfrm>
          <a:prstGeom prst="rightArrow">
            <a:avLst/>
          </a:prstGeom>
          <a:solidFill>
            <a:schemeClr val="accent1"/>
          </a:solidFill>
          <a:ln/>
        </p:spPr>
      </p:sp>
      <p:sp>
        <p:nvSpPr>
          <p:cNvPr id="9" name="Step card 2"/>
          <p:cNvSpPr/>
          <p:nvPr/>
        </p:nvSpPr>
        <p:spPr>
          <a:xfrm>
            <a:off x="3364992" y="1920240"/>
            <a:ext cx="2542032" cy="2926080"/>
          </a:xfrm>
          <a:prstGeom prst="roundRect">
            <a:avLst>
              <a:gd name="adj" fmla="val 4317"/>
            </a:avLst>
          </a:prstGeom>
          <a:solidFill>
            <a:schemeClr val="bg2"/>
          </a:solidFill>
          <a:ln/>
        </p:spPr>
      </p:sp>
      <p:sp>
        <p:nvSpPr>
          <p:cNvPr id="10" name="Badge 2"/>
          <p:cNvSpPr/>
          <p:nvPr/>
        </p:nvSpPr>
        <p:spPr>
          <a:xfrm>
            <a:off x="3639312" y="2194560"/>
            <a:ext cx="548640" cy="548640"/>
          </a:xfrm>
          <a:prstGeom prst="ellipse">
            <a:avLst/>
          </a:prstGeom>
          <a:solidFill>
            <a:schemeClr val="tx2"/>
          </a:solidFill>
          <a:ln/>
        </p:spPr>
      </p:sp>
      <p:sp>
        <p:nvSpPr>
          <p:cNvPr id="11" name="Text 9"/>
          <p:cNvSpPr txBox="1"/>
          <p:nvPr/>
        </p:nvSpPr>
        <p:spPr>
          <a:xfrm>
            <a:off x="3639312" y="2194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3639312" y="2880360"/>
            <a:ext cx="1993392" cy="77724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Find the right people</a:t>
            </a:r>
            <a:endParaRPr lang="en-US" sz="1900" dirty="0"/>
          </a:p>
        </p:txBody>
      </p:sp>
      <p:sp>
        <p:nvSpPr>
          <p:cNvPr id="13" name="Text 11"/>
          <p:cNvSpPr txBox="1"/>
          <p:nvPr/>
        </p:nvSpPr>
        <p:spPr>
          <a:xfrm>
            <a:off x="3639312" y="3749040"/>
            <a:ext cx="199339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Hiring managers, team members, alumni and senior people who can introduce.</a:t>
            </a:r>
            <a:endParaRPr lang="en-US" sz="1400" dirty="0"/>
          </a:p>
        </p:txBody>
      </p:sp>
      <p:sp>
        <p:nvSpPr>
          <p:cNvPr id="14" name="Step arrow"/>
          <p:cNvSpPr/>
          <p:nvPr/>
        </p:nvSpPr>
        <p:spPr>
          <a:xfrm>
            <a:off x="5943600" y="3246120"/>
            <a:ext cx="201168" cy="274320"/>
          </a:xfrm>
          <a:prstGeom prst="rightArrow">
            <a:avLst/>
          </a:prstGeom>
          <a:solidFill>
            <a:schemeClr val="accent1"/>
          </a:solidFill>
          <a:ln/>
        </p:spPr>
      </p:sp>
      <p:sp>
        <p:nvSpPr>
          <p:cNvPr id="15" name="Step card 3"/>
          <p:cNvSpPr/>
          <p:nvPr/>
        </p:nvSpPr>
        <p:spPr>
          <a:xfrm>
            <a:off x="6181344" y="1920240"/>
            <a:ext cx="2542032" cy="2926080"/>
          </a:xfrm>
          <a:prstGeom prst="roundRect">
            <a:avLst>
              <a:gd name="adj" fmla="val 4317"/>
            </a:avLst>
          </a:prstGeom>
          <a:solidFill>
            <a:schemeClr val="bg2"/>
          </a:solidFill>
          <a:ln/>
        </p:spPr>
      </p:sp>
      <p:sp>
        <p:nvSpPr>
          <p:cNvPr id="16" name="Badge 3"/>
          <p:cNvSpPr/>
          <p:nvPr/>
        </p:nvSpPr>
        <p:spPr>
          <a:xfrm>
            <a:off x="6455664" y="2194560"/>
            <a:ext cx="548640" cy="548640"/>
          </a:xfrm>
          <a:prstGeom prst="ellipse">
            <a:avLst/>
          </a:prstGeom>
          <a:solidFill>
            <a:schemeClr val="tx2"/>
          </a:solidFill>
          <a:ln/>
        </p:spPr>
      </p:sp>
      <p:sp>
        <p:nvSpPr>
          <p:cNvPr id="17" name="Text 15"/>
          <p:cNvSpPr txBox="1"/>
          <p:nvPr/>
        </p:nvSpPr>
        <p:spPr>
          <a:xfrm>
            <a:off x="6455664" y="2194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6455664" y="2880360"/>
            <a:ext cx="1993392" cy="77724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Write a personal note</a:t>
            </a:r>
            <a:endParaRPr lang="en-US" sz="1900" dirty="0"/>
          </a:p>
        </p:txBody>
      </p:sp>
      <p:sp>
        <p:nvSpPr>
          <p:cNvPr id="19" name="Text 17"/>
          <p:cNvSpPr txBox="1"/>
          <p:nvPr/>
        </p:nvSpPr>
        <p:spPr>
          <a:xfrm>
            <a:off x="6455664" y="3749040"/>
            <a:ext cx="199339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We research each person and open with something genuinely shared.</a:t>
            </a:r>
            <a:endParaRPr lang="en-US" sz="1400" dirty="0"/>
          </a:p>
        </p:txBody>
      </p:sp>
      <p:sp>
        <p:nvSpPr>
          <p:cNvPr id="20" name="Step arrow"/>
          <p:cNvSpPr/>
          <p:nvPr/>
        </p:nvSpPr>
        <p:spPr>
          <a:xfrm>
            <a:off x="8759952" y="3246120"/>
            <a:ext cx="201168" cy="274320"/>
          </a:xfrm>
          <a:prstGeom prst="rightArrow">
            <a:avLst/>
          </a:prstGeom>
          <a:solidFill>
            <a:schemeClr val="accent1"/>
          </a:solidFill>
          <a:ln/>
        </p:spPr>
      </p:sp>
      <p:sp>
        <p:nvSpPr>
          <p:cNvPr id="21" name="Step card 4"/>
          <p:cNvSpPr/>
          <p:nvPr/>
        </p:nvSpPr>
        <p:spPr>
          <a:xfrm>
            <a:off x="8997696" y="1920240"/>
            <a:ext cx="2542032" cy="2926080"/>
          </a:xfrm>
          <a:prstGeom prst="roundRect">
            <a:avLst>
              <a:gd name="adj" fmla="val 4317"/>
            </a:avLst>
          </a:prstGeom>
          <a:solidFill>
            <a:schemeClr val="bg2"/>
          </a:solidFill>
          <a:ln/>
        </p:spPr>
      </p:sp>
      <p:sp>
        <p:nvSpPr>
          <p:cNvPr id="22" name="Badge 4"/>
          <p:cNvSpPr/>
          <p:nvPr/>
        </p:nvSpPr>
        <p:spPr>
          <a:xfrm>
            <a:off x="9272016" y="2194560"/>
            <a:ext cx="548640" cy="548640"/>
          </a:xfrm>
          <a:prstGeom prst="ellipse">
            <a:avLst/>
          </a:prstGeom>
          <a:solidFill>
            <a:schemeClr val="tx2"/>
          </a:solidFill>
          <a:ln/>
        </p:spPr>
      </p:sp>
      <p:sp>
        <p:nvSpPr>
          <p:cNvPr id="23" name="Text 21"/>
          <p:cNvSpPr txBox="1"/>
          <p:nvPr/>
        </p:nvSpPr>
        <p:spPr>
          <a:xfrm>
            <a:off x="9272016" y="2194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9272016" y="2880360"/>
            <a:ext cx="1993392" cy="77724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Guide every reply</a:t>
            </a:r>
            <a:endParaRPr lang="en-US" sz="1900" dirty="0"/>
          </a:p>
        </p:txBody>
      </p:sp>
      <p:sp>
        <p:nvSpPr>
          <p:cNvPr id="25" name="Text 23"/>
          <p:cNvSpPr txBox="1"/>
          <p:nvPr/>
        </p:nvSpPr>
        <p:spPr>
          <a:xfrm>
            <a:off x="9272016" y="3749040"/>
            <a:ext cx="199339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We help with each response until it becomes a referral or an interview.</a:t>
            </a:r>
            <a:endParaRPr lang="en-US" sz="1400" dirty="0"/>
          </a:p>
        </p:txBody>
      </p:sp>
      <p:sp>
        <p:nvSpPr>
          <p:cNvPr id="26" name="Approval band"/>
          <p:cNvSpPr/>
          <p:nvPr/>
        </p:nvSpPr>
        <p:spPr>
          <a:xfrm>
            <a:off x="548640" y="5166360"/>
            <a:ext cx="11094415" cy="822960"/>
          </a:xfrm>
          <a:prstGeom prst="roundRect">
            <a:avLst>
              <a:gd name="adj" fmla="val 13333"/>
            </a:avLst>
          </a:prstGeom>
          <a:solidFill>
            <a:schemeClr val="tx2"/>
          </a:solidFill>
          <a:ln/>
        </p:spPr>
      </p:sp>
      <p:sp>
        <p:nvSpPr>
          <p:cNvPr id="27" name="Approval door frame"/>
          <p:cNvSpPr/>
          <p:nvPr/>
        </p:nvSpPr>
        <p:spPr>
          <a:xfrm>
            <a:off x="868680" y="5276088"/>
            <a:ext cx="301752" cy="603504"/>
          </a:xfrm>
          <a:prstGeom prst="roundRect">
            <a:avLst>
              <a:gd name="adj" fmla="val 12000"/>
            </a:avLst>
          </a:prstGeom>
          <a:ln w="15875">
            <a:solidFill>
              <a:schemeClr val="accent1"/>
            </a:solidFill>
            <a:prstDash val="solid"/>
          </a:ln>
        </p:spPr>
      </p:sp>
      <p:sp>
        <p:nvSpPr>
          <p:cNvPr id="28" name="Approval door panel"/>
          <p:cNvSpPr/>
          <p:nvPr/>
        </p:nvSpPr>
        <p:spPr>
          <a:xfrm>
            <a:off x="886785" y="5300228"/>
            <a:ext cx="265542" cy="579364"/>
          </a:xfrm>
          <a:prstGeom prst="rect">
            <a:avLst/>
          </a:prstGeom>
          <a:solidFill>
            <a:schemeClr val="accent4"/>
          </a:solidFill>
          <a:ln/>
        </p:spPr>
      </p:sp>
      <p:sp>
        <p:nvSpPr>
          <p:cNvPr id="29" name="Approval door knob"/>
          <p:cNvSpPr/>
          <p:nvPr/>
        </p:nvSpPr>
        <p:spPr>
          <a:xfrm>
            <a:off x="991392" y="5608015"/>
            <a:ext cx="73152" cy="73152"/>
          </a:xfrm>
          <a:prstGeom prst="ellipse">
            <a:avLst/>
          </a:prstGeom>
          <a:solidFill>
            <a:schemeClr val="accent1"/>
          </a:solidFill>
          <a:ln/>
        </p:spPr>
      </p:sp>
      <p:sp>
        <p:nvSpPr>
          <p:cNvPr id="30" name="Text 28"/>
          <p:cNvSpPr txBox="1"/>
          <p:nvPr/>
        </p:nvSpPr>
        <p:spPr>
          <a:xfrm>
            <a:off x="1463040" y="5166360"/>
            <a:ext cx="9875520" cy="82296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The student approves every message. </a:t>
            </a:r>
            <a:pPr indent="0" marL="0">
              <a:buNone/>
            </a:pPr>
            <a:r>
              <a:rPr lang="en-US" sz="1800" dirty="0">
                <a:solidFill>
                  <a:schemeClr val="accent3"/>
                </a:solidFill>
                <a:latin typeface="Calibri" pitchFamily="34" charset="0"/>
                <a:ea typeface="Calibri" pitchFamily="34" charset="-122"/>
                <a:cs typeface="Calibri" pitchFamily="34" charset="-120"/>
              </a:rPr>
              <a:t>It is sent from their own LinkedIn, in their own name.</a:t>
            </a:r>
            <a:endParaRPr lang="en-US" sz="18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A good first message is short, specific and easy to answer</a:t>
            </a:r>
            <a:endParaRPr lang="en-US" sz="3400" dirty="0"/>
          </a:p>
        </p:txBody>
      </p:sp>
      <p:sp>
        <p:nvSpPr>
          <p:cNvPr id="3" name="Message card"/>
          <p:cNvSpPr/>
          <p:nvPr/>
        </p:nvSpPr>
        <p:spPr>
          <a:xfrm>
            <a:off x="548640" y="1920240"/>
            <a:ext cx="5852160" cy="3931920"/>
          </a:xfrm>
          <a:prstGeom prst="roundRect">
            <a:avLst>
              <a:gd name="adj" fmla="val 3488"/>
            </a:avLst>
          </a:prstGeom>
          <a:solidFill>
            <a:schemeClr val="bg1"/>
          </a:solidFill>
          <a:ln w="12700">
            <a:solidFill>
              <a:schemeClr val="accent3"/>
            </a:solidFill>
            <a:prstDash val="solid"/>
          </a:ln>
          <a:effectLst>
            <a:outerShdw sx="100000" sy="100000" kx="0" ky="0" algn="bl" rotWithShape="0" blurRad="127000" dist="38100" dir="5400000">
              <a:srgbClr val="18231F">
                <a:alpha val="12000"/>
              </a:srgbClr>
            </a:outerShdw>
          </a:effectLst>
        </p:spPr>
      </p:sp>
      <p:sp>
        <p:nvSpPr>
          <p:cNvPr id="4" name="Badge R"/>
          <p:cNvSpPr/>
          <p:nvPr/>
        </p:nvSpPr>
        <p:spPr>
          <a:xfrm>
            <a:off x="914400" y="2240280"/>
            <a:ext cx="640080" cy="640080"/>
          </a:xfrm>
          <a:prstGeom prst="ellipse">
            <a:avLst/>
          </a:prstGeom>
          <a:solidFill>
            <a:schemeClr val="accent3"/>
          </a:solidFill>
          <a:ln/>
        </p:spPr>
      </p:sp>
      <p:sp>
        <p:nvSpPr>
          <p:cNvPr id="5" name="Text 3"/>
          <p:cNvSpPr txBox="1"/>
          <p:nvPr/>
        </p:nvSpPr>
        <p:spPr>
          <a:xfrm>
            <a:off x="914400" y="2240280"/>
            <a:ext cx="640080" cy="640080"/>
          </a:xfrm>
          <a:prstGeom prst="rect">
            <a:avLst/>
          </a:prstGeom>
          <a:noFill/>
          <a:ln/>
        </p:spPr>
        <p:txBody>
          <a:bodyPr wrap="square" lIns="0" tIns="0" rIns="0" bIns="0" rtlCol="0" anchor="ctr"/>
          <a:lstStyle/>
          <a:p>
            <a:pPr algn="ctr" indent="0" marL="0">
              <a:buNone/>
            </a:pPr>
            <a:r>
              <a:rPr lang="en-US" sz="2200" b="1" dirty="0">
                <a:solidFill>
                  <a:schemeClr val="tx2"/>
                </a:solidFill>
                <a:latin typeface="Cambria" pitchFamily="34" charset="0"/>
                <a:ea typeface="Cambria" pitchFamily="34" charset="-122"/>
                <a:cs typeface="Cambria" pitchFamily="34" charset="-120"/>
              </a:rPr>
              <a:t>R</a:t>
            </a:r>
            <a:endParaRPr lang="en-US" sz="2200" dirty="0"/>
          </a:p>
        </p:txBody>
      </p:sp>
      <p:sp>
        <p:nvSpPr>
          <p:cNvPr id="6" name="Text 4"/>
          <p:cNvSpPr txBox="1"/>
          <p:nvPr/>
        </p:nvSpPr>
        <p:spPr>
          <a:xfrm>
            <a:off x="1737360" y="2240280"/>
            <a:ext cx="3657600" cy="32004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To: Rahul</a:t>
            </a:r>
            <a:endParaRPr lang="en-US" sz="1600" dirty="0"/>
          </a:p>
        </p:txBody>
      </p:sp>
      <p:sp>
        <p:nvSpPr>
          <p:cNvPr id="7" name="Text 5"/>
          <p:cNvSpPr txBox="1"/>
          <p:nvPr/>
        </p:nvSpPr>
        <p:spPr>
          <a:xfrm>
            <a:off x="1737360" y="2560320"/>
            <a:ext cx="4206240" cy="320040"/>
          </a:xfrm>
          <a:prstGeom prst="rect">
            <a:avLst/>
          </a:prstGeom>
          <a:noFill/>
          <a:ln/>
        </p:spPr>
        <p:txBody>
          <a:bodyPr wrap="square" lIns="0" tIns="0" rIns="0" bIns="0" rtlCol="0" anchor="t"/>
          <a:lstStyle/>
          <a:p>
            <a:pPr indent="0" marL="0">
              <a:buNone/>
            </a:pPr>
            <a:r>
              <a:rPr lang="en-US" sz="1300" dirty="0">
                <a:solidFill>
                  <a:schemeClr val="accent2"/>
                </a:solidFill>
                <a:latin typeface="Calibri" pitchFamily="34" charset="0"/>
                <a:ea typeface="Calibri" pitchFamily="34" charset="-122"/>
                <a:cs typeface="Calibri" pitchFamily="34" charset="-120"/>
              </a:rPr>
              <a:t>Product, Zepto  ·  previously Flipkart</a:t>
            </a:r>
            <a:endParaRPr lang="en-US" sz="1300" dirty="0"/>
          </a:p>
        </p:txBody>
      </p:sp>
      <p:sp>
        <p:nvSpPr>
          <p:cNvPr id="8" name="Message bubble"/>
          <p:cNvSpPr/>
          <p:nvPr/>
        </p:nvSpPr>
        <p:spPr>
          <a:xfrm>
            <a:off x="914400" y="3154680"/>
            <a:ext cx="5120640" cy="1828800"/>
          </a:xfrm>
          <a:prstGeom prst="roundRect">
            <a:avLst>
              <a:gd name="adj" fmla="val 7500"/>
            </a:avLst>
          </a:prstGeom>
          <a:solidFill>
            <a:schemeClr val="bg2"/>
          </a:solidFill>
          <a:ln/>
        </p:spPr>
      </p:sp>
      <p:sp>
        <p:nvSpPr>
          <p:cNvPr id="9" name="Text 7"/>
          <p:cNvSpPr txBox="1"/>
          <p:nvPr/>
        </p:nvSpPr>
        <p:spPr>
          <a:xfrm>
            <a:off x="1188720" y="3291840"/>
            <a:ext cx="4572000" cy="1554480"/>
          </a:xfrm>
          <a:prstGeom prst="rect">
            <a:avLst/>
          </a:prstGeom>
          <a:noFill/>
          <a:ln/>
        </p:spPr>
        <p:txBody>
          <a:bodyPr wrap="square" lIns="0" tIns="0" rIns="0" bIns="0" rtlCol="0" anchor="ctr"/>
          <a:lstStyle/>
          <a:p>
            <a:pPr indent="0" marL="0">
              <a:buNone/>
            </a:pPr>
            <a:r>
              <a:rPr lang="en-US" sz="1700" dirty="0">
                <a:solidFill>
                  <a:schemeClr val="tx1"/>
                </a:solidFill>
                <a:latin typeface="Cambria" pitchFamily="34" charset="0"/>
                <a:ea typeface="Cambria" pitchFamily="34" charset="-122"/>
                <a:cs typeface="Cambria" pitchFamily="34" charset="-120"/>
              </a:rPr>
              <a:t>Hey Rahul, saw you moved from Flipkart into product at Zepto. I'm making a similar jump from brand management. Curious, what was the biggest adjustment for you?</a:t>
            </a:r>
            <a:endParaRPr lang="en-US" sz="1700" dirty="0"/>
          </a:p>
        </p:txBody>
      </p:sp>
      <p:sp>
        <p:nvSpPr>
          <p:cNvPr id="10" name="Text 8"/>
          <p:cNvSpPr txBox="1"/>
          <p:nvPr/>
        </p:nvSpPr>
        <p:spPr>
          <a:xfrm>
            <a:off x="914400" y="5212080"/>
            <a:ext cx="5120640" cy="320040"/>
          </a:xfrm>
          <a:prstGeom prst="rect">
            <a:avLst/>
          </a:prstGeom>
          <a:noFill/>
          <a:ln/>
        </p:spPr>
        <p:txBody>
          <a:bodyPr wrap="square" lIns="0" tIns="0" rIns="0" bIns="0" rtlCol="0" anchor="t"/>
          <a:lstStyle/>
          <a:p>
            <a:pPr indent="0" marL="0">
              <a:buNone/>
            </a:pPr>
            <a:r>
              <a:rPr lang="en-US" sz="1200" i="1" dirty="0">
                <a:solidFill>
                  <a:schemeClr val="accent2"/>
                </a:solidFill>
                <a:latin typeface="Calibri" pitchFamily="34" charset="0"/>
                <a:ea typeface="Calibri" pitchFamily="34" charset="-122"/>
                <a:cs typeface="Calibri" pitchFamily="34" charset="-120"/>
              </a:rPr>
              <a:t>Example message  ·  approved by the student, sent from their account</a:t>
            </a:r>
            <a:endParaRPr lang="en-US" sz="1200" dirty="0"/>
          </a:p>
        </p:txBody>
      </p:sp>
      <p:sp>
        <p:nvSpPr>
          <p:cNvPr id="11" name="Badge 1"/>
          <p:cNvSpPr/>
          <p:nvPr/>
        </p:nvSpPr>
        <p:spPr>
          <a:xfrm>
            <a:off x="6949440" y="2011680"/>
            <a:ext cx="502920" cy="502920"/>
          </a:xfrm>
          <a:prstGeom prst="ellipse">
            <a:avLst/>
          </a:prstGeom>
          <a:solidFill>
            <a:schemeClr val="accent1"/>
          </a:solidFill>
          <a:ln/>
        </p:spPr>
      </p:sp>
      <p:sp>
        <p:nvSpPr>
          <p:cNvPr id="12" name="Text 10"/>
          <p:cNvSpPr txBox="1"/>
          <p:nvPr/>
        </p:nvSpPr>
        <p:spPr>
          <a:xfrm>
            <a:off x="6949440" y="2011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13" name="Text 11"/>
          <p:cNvSpPr txBox="1"/>
          <p:nvPr/>
        </p:nvSpPr>
        <p:spPr>
          <a:xfrm>
            <a:off x="7680960" y="1993392"/>
            <a:ext cx="3931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Specific</a:t>
            </a:r>
            <a:endParaRPr lang="en-US" sz="2000" dirty="0"/>
          </a:p>
        </p:txBody>
      </p:sp>
      <p:sp>
        <p:nvSpPr>
          <p:cNvPr id="14" name="Text 12"/>
          <p:cNvSpPr txBox="1"/>
          <p:nvPr/>
        </p:nvSpPr>
        <p:spPr>
          <a:xfrm>
            <a:off x="7680960" y="2423160"/>
            <a:ext cx="393192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It names a real move Rahul made. He knows it was written for him.</a:t>
            </a:r>
            <a:endParaRPr lang="en-US" sz="1500" dirty="0"/>
          </a:p>
        </p:txBody>
      </p:sp>
      <p:sp>
        <p:nvSpPr>
          <p:cNvPr id="15" name="Badge 2"/>
          <p:cNvSpPr/>
          <p:nvPr/>
        </p:nvSpPr>
        <p:spPr>
          <a:xfrm>
            <a:off x="6949440" y="3291840"/>
            <a:ext cx="502920" cy="502920"/>
          </a:xfrm>
          <a:prstGeom prst="ellipse">
            <a:avLst/>
          </a:prstGeom>
          <a:solidFill>
            <a:schemeClr val="accent1"/>
          </a:solidFill>
          <a:ln/>
        </p:spPr>
      </p:sp>
      <p:sp>
        <p:nvSpPr>
          <p:cNvPr id="16" name="Text 14"/>
          <p:cNvSpPr txBox="1"/>
          <p:nvPr/>
        </p:nvSpPr>
        <p:spPr>
          <a:xfrm>
            <a:off x="6949440" y="32918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7" name="Text 15"/>
          <p:cNvSpPr txBox="1"/>
          <p:nvPr/>
        </p:nvSpPr>
        <p:spPr>
          <a:xfrm>
            <a:off x="7680960" y="3273552"/>
            <a:ext cx="3931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Shared</a:t>
            </a:r>
            <a:endParaRPr lang="en-US" sz="2000" dirty="0"/>
          </a:p>
        </p:txBody>
      </p:sp>
      <p:sp>
        <p:nvSpPr>
          <p:cNvPr id="18" name="Text 16"/>
          <p:cNvSpPr txBox="1"/>
          <p:nvPr/>
        </p:nvSpPr>
        <p:spPr>
          <a:xfrm>
            <a:off x="7680960" y="3703320"/>
            <a:ext cx="393192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student is making a similar jump, so there is a genuine reason to talk.</a:t>
            </a:r>
            <a:endParaRPr lang="en-US" sz="1500" dirty="0"/>
          </a:p>
        </p:txBody>
      </p:sp>
      <p:sp>
        <p:nvSpPr>
          <p:cNvPr id="19" name="Badge 3"/>
          <p:cNvSpPr/>
          <p:nvPr/>
        </p:nvSpPr>
        <p:spPr>
          <a:xfrm>
            <a:off x="6949440" y="4572000"/>
            <a:ext cx="502920" cy="502920"/>
          </a:xfrm>
          <a:prstGeom prst="ellipse">
            <a:avLst/>
          </a:prstGeom>
          <a:solidFill>
            <a:schemeClr val="accent1"/>
          </a:solidFill>
          <a:ln/>
        </p:spPr>
      </p:sp>
      <p:sp>
        <p:nvSpPr>
          <p:cNvPr id="20" name="Text 18"/>
          <p:cNvSpPr txBox="1"/>
          <p:nvPr/>
        </p:nvSpPr>
        <p:spPr>
          <a:xfrm>
            <a:off x="6949440" y="45720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7680960" y="4553712"/>
            <a:ext cx="3931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Easy to answer</a:t>
            </a:r>
            <a:endParaRPr lang="en-US" sz="2000" dirty="0"/>
          </a:p>
        </p:txBody>
      </p:sp>
      <p:sp>
        <p:nvSpPr>
          <p:cNvPr id="22" name="Text 20"/>
          <p:cNvSpPr txBox="1"/>
          <p:nvPr/>
        </p:nvSpPr>
        <p:spPr>
          <a:xfrm>
            <a:off x="7680960" y="4983480"/>
            <a:ext cx="393192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One curious question, no ask. The referral comes later, if it fits.</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Built to protect your batch's reputation, not to flood inboxes</a:t>
            </a:r>
            <a:endParaRPr lang="en-US" sz="3400" dirty="0"/>
          </a:p>
        </p:txBody>
      </p:sp>
      <p:sp>
        <p:nvSpPr>
          <p:cNvPr id="3" name="Stat card"/>
          <p:cNvSpPr/>
          <p:nvPr/>
        </p:nvSpPr>
        <p:spPr>
          <a:xfrm>
            <a:off x="548640" y="1920240"/>
            <a:ext cx="3840480" cy="3931920"/>
          </a:xfrm>
          <a:prstGeom prst="roundRect">
            <a:avLst>
              <a:gd name="adj" fmla="val 3571"/>
            </a:avLst>
          </a:prstGeom>
          <a:solidFill>
            <a:schemeClr val="tx2"/>
          </a:solidFill>
          <a:ln/>
        </p:spPr>
      </p:sp>
      <p:sp>
        <p:nvSpPr>
          <p:cNvPr id="4" name="Text 2"/>
          <p:cNvSpPr txBox="1"/>
          <p:nvPr/>
        </p:nvSpPr>
        <p:spPr>
          <a:xfrm>
            <a:off x="960120" y="2240280"/>
            <a:ext cx="3108960" cy="1463040"/>
          </a:xfrm>
          <a:prstGeom prst="rect">
            <a:avLst/>
          </a:prstGeom>
          <a:noFill/>
          <a:ln/>
        </p:spPr>
        <p:txBody>
          <a:bodyPr wrap="square" lIns="0" tIns="0" rIns="0" bIns="0" rtlCol="0" anchor="t"/>
          <a:lstStyle/>
          <a:p>
            <a:pPr indent="0" marL="0">
              <a:buNone/>
            </a:pPr>
            <a:r>
              <a:rPr lang="en-US" sz="9600" b="1" dirty="0">
                <a:solidFill>
                  <a:schemeClr val="accent1"/>
                </a:solidFill>
                <a:latin typeface="Cambria" pitchFamily="34" charset="0"/>
                <a:ea typeface="Cambria" pitchFamily="34" charset="-122"/>
                <a:cs typeface="Cambria" pitchFamily="34" charset="-120"/>
              </a:rPr>
              <a:t>60</a:t>
            </a:r>
            <a:endParaRPr lang="en-US" sz="9600" dirty="0"/>
          </a:p>
        </p:txBody>
      </p:sp>
      <p:sp>
        <p:nvSpPr>
          <p:cNvPr id="5" name="Text 3"/>
          <p:cNvSpPr txBox="1"/>
          <p:nvPr/>
        </p:nvSpPr>
        <p:spPr>
          <a:xfrm>
            <a:off x="960120" y="3749040"/>
            <a:ext cx="3017520" cy="82296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people a week, chosen by hand for each student</a:t>
            </a:r>
            <a:endParaRPr lang="en-US" sz="1800" dirty="0"/>
          </a:p>
        </p:txBody>
      </p:sp>
      <p:sp>
        <p:nvSpPr>
          <p:cNvPr id="6" name="Text 4"/>
          <p:cNvSpPr txBox="1"/>
          <p:nvPr/>
        </p:nvSpPr>
        <p:spPr>
          <a:xfrm>
            <a:off x="960120" y="4937760"/>
            <a:ext cx="3017520" cy="640080"/>
          </a:xfrm>
          <a:prstGeom prst="rect">
            <a:avLst/>
          </a:prstGeom>
          <a:noFill/>
          <a:ln/>
        </p:spPr>
        <p:txBody>
          <a:bodyPr wrap="square" lIns="0" tIns="0" rIns="0" bIns="0" rtlCol="0" anchor="t"/>
          <a:lstStyle/>
          <a:p>
            <a:pPr indent="0" marL="0">
              <a:buNone/>
            </a:pPr>
            <a:r>
              <a:rPr lang="en-US" sz="1400" i="1" dirty="0">
                <a:solidFill>
                  <a:schemeClr val="accent3"/>
                </a:solidFill>
                <a:latin typeface="Calibri" pitchFamily="34" charset="0"/>
                <a:ea typeface="Calibri" pitchFamily="34" charset="-122"/>
                <a:cs typeface="Calibri" pitchFamily="34" charset="-120"/>
              </a:rPr>
              <a:t>A deliberate ceiling, not a target to beat.</a:t>
            </a:r>
            <a:endParaRPr lang="en-US" sz="1400" dirty="0"/>
          </a:p>
        </p:txBody>
      </p:sp>
      <p:sp>
        <p:nvSpPr>
          <p:cNvPr id="7" name="Guard 1"/>
          <p:cNvSpPr/>
          <p:nvPr/>
        </p:nvSpPr>
        <p:spPr>
          <a:xfrm>
            <a:off x="4663440" y="1920240"/>
            <a:ext cx="3474720" cy="1828800"/>
          </a:xfrm>
          <a:prstGeom prst="roundRect">
            <a:avLst>
              <a:gd name="adj" fmla="val 6000"/>
            </a:avLst>
          </a:prstGeom>
          <a:solidFill>
            <a:schemeClr val="bg2"/>
          </a:solidFill>
          <a:ln/>
        </p:spPr>
      </p:sp>
      <p:sp>
        <p:nvSpPr>
          <p:cNvPr id="8" name="Badge ✓"/>
          <p:cNvSpPr/>
          <p:nvPr/>
        </p:nvSpPr>
        <p:spPr>
          <a:xfrm>
            <a:off x="4937760" y="2194560"/>
            <a:ext cx="411480" cy="411480"/>
          </a:xfrm>
          <a:prstGeom prst="ellipse">
            <a:avLst/>
          </a:prstGeom>
          <a:solidFill>
            <a:schemeClr val="accent2"/>
          </a:solidFill>
          <a:ln/>
        </p:spPr>
      </p:sp>
      <p:sp>
        <p:nvSpPr>
          <p:cNvPr id="9" name="Text 7"/>
          <p:cNvSpPr txBox="1"/>
          <p:nvPr/>
        </p:nvSpPr>
        <p:spPr>
          <a:xfrm>
            <a:off x="4937760" y="2194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a:t>
            </a:r>
            <a:endParaRPr lang="en-US" sz="1400" dirty="0"/>
          </a:p>
        </p:txBody>
      </p:sp>
      <p:sp>
        <p:nvSpPr>
          <p:cNvPr id="10" name="Text 8"/>
          <p:cNvSpPr txBox="1"/>
          <p:nvPr/>
        </p:nvSpPr>
        <p:spPr>
          <a:xfrm>
            <a:off x="5532120" y="2176272"/>
            <a:ext cx="2423160"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Every message is personal</a:t>
            </a:r>
            <a:endParaRPr lang="en-US" sz="1600" dirty="0"/>
          </a:p>
        </p:txBody>
      </p:sp>
      <p:sp>
        <p:nvSpPr>
          <p:cNvPr id="11" name="Text 9"/>
          <p:cNvSpPr txBox="1"/>
          <p:nvPr/>
        </p:nvSpPr>
        <p:spPr>
          <a:xfrm>
            <a:off x="4937760" y="2834640"/>
            <a:ext cx="297180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Written for one person, from real research. No templates sent in bulk.</a:t>
            </a:r>
            <a:endParaRPr lang="en-US" sz="1400" dirty="0"/>
          </a:p>
        </p:txBody>
      </p:sp>
      <p:sp>
        <p:nvSpPr>
          <p:cNvPr id="12" name="Guard 2"/>
          <p:cNvSpPr/>
          <p:nvPr/>
        </p:nvSpPr>
        <p:spPr>
          <a:xfrm>
            <a:off x="8412480" y="1920240"/>
            <a:ext cx="3474720" cy="1828800"/>
          </a:xfrm>
          <a:prstGeom prst="roundRect">
            <a:avLst>
              <a:gd name="adj" fmla="val 6000"/>
            </a:avLst>
          </a:prstGeom>
          <a:solidFill>
            <a:schemeClr val="bg2"/>
          </a:solidFill>
          <a:ln/>
        </p:spPr>
      </p:sp>
      <p:sp>
        <p:nvSpPr>
          <p:cNvPr id="13" name="Badge ✓"/>
          <p:cNvSpPr/>
          <p:nvPr/>
        </p:nvSpPr>
        <p:spPr>
          <a:xfrm>
            <a:off x="8686800" y="2194560"/>
            <a:ext cx="411480" cy="411480"/>
          </a:xfrm>
          <a:prstGeom prst="ellipse">
            <a:avLst/>
          </a:prstGeom>
          <a:solidFill>
            <a:schemeClr val="accent2"/>
          </a:solidFill>
          <a:ln/>
        </p:spPr>
      </p:sp>
      <p:sp>
        <p:nvSpPr>
          <p:cNvPr id="14" name="Text 12"/>
          <p:cNvSpPr txBox="1"/>
          <p:nvPr/>
        </p:nvSpPr>
        <p:spPr>
          <a:xfrm>
            <a:off x="8686800" y="21945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a:t>
            </a:r>
            <a:endParaRPr lang="en-US" sz="1400" dirty="0"/>
          </a:p>
        </p:txBody>
      </p:sp>
      <p:sp>
        <p:nvSpPr>
          <p:cNvPr id="15" name="Text 13"/>
          <p:cNvSpPr txBox="1"/>
          <p:nvPr/>
        </p:nvSpPr>
        <p:spPr>
          <a:xfrm>
            <a:off x="9281160" y="2176272"/>
            <a:ext cx="2423160"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Sent from their own account</a:t>
            </a:r>
            <a:endParaRPr lang="en-US" sz="1600" dirty="0"/>
          </a:p>
        </p:txBody>
      </p:sp>
      <p:sp>
        <p:nvSpPr>
          <p:cNvPr id="16" name="Text 14"/>
          <p:cNvSpPr txBox="1"/>
          <p:nvPr/>
        </p:nvSpPr>
        <p:spPr>
          <a:xfrm>
            <a:off x="8686800" y="2834640"/>
            <a:ext cx="297180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Their name, their LinkedIn, their approval on every message.</a:t>
            </a:r>
            <a:endParaRPr lang="en-US" sz="1400" dirty="0"/>
          </a:p>
        </p:txBody>
      </p:sp>
      <p:sp>
        <p:nvSpPr>
          <p:cNvPr id="17" name="Guard 3"/>
          <p:cNvSpPr/>
          <p:nvPr/>
        </p:nvSpPr>
        <p:spPr>
          <a:xfrm>
            <a:off x="4663440" y="4023360"/>
            <a:ext cx="3474720" cy="1828800"/>
          </a:xfrm>
          <a:prstGeom prst="roundRect">
            <a:avLst>
              <a:gd name="adj" fmla="val 6000"/>
            </a:avLst>
          </a:prstGeom>
          <a:solidFill>
            <a:schemeClr val="bg2"/>
          </a:solidFill>
          <a:ln/>
        </p:spPr>
      </p:sp>
      <p:sp>
        <p:nvSpPr>
          <p:cNvPr id="18" name="Badge ✓"/>
          <p:cNvSpPr/>
          <p:nvPr/>
        </p:nvSpPr>
        <p:spPr>
          <a:xfrm>
            <a:off x="4937760" y="4297680"/>
            <a:ext cx="411480" cy="411480"/>
          </a:xfrm>
          <a:prstGeom prst="ellipse">
            <a:avLst/>
          </a:prstGeom>
          <a:solidFill>
            <a:schemeClr val="accent2"/>
          </a:solidFill>
          <a:ln/>
        </p:spPr>
      </p:sp>
      <p:sp>
        <p:nvSpPr>
          <p:cNvPr id="19" name="Text 17"/>
          <p:cNvSpPr txBox="1"/>
          <p:nvPr/>
        </p:nvSpPr>
        <p:spPr>
          <a:xfrm>
            <a:off x="4937760" y="4297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a:t>
            </a:r>
            <a:endParaRPr lang="en-US" sz="1400" dirty="0"/>
          </a:p>
        </p:txBody>
      </p:sp>
      <p:sp>
        <p:nvSpPr>
          <p:cNvPr id="20" name="Text 18"/>
          <p:cNvSpPr txBox="1"/>
          <p:nvPr/>
        </p:nvSpPr>
        <p:spPr>
          <a:xfrm>
            <a:off x="5532120" y="4279392"/>
            <a:ext cx="2423160"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Well under LinkedIn's limits</a:t>
            </a:r>
            <a:endParaRPr lang="en-US" sz="1600" dirty="0"/>
          </a:p>
        </p:txBody>
      </p:sp>
      <p:sp>
        <p:nvSpPr>
          <p:cNvPr id="21" name="Text 19"/>
          <p:cNvSpPr txBox="1"/>
          <p:nvPr/>
        </p:nvSpPr>
        <p:spPr>
          <a:xfrm>
            <a:off x="4937760" y="4937760"/>
            <a:ext cx="297180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steady, human pace that keeps the account in good standing.</a:t>
            </a:r>
            <a:endParaRPr lang="en-US" sz="1400" dirty="0"/>
          </a:p>
        </p:txBody>
      </p:sp>
      <p:sp>
        <p:nvSpPr>
          <p:cNvPr id="22" name="Guard 4"/>
          <p:cNvSpPr/>
          <p:nvPr/>
        </p:nvSpPr>
        <p:spPr>
          <a:xfrm>
            <a:off x="8412480" y="4023360"/>
            <a:ext cx="3474720" cy="1828800"/>
          </a:xfrm>
          <a:prstGeom prst="roundRect">
            <a:avLst>
              <a:gd name="adj" fmla="val 6000"/>
            </a:avLst>
          </a:prstGeom>
          <a:solidFill>
            <a:schemeClr val="bg2"/>
          </a:solidFill>
          <a:ln/>
        </p:spPr>
      </p:sp>
      <p:sp>
        <p:nvSpPr>
          <p:cNvPr id="23" name="Badge ✓"/>
          <p:cNvSpPr/>
          <p:nvPr/>
        </p:nvSpPr>
        <p:spPr>
          <a:xfrm>
            <a:off x="8686800" y="4297680"/>
            <a:ext cx="411480" cy="411480"/>
          </a:xfrm>
          <a:prstGeom prst="ellipse">
            <a:avLst/>
          </a:prstGeom>
          <a:solidFill>
            <a:schemeClr val="accent2"/>
          </a:solidFill>
          <a:ln/>
        </p:spPr>
      </p:sp>
      <p:sp>
        <p:nvSpPr>
          <p:cNvPr id="24" name="Text 22"/>
          <p:cNvSpPr txBox="1"/>
          <p:nvPr/>
        </p:nvSpPr>
        <p:spPr>
          <a:xfrm>
            <a:off x="8686800" y="4297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a:t>
            </a:r>
            <a:endParaRPr lang="en-US" sz="1400" dirty="0"/>
          </a:p>
        </p:txBody>
      </p:sp>
      <p:sp>
        <p:nvSpPr>
          <p:cNvPr id="25" name="Text 23"/>
          <p:cNvSpPr txBox="1"/>
          <p:nvPr/>
        </p:nvSpPr>
        <p:spPr>
          <a:xfrm>
            <a:off x="9281160" y="4279392"/>
            <a:ext cx="2423160" cy="5943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Conversation first, ask later</a:t>
            </a:r>
            <a:endParaRPr lang="en-US" sz="1600" dirty="0"/>
          </a:p>
        </p:txBody>
      </p:sp>
      <p:sp>
        <p:nvSpPr>
          <p:cNvPr id="26" name="Text 24"/>
          <p:cNvSpPr txBox="1"/>
          <p:nvPr/>
        </p:nvSpPr>
        <p:spPr>
          <a:xfrm>
            <a:off x="8686800" y="4937760"/>
            <a:ext cx="297180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We earn the reply before anyone asks for a referral.</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Knock is a private career concierge, not another AI job tool</a:t>
            </a:r>
            <a:endParaRPr lang="en-US" sz="34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3017520"/>
                <a:gridCol w="3749040"/>
                <a:gridCol w="4327855"/>
              </a:tblGrid>
              <a:tr h="621792">
                <a:tc>
                  <a:txBody>
                    <a:bodyPr/>
                    <a:lstStyle/>
                    <a:p>
                      <a:pPr indent="0" marL="0">
                        <a:buNone/>
                      </a:pPr>
                      <a:endParaRPr lang="en-US" sz="1600" dirty="0">
                        <a:latin typeface="Cambria" charset="0"/>
                        <a:ea typeface="Cambria" charset="0"/>
                        <a:cs typeface="Cambria"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accent3"/>
                    </a:solidFill>
                  </a:tcPr>
                </a:tc>
                <a:tc>
                  <a:txBody>
                    <a:bodyPr/>
                    <a:lstStyle/>
                    <a:p>
                      <a:pPr indent="0" marL="0">
                        <a:buNone/>
                      </a:pPr>
                      <a:r>
                        <a:rPr lang="en-US" sz="1600" b="1" dirty="0">
                          <a:solidFill>
                            <a:schemeClr val="tx2"/>
                          </a:solidFill>
                          <a:latin typeface="Cambria" pitchFamily="34" charset="0"/>
                          <a:ea typeface="Cambria" pitchFamily="34" charset="-122"/>
                          <a:cs typeface="Cambria" pitchFamily="34" charset="-120"/>
                        </a:rPr>
                        <a:t>Mass outreach tools</a:t>
                      </a:r>
                      <a:endParaRPr lang="en-US" sz="1600" dirty="0">
                        <a:latin typeface="Cambria" charset="0"/>
                        <a:ea typeface="Cambria" charset="0"/>
                        <a:cs typeface="Cambria"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accent3"/>
                    </a:solidFill>
                  </a:tcPr>
                </a:tc>
                <a:tc>
                  <a:txBody>
                    <a:bodyPr/>
                    <a:lstStyle/>
                    <a:p>
                      <a:pPr indent="0" marL="0">
                        <a:buNone/>
                      </a:pPr>
                      <a:r>
                        <a:rPr lang="en-US" sz="1600" b="1" dirty="0">
                          <a:solidFill>
                            <a:schemeClr val="bg1"/>
                          </a:solidFill>
                          <a:latin typeface="Cambria" pitchFamily="34" charset="0"/>
                          <a:ea typeface="Cambria" pitchFamily="34" charset="-122"/>
                          <a:cs typeface="Cambria" pitchFamily="34" charset="-120"/>
                        </a:rPr>
                        <a:t>Knock</a:t>
                      </a:r>
                      <a:endParaRPr lang="en-US" sz="1600" dirty="0">
                        <a:latin typeface="Cambria" charset="0"/>
                        <a:ea typeface="Cambria" charset="0"/>
                        <a:cs typeface="Cambria"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tx2"/>
                    </a:solidFill>
                  </a:tcPr>
                </a:tc>
              </a:tr>
              <a:tr h="621792">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Who chooses the people</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A filter, in bulk</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A person, one by one</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r>
              <a:tr h="621792">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Who writes the message</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A template with a name swapped in</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We do, from real shared ground</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r>
              <a:tr h="621792">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Who sends it</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Often an automated sender</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The student, from their own LinkedIn</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r>
              <a:tr h="621792">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How many</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As many as possible</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60 a week, by design</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r>
              <a:tr h="621792">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After a reply</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dirty="0">
                          <a:solidFill>
                            <a:schemeClr val="accent2"/>
                          </a:solidFill>
                          <a:latin typeface="Calibri" pitchFamily="34" charset="0"/>
                          <a:ea typeface="Calibri" pitchFamily="34" charset="-122"/>
                          <a:cs typeface="Calibri" pitchFamily="34" charset="-120"/>
                        </a:rPr>
                        <a:t>The student is on their own</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c>
                  <a:txBody>
                    <a:bodyPr/>
                    <a:lstStyle/>
                    <a:p>
                      <a:pPr indent="0" marL="0">
                        <a:buNone/>
                      </a:pPr>
                      <a:r>
                        <a:rPr lang="en-US" sz="1500" b="1" dirty="0">
                          <a:solidFill>
                            <a:schemeClr val="tx2"/>
                          </a:solidFill>
                          <a:latin typeface="Calibri" pitchFamily="34" charset="0"/>
                          <a:ea typeface="Calibri" pitchFamily="34" charset="-122"/>
                          <a:cs typeface="Calibri" pitchFamily="34" charset="-120"/>
                        </a:rPr>
                        <a:t>We guide it to a referral or interview</a:t>
                      </a:r>
                      <a:endParaRPr lang="en-US" sz="1500" dirty="0">
                        <a:latin typeface="Calibri" charset="0"/>
                        <a:ea typeface="Calibri" charset="0"/>
                        <a:cs typeface="Calibri" charset="0"/>
                      </a:endParaRPr>
                    </a:p>
                  </a:txBody>
                  <a:tcPr marL="182880" marR="182880" marT="0" marB="0" anchor="ctr">
                    <a:lnL w="12700" cap="flat" cmpd="sng" algn="ctr">
                      <a:solidFill>
                        <a:srgbClr val="EEF3F0"/>
                      </a:solidFill>
                      <a:prstDash val="solid"/>
                      <a:round/>
                      <a:headEnd type="none" w="med" len="med"/>
                      <a:tailEnd type="none" w="med" len="med"/>
                    </a:lnL>
                    <a:lnR w="12700" cap="flat" cmpd="sng" algn="ctr">
                      <a:solidFill>
                        <a:srgbClr val="EEF3F0"/>
                      </a:solidFill>
                      <a:prstDash val="solid"/>
                      <a:round/>
                      <a:headEnd type="none" w="med" len="med"/>
                      <a:tailEnd type="none" w="med" len="med"/>
                    </a:lnR>
                    <a:lnT w="12700" cap="flat" cmpd="sng" algn="ctr">
                      <a:solidFill>
                        <a:srgbClr val="EEF3F0"/>
                      </a:solidFill>
                      <a:prstDash val="solid"/>
                      <a:round/>
                      <a:headEnd type="none" w="med" len="med"/>
                      <a:tailEnd type="none" w="med" len="med"/>
                    </a:lnT>
                    <a:lnB w="12700" cap="flat" cmpd="sng" algn="ctr">
                      <a:solidFill>
                        <a:srgbClr val="EEF3F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Four packages, at a founding-member price for your members</a:t>
            </a:r>
            <a:endParaRPr lang="en-US" sz="3400" dirty="0"/>
          </a:p>
        </p:txBody>
      </p:sp>
      <p:sp>
        <p:nvSpPr>
          <p:cNvPr id="3" name="Sprint card"/>
          <p:cNvSpPr/>
          <p:nvPr/>
        </p:nvSpPr>
        <p:spPr>
          <a:xfrm>
            <a:off x="548640" y="1920240"/>
            <a:ext cx="2542032" cy="3657600"/>
          </a:xfrm>
          <a:prstGeom prst="roundRect">
            <a:avLst>
              <a:gd name="adj" fmla="val 4317"/>
            </a:avLst>
          </a:prstGeom>
          <a:solidFill>
            <a:schemeClr val="bg2"/>
          </a:solidFill>
          <a:ln/>
        </p:spPr>
      </p:sp>
      <p:sp>
        <p:nvSpPr>
          <p:cNvPr id="4" name="Text 2"/>
          <p:cNvSpPr txBox="1"/>
          <p:nvPr/>
        </p:nvSpPr>
        <p:spPr>
          <a:xfrm>
            <a:off x="822960" y="2194560"/>
            <a:ext cx="1993392"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Sprint</a:t>
            </a:r>
            <a:endParaRPr lang="en-US" sz="2000" dirty="0"/>
          </a:p>
        </p:txBody>
      </p:sp>
      <p:sp>
        <p:nvSpPr>
          <p:cNvPr id="5" name="Text 3"/>
          <p:cNvSpPr txBox="1"/>
          <p:nvPr/>
        </p:nvSpPr>
        <p:spPr>
          <a:xfrm>
            <a:off x="822960" y="2743200"/>
            <a:ext cx="1993392" cy="548640"/>
          </a:xfrm>
          <a:prstGeom prst="rect">
            <a:avLst/>
          </a:prstGeom>
          <a:noFill/>
          <a:ln/>
        </p:spPr>
        <p:txBody>
          <a:bodyPr wrap="square" lIns="0" tIns="0" rIns="0" bIns="0" rtlCol="0" anchor="ctr"/>
          <a:lstStyle/>
          <a:p>
            <a:pPr indent="0" marL="0">
              <a:buNone/>
            </a:pPr>
            <a:r>
              <a:rPr lang="en-US" sz="3000" b="1" dirty="0">
                <a:solidFill>
                  <a:schemeClr val="accent1"/>
                </a:solidFill>
                <a:latin typeface="Calibri" pitchFamily="34" charset="0"/>
                <a:ea typeface="Calibri" pitchFamily="34" charset="-122"/>
                <a:cs typeface="Calibri" pitchFamily="34" charset="-120"/>
              </a:rPr>
              <a:t>Rs 2,499</a:t>
            </a:r>
            <a:endParaRPr lang="en-US" sz="3000" dirty="0"/>
          </a:p>
        </p:txBody>
      </p:sp>
      <p:sp>
        <p:nvSpPr>
          <p:cNvPr id="6" name="Divider"/>
          <p:cNvSpPr/>
          <p:nvPr/>
        </p:nvSpPr>
        <p:spPr>
          <a:xfrm>
            <a:off x="822960" y="3520440"/>
            <a:ext cx="1993392" cy="0"/>
          </a:xfrm>
          <a:prstGeom prst="line">
            <a:avLst/>
          </a:prstGeom>
          <a:noFill/>
          <a:ln w="12700">
            <a:solidFill>
              <a:schemeClr val="accent3"/>
            </a:solidFill>
            <a:prstDash val="solid"/>
          </a:ln>
        </p:spPr>
      </p:sp>
      <p:sp>
        <p:nvSpPr>
          <p:cNvPr id="7" name="Text 5"/>
          <p:cNvSpPr txBox="1"/>
          <p:nvPr/>
        </p:nvSpPr>
        <p:spPr>
          <a:xfrm>
            <a:off x="822960" y="3703320"/>
            <a:ext cx="1993392" cy="7315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7 days</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60 people</a:t>
            </a:r>
            <a:endParaRPr lang="en-US" sz="1600" dirty="0"/>
          </a:p>
        </p:txBody>
      </p:sp>
      <p:sp>
        <p:nvSpPr>
          <p:cNvPr id="8" name="Text 6"/>
          <p:cNvSpPr txBox="1"/>
          <p:nvPr/>
        </p:nvSpPr>
        <p:spPr>
          <a:xfrm>
            <a:off x="822960" y="4526280"/>
            <a:ext cx="1993392" cy="914400"/>
          </a:xfrm>
          <a:prstGeom prst="rect">
            <a:avLst/>
          </a:prstGeom>
          <a:noFill/>
          <a:ln/>
        </p:spPr>
        <p:txBody>
          <a:bodyPr wrap="square" lIns="0" tIns="0" rIns="0" bIns="0" rtlCol="0" anchor="t"/>
          <a:lstStyle/>
          <a:p>
            <a:pPr indent="0" marL="0">
              <a:buNone/>
            </a:pPr>
            <a:r>
              <a:rPr lang="en-US" sz="1400" dirty="0">
                <a:solidFill>
                  <a:schemeClr val="accent2"/>
                </a:solidFill>
                <a:latin typeface="Calibri" pitchFamily="34" charset="0"/>
                <a:ea typeface="Calibri" pitchFamily="34" charset="-122"/>
                <a:cs typeface="Calibri" pitchFamily="34" charset="-120"/>
              </a:rPr>
              <a:t>A focused first push on a few target companies.</a:t>
            </a:r>
            <a:endParaRPr lang="en-US" sz="1400" dirty="0"/>
          </a:p>
        </p:txBody>
      </p:sp>
      <p:sp>
        <p:nvSpPr>
          <p:cNvPr id="9" name="Standard card"/>
          <p:cNvSpPr/>
          <p:nvPr/>
        </p:nvSpPr>
        <p:spPr>
          <a:xfrm>
            <a:off x="3364992" y="1920240"/>
            <a:ext cx="2542032" cy="3657600"/>
          </a:xfrm>
          <a:prstGeom prst="roundRect">
            <a:avLst>
              <a:gd name="adj" fmla="val 4317"/>
            </a:avLst>
          </a:prstGeom>
          <a:solidFill>
            <a:schemeClr val="bg2"/>
          </a:solidFill>
          <a:ln/>
        </p:spPr>
      </p:sp>
      <p:sp>
        <p:nvSpPr>
          <p:cNvPr id="10" name="Text 8"/>
          <p:cNvSpPr txBox="1"/>
          <p:nvPr/>
        </p:nvSpPr>
        <p:spPr>
          <a:xfrm>
            <a:off x="3639312" y="2194560"/>
            <a:ext cx="1993392"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Standard</a:t>
            </a:r>
            <a:endParaRPr lang="en-US" sz="2000" dirty="0"/>
          </a:p>
        </p:txBody>
      </p:sp>
      <p:sp>
        <p:nvSpPr>
          <p:cNvPr id="11" name="Text 9"/>
          <p:cNvSpPr txBox="1"/>
          <p:nvPr/>
        </p:nvSpPr>
        <p:spPr>
          <a:xfrm>
            <a:off x="3639312" y="2743200"/>
            <a:ext cx="1993392" cy="548640"/>
          </a:xfrm>
          <a:prstGeom prst="rect">
            <a:avLst/>
          </a:prstGeom>
          <a:noFill/>
          <a:ln/>
        </p:spPr>
        <p:txBody>
          <a:bodyPr wrap="square" lIns="0" tIns="0" rIns="0" bIns="0" rtlCol="0" anchor="ctr"/>
          <a:lstStyle/>
          <a:p>
            <a:pPr indent="0" marL="0">
              <a:buNone/>
            </a:pPr>
            <a:r>
              <a:rPr lang="en-US" sz="3000" b="1" dirty="0">
                <a:solidFill>
                  <a:schemeClr val="accent1"/>
                </a:solidFill>
                <a:latin typeface="Calibri" pitchFamily="34" charset="0"/>
                <a:ea typeface="Calibri" pitchFamily="34" charset="-122"/>
                <a:cs typeface="Calibri" pitchFamily="34" charset="-120"/>
              </a:rPr>
              <a:t>Rs 3,999</a:t>
            </a:r>
            <a:endParaRPr lang="en-US" sz="3000" dirty="0"/>
          </a:p>
        </p:txBody>
      </p:sp>
      <p:sp>
        <p:nvSpPr>
          <p:cNvPr id="12" name="Divider"/>
          <p:cNvSpPr/>
          <p:nvPr/>
        </p:nvSpPr>
        <p:spPr>
          <a:xfrm>
            <a:off x="3639312" y="3520440"/>
            <a:ext cx="1993392" cy="0"/>
          </a:xfrm>
          <a:prstGeom prst="line">
            <a:avLst/>
          </a:prstGeom>
          <a:noFill/>
          <a:ln w="12700">
            <a:solidFill>
              <a:schemeClr val="accent3"/>
            </a:solidFill>
            <a:prstDash val="solid"/>
          </a:ln>
        </p:spPr>
      </p:sp>
      <p:sp>
        <p:nvSpPr>
          <p:cNvPr id="13" name="Text 11"/>
          <p:cNvSpPr txBox="1"/>
          <p:nvPr/>
        </p:nvSpPr>
        <p:spPr>
          <a:xfrm>
            <a:off x="3639312" y="3703320"/>
            <a:ext cx="1993392" cy="7315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14 days</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120 people</a:t>
            </a:r>
            <a:endParaRPr lang="en-US" sz="1600" dirty="0"/>
          </a:p>
        </p:txBody>
      </p:sp>
      <p:sp>
        <p:nvSpPr>
          <p:cNvPr id="14" name="Text 12"/>
          <p:cNvSpPr txBox="1"/>
          <p:nvPr/>
        </p:nvSpPr>
        <p:spPr>
          <a:xfrm>
            <a:off x="3639312" y="4526280"/>
            <a:ext cx="1993392" cy="914400"/>
          </a:xfrm>
          <a:prstGeom prst="rect">
            <a:avLst/>
          </a:prstGeom>
          <a:noFill/>
          <a:ln/>
        </p:spPr>
        <p:txBody>
          <a:bodyPr wrap="square" lIns="0" tIns="0" rIns="0" bIns="0" rtlCol="0" anchor="t"/>
          <a:lstStyle/>
          <a:p>
            <a:pPr indent="0" marL="0">
              <a:buNone/>
            </a:pPr>
            <a:r>
              <a:rPr lang="en-US" sz="1400" dirty="0">
                <a:solidFill>
                  <a:schemeClr val="accent2"/>
                </a:solidFill>
                <a:latin typeface="Calibri" pitchFamily="34" charset="0"/>
                <a:ea typeface="Calibri" pitchFamily="34" charset="-122"/>
                <a:cs typeface="Calibri" pitchFamily="34" charset="-120"/>
              </a:rPr>
              <a:t>Room for replies to turn into referrals.</a:t>
            </a:r>
            <a:endParaRPr lang="en-US" sz="1400" dirty="0"/>
          </a:p>
        </p:txBody>
      </p:sp>
      <p:sp>
        <p:nvSpPr>
          <p:cNvPr id="15" name="Full search card"/>
          <p:cNvSpPr/>
          <p:nvPr/>
        </p:nvSpPr>
        <p:spPr>
          <a:xfrm>
            <a:off x="6181344" y="1920240"/>
            <a:ext cx="2542032" cy="3657600"/>
          </a:xfrm>
          <a:prstGeom prst="roundRect">
            <a:avLst>
              <a:gd name="adj" fmla="val 4317"/>
            </a:avLst>
          </a:prstGeom>
          <a:solidFill>
            <a:schemeClr val="bg2"/>
          </a:solidFill>
          <a:ln/>
        </p:spPr>
      </p:sp>
      <p:sp>
        <p:nvSpPr>
          <p:cNvPr id="16" name="Text 14"/>
          <p:cNvSpPr txBox="1"/>
          <p:nvPr/>
        </p:nvSpPr>
        <p:spPr>
          <a:xfrm>
            <a:off x="6455664" y="2194560"/>
            <a:ext cx="1993392"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Full search</a:t>
            </a:r>
            <a:endParaRPr lang="en-US" sz="2000" dirty="0"/>
          </a:p>
        </p:txBody>
      </p:sp>
      <p:sp>
        <p:nvSpPr>
          <p:cNvPr id="17" name="Text 15"/>
          <p:cNvSpPr txBox="1"/>
          <p:nvPr/>
        </p:nvSpPr>
        <p:spPr>
          <a:xfrm>
            <a:off x="6455664" y="2743200"/>
            <a:ext cx="1993392" cy="548640"/>
          </a:xfrm>
          <a:prstGeom prst="rect">
            <a:avLst/>
          </a:prstGeom>
          <a:noFill/>
          <a:ln/>
        </p:spPr>
        <p:txBody>
          <a:bodyPr wrap="square" lIns="0" tIns="0" rIns="0" bIns="0" rtlCol="0" anchor="ctr"/>
          <a:lstStyle/>
          <a:p>
            <a:pPr indent="0" marL="0">
              <a:buNone/>
            </a:pPr>
            <a:r>
              <a:rPr lang="en-US" sz="3000" b="1" dirty="0">
                <a:solidFill>
                  <a:schemeClr val="accent1"/>
                </a:solidFill>
                <a:latin typeface="Calibri" pitchFamily="34" charset="0"/>
                <a:ea typeface="Calibri" pitchFamily="34" charset="-122"/>
                <a:cs typeface="Calibri" pitchFamily="34" charset="-120"/>
              </a:rPr>
              <a:t>Rs 5,499</a:t>
            </a:r>
            <a:endParaRPr lang="en-US" sz="3000" dirty="0"/>
          </a:p>
        </p:txBody>
      </p:sp>
      <p:sp>
        <p:nvSpPr>
          <p:cNvPr id="18" name="Divider"/>
          <p:cNvSpPr/>
          <p:nvPr/>
        </p:nvSpPr>
        <p:spPr>
          <a:xfrm>
            <a:off x="6455664" y="3520440"/>
            <a:ext cx="1993392" cy="0"/>
          </a:xfrm>
          <a:prstGeom prst="line">
            <a:avLst/>
          </a:prstGeom>
          <a:noFill/>
          <a:ln w="12700">
            <a:solidFill>
              <a:schemeClr val="accent3"/>
            </a:solidFill>
            <a:prstDash val="solid"/>
          </a:ln>
        </p:spPr>
      </p:sp>
      <p:sp>
        <p:nvSpPr>
          <p:cNvPr id="19" name="Text 17"/>
          <p:cNvSpPr txBox="1"/>
          <p:nvPr/>
        </p:nvSpPr>
        <p:spPr>
          <a:xfrm>
            <a:off x="6455664" y="3703320"/>
            <a:ext cx="1993392" cy="73152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21 days</a:t>
            </a:r>
            <a:endParaRPr lang="en-US" sz="1600" dirty="0"/>
          </a:p>
          <a:p>
            <a:pPr indent="0" marL="0">
              <a:buNone/>
            </a:pPr>
            <a:r>
              <a:rPr lang="en-US" sz="1600" dirty="0">
                <a:solidFill>
                  <a:schemeClr val="tx1"/>
                </a:solidFill>
                <a:latin typeface="Calibri" pitchFamily="34" charset="0"/>
                <a:ea typeface="Calibri" pitchFamily="34" charset="-122"/>
                <a:cs typeface="Calibri" pitchFamily="34" charset="-120"/>
              </a:rPr>
              <a:t>180 people</a:t>
            </a:r>
            <a:endParaRPr lang="en-US" sz="1600" dirty="0"/>
          </a:p>
        </p:txBody>
      </p:sp>
      <p:sp>
        <p:nvSpPr>
          <p:cNvPr id="20" name="Text 18"/>
          <p:cNvSpPr txBox="1"/>
          <p:nvPr/>
        </p:nvSpPr>
        <p:spPr>
          <a:xfrm>
            <a:off x="6455664" y="4526280"/>
            <a:ext cx="1993392" cy="914400"/>
          </a:xfrm>
          <a:prstGeom prst="rect">
            <a:avLst/>
          </a:prstGeom>
          <a:noFill/>
          <a:ln/>
        </p:spPr>
        <p:txBody>
          <a:bodyPr wrap="square" lIns="0" tIns="0" rIns="0" bIns="0" rtlCol="0" anchor="t"/>
          <a:lstStyle/>
          <a:p>
            <a:pPr indent="0" marL="0">
              <a:buNone/>
            </a:pPr>
            <a:r>
              <a:rPr lang="en-US" sz="1400" dirty="0">
                <a:solidFill>
                  <a:schemeClr val="accent2"/>
                </a:solidFill>
                <a:latin typeface="Calibri" pitchFamily="34" charset="0"/>
                <a:ea typeface="Calibri" pitchFamily="34" charset="-122"/>
                <a:cs typeface="Calibri" pitchFamily="34" charset="-120"/>
              </a:rPr>
              <a:t>A complete search across a wider target list.</a:t>
            </a:r>
            <a:endParaRPr lang="en-US" sz="1400" dirty="0"/>
          </a:p>
        </p:txBody>
      </p:sp>
      <p:sp>
        <p:nvSpPr>
          <p:cNvPr id="21" name="Done-for-you card"/>
          <p:cNvSpPr/>
          <p:nvPr/>
        </p:nvSpPr>
        <p:spPr>
          <a:xfrm>
            <a:off x="8997696" y="1920240"/>
            <a:ext cx="2542032" cy="3657600"/>
          </a:xfrm>
          <a:prstGeom prst="roundRect">
            <a:avLst>
              <a:gd name="adj" fmla="val 4317"/>
            </a:avLst>
          </a:prstGeom>
          <a:solidFill>
            <a:schemeClr val="tx2"/>
          </a:solidFill>
          <a:ln/>
        </p:spPr>
      </p:sp>
      <p:sp>
        <p:nvSpPr>
          <p:cNvPr id="22" name="Text 20"/>
          <p:cNvSpPr txBox="1"/>
          <p:nvPr/>
        </p:nvSpPr>
        <p:spPr>
          <a:xfrm>
            <a:off x="9272016" y="2194560"/>
            <a:ext cx="1993392"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Done-for-you</a:t>
            </a:r>
            <a:endParaRPr lang="en-US" sz="2000" dirty="0"/>
          </a:p>
        </p:txBody>
      </p:sp>
      <p:sp>
        <p:nvSpPr>
          <p:cNvPr id="23" name="Text 21"/>
          <p:cNvSpPr txBox="1"/>
          <p:nvPr/>
        </p:nvSpPr>
        <p:spPr>
          <a:xfrm>
            <a:off x="9272016" y="2606040"/>
            <a:ext cx="1993392" cy="82296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from</a:t>
            </a:r>
            <a:endParaRPr lang="en-US" sz="3000" dirty="0"/>
          </a:p>
          <a:p>
            <a:pPr indent="0" marL="0">
              <a:buNone/>
            </a:pPr>
            <a:r>
              <a:rPr lang="en-US" sz="2600" b="1" dirty="0">
                <a:solidFill>
                  <a:schemeClr val="accent1"/>
                </a:solidFill>
                <a:latin typeface="Calibri" pitchFamily="34" charset="0"/>
                <a:ea typeface="Calibri" pitchFamily="34" charset="-122"/>
                <a:cs typeface="Calibri" pitchFamily="34" charset="-120"/>
              </a:rPr>
              <a:t>Rs 14,999</a:t>
            </a:r>
            <a:endParaRPr lang="en-US" sz="3000" dirty="0"/>
          </a:p>
        </p:txBody>
      </p:sp>
      <p:sp>
        <p:nvSpPr>
          <p:cNvPr id="24" name="Divider"/>
          <p:cNvSpPr/>
          <p:nvPr/>
        </p:nvSpPr>
        <p:spPr>
          <a:xfrm>
            <a:off x="9272016" y="3520440"/>
            <a:ext cx="1993392" cy="0"/>
          </a:xfrm>
          <a:prstGeom prst="line">
            <a:avLst/>
          </a:prstGeom>
          <a:noFill/>
          <a:ln w="12700">
            <a:solidFill>
              <a:schemeClr val="accent4"/>
            </a:solidFill>
            <a:prstDash val="solid"/>
          </a:ln>
        </p:spPr>
      </p:sp>
      <p:sp>
        <p:nvSpPr>
          <p:cNvPr id="25" name="Text 23"/>
          <p:cNvSpPr txBox="1"/>
          <p:nvPr/>
        </p:nvSpPr>
        <p:spPr>
          <a:xfrm>
            <a:off x="9272016" y="3703320"/>
            <a:ext cx="1993392" cy="73152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Custom</a:t>
            </a:r>
            <a:endParaRPr lang="en-US" sz="1600" dirty="0"/>
          </a:p>
          <a:p>
            <a:pPr indent="0" marL="0">
              <a:buNone/>
            </a:pPr>
            <a:r>
              <a:rPr lang="en-US" sz="1600" dirty="0">
                <a:solidFill>
                  <a:schemeClr val="bg1"/>
                </a:solidFill>
                <a:latin typeface="Calibri" pitchFamily="34" charset="0"/>
                <a:ea typeface="Calibri" pitchFamily="34" charset="-122"/>
                <a:cs typeface="Calibri" pitchFamily="34" charset="-120"/>
              </a:rPr>
              <a:t>Scoped together</a:t>
            </a:r>
            <a:endParaRPr lang="en-US" sz="1600" dirty="0"/>
          </a:p>
        </p:txBody>
      </p:sp>
      <p:sp>
        <p:nvSpPr>
          <p:cNvPr id="26" name="Text 24"/>
          <p:cNvSpPr txBox="1"/>
          <p:nvPr/>
        </p:nvSpPr>
        <p:spPr>
          <a:xfrm>
            <a:off x="9272016" y="4526280"/>
            <a:ext cx="1993392" cy="91440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We run the full search alongside the student.</a:t>
            </a:r>
            <a:endParaRPr lang="en-US" sz="1400" dirty="0"/>
          </a:p>
        </p:txBody>
      </p:sp>
      <p:sp>
        <p:nvSpPr>
          <p:cNvPr id="27" name="Text 25"/>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All prices in INR. &lt;Club name&gt; members get the founding-member price on every package.</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The partnership: your members gain a lot, and we ask for very little</a:t>
            </a:r>
            <a:endParaRPr lang="en-US" sz="3400" dirty="0"/>
          </a:p>
        </p:txBody>
      </p:sp>
      <p:sp>
        <p:nvSpPr>
          <p:cNvPr id="3" name="Club gets panel"/>
          <p:cNvSpPr/>
          <p:nvPr/>
        </p:nvSpPr>
        <p:spPr>
          <a:xfrm>
            <a:off x="548640" y="1920240"/>
            <a:ext cx="6949440" cy="4023360"/>
          </a:xfrm>
          <a:prstGeom prst="roundRect">
            <a:avLst>
              <a:gd name="adj" fmla="val 3409"/>
            </a:avLst>
          </a:prstGeom>
          <a:solidFill>
            <a:schemeClr val="tx2"/>
          </a:solidFill>
          <a:ln/>
        </p:spPr>
      </p:sp>
      <p:sp>
        <p:nvSpPr>
          <p:cNvPr id="4" name="Text 2"/>
          <p:cNvSpPr txBox="1"/>
          <p:nvPr/>
        </p:nvSpPr>
        <p:spPr>
          <a:xfrm>
            <a:off x="960120" y="2194560"/>
            <a:ext cx="621792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What &lt;Club name&gt; gets</a:t>
            </a:r>
            <a:endParaRPr lang="en-US" sz="2200" dirty="0"/>
          </a:p>
        </p:txBody>
      </p:sp>
      <p:sp>
        <p:nvSpPr>
          <p:cNvPr id="5" name="Badge ✓"/>
          <p:cNvSpPr/>
          <p:nvPr/>
        </p:nvSpPr>
        <p:spPr>
          <a:xfrm>
            <a:off x="960120" y="2880360"/>
            <a:ext cx="384048" cy="384048"/>
          </a:xfrm>
          <a:prstGeom prst="ellipse">
            <a:avLst/>
          </a:prstGeom>
          <a:solidFill>
            <a:schemeClr val="accent1"/>
          </a:solidFill>
          <a:ln/>
        </p:spPr>
      </p:sp>
      <p:sp>
        <p:nvSpPr>
          <p:cNvPr id="6" name="Text 4"/>
          <p:cNvSpPr txBox="1"/>
          <p:nvPr/>
        </p:nvSpPr>
        <p:spPr>
          <a:xfrm>
            <a:off x="960120" y="2880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mbria" pitchFamily="34" charset="0"/>
                <a:ea typeface="Cambria" pitchFamily="34" charset="-122"/>
                <a:cs typeface="Cambria" pitchFamily="34" charset="-120"/>
              </a:rPr>
              <a:t>✓</a:t>
            </a:r>
            <a:endParaRPr lang="en-US" sz="1300" dirty="0"/>
          </a:p>
        </p:txBody>
      </p:sp>
      <p:sp>
        <p:nvSpPr>
          <p:cNvPr id="7" name="Text 5"/>
          <p:cNvSpPr txBox="1"/>
          <p:nvPr/>
        </p:nvSpPr>
        <p:spPr>
          <a:xfrm>
            <a:off x="1508760" y="2862072"/>
            <a:ext cx="2468880" cy="64008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Founding price for members</a:t>
            </a:r>
            <a:endParaRPr lang="en-US" sz="1600" dirty="0"/>
          </a:p>
        </p:txBody>
      </p:sp>
      <p:sp>
        <p:nvSpPr>
          <p:cNvPr id="8" name="Text 6"/>
          <p:cNvSpPr txBox="1"/>
          <p:nvPr/>
        </p:nvSpPr>
        <p:spPr>
          <a:xfrm>
            <a:off x="1508760" y="3474720"/>
            <a:ext cx="2468880" cy="68580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On every package, for students and alumni.</a:t>
            </a:r>
            <a:endParaRPr lang="en-US" sz="1400" dirty="0"/>
          </a:p>
        </p:txBody>
      </p:sp>
      <p:sp>
        <p:nvSpPr>
          <p:cNvPr id="9" name="Badge ✓"/>
          <p:cNvSpPr/>
          <p:nvPr/>
        </p:nvSpPr>
        <p:spPr>
          <a:xfrm>
            <a:off x="4160520" y="2880360"/>
            <a:ext cx="384048" cy="384048"/>
          </a:xfrm>
          <a:prstGeom prst="ellipse">
            <a:avLst/>
          </a:prstGeom>
          <a:solidFill>
            <a:schemeClr val="accent1"/>
          </a:solidFill>
          <a:ln/>
        </p:spPr>
      </p:sp>
      <p:sp>
        <p:nvSpPr>
          <p:cNvPr id="10" name="Text 8"/>
          <p:cNvSpPr txBox="1"/>
          <p:nvPr/>
        </p:nvSpPr>
        <p:spPr>
          <a:xfrm>
            <a:off x="4160520" y="28803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mbria" pitchFamily="34" charset="0"/>
                <a:ea typeface="Cambria" pitchFamily="34" charset="-122"/>
                <a:cs typeface="Cambria" pitchFamily="34" charset="-120"/>
              </a:rPr>
              <a:t>✓</a:t>
            </a:r>
            <a:endParaRPr lang="en-US" sz="1300" dirty="0"/>
          </a:p>
        </p:txBody>
      </p:sp>
      <p:sp>
        <p:nvSpPr>
          <p:cNvPr id="11" name="Text 9"/>
          <p:cNvSpPr txBox="1"/>
          <p:nvPr/>
        </p:nvSpPr>
        <p:spPr>
          <a:xfrm>
            <a:off x="4709160" y="2862072"/>
            <a:ext cx="2468880" cy="64008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A free pilot for 5 students</a:t>
            </a:r>
            <a:endParaRPr lang="en-US" sz="1600" dirty="0"/>
          </a:p>
        </p:txBody>
      </p:sp>
      <p:sp>
        <p:nvSpPr>
          <p:cNvPr id="12" name="Text 10"/>
          <p:cNvSpPr txBox="1"/>
          <p:nvPr/>
        </p:nvSpPr>
        <p:spPr>
          <a:xfrm>
            <a:off x="4709160" y="3474720"/>
            <a:ext cx="2468880" cy="68580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Chosen by the club, at no cost to anyone.</a:t>
            </a:r>
            <a:endParaRPr lang="en-US" sz="1400" dirty="0"/>
          </a:p>
        </p:txBody>
      </p:sp>
      <p:sp>
        <p:nvSpPr>
          <p:cNvPr id="13" name="Badge ✓"/>
          <p:cNvSpPr/>
          <p:nvPr/>
        </p:nvSpPr>
        <p:spPr>
          <a:xfrm>
            <a:off x="960120" y="4343400"/>
            <a:ext cx="384048" cy="384048"/>
          </a:xfrm>
          <a:prstGeom prst="ellipse">
            <a:avLst/>
          </a:prstGeom>
          <a:solidFill>
            <a:schemeClr val="accent1"/>
          </a:solidFill>
          <a:ln/>
        </p:spPr>
      </p:sp>
      <p:sp>
        <p:nvSpPr>
          <p:cNvPr id="14" name="Text 12"/>
          <p:cNvSpPr txBox="1"/>
          <p:nvPr/>
        </p:nvSpPr>
        <p:spPr>
          <a:xfrm>
            <a:off x="960120" y="43434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mbria" pitchFamily="34" charset="0"/>
                <a:ea typeface="Cambria" pitchFamily="34" charset="-122"/>
                <a:cs typeface="Cambria" pitchFamily="34" charset="-120"/>
              </a:rPr>
              <a:t>✓</a:t>
            </a:r>
            <a:endParaRPr lang="en-US" sz="1300" dirty="0"/>
          </a:p>
        </p:txBody>
      </p:sp>
      <p:sp>
        <p:nvSpPr>
          <p:cNvPr id="15" name="Text 13"/>
          <p:cNvSpPr txBox="1"/>
          <p:nvPr/>
        </p:nvSpPr>
        <p:spPr>
          <a:xfrm>
            <a:off x="1508760" y="4325112"/>
            <a:ext cx="2468880" cy="64008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A results summary to share</a:t>
            </a:r>
            <a:endParaRPr lang="en-US" sz="1600" dirty="0"/>
          </a:p>
        </p:txBody>
      </p:sp>
      <p:sp>
        <p:nvSpPr>
          <p:cNvPr id="16" name="Text 14"/>
          <p:cNvSpPr txBox="1"/>
          <p:nvPr/>
        </p:nvSpPr>
        <p:spPr>
          <a:xfrm>
            <a:off x="1508760" y="4937760"/>
            <a:ext cx="2468880" cy="68580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What happened in the pilot, written for your batch.</a:t>
            </a:r>
            <a:endParaRPr lang="en-US" sz="1400" dirty="0"/>
          </a:p>
        </p:txBody>
      </p:sp>
      <p:sp>
        <p:nvSpPr>
          <p:cNvPr id="17" name="Badge ✓"/>
          <p:cNvSpPr/>
          <p:nvPr/>
        </p:nvSpPr>
        <p:spPr>
          <a:xfrm>
            <a:off x="4160520" y="4343400"/>
            <a:ext cx="384048" cy="384048"/>
          </a:xfrm>
          <a:prstGeom prst="ellipse">
            <a:avLst/>
          </a:prstGeom>
          <a:solidFill>
            <a:schemeClr val="accent1"/>
          </a:solidFill>
          <a:ln/>
        </p:spPr>
      </p:sp>
      <p:sp>
        <p:nvSpPr>
          <p:cNvPr id="18" name="Text 16"/>
          <p:cNvSpPr txBox="1"/>
          <p:nvPr/>
        </p:nvSpPr>
        <p:spPr>
          <a:xfrm>
            <a:off x="4160520" y="43434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latin typeface="Cambria" pitchFamily="34" charset="0"/>
                <a:ea typeface="Cambria" pitchFamily="34" charset="-122"/>
                <a:cs typeface="Cambria" pitchFamily="34" charset="-120"/>
              </a:rPr>
              <a:t>✓</a:t>
            </a:r>
            <a:endParaRPr lang="en-US" sz="1300" dirty="0"/>
          </a:p>
        </p:txBody>
      </p:sp>
      <p:sp>
        <p:nvSpPr>
          <p:cNvPr id="19" name="Text 17"/>
          <p:cNvSpPr txBox="1"/>
          <p:nvPr/>
        </p:nvSpPr>
        <p:spPr>
          <a:xfrm>
            <a:off x="4709160" y="4325112"/>
            <a:ext cx="2468880" cy="64008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A co-hosted session</a:t>
            </a:r>
            <a:endParaRPr lang="en-US" sz="1600" dirty="0"/>
          </a:p>
        </p:txBody>
      </p:sp>
      <p:sp>
        <p:nvSpPr>
          <p:cNvPr id="20" name="Text 18"/>
          <p:cNvSpPr txBox="1"/>
          <p:nvPr/>
        </p:nvSpPr>
        <p:spPr>
          <a:xfrm>
            <a:off x="4709160" y="4937760"/>
            <a:ext cx="2468880" cy="68580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On outbound job search, open to your members.</a:t>
            </a:r>
            <a:endParaRPr lang="en-US" sz="1400" dirty="0"/>
          </a:p>
        </p:txBody>
      </p:sp>
      <p:sp>
        <p:nvSpPr>
          <p:cNvPr id="21" name="Knock asks panel"/>
          <p:cNvSpPr/>
          <p:nvPr/>
        </p:nvSpPr>
        <p:spPr>
          <a:xfrm>
            <a:off x="7863840" y="1920240"/>
            <a:ext cx="3749040" cy="4023360"/>
          </a:xfrm>
          <a:prstGeom prst="roundRect">
            <a:avLst>
              <a:gd name="adj" fmla="val 3659"/>
            </a:avLst>
          </a:prstGeom>
          <a:solidFill>
            <a:schemeClr val="bg1"/>
          </a:solidFill>
          <a:ln w="12700">
            <a:solidFill>
              <a:schemeClr val="accent3"/>
            </a:solidFill>
            <a:prstDash val="solid"/>
          </a:ln>
        </p:spPr>
      </p:sp>
      <p:sp>
        <p:nvSpPr>
          <p:cNvPr id="22" name="Text 20"/>
          <p:cNvSpPr txBox="1"/>
          <p:nvPr/>
        </p:nvSpPr>
        <p:spPr>
          <a:xfrm>
            <a:off x="8275320" y="2194560"/>
            <a:ext cx="310896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What we ask</a:t>
            </a:r>
            <a:endParaRPr lang="en-US" sz="2200" dirty="0"/>
          </a:p>
        </p:txBody>
      </p:sp>
      <p:sp>
        <p:nvSpPr>
          <p:cNvPr id="23" name="Badge 1"/>
          <p:cNvSpPr/>
          <p:nvPr/>
        </p:nvSpPr>
        <p:spPr>
          <a:xfrm>
            <a:off x="8275320" y="2880360"/>
            <a:ext cx="384048" cy="384048"/>
          </a:xfrm>
          <a:prstGeom prst="ellipse">
            <a:avLst/>
          </a:prstGeom>
          <a:solidFill>
            <a:schemeClr val="accent3"/>
          </a:solidFill>
          <a:ln/>
        </p:spPr>
      </p:sp>
      <p:sp>
        <p:nvSpPr>
          <p:cNvPr id="24" name="Text 22"/>
          <p:cNvSpPr txBox="1"/>
          <p:nvPr/>
        </p:nvSpPr>
        <p:spPr>
          <a:xfrm>
            <a:off x="8275320" y="288036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latin typeface="Cambria" pitchFamily="34" charset="0"/>
                <a:ea typeface="Cambria" pitchFamily="34" charset="-122"/>
                <a:cs typeface="Cambria" pitchFamily="34" charset="-120"/>
              </a:rPr>
              <a:t>1</a:t>
            </a:r>
            <a:endParaRPr lang="en-US" sz="1400" dirty="0"/>
          </a:p>
        </p:txBody>
      </p:sp>
      <p:sp>
        <p:nvSpPr>
          <p:cNvPr id="25" name="Text 23"/>
          <p:cNvSpPr txBox="1"/>
          <p:nvPr/>
        </p:nvSpPr>
        <p:spPr>
          <a:xfrm>
            <a:off x="8823960" y="2862072"/>
            <a:ext cx="2651760" cy="45720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One announcement</a:t>
            </a:r>
            <a:endParaRPr lang="en-US" sz="1600" dirty="0"/>
          </a:p>
        </p:txBody>
      </p:sp>
      <p:sp>
        <p:nvSpPr>
          <p:cNvPr id="26" name="Text 24"/>
          <p:cNvSpPr txBox="1"/>
          <p:nvPr/>
        </p:nvSpPr>
        <p:spPr>
          <a:xfrm>
            <a:off x="8823960" y="3291840"/>
            <a:ext cx="26517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single message to the batch introducing Knock.</a:t>
            </a:r>
            <a:endParaRPr lang="en-US" sz="1400" dirty="0"/>
          </a:p>
        </p:txBody>
      </p:sp>
      <p:sp>
        <p:nvSpPr>
          <p:cNvPr id="27" name="Badge 2"/>
          <p:cNvSpPr/>
          <p:nvPr/>
        </p:nvSpPr>
        <p:spPr>
          <a:xfrm>
            <a:off x="8275320" y="4343400"/>
            <a:ext cx="384048" cy="384048"/>
          </a:xfrm>
          <a:prstGeom prst="ellipse">
            <a:avLst/>
          </a:prstGeom>
          <a:solidFill>
            <a:schemeClr val="accent3"/>
          </a:solidFill>
          <a:ln/>
        </p:spPr>
      </p:sp>
      <p:sp>
        <p:nvSpPr>
          <p:cNvPr id="28" name="Text 26"/>
          <p:cNvSpPr txBox="1"/>
          <p:nvPr/>
        </p:nvSpPr>
        <p:spPr>
          <a:xfrm>
            <a:off x="8275320" y="434340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latin typeface="Cambria" pitchFamily="34" charset="0"/>
                <a:ea typeface="Cambria" pitchFamily="34" charset="-122"/>
                <a:cs typeface="Cambria" pitchFamily="34" charset="-120"/>
              </a:rPr>
              <a:t>2</a:t>
            </a:r>
            <a:endParaRPr lang="en-US" sz="1400" dirty="0"/>
          </a:p>
        </p:txBody>
      </p:sp>
      <p:sp>
        <p:nvSpPr>
          <p:cNvPr id="29" name="Text 27"/>
          <p:cNvSpPr txBox="1"/>
          <p:nvPr/>
        </p:nvSpPr>
        <p:spPr>
          <a:xfrm>
            <a:off x="8823960" y="4325112"/>
            <a:ext cx="2651760" cy="45720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One feedback call</a:t>
            </a:r>
            <a:endParaRPr lang="en-US" sz="1600" dirty="0"/>
          </a:p>
        </p:txBody>
      </p:sp>
      <p:sp>
        <p:nvSpPr>
          <p:cNvPr id="30" name="Text 28"/>
          <p:cNvSpPr txBox="1"/>
          <p:nvPr/>
        </p:nvSpPr>
        <p:spPr>
          <a:xfrm>
            <a:off x="8823960" y="4754880"/>
            <a:ext cx="26517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candid conversation after the pilot.</a:t>
            </a:r>
            <a:endParaRPr lang="en-US" sz="14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We will measure one honest number: interviews per 100 people contacted</a:t>
            </a:r>
            <a:endParaRPr lang="en-US" sz="3400" dirty="0"/>
          </a:p>
        </p:txBody>
      </p:sp>
      <p:sp>
        <p:nvSpPr>
          <p:cNvPr id="3" name="Metric card"/>
          <p:cNvSpPr/>
          <p:nvPr/>
        </p:nvSpPr>
        <p:spPr>
          <a:xfrm>
            <a:off x="548640" y="1920240"/>
            <a:ext cx="5120640" cy="3931920"/>
          </a:xfrm>
          <a:prstGeom prst="roundRect">
            <a:avLst>
              <a:gd name="adj" fmla="val 3488"/>
            </a:avLst>
          </a:prstGeom>
          <a:solidFill>
            <a:schemeClr val="bg2"/>
          </a:solidFill>
          <a:ln/>
        </p:spPr>
      </p:sp>
      <p:sp>
        <p:nvSpPr>
          <p:cNvPr id="4" name="Text 2"/>
          <p:cNvSpPr txBox="1"/>
          <p:nvPr/>
        </p:nvSpPr>
        <p:spPr>
          <a:xfrm>
            <a:off x="548640" y="2514600"/>
            <a:ext cx="5120640" cy="822960"/>
          </a:xfrm>
          <a:prstGeom prst="rect">
            <a:avLst/>
          </a:prstGeom>
          <a:noFill/>
          <a:ln/>
        </p:spPr>
        <p:txBody>
          <a:bodyPr wrap="square" lIns="0" tIns="0" rIns="0" bIns="0" rtlCol="0" anchor="ctr"/>
          <a:lstStyle/>
          <a:p>
            <a:pPr algn="ctr" indent="0" marL="0">
              <a:buNone/>
            </a:pPr>
            <a:r>
              <a:rPr lang="en-US" sz="4000" b="1" dirty="0">
                <a:solidFill>
                  <a:schemeClr val="tx2"/>
                </a:solidFill>
                <a:latin typeface="Cambria" pitchFamily="34" charset="0"/>
                <a:ea typeface="Cambria" pitchFamily="34" charset="-122"/>
                <a:cs typeface="Cambria" pitchFamily="34" charset="-120"/>
              </a:rPr>
              <a:t>Interviews</a:t>
            </a:r>
            <a:endParaRPr lang="en-US" sz="4000" dirty="0"/>
          </a:p>
        </p:txBody>
      </p:sp>
      <p:sp>
        <p:nvSpPr>
          <p:cNvPr id="5" name="Fraction bar"/>
          <p:cNvSpPr/>
          <p:nvPr/>
        </p:nvSpPr>
        <p:spPr>
          <a:xfrm>
            <a:off x="1371600" y="3520440"/>
            <a:ext cx="3474720" cy="0"/>
          </a:xfrm>
          <a:prstGeom prst="line">
            <a:avLst/>
          </a:prstGeom>
          <a:noFill/>
          <a:ln w="38100">
            <a:solidFill>
              <a:schemeClr val="accent1"/>
            </a:solidFill>
            <a:prstDash val="solid"/>
          </a:ln>
        </p:spPr>
      </p:sp>
      <p:sp>
        <p:nvSpPr>
          <p:cNvPr id="6" name="Text 4"/>
          <p:cNvSpPr txBox="1"/>
          <p:nvPr/>
        </p:nvSpPr>
        <p:spPr>
          <a:xfrm>
            <a:off x="548640" y="3703320"/>
            <a:ext cx="5120640" cy="822960"/>
          </a:xfrm>
          <a:prstGeom prst="rect">
            <a:avLst/>
          </a:prstGeom>
          <a:noFill/>
          <a:ln/>
        </p:spPr>
        <p:txBody>
          <a:bodyPr wrap="square" lIns="0" tIns="0" rIns="0" bIns="0" rtlCol="0" anchor="ctr"/>
          <a:lstStyle/>
          <a:p>
            <a:pPr algn="ctr" indent="0" marL="0">
              <a:buNone/>
            </a:pPr>
            <a:r>
              <a:rPr lang="en-US" sz="3200" dirty="0">
                <a:solidFill>
                  <a:schemeClr val="tx2"/>
                </a:solidFill>
                <a:latin typeface="Cambria" pitchFamily="34" charset="0"/>
                <a:ea typeface="Cambria" pitchFamily="34" charset="-122"/>
                <a:cs typeface="Cambria" pitchFamily="34" charset="-120"/>
              </a:rPr>
              <a:t>100 people contacted</a:t>
            </a:r>
            <a:endParaRPr lang="en-US" sz="3200" dirty="0"/>
          </a:p>
        </p:txBody>
      </p:sp>
      <p:sp>
        <p:nvSpPr>
          <p:cNvPr id="7" name="Text 5"/>
          <p:cNvSpPr txBox="1"/>
          <p:nvPr/>
        </p:nvSpPr>
        <p:spPr>
          <a:xfrm>
            <a:off x="548640" y="5120640"/>
            <a:ext cx="5120640" cy="365760"/>
          </a:xfrm>
          <a:prstGeom prst="rect">
            <a:avLst/>
          </a:prstGeom>
          <a:noFill/>
          <a:ln/>
        </p:spPr>
        <p:txBody>
          <a:bodyPr wrap="square" lIns="0" tIns="0" rIns="0" bIns="0" rtlCol="0" anchor="t"/>
          <a:lstStyle/>
          <a:p>
            <a:pPr algn="ctr" indent="0" marL="0">
              <a:buNone/>
            </a:pPr>
            <a:r>
              <a:rPr lang="en-US" sz="1300" spc="200" kern="0" dirty="0">
                <a:solidFill>
                  <a:schemeClr val="accent2"/>
                </a:solidFill>
                <a:latin typeface="Calibri" pitchFamily="34" charset="0"/>
                <a:ea typeface="Calibri" pitchFamily="34" charset="-122"/>
                <a:cs typeface="Calibri" pitchFamily="34" charset="-120"/>
              </a:rPr>
              <a:t>The metric</a:t>
            </a:r>
            <a:endParaRPr lang="en-US" sz="1300" dirty="0"/>
          </a:p>
        </p:txBody>
      </p:sp>
      <p:sp>
        <p:nvSpPr>
          <p:cNvPr id="8" name="Metric door 1 frame"/>
          <p:cNvSpPr/>
          <p:nvPr/>
        </p:nvSpPr>
        <p:spPr>
          <a:xfrm>
            <a:off x="6172200" y="1965960"/>
            <a:ext cx="365760" cy="731520"/>
          </a:xfrm>
          <a:prstGeom prst="roundRect">
            <a:avLst>
              <a:gd name="adj" fmla="val 12000"/>
            </a:avLst>
          </a:prstGeom>
          <a:ln w="15875">
            <a:solidFill>
              <a:schemeClr val="accent1"/>
            </a:solidFill>
            <a:prstDash val="solid"/>
          </a:ln>
        </p:spPr>
      </p:sp>
      <p:sp>
        <p:nvSpPr>
          <p:cNvPr id="9" name="Metric door 1 panel"/>
          <p:cNvSpPr/>
          <p:nvPr/>
        </p:nvSpPr>
        <p:spPr>
          <a:xfrm>
            <a:off x="6194146" y="1995221"/>
            <a:ext cx="321869" cy="702259"/>
          </a:xfrm>
          <a:prstGeom prst="rect">
            <a:avLst/>
          </a:prstGeom>
          <a:solidFill>
            <a:schemeClr val="accent4"/>
          </a:solidFill>
          <a:ln/>
        </p:spPr>
      </p:sp>
      <p:sp>
        <p:nvSpPr>
          <p:cNvPr id="10" name="Metric door 1 knob"/>
          <p:cNvSpPr/>
          <p:nvPr/>
        </p:nvSpPr>
        <p:spPr>
          <a:xfrm>
            <a:off x="6355080" y="2368296"/>
            <a:ext cx="73152" cy="73152"/>
          </a:xfrm>
          <a:prstGeom prst="ellipse">
            <a:avLst/>
          </a:prstGeom>
          <a:solidFill>
            <a:schemeClr val="accent1"/>
          </a:solidFill>
          <a:ln/>
        </p:spPr>
      </p:sp>
      <p:sp>
        <p:nvSpPr>
          <p:cNvPr id="11" name="Text 9"/>
          <p:cNvSpPr txBox="1"/>
          <p:nvPr/>
        </p:nvSpPr>
        <p:spPr>
          <a:xfrm>
            <a:off x="6812280" y="1920240"/>
            <a:ext cx="475488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Per student</a:t>
            </a:r>
            <a:endParaRPr lang="en-US" sz="1900" dirty="0"/>
          </a:p>
        </p:txBody>
      </p:sp>
      <p:sp>
        <p:nvSpPr>
          <p:cNvPr id="12" name="Text 10"/>
          <p:cNvSpPr txBox="1"/>
          <p:nvPr/>
        </p:nvSpPr>
        <p:spPr>
          <a:xfrm>
            <a:off x="6812280" y="2331720"/>
            <a:ext cx="4754880" cy="7772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Each pilot student sees their own number, alongside replies and referrals along the way.</a:t>
            </a:r>
            <a:endParaRPr lang="en-US" sz="1500" dirty="0"/>
          </a:p>
        </p:txBody>
      </p:sp>
      <p:sp>
        <p:nvSpPr>
          <p:cNvPr id="13" name="Metric door 2 frame"/>
          <p:cNvSpPr/>
          <p:nvPr/>
        </p:nvSpPr>
        <p:spPr>
          <a:xfrm>
            <a:off x="6172200" y="3337560"/>
            <a:ext cx="365760" cy="731520"/>
          </a:xfrm>
          <a:prstGeom prst="roundRect">
            <a:avLst>
              <a:gd name="adj" fmla="val 12000"/>
            </a:avLst>
          </a:prstGeom>
          <a:ln w="15875">
            <a:solidFill>
              <a:schemeClr val="accent1"/>
            </a:solidFill>
            <a:prstDash val="solid"/>
          </a:ln>
        </p:spPr>
      </p:sp>
      <p:sp>
        <p:nvSpPr>
          <p:cNvPr id="14" name="Metric door 2 panel"/>
          <p:cNvSpPr/>
          <p:nvPr/>
        </p:nvSpPr>
        <p:spPr>
          <a:xfrm>
            <a:off x="6194146" y="3366821"/>
            <a:ext cx="321869" cy="702259"/>
          </a:xfrm>
          <a:prstGeom prst="rect">
            <a:avLst/>
          </a:prstGeom>
          <a:solidFill>
            <a:schemeClr val="accent4"/>
          </a:solidFill>
          <a:ln/>
        </p:spPr>
      </p:sp>
      <p:sp>
        <p:nvSpPr>
          <p:cNvPr id="15" name="Metric door 2 knob"/>
          <p:cNvSpPr/>
          <p:nvPr/>
        </p:nvSpPr>
        <p:spPr>
          <a:xfrm>
            <a:off x="6355080" y="3739896"/>
            <a:ext cx="73152" cy="73152"/>
          </a:xfrm>
          <a:prstGeom prst="ellipse">
            <a:avLst/>
          </a:prstGeom>
          <a:solidFill>
            <a:schemeClr val="accent1"/>
          </a:solidFill>
          <a:ln/>
        </p:spPr>
      </p:sp>
      <p:sp>
        <p:nvSpPr>
          <p:cNvPr id="16" name="Text 14"/>
          <p:cNvSpPr txBox="1"/>
          <p:nvPr/>
        </p:nvSpPr>
        <p:spPr>
          <a:xfrm>
            <a:off x="6812280" y="3291840"/>
            <a:ext cx="475488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In aggregate</a:t>
            </a:r>
            <a:endParaRPr lang="en-US" sz="1900" dirty="0"/>
          </a:p>
        </p:txBody>
      </p:sp>
      <p:sp>
        <p:nvSpPr>
          <p:cNvPr id="17" name="Text 15"/>
          <p:cNvSpPr txBox="1"/>
          <p:nvPr/>
        </p:nvSpPr>
        <p:spPr>
          <a:xfrm>
            <a:off x="6812280" y="3703320"/>
            <a:ext cx="4754880" cy="7772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The club receives the combined result for the pilot group, ready to share with the batch.</a:t>
            </a:r>
            <a:endParaRPr lang="en-US" sz="1500" dirty="0"/>
          </a:p>
        </p:txBody>
      </p:sp>
      <p:sp>
        <p:nvSpPr>
          <p:cNvPr id="18" name="Metric door 3 light"/>
          <p:cNvSpPr/>
          <p:nvPr/>
        </p:nvSpPr>
        <p:spPr>
          <a:xfrm>
            <a:off x="6194146" y="4738421"/>
            <a:ext cx="321869" cy="702259"/>
          </a:xfrm>
          <a:prstGeom prst="rect">
            <a:avLst/>
          </a:prstGeom>
          <a:solidFill>
            <a:schemeClr val="accent6"/>
          </a:solidFill>
          <a:ln/>
        </p:spPr>
      </p:sp>
      <p:sp>
        <p:nvSpPr>
          <p:cNvPr id="19" name="Metric door 3 frame"/>
          <p:cNvSpPr/>
          <p:nvPr/>
        </p:nvSpPr>
        <p:spPr>
          <a:xfrm>
            <a:off x="6172200" y="4709160"/>
            <a:ext cx="365760" cy="731520"/>
          </a:xfrm>
          <a:prstGeom prst="roundRect">
            <a:avLst>
              <a:gd name="adj" fmla="val 12000"/>
            </a:avLst>
          </a:prstGeom>
          <a:ln w="15875">
            <a:solidFill>
              <a:schemeClr val="accent1"/>
            </a:solidFill>
            <a:prstDash val="solid"/>
          </a:ln>
        </p:spPr>
      </p:sp>
      <p:sp>
        <p:nvSpPr>
          <p:cNvPr id="20" name="Metric door 3 panel"/>
          <p:cNvSpPr/>
          <p:nvPr/>
        </p:nvSpPr>
        <p:spPr>
          <a:xfrm>
            <a:off x="6194146" y="4738421"/>
            <a:ext cx="226771" cy="702259"/>
          </a:xfrm>
          <a:prstGeom prst="rect">
            <a:avLst/>
          </a:prstGeom>
          <a:solidFill>
            <a:schemeClr val="accent4"/>
          </a:solidFill>
          <a:ln/>
        </p:spPr>
      </p:sp>
      <p:sp>
        <p:nvSpPr>
          <p:cNvPr id="21" name="Metric door 3 knob"/>
          <p:cNvSpPr/>
          <p:nvPr/>
        </p:nvSpPr>
        <p:spPr>
          <a:xfrm>
            <a:off x="6259982" y="5111496"/>
            <a:ext cx="73152" cy="73152"/>
          </a:xfrm>
          <a:prstGeom prst="ellipse">
            <a:avLst/>
          </a:prstGeom>
          <a:solidFill>
            <a:schemeClr val="accent1"/>
          </a:solidFill>
          <a:ln/>
        </p:spPr>
      </p:sp>
      <p:sp>
        <p:nvSpPr>
          <p:cNvPr id="22" name="Text 20"/>
          <p:cNvSpPr txBox="1"/>
          <p:nvPr/>
        </p:nvSpPr>
        <p:spPr>
          <a:xfrm>
            <a:off x="6812280" y="4663440"/>
            <a:ext cx="475488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No promises yet</a:t>
            </a:r>
            <a:endParaRPr lang="en-US" sz="1900" dirty="0"/>
          </a:p>
        </p:txBody>
      </p:sp>
      <p:sp>
        <p:nvSpPr>
          <p:cNvPr id="23" name="Text 21"/>
          <p:cNvSpPr txBox="1"/>
          <p:nvPr/>
        </p:nvSpPr>
        <p:spPr>
          <a:xfrm>
            <a:off x="6812280" y="5074920"/>
            <a:ext cx="4754880" cy="7772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We have no customers yet, so we will not quote a number. The pilot will give us a real one.</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114300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The pilot runs three weeks, from kickoff to results</a:t>
            </a:r>
            <a:endParaRPr lang="en-US" sz="3400" dirty="0"/>
          </a:p>
        </p:txBody>
      </p:sp>
      <p:sp>
        <p:nvSpPr>
          <p:cNvPr id="3" name="Timeline"/>
          <p:cNvSpPr/>
          <p:nvPr/>
        </p:nvSpPr>
        <p:spPr>
          <a:xfrm>
            <a:off x="822960" y="2788920"/>
            <a:ext cx="10545775" cy="0"/>
          </a:xfrm>
          <a:prstGeom prst="line">
            <a:avLst/>
          </a:prstGeom>
          <a:noFill/>
          <a:ln w="25400">
            <a:solidFill>
              <a:schemeClr val="accent5"/>
            </a:solidFill>
            <a:prstDash val="solid"/>
          </a:ln>
        </p:spPr>
      </p:sp>
      <p:sp>
        <p:nvSpPr>
          <p:cNvPr id="4" name="Badge 1"/>
          <p:cNvSpPr/>
          <p:nvPr/>
        </p:nvSpPr>
        <p:spPr>
          <a:xfrm>
            <a:off x="731520" y="2514600"/>
            <a:ext cx="548640" cy="548640"/>
          </a:xfrm>
          <a:prstGeom prst="ellipse">
            <a:avLst/>
          </a:prstGeom>
          <a:solidFill>
            <a:schemeClr val="tx2"/>
          </a:solidFill>
          <a:ln/>
        </p:spPr>
      </p:sp>
      <p:sp>
        <p:nvSpPr>
          <p:cNvPr id="5" name="Text 3"/>
          <p:cNvSpPr txBox="1"/>
          <p:nvPr/>
        </p:nvSpPr>
        <p:spPr>
          <a:xfrm>
            <a:off x="731520" y="2514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417320" y="2496312"/>
            <a:ext cx="2468880" cy="274320"/>
          </a:xfrm>
          <a:prstGeom prst="rect">
            <a:avLst/>
          </a:prstGeom>
          <a:noFill/>
          <a:ln/>
        </p:spPr>
        <p:txBody>
          <a:bodyPr wrap="square" lIns="0" tIns="0" rIns="0" bIns="0" rtlCol="0" anchor="t"/>
          <a:lstStyle/>
          <a:p>
            <a:pPr indent="0" marL="0">
              <a:buNone/>
            </a:pPr>
            <a:r>
              <a:rPr lang="en-US" sz="1300" b="1" spc="200" kern="0" dirty="0">
                <a:solidFill>
                  <a:schemeClr val="accent1"/>
                </a:solidFill>
                <a:latin typeface="Calibri" pitchFamily="34" charset="0"/>
                <a:ea typeface="Calibri" pitchFamily="34" charset="-122"/>
                <a:cs typeface="Calibri" pitchFamily="34" charset="-120"/>
              </a:rPr>
              <a:t>WEEK 0</a:t>
            </a:r>
            <a:endParaRPr lang="en-US" sz="1300" dirty="0"/>
          </a:p>
        </p:txBody>
      </p:sp>
      <p:sp>
        <p:nvSpPr>
          <p:cNvPr id="7" name="Text 5"/>
          <p:cNvSpPr txBox="1"/>
          <p:nvPr/>
        </p:nvSpPr>
        <p:spPr>
          <a:xfrm>
            <a:off x="1417320" y="2770632"/>
            <a:ext cx="2560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Kickoff</a:t>
            </a:r>
            <a:endParaRPr lang="en-US" sz="2200" dirty="0"/>
          </a:p>
        </p:txBody>
      </p:sp>
      <p:sp>
        <p:nvSpPr>
          <p:cNvPr id="8" name="Kickoff card"/>
          <p:cNvSpPr/>
          <p:nvPr/>
        </p:nvSpPr>
        <p:spPr>
          <a:xfrm>
            <a:off x="548640" y="3566160"/>
            <a:ext cx="3474720" cy="2286000"/>
          </a:xfrm>
          <a:prstGeom prst="roundRect">
            <a:avLst>
              <a:gd name="adj" fmla="val 4800"/>
            </a:avLst>
          </a:prstGeom>
          <a:solidFill>
            <a:schemeClr val="bg1"/>
          </a:solidFill>
          <a:ln w="12700">
            <a:solidFill>
              <a:schemeClr val="accent3"/>
            </a:solidFill>
            <a:prstDash val="solid"/>
          </a:ln>
          <a:effectLst>
            <a:outerShdw sx="100000" sy="100000" kx="0" ky="0" algn="bl" rotWithShape="0" blurRad="127000" dist="38100" dir="5400000">
              <a:srgbClr val="18231F">
                <a:alpha val="12000"/>
              </a:srgbClr>
            </a:outerShdw>
          </a:effectLst>
        </p:spPr>
      </p:sp>
      <p:sp>
        <p:nvSpPr>
          <p:cNvPr id="9" name="Text 7"/>
          <p:cNvSpPr txBox="1"/>
          <p:nvPr/>
        </p:nvSpPr>
        <p:spPr>
          <a:xfrm>
            <a:off x="822960" y="3794760"/>
            <a:ext cx="2926080" cy="1920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The club picks 5 students</a:t>
            </a:r>
            <a:endParaRPr lang="en-US" sz="1500" dirty="0"/>
          </a:p>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One call each to set targets and roles</a:t>
            </a:r>
            <a:endParaRPr lang="en-US" sz="1500" dirty="0"/>
          </a:p>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We agree the shortlist of companies</a:t>
            </a:r>
            <a:endParaRPr lang="en-US" sz="1500" dirty="0"/>
          </a:p>
        </p:txBody>
      </p:sp>
      <p:sp>
        <p:nvSpPr>
          <p:cNvPr id="10" name="Badge 2"/>
          <p:cNvSpPr/>
          <p:nvPr/>
        </p:nvSpPr>
        <p:spPr>
          <a:xfrm>
            <a:off x="4526280" y="2514600"/>
            <a:ext cx="548640" cy="548640"/>
          </a:xfrm>
          <a:prstGeom prst="ellipse">
            <a:avLst/>
          </a:prstGeom>
          <a:solidFill>
            <a:schemeClr val="tx2"/>
          </a:solidFill>
          <a:ln/>
        </p:spPr>
      </p:sp>
      <p:sp>
        <p:nvSpPr>
          <p:cNvPr id="11" name="Text 9"/>
          <p:cNvSpPr txBox="1"/>
          <p:nvPr/>
        </p:nvSpPr>
        <p:spPr>
          <a:xfrm>
            <a:off x="4526280" y="2514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5212080" y="2496312"/>
            <a:ext cx="2468880" cy="274320"/>
          </a:xfrm>
          <a:prstGeom prst="rect">
            <a:avLst/>
          </a:prstGeom>
          <a:noFill/>
          <a:ln/>
        </p:spPr>
        <p:txBody>
          <a:bodyPr wrap="square" lIns="0" tIns="0" rIns="0" bIns="0" rtlCol="0" anchor="t"/>
          <a:lstStyle/>
          <a:p>
            <a:pPr indent="0" marL="0">
              <a:buNone/>
            </a:pPr>
            <a:r>
              <a:rPr lang="en-US" sz="1300" b="1" spc="200" kern="0" dirty="0">
                <a:solidFill>
                  <a:schemeClr val="accent1"/>
                </a:solidFill>
                <a:latin typeface="Calibri" pitchFamily="34" charset="0"/>
                <a:ea typeface="Calibri" pitchFamily="34" charset="-122"/>
                <a:cs typeface="Calibri" pitchFamily="34" charset="-120"/>
              </a:rPr>
              <a:t>WEEKS 1 TO 2</a:t>
            </a:r>
            <a:endParaRPr lang="en-US" sz="1300" dirty="0"/>
          </a:p>
        </p:txBody>
      </p:sp>
      <p:sp>
        <p:nvSpPr>
          <p:cNvPr id="13" name="Text 11"/>
          <p:cNvSpPr txBox="1"/>
          <p:nvPr/>
        </p:nvSpPr>
        <p:spPr>
          <a:xfrm>
            <a:off x="5212080" y="2770632"/>
            <a:ext cx="2560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Outreach</a:t>
            </a:r>
            <a:endParaRPr lang="en-US" sz="2200" dirty="0"/>
          </a:p>
        </p:txBody>
      </p:sp>
      <p:sp>
        <p:nvSpPr>
          <p:cNvPr id="14" name="Outreach card"/>
          <p:cNvSpPr/>
          <p:nvPr/>
        </p:nvSpPr>
        <p:spPr>
          <a:xfrm>
            <a:off x="4343400" y="3566160"/>
            <a:ext cx="3474720" cy="2286000"/>
          </a:xfrm>
          <a:prstGeom prst="roundRect">
            <a:avLst>
              <a:gd name="adj" fmla="val 4800"/>
            </a:avLst>
          </a:prstGeom>
          <a:solidFill>
            <a:schemeClr val="bg1"/>
          </a:solidFill>
          <a:ln w="12700">
            <a:solidFill>
              <a:schemeClr val="accent3"/>
            </a:solidFill>
            <a:prstDash val="solid"/>
          </a:ln>
          <a:effectLst>
            <a:outerShdw sx="100000" sy="100000" kx="0" ky="0" algn="bl" rotWithShape="0" blurRad="127000" dist="38100" dir="5400000">
              <a:srgbClr val="18231F">
                <a:alpha val="12000"/>
              </a:srgbClr>
            </a:outerShdw>
          </a:effectLst>
        </p:spPr>
      </p:sp>
      <p:sp>
        <p:nvSpPr>
          <p:cNvPr id="15" name="Text 13"/>
          <p:cNvSpPr txBox="1"/>
          <p:nvPr/>
        </p:nvSpPr>
        <p:spPr>
          <a:xfrm>
            <a:off x="4617720" y="3794760"/>
            <a:ext cx="2926080" cy="1920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We find and research the right people</a:t>
            </a:r>
            <a:endParaRPr lang="en-US" sz="1500" dirty="0"/>
          </a:p>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Students approve every first message</a:t>
            </a:r>
            <a:endParaRPr lang="en-US" sz="1500" dirty="0"/>
          </a:p>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We guide each reply as it comes in</a:t>
            </a:r>
            <a:endParaRPr lang="en-US" sz="1500" dirty="0"/>
          </a:p>
        </p:txBody>
      </p:sp>
      <p:sp>
        <p:nvSpPr>
          <p:cNvPr id="16" name="Badge 3"/>
          <p:cNvSpPr/>
          <p:nvPr/>
        </p:nvSpPr>
        <p:spPr>
          <a:xfrm>
            <a:off x="8321040" y="2514600"/>
            <a:ext cx="548640" cy="548640"/>
          </a:xfrm>
          <a:prstGeom prst="ellipse">
            <a:avLst/>
          </a:prstGeom>
          <a:solidFill>
            <a:schemeClr val="accent1"/>
          </a:solidFill>
          <a:ln/>
        </p:spPr>
      </p:sp>
      <p:sp>
        <p:nvSpPr>
          <p:cNvPr id="17" name="Text 15"/>
          <p:cNvSpPr txBox="1"/>
          <p:nvPr/>
        </p:nvSpPr>
        <p:spPr>
          <a:xfrm>
            <a:off x="8321040" y="2514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9006840" y="2496312"/>
            <a:ext cx="2468880" cy="274320"/>
          </a:xfrm>
          <a:prstGeom prst="rect">
            <a:avLst/>
          </a:prstGeom>
          <a:noFill/>
          <a:ln/>
        </p:spPr>
        <p:txBody>
          <a:bodyPr wrap="square" lIns="0" tIns="0" rIns="0" bIns="0" rtlCol="0" anchor="t"/>
          <a:lstStyle/>
          <a:p>
            <a:pPr indent="0" marL="0">
              <a:buNone/>
            </a:pPr>
            <a:r>
              <a:rPr lang="en-US" sz="1300" b="1" spc="200" kern="0" dirty="0">
                <a:solidFill>
                  <a:schemeClr val="accent1"/>
                </a:solidFill>
                <a:latin typeface="Calibri" pitchFamily="34" charset="0"/>
                <a:ea typeface="Calibri" pitchFamily="34" charset="-122"/>
                <a:cs typeface="Calibri" pitchFamily="34" charset="-120"/>
              </a:rPr>
              <a:t>WEEK 3</a:t>
            </a:r>
            <a:endParaRPr lang="en-US" sz="1300" dirty="0"/>
          </a:p>
        </p:txBody>
      </p:sp>
      <p:sp>
        <p:nvSpPr>
          <p:cNvPr id="19" name="Text 17"/>
          <p:cNvSpPr txBox="1"/>
          <p:nvPr/>
        </p:nvSpPr>
        <p:spPr>
          <a:xfrm>
            <a:off x="9006840" y="2770632"/>
            <a:ext cx="2560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Results review</a:t>
            </a:r>
            <a:endParaRPr lang="en-US" sz="2200" dirty="0"/>
          </a:p>
        </p:txBody>
      </p:sp>
      <p:sp>
        <p:nvSpPr>
          <p:cNvPr id="20" name="Results review card"/>
          <p:cNvSpPr/>
          <p:nvPr/>
        </p:nvSpPr>
        <p:spPr>
          <a:xfrm>
            <a:off x="8138160" y="3566160"/>
            <a:ext cx="3474720" cy="2286000"/>
          </a:xfrm>
          <a:prstGeom prst="roundRect">
            <a:avLst>
              <a:gd name="adj" fmla="val 4800"/>
            </a:avLst>
          </a:prstGeom>
          <a:solidFill>
            <a:schemeClr val="bg1"/>
          </a:solidFill>
          <a:ln w="12700">
            <a:solidFill>
              <a:schemeClr val="accent3"/>
            </a:solidFill>
            <a:prstDash val="solid"/>
          </a:ln>
          <a:effectLst>
            <a:outerShdw sx="100000" sy="100000" kx="0" ky="0" algn="bl" rotWithShape="0" blurRad="127000" dist="38100" dir="5400000">
              <a:srgbClr val="18231F">
                <a:alpha val="12000"/>
              </a:srgbClr>
            </a:outerShdw>
          </a:effectLst>
        </p:spPr>
      </p:sp>
      <p:sp>
        <p:nvSpPr>
          <p:cNvPr id="21" name="Text 19"/>
          <p:cNvSpPr txBox="1"/>
          <p:nvPr/>
        </p:nvSpPr>
        <p:spPr>
          <a:xfrm>
            <a:off x="8412480" y="3794760"/>
            <a:ext cx="2926080" cy="19202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Interviews per 100 people contacted</a:t>
            </a:r>
            <a:endParaRPr lang="en-US" sz="1500" dirty="0"/>
          </a:p>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A shareable summary for the club</a:t>
            </a:r>
            <a:endParaRPr lang="en-US" sz="1500" dirty="0"/>
          </a:p>
          <a:p>
            <a:pPr marL="228600" indent="-228600">
              <a:spcAft>
                <a:spcPts val="1000"/>
              </a:spcAft>
              <a:buSzPct val="100000"/>
              <a:buChar char="•"/>
            </a:pPr>
            <a:r>
              <a:rPr lang="en-US" sz="1500" dirty="0">
                <a:solidFill>
                  <a:schemeClr val="tx1"/>
                </a:solidFill>
                <a:latin typeface="Calibri" pitchFamily="34" charset="0"/>
                <a:ea typeface="Calibri" pitchFamily="34" charset="-122"/>
                <a:cs typeface="Calibri" pitchFamily="34" charset="-120"/>
              </a:rPr>
              <a:t>A feedback call to decide next steps</a:t>
            </a:r>
            <a:endParaRPr lang="en-US" sz="15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097280"/>
            <a:ext cx="5486400" cy="365760"/>
          </a:xfrm>
          <a:prstGeom prst="rect">
            <a:avLst/>
          </a:prstGeom>
          <a:noFill/>
          <a:ln/>
        </p:spPr>
        <p:txBody>
          <a:bodyPr wrap="square" lIns="0" tIns="0" rIns="0" bIns="0" rtlCol="0" anchor="t"/>
          <a:lstStyle/>
          <a:p>
            <a:pPr indent="0" marL="0">
              <a:buNone/>
            </a:pPr>
            <a:r>
              <a:rPr lang="en-US" sz="1400" b="1" spc="400" kern="0" dirty="0">
                <a:solidFill>
                  <a:schemeClr val="accent1"/>
                </a:solidFill>
                <a:latin typeface="Calibri" pitchFamily="34" charset="0"/>
                <a:ea typeface="Calibri" pitchFamily="34" charset="-122"/>
                <a:cs typeface="Calibri" pitchFamily="34" charset="-120"/>
              </a:rPr>
              <a:t>NEXT STEP</a:t>
            </a:r>
            <a:endParaRPr lang="en-US" sz="1400" dirty="0"/>
          </a:p>
        </p:txBody>
      </p:sp>
      <p:sp>
        <p:nvSpPr>
          <p:cNvPr id="3" name="Text 0"/>
          <p:cNvSpPr/>
          <p:nvPr>
            <p:ph idx="100" type="title" hasCustomPrompt="1"/>
          </p:nvPr>
        </p:nvSpPr>
        <p:spPr>
          <a:xfrm>
            <a:off x="548640" y="1554480"/>
            <a:ext cx="6949440" cy="19202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Pick 5 students for the free pilot</a:t>
            </a:r>
            <a:endParaRPr lang="en-US" sz="4400" dirty="0"/>
          </a:p>
        </p:txBody>
      </p:sp>
      <p:sp>
        <p:nvSpPr>
          <p:cNvPr id="4" name="Text 0"/>
          <p:cNvSpPr/>
          <p:nvPr>
            <p:ph idx="101" type="body" hasCustomPrompt="1"/>
          </p:nvPr>
        </p:nvSpPr>
        <p:spPr>
          <a:xfrm>
            <a:off x="548640" y="3611880"/>
            <a:ext cx="6583680" cy="1463040"/>
          </a:xfrm>
          <a:prstGeom prst="rect">
            <a:avLst/>
          </a:prstGeom>
          <a:noFill/>
          <a:ln/>
        </p:spPr>
        <p:txBody>
          <a:bodyPr wrap="square" lIns="0" tIns="0" rIns="0" bIns="0" rtlCol="0" anchor="t"/>
          <a:lstStyle/>
          <a:p>
            <a:pPr indent="0" marL="0">
              <a:buNone/>
            </a:pPr>
            <a:r>
              <a:rPr lang="en-US" sz="2200" dirty="0">
                <a:solidFill>
                  <a:schemeClr val="accent3"/>
                </a:solidFill>
                <a:latin typeface="Calibri" pitchFamily="34" charset="0"/>
                <a:ea typeface="Calibri" pitchFamily="34" charset="-122"/>
                <a:cs typeface="Calibri" pitchFamily="34" charset="-120"/>
              </a:rPr>
              <a:t>We start the week you choose them.</a:t>
            </a:r>
            <a:endParaRPr lang="en-US" sz="2200" dirty="0"/>
          </a:p>
          <a:p>
            <a:pPr indent="0" marL="0">
              <a:buNone/>
            </a:pPr>
            <a:r>
              <a:rPr lang="en-US" sz="2200" b="1" dirty="0">
                <a:solidFill>
                  <a:schemeClr val="accent1"/>
                </a:solidFill>
                <a:latin typeface="Calibri" pitchFamily="34" charset="0"/>
                <a:ea typeface="Calibri" pitchFamily="34" charset="-122"/>
                <a:cs typeface="Calibri" pitchFamily="34" charset="-120"/>
              </a:rPr>
              <a:t>hello@knock.careers</a:t>
            </a:r>
            <a:endParaRPr lang="en-US" sz="2200" dirty="0"/>
          </a:p>
        </p:txBody>
      </p:sp>
      <p:sp>
        <p:nvSpPr>
          <p:cNvPr id="5" name="Closing door light"/>
          <p:cNvSpPr/>
          <p:nvPr/>
        </p:nvSpPr>
        <p:spPr>
          <a:xfrm>
            <a:off x="8364017" y="1276502"/>
            <a:ext cx="1971446" cy="4301338"/>
          </a:xfrm>
          <a:prstGeom prst="rect">
            <a:avLst/>
          </a:prstGeom>
          <a:solidFill>
            <a:schemeClr val="accent6"/>
          </a:solidFill>
          <a:ln/>
        </p:spPr>
      </p:sp>
      <p:sp>
        <p:nvSpPr>
          <p:cNvPr id="6" name="Closing door frame"/>
          <p:cNvSpPr/>
          <p:nvPr/>
        </p:nvSpPr>
        <p:spPr>
          <a:xfrm>
            <a:off x="8229600" y="1097280"/>
            <a:ext cx="2240280" cy="4480560"/>
          </a:xfrm>
          <a:prstGeom prst="roundRect">
            <a:avLst>
              <a:gd name="adj" fmla="val 6122"/>
            </a:avLst>
          </a:prstGeom>
          <a:ln w="38100">
            <a:solidFill>
              <a:schemeClr val="accent1"/>
            </a:solidFill>
            <a:prstDash val="solid"/>
          </a:ln>
        </p:spPr>
      </p:sp>
      <p:sp>
        <p:nvSpPr>
          <p:cNvPr id="7" name="Closing door panel"/>
          <p:cNvSpPr/>
          <p:nvPr/>
        </p:nvSpPr>
        <p:spPr>
          <a:xfrm>
            <a:off x="8364017" y="1276502"/>
            <a:ext cx="1388974" cy="4301338"/>
          </a:xfrm>
          <a:prstGeom prst="rect">
            <a:avLst/>
          </a:prstGeom>
          <a:solidFill>
            <a:schemeClr val="accent4"/>
          </a:solidFill>
          <a:ln/>
        </p:spPr>
      </p:sp>
      <p:sp>
        <p:nvSpPr>
          <p:cNvPr id="8" name="Closing door knob"/>
          <p:cNvSpPr/>
          <p:nvPr/>
        </p:nvSpPr>
        <p:spPr>
          <a:xfrm>
            <a:off x="9309415" y="3561588"/>
            <a:ext cx="201625" cy="201625"/>
          </a:xfrm>
          <a:prstGeom prst="ellipse">
            <a:avLst/>
          </a:prstGeom>
          <a:solidFill>
            <a:schemeClr val="accent1"/>
          </a:solidFill>
          <a:ln/>
        </p:spPr>
      </p:sp>
      <p:sp>
        <p:nvSpPr>
          <p:cNvPr id="9" name="Floor line"/>
          <p:cNvSpPr/>
          <p:nvPr/>
        </p:nvSpPr>
        <p:spPr>
          <a:xfrm>
            <a:off x="7680960" y="5577840"/>
            <a:ext cx="3931920" cy="18288"/>
          </a:xfrm>
          <a:prstGeom prst="rect">
            <a:avLst/>
          </a:prstGeom>
          <a:solidFill>
            <a:schemeClr val="accent2"/>
          </a:solidFill>
          <a:ln/>
        </p:spPr>
      </p:sp>
      <p:sp>
        <p:nvSpPr>
          <p:cNvPr id="10" name="Text 8"/>
          <p:cNvSpPr txBox="1"/>
          <p:nvPr/>
        </p:nvSpPr>
        <p:spPr>
          <a:xfrm>
            <a:off x="548640" y="6035040"/>
            <a:ext cx="5486400" cy="274320"/>
          </a:xfrm>
          <a:prstGeom prst="rect">
            <a:avLst/>
          </a:prstGeom>
          <a:noFill/>
          <a:ln/>
        </p:spPr>
        <p:txBody>
          <a:bodyPr wrap="square" lIns="0" tIns="0" rIns="0" bIns="0" rtlCol="0" anchor="t"/>
          <a:lstStyle/>
          <a:p>
            <a:pPr indent="0" marL="0">
              <a:buNone/>
            </a:pPr>
            <a:r>
              <a:rPr lang="en-US" sz="1400" i="1" dirty="0">
                <a:solidFill>
                  <a:schemeClr val="accent5"/>
                </a:solidFill>
                <a:latin typeface="Cambria" pitchFamily="34" charset="0"/>
                <a:ea typeface="Cambria" pitchFamily="34" charset="-122"/>
                <a:cs typeface="Cambria" pitchFamily="34" charset="-120"/>
              </a:rPr>
              <a:t>Knock on the right door.</a:t>
            </a:r>
            <a:endParaRPr lang="en-US" sz="1400" dirty="0"/>
          </a:p>
        </p:txBody>
      </p:sp>
    </p:spTree>
  </p:cSld>
  <p:clrMapOvr>
    <a:masterClrMapping/>
  </p:clrMapOvr>
</p:sld>
</file>

<file path=ppt/theme/theme1.xml><?xml version="1.0" encoding="utf-8"?>
<a:theme xmlns:a="http://schemas.openxmlformats.org/drawingml/2006/main" name="Knock Concierge">
  <a:themeElements>
    <a:clrScheme name="Knock Concierge">
      <a:dk1>
        <a:srgbClr val="18231F"/>
      </a:dk1>
      <a:lt1>
        <a:srgbClr val="FFFFFF"/>
      </a:lt1>
      <a:dk2>
        <a:srgbClr val="1F3A32"/>
      </a:dk2>
      <a:lt2>
        <a:srgbClr val="EEF3F0"/>
      </a:lt2>
      <a:accent1>
        <a:srgbClr val="B9853A"/>
      </a:accent1>
      <a:accent2>
        <a:srgbClr val="5F7F72"/>
      </a:accent2>
      <a:accent3>
        <a:srgbClr val="D9E4DE"/>
      </a:accent3>
      <a:accent4>
        <a:srgbClr val="2D5246"/>
      </a:accent4>
      <a:accent5>
        <a:srgbClr val="8FA89D"/>
      </a:accent5>
      <a:accent6>
        <a:srgbClr val="F4EBDD"/>
      </a:accent6>
      <a:hlink>
        <a:srgbClr val="B9853A"/>
      </a:hlink>
      <a:folHlink>
        <a:srgbClr val="5F7F72"/>
      </a:folHlink>
    </a:clrScheme>
    <a:fontScheme name="Knock Concier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Knock partner proposal</dc:title>
  <dc:subject>PptxGenJS Presentation</dc:subject>
  <dc:creator>Knock</dc:creator>
  <cp:lastModifiedBy>Knock</cp:lastModifiedBy>
  <cp:revision>1</cp:revision>
  <dcterms:created xsi:type="dcterms:W3CDTF">2026-10-04T19:28:35Z</dcterms:created>
  <dcterms:modified xsi:type="dcterms:W3CDTF">2026-10-04T19:28:35Z</dcterms:modified>
</cp:coreProperties>
</file>